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B5C5B4A11}"/>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00"/>
  </p:normalViewPr>
  <p:slideViewPr>
    <p:cSldViewPr>
      <p:cViewPr varScale="1">
        <p:scale>
          <a:sx n="100" d="100"/>
          <a:sy n="100" d="100"/>
        </p:scale>
        <p:origin x="0" y="0"/>
      </p:cViewPr>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6858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Opensource Projects to contribute as a Someone with SRE, DevOps, Golang Experience pivoting in Inference, AI and LLM world with no idea</a:t>
            </a:r>
          </a:p>
          <a:p>
            <a:r>
              <a:rPr lang="en-US" dirty="0"/>
              <a:t>Compiled from public sources by an automated multi-agent research pipeline. Verify material facts before relying on them.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Kubernetes layer of the LLM inference stack, not the serving engines. By share of repository bytes, the routing, control-plane and scheduling projects are 64.3% to 98.5% Go. vLLM, TensorRT-LLM and llama.cpp contain 0% Go, and SGLang 0.1% [1,2,3,4,5,6,7,8,9,10,11,12,13,14,15,16,17,18,19,20,21]. vLLM itself is 85.0% Python [4,8,16,17,18]. In order, the recommended projects are: (1) llm-d, (2) KServe, (3) Kueue and LeaderWorkerSet, (4) NVIDIA KAI Scheduler, and (5) vLLM, but only at its edges: metrics, tracing, benchmarks and CI.</a:t>
            </a:r>
          </a:p>
          <a:p>
            <a:r>
              <a:rPr lang="en-US" dirty="0"/>
              <a:t>llm-d is the best single place to start. It was founded in May 2025 by Red Hat, Google Cloud, IBM Research, CoreWeave and NVIDIA, and the CNCF accepted it as a Sandbox project on 2026-03-12 [22,23,24,25,26,27,28]. After Gateway API Inference Extension (GAIE) v1.6.0 in August 2026, llm-d owns the full-featured inference router, the Endpoint Picker (EPP) [29,30,31,32,33]. Its router, KV-cache libraries, GPU-free vLLM simulator, batch gateway, autoscaler and async processor are all Go repositories [34]. Its SIGs for Installation, Observability, Benchmarking and Autoscaling correspond directly to SRE work [35].</a:t>
            </a:r>
          </a:p>
          <a:p>
            <a:r>
              <a:rPr lang="en-US" dirty="0"/>
              <a:t>KServe comes second. It is a CNCF incubating project (accepted 2025-09-29), 64.3% Go, and shipped four minor releases, v0.18 to v0.21, between April and September 2026 [1,2,3,4,5,6,7,8,9,10,11,12,13,14,15,16,17,18,19,20,21,22,23,24,25,26,36,37,38]. Kueue (94.3% Go) and LeaderWorkerSet (95.9% Go) are the easiest places to land Go pull requests under Kubernetes-SIG governance [1,2,3,4,5,6,7,8,9,10,11,12,13,14,15,16,17,18,19,20,21,39,40]. On 2026-09-30 Kueue had 4 open good-first-issues and 7 help-wanted issues [41,42,43,44,45,46,47,48,49]. KAI Scheduler (98.5% Go) published 10 tagged releases between mid-August and 2026-09-28, but all 10 of its maintainers work at NVIDIA [50,51,52]. vLLM has about 93.0k stars, and 315 contributors worked on v0.30.0 alone. That makes it the place to learn inference, but it offers little Go work [26,32,52,53,54,55,56,57,58,59,60,61].</a:t>
            </a:r>
          </a:p>
          <a:p>
            <a:r>
              <a:rPr lang="en-US" dirty="0"/>
              <a:t>The main problem is getting in. Labelled beginner work is scarce exactly where the inference signal is strongest. On 2026-09-30, the llm-d main repository had 1 good-first-issue, GAIE had 0, and KServe had 1 good-first-issue and 0 help-wanted issues [41,42,43,44,45,46,47,48,49]. None of the core inference projects ran their own LFX Mentorship or CNCF GSoC 2026 projects [62,63,64,65]. In practice you get in through SIG meetings, Slack channels and maintainers' explicit requests. Activity data is also partial: monthly active contributors and merged-PR counts for the past 12 months were not available for any project.</a:t>
            </a:r>
          </a:p>
          <a:p>
            <a:r>
              <a:rPr lang="en-US" dirty="0"/>
              <a:t>Demand is real, but evidence about specific skills is thin. In the CNCF 2025 survey, 66% of organisations hosting generative AI models used Kubernetes for some or all of their inference [66,67]. Linux Foundation research projects a net +60% hiring effect for AI-specific roles in 2026 [68]. In a sample of just 3 postings from 2026, all 3 require Kubernetes and name Go [69,70,71]. The Red Hat posting accepts SRE backgrounds and prefers open-source contributions to KServe or vLLM [69]. The practical path runs in stages: Helm, CI and observability work that needs only latency and KV-cache vocabulary, then router and autoscaler logic, and engine internals last.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fact checker could not verify:</a:t>
            </a:r>
          </a:p>
          <a:p>
            <a:r>
              <a:rPr lang="en-US" dirty="0"/>
              <a:t>No verified data available for AI chip market size in 2025</a:t>
            </a:r>
          </a:p>
          <a:p>
            <a:r>
              <a:rPr lang="en-US" dirty="0"/>
              <a:t>No verified data available for NVIDIA AI chip revenue in 2025</a:t>
            </a:r>
          </a:p>
          <a:p>
            <a:r>
              <a:rPr lang="en-US" dirty="0"/>
              <a:t>No verified data available for AMD AI chip market share in 2025</a:t>
            </a:r>
          </a:p>
          <a:p>
            <a:r>
              <a:rPr lang="en-US" dirty="0"/>
              <a:t>No verified growth rate data for AI chip market in 2025</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Go stops at the serving engine: the control-plane and scheduling projects are 64.3–98.5% Go, while vLLM is 0% Go. KAI Scheduler is 98.5% Go, LWS 95.9%, Kueue 94.3%, GAIE 88.6% and KServe 64.3%. vLLM is 85.0% Python, and Dynamo's core is 52.8% Rust [1,2,3,4,5,6,7,8,9,10,11,12,13,14,15,16,17,18,19,20,21].</a:t>
            </a:r>
          </a:p>
          <a:p>
            <a:r>
              <a:rPr lang="en-US" dirty="0"/>
              <a:t>2. llm-d is the best single project for a Go SRE, with at least 6 Go repositories and SIGs for installation, observability, benchmarking and autoscaling. Its CONTRIBUTING file asks for load and chaos testing, docs and dependency updates. The CNCF asks for production deployment patterns and open benchmarking standards [27,34,35,72].</a:t>
            </a:r>
          </a:p>
          <a:p>
            <a:r>
              <a:rPr lang="en-US" dirty="0"/>
              <a:t>3. In 2026, routing logic moved from the Kubernetes SIG repository to llm-d. WG Serving concluded (announced 2026-02-26), and GAIE v1.6.0 (August 2026) moved the full EPP and latency predictor into the llm-d org. GAIE now covers only the InferencePool API, conformance and a lightweight EPP [29,30,31,32,33,73].</a:t>
            </a:r>
          </a:p>
          <a:p>
            <a:r>
              <a:rPr lang="en-US" dirty="0"/>
              <a:t>4. Labelled newcomer work is scarce: 1 good-first-issue in llm-d's main repo, 0 in GAIE and 1 in KServe on 2026-09-30. vLLM (10) and Kueue (4) had the most. All 3 good-first-issues in llm-d-router require prefix-cache/TTFT or KV-transfer knowledge [33,41,42,43,44,45,46,74].</a:t>
            </a:r>
          </a:p>
          <a:p>
            <a:r>
              <a:rPr lang="en-US" dirty="0"/>
              <a:t>5. Observability is the shortest bridge from SRE to inference work. vLLM exports Prometheus metrics for TTFT, ITL, queue depth and KV-cache usage. llm-d renamed its router metrics to llm_d_epp_* in v0.10, and its August 2026 tracing post asks for missing spans and Collector recipes [75,76,77,78].</a:t>
            </a:r>
          </a:p>
          <a:p>
            <a:r>
              <a:rPr lang="en-US" dirty="0"/>
              <a:t>6. All 3 sampled 2026 inference postings require Kubernetes and name Go, but 3 postings is a small sample. vLLM appears in 2 of the 3, and llm-d and KServe in 1 each. The Red Hat posting accepts SRE backgrounds and prefers KServe/vLLM contributions [69,70,71].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weighs four things: how much Go the project contains, how closely its open work matches SRE tasks, how active and well governed it is, and how directly employers name it. Every project ranked in the top four is mostly Go at the component level. The only one outside that group is vLLM, which ranks high on career signal and learning value but has no Go code [1,2,3,4,5,6,7,8,9,10,11,12,13,14,15,16,17,18,19,20,21].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llm-d: the routing, KV-cache and autoscaling work is in Go, and SIGs exist for installation, observability and benchmarking [34,35].</a:t>
            </a:r>
          </a:p>
          <a:p>
            <a:r>
              <a:rPr lang="en-US" dirty="0"/>
              <a:t>KServe: its LLMInferenceService controller turns LLM deployments into Gateway, HTTPRoute, InferencePool and LWS resources, which is standard controller and Helm work [83,84].</a:t>
            </a:r>
          </a:p>
          <a:p>
            <a:r>
              <a:rPr lang="en-US" dirty="0"/>
              <a:t>Kueue + LWS: the easiest Go entry points, run by Kubernetes-SIGs; LWS supplies the multi-node and P/D replicas that llm-d and KServe depend on [27,41,42,43,44,45,46,56,83,84].</a:t>
            </a:r>
          </a:p>
          <a:p>
            <a:r>
              <a:rPr lang="en-US" dirty="0"/>
              <a:t>KAI Scheduler: fast release cadence and a direct NVIDIA hiring signal, but a single-vendor maintainer group [50,51,52,71].</a:t>
            </a:r>
          </a:p>
          <a:p>
            <a:r>
              <a:rPr lang="en-US" dirty="0"/>
              <a:t>vLLM: learn from it and contribute to its metrics, tracing, benchmarks and CI; do not expect Go work there [75,85,86,87,88,89].</a:t>
            </a:r>
          </a:p>
          <a:p>
            <a:r>
              <a:rPr lang="en-US" dirty="0"/>
              <a:t>Labels will not find you the work: The inference control-plane projects have almost no labelled beginner issues: 1 good-first-issue in llm-d's main repo and 0 in GAIE on 2026-09-30 [41,42,43,44,45,46]. Plan to find work through SIG meetings, Slack channels and maintainers' posted requests, not through issue labels.</a:t>
            </a:r>
          </a:p>
          <a:p>
            <a:r>
              <a:rPr lang="en-US" dirty="0"/>
              <a:t>The ranking follows the employer evidence that exists. Kubernetes-based inference is common: 66% of organisations hosting generative AI models use Kubernetes for some or all inference [66,67]. Postings for inference roles name Kubernetes, Go, vLLM, llm-d, KServe and KAI Scheduler [69,70,71]. This suggests that contributing to the Go control plane while learning the engine through its metrics matches what hiring teams list.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inference request follows a short, documented path. In llm-d, a client request reaches the llm-d Router. The Router is an L7 proxy plus the Endpoint Picker, which scores model-server pods using real-time metrics and chooses one from an InferencePool of vLLM or SGLang pods [90]. KV-cache management, prefill/decode (P/D) disaggregation, latency-prediction routing, batch handling and the autoscaler are optional add-ons to this core [90].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KServe creates the same structure from one custom resource. Its LLMInferenceService controller creates a Gateway, an HTTPRoute, an InferencePool, an EPP scheduler pod and, for P/D, a LeaderWorkerSet. The KV cache itself moves between prefill and decode pods inside vLLM over RDMA [83,84]. The KV-cache indexer is a Go library. It consumes block create and evict events that vLLM publishes over ZMQ and returns a prefix-hit score for each pod [91].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below shows where Go work actually exists. Of the 21 repositories measured, the Kubernetes control-plane, scheduling and ops projects sit at 82.8–98.5% Go. KServe (64.3%) and AIBrix (52.1%) mix Go with Python, and the serving engines have essentially none [1,2,3,4,5,6,7,8,9,10,11,12,13,14,15,16,17,18,19,20,21]. NVIDIA Dynamo is the exception to watch. Its core is 52.8% Rust, but it ships a Go Kubernetes operator, Grove [4,8,16,17,18,92,93].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WG Serving concluded in 2026 (CNCF announcement 2026-02-26). GAIE moved to SIG Network, LWS to SIG Apps and Inference Perf to SIG Scalability. The CNCF named llm-d and AIBrix as better places to drive inference requirements into Kubernetes [32,73]. On the same day, GAIE issue #2430 proposed moving the Endpoint Picker and the InferenceObjective and InferenceModelRewrite APIs into llm-d. The reason given was that the work needs deep AI/ML expertise and close integration with model servers [31,32,33].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GAIE v1.6.0 (August 2026) completed the move. The full EPP, Body-Based Routing and the latency predictor left the repository, and GAIE now covers the InferencePool API, CRDs, conformance and a lightweight EPP [29,30]. Its community meetings now take place in the llm-d Router meeting [31,32,33]. In practice, routing-logic contributions belong in llm-d-router, and GAIE is the place for API and conformance work.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activity over the year was steady across the stack. llm-d shipped v0.7.0 through v0.10.0 between May and September 2026. In v0.8.0 it renamed the inference scheduler to the router endpoint picker, and in v0.10.0 it moved to vLLM v0.30.0 [56,94]. KServe shipped v0.18.0 to v0.21.0 (2026-04-29 to 2026-09-25) [36,37,38]. LWS shipped v0.9.0 to v0.11.0, adding DisaggregatedSet, per-role HPA and gang scheduling [96,97]. Envoy AI Gateway went from v0.4.0 (November 2025) to v1.0.0 GA (June 2026) [95].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Stars show visibility, not how easy a project is to contribute to. Ollama (181.9k) and vLLM (93.0k) are far ahead of the Kubernetes-native projects, which range from 6.1k (KServe) down to 846 (LWS) and 775 (GAIE) [26,32,52,53,54,55,56,57,58]. For a contributor this cuts both ways: smaller projects have fewer reviewers but also fewer people competing for the same issues.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size shows the same split. vLLM had 2,500+ open issues and 5,000+ open PRs on 2026-09-30. Kueue had 516 and 285, KServe 73 and 127, llm-d 63 and 104, and GAIE only 16 and 5 [26,32,52,53,54,55,56,57,58]. A large open-PR queue like vLLM's usually means slower review for first-time contributors. That is an inference, not something the projects report.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Labelled entry points are sparse everywhere, and the inference control plane has the fewest. Help-wanted counts were vLLM 11, Kueue 7 and KServe 0 [47,48,49]. The llm-d-router good-first-issues are not beginner tasks in the usual sense. All 3 involve prefix-cache/TTFT scoring or peer-to-peer KV transfer [33,74]. On labels alone, Kueue is the most accessible Go project [41,42,43,44,45,46,47,48,49].</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LFX Insights says llm-d's release cadence has slowed and gives it a development-activity sub-score of 15/25 [56,94,98,99,100]. The GitHub releases page shows 5 releases from v0.7.0 to v0.10.0 between 2026-05-12 and 2026-09-29 [56,94]. LFX probably undercounts because llm-d's code is split across many repositories and work moved in from GAIE during 2026 [31,32,33,34]. That explanation is an inference.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reliable 12-month trend exists for contributor activity. OSS Insight's cumulative PR-creator series shows vLLM rising from 2,243 to 3,082 between October 2025 and August 2026, and Kueue from 204 to 256. However, several months are missing and every repository jumps anomalously in September 2026 [101,102,103,104]. OSS Insight labels its own data as degraded lower bounds. Its vLLM star count for September 2026 is 60,046, against about 93.0k on GitHub [54,105]. These series show direction only.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reliable 12-month trend exists for contributor activity. OSS Insight's cumulative PR-creator series shows vLLM rising from 2,243 to 3,082 between October 2025 and August 2026, and Kueue from 204 to 256. However, several months are missing and every repository jumps anomalously in September 2026 [101,102,103,104]. OSS Insight labels its own data as degraded lower bounds. Its vLLM star count for September 2026 is 60,046, against about 93.0k on GitHub [54,105]. These series show direction only.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mentoring exists only in adjacent projects. 2026 LFX terms included a Volcano KV-cache-aware scheduler e2e test suite, HAMi GPU observability dashboards and a Headlamp Kueue plugin [62]. The only inference-related idea on CNCF's GSoC 2026 list was kgateway's benchmarking of inference routing extensions [63,64,65]. These are reasonable fallbacks for someone who wants a mentor more than a specific project.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llm-d has 7 listed maintainers: 3 from Red Hat, 2 from Google and 2 from IBM [79]. Its launch partners include AMD, Cisco, Hugging Face, Intel, Lambda and Mistral AI [27,28]. The Go repositories are the router (EPP), llm-d-kv-cache, llm-d-inference-sim, llm-d-batch-gateway, llm-d-autoscaling and llm-d-async. The benchmark harness and latency predictor are Python [34]. New components require a proposal in ./proposals/. Contributions use DCO sign-off and lazy consensus [27,72].</a:t>
            </a:r>
          </a:p>
          <a:p>
            <a:r>
              <a:rPr lang="en-US" dirty="0"/>
              <a:t>The best place to start is llm-d-inference-sim. It imitates vLLM's TTFT and inter-token latency, emits KV-cache ZMQ events, exposes some of vLLM's Prometheus metrics and can inject failures, all without a GPU [109]. That makes CI, e2e and resilience-testing work possible on a laptop cluster, and it matches CONTRIBUTING's request for load and chaos testing [27,72]. Observability is the second opening. The August 2026 tracing post asks for issues about missing spans and Collector recipes [78]. The v0.10 metric rename to llm_d_epp_* means dashboards and alerts need updating [76,77].</a:t>
            </a:r>
          </a:p>
          <a:p>
            <a:r>
              <a:rPr lang="en-US" dirty="0"/>
              <a:t>KServe had 19 maintainers and 300+ contributors when it moved to incubation (announced 2025-11-11) [80,81]. Its releases in 2026 point to operations work: restricted Pod Security Standards by default in v0.18, JUnit E2E output and HPA/KEDA status in v0.19, and DRA resourceClaims and independent CRD installation in v0.21 [36,37,38]. LFX Insights reports the fastest median maintainer response of the three projects it scores, at 2 days [98,99,100]. The weakness is direction: ROADMAP.md is still the 2024–2025 version, and there were 0 help-wanted issues on 2026-09-30 [37,47,48,49,110].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Kueue's open good-first-issues include ProvisioningRequest docs (#5172), kueue-viz configuration (#3880) and SLSA attestations (#1466) [41,42,43,44,45,46]. Its help-wanted list includes DisaggregatedSet integration and metrics in load testing [47,48,49]. Kueue runs e2e tests on Kubernetes 1.34–1.37 and had v0.20.0-rc.2 out on 2026-09-29 [57,96,97]. LWS matters because llm-d and KServe use it for multi-node and P/D replicas. Its 2026 releases added DisaggregatedSet, per-role HPA and gang scheduling [27,56,83,84,96,97].</a:t>
            </a:r>
          </a:p>
          <a:p>
            <a:r>
              <a:rPr lang="en-US" dirty="0"/>
              <a:t>KAI Scheduler provides gang scheduling and hierarchical queues with DRF, and has been tested on clusters of more than 10,000 GPUs. A CNCF blog of 2026-07-23 says its roadmap is now community-directed [24,111]. Its v0.18.0 release added fractional GPU support, pod resize accounting and FIPS mode [50]. An NVIDIA scheduler posting names the project directly [71]. The trade-off is that all 10 maintainers are at NVIDIA [51,52].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vLLM's metrics, OpenTelemetry tracing (off by default) and benchmarking CLI are the realistic places for an SRE to contribute [75,78,85,86,87,88,89]. It runs bi-weekly office hours and weekly SIG meetings [54,108]. Two secondary options are also worth knowing. The OpenTelemetry GenAI semantic conventions now live in their own repository, whose schema URL was still marked 'TODO' in September 2026 [112,113]. Envoy AI Gateway, 82.8% Go, added OTel GenAI tracing in v1.1.0 [1,2,3,4,5,6,7,8,9,10,11,12,13,14,15,16,17,18,19,20,21,95].</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vLLM's metrics, OpenTelemetry tracing (off by default) and benchmarking CLI are the realistic places for an SRE to contribute [75,78,85,86,87,88,89]. It runs bi-weekly office hours and weekly SIG meetings [54,108]. Two secondary options are also worth knowing. The OpenTelemetry GenAI semantic conventions now live in their own repository, whose schema URL was still marked 'TODO' in September 2026 [112,113]. Envoy AI Gateway, 82.8% Go, added OTel GenAI tracing in v1.1.0 [1,2,3,4,5,6,7,8,9,10,11,12,13,14,15,16,17,18,19,20,21,95].</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skills overlap most on observability and install/test work. The matrix below links each SRE skill to documented contribution areas. Every project has work for Go controllers and operators except vLLM. Prometheus and OpenTelemetry work shows up in llm-d, vLLM and, through tracing on its roadmap, KServe [34,37,75,78,110].</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Benchmarking uses Python, not Go. inference-perf, GuideLLM, vllm bench and llm-d-benchmark are all Python, and NVIDIA's genai-perf now directs users to AIPerf [85,86,87,88,89]. llm-d-benchmark runs other harnesses on Kubernetes using helm, helmfile and kubectl. Contributions there are mainly orchestration work with some Python [85,86,87,88,89].</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Benchmarking uses Python, not Go. inference-perf, GuideLLM, vllm bench and llm-d-benchmark are all Python, and NVIDIA's genai-perf now directs users to AIPerf [85,86,87,88,89]. llm-d-benchmark runs other harnesses on Kubernetes using helm, helmfile and kubectl. Contributions there are mainly orchestration work with some Python [85,86,87,88,89].</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Practitioners already treat inference signals as SLIs. At KubeCon Europe 2026 (2026-03-26), a Red Hat Senior Principal SRE co-presented a talk that framed TTFT, cache hit ratio, routing latency and GPU utilisation as SLIs, instrumented with Prometheus, OpenTelemetry and Grafana [116]. This suggests that SLO and alerting experience counts as inference expertise, provided you know the vocabulary.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knowledge you need can be learned in stages, not all at once. Level 1 work needs only TTFT, ITL/TPOT, throughput and goodput, KV-cache usage and queue depth. Level 2 adds prefix caching, block hashing and the difference between prefill and decode. Level 3, the engine and KV-transfer work, needs continuous batching, paged attention, chunked prefill, KV connectors, parallelism and quantization [74,83,91,109,115]. This staging is an interpretation based on each component's scope.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engine explainers are older but still the clearest free introductions. The vLLM anatomy post of 2025-09-05 covers the scheduler, paged attention, continuous batching, chunked prefill and P/D disaggregation. The Hugging Face post of 2025-11-25 builds from attention to the KV cache to continuous batching [115,117,118]. Reading these alongside llm-d's 2026 blog posts covers every concept in the table [115,117,118].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is now a common place to run inference. The CNCF 2025 Annual Cloud Native Survey (628 respondents, published January 2026) found that 66% of organisations hosting generative AI models use Kubernetes for some or all inference. Only 7% deploy AI models daily [66,67,119,120]. Kubernetes production use among container users reached 82% in 2025, up from 66% in 2023, but 44% of organisations do not yet run AI/ML workloads on it [66,121].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Hiring research points in the same direction. The Linux Foundation 2026 State of Tech Talent Report (400 respondents, fielded February 2026) projects a net +31% hiring effect from AI overall and +60% for AI-specific roles in 2026 [68]. Organisations prefer upskilling (57%) to external hiring (49%) [68,122]. That favours engineers who can show new skills in public. Indeed Hiring Lab found that 37% of US software-development posting growth from May 2025 to May 2026 came from roles with AI in the title [123].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these 3 postings, Kubernetes and Go appear in all 3, vLLM in 2, and llm-d, KServe and GPU scheduling in 1 each [69,70,71]. The Red Hat posting is the most relevant for this reader. It explicitly accepts backend, SRE or infrastructure experience and lists open-source contributions to KServe or vLLM as preferred [69].</a:t>
            </a:r>
          </a:p>
          <a:p>
            <a:r>
              <a:rPr lang="en-US" dirty="0"/>
              <a:t>Thin evidence on transitions: No source reviewed for this report documents a named SRE or DevOps engineer moving into an inference role through open-source contribution. No project publishes typical times from first contribution to reviewer. Three postings show which skills appear in job ads, not how often they appear across the market [69,70,71].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0–30: get running and get visible. Deploy llm-d with llm-d-inference-sim on a local cluster so you can run the full routing path without a GPU [109]. Join #sig-installation, #sig-observability and the bi-weekly Wednesday standup [26,32,35,52,53,56,57,58]. Land one docs or build fix, such as llm-d #1525 or a Kueue good-first-issue like #5172 or #1466 [41,42,43,44,45,46]. Learn the Level 1 vocabulary from vLLM's metric names [75].</a:t>
            </a:r>
          </a:p>
          <a:p>
            <a:r>
              <a:rPr lang="en-US" dirty="0"/>
              <a:t>Days 31–90: own an operational area. Take on observability: update dashboards and alerts for the llm_d_epp_* rename, and file or fix missing spans and Collector recipes as the tracing post asks [76,77,78]. The autoscaler tracing request in #1272 is a model for this kind of Go work [114]. Run llm-d-benchmark with inference-perf or GuideLLM to learn how load shapes change TTFT and ITL [85,86,87,88,89]. In parallel, pick up KServe LLMInferenceService e2e or controller work, or the #6260 good-first-issue [41,42,43,44,45,46,83,84].</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91–180: move into inference logic. Work on a router scorer or autoscaler feature. llm-d-router #655 (load-aware scorers) and #2650 (TTFT load gate) are good Level 2 targets [33,74]. Larger changes go through a proposal in ./proposals/ [27,72]. Read the vLLM scheduler code with the anatomy post alongside to build Level 3 understanding [115,117,118]. If a mentor would help, LFX terms and GSoC run on fixed windows. GSoC 2026 applications ran from 2026-03-16 to 03-31 [63,64,65].</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91–180: move into inference logic. Work on a router scorer or autoscaler feature. llm-d-router #655 (load-aware scorers) and #2650 (TTFT load gate) are good Level 2 targets [33,74]. Larger changes go through a proposal in ./proposals/ [27,72]. Read the vLLM scheduler code with the anatomy post alongside to build Level 3 understanding [115,117,118]. If a mentor would help, LFX terms and GSoC run on fixed windows. GSoC 2026 applications ran from 2026-03-16 to 03-31 [63,64,65].</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more than speed: Every step up in ML knowledge comes with a project area that already needs it. That lets you ship something useful at each stage instead of studying first and contributing later [74,83,91,109,115].</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behind this ranking is partial. Monthly active contributors and merged PRs per month for October 2025 to September 2026 could not be obtained for any project. That is why the planned contributor chart was replaced with star and newcomer-issue snapshots. The only trend series available, OSS Insight's, is self-reported as degraded [54,101,102,103,104,105].</a:t>
            </a:r>
          </a:p>
          <a:p>
            <a:r>
              <a:rPr lang="en-US" dirty="0"/>
              <a:t>LFX Insights scores cover only llm-d, vLLM and KServe. The window is stated only as 'past 365 days', and llm-d's stagnation flag conflicts with its release record [56,94,98,99,100].</a:t>
            </a:r>
          </a:p>
          <a:p>
            <a:r>
              <a:rPr lang="en-US" dirty="0"/>
              <a:t>Help-wanted counts were collected only for vLLM, Kueue and KServe. Good-first-issue counts are missing for LWS, KAI Scheduler and SGLang [41,42,43,44,45,46,47,48,49].</a:t>
            </a:r>
          </a:p>
          <a:p>
            <a:r>
              <a:rPr lang="en-US" dirty="0"/>
              <a:t>The Go share of llm-d-router itself was not measured. The 96.8% figure is for its predecessor repository [1,2,3,4,5,6,7,8,9,10,11,12,13,14,15,16,17,18,19,20,21].</a:t>
            </a:r>
          </a:p>
          <a:p>
            <a:r>
              <a:rPr lang="en-US" dirty="0"/>
              <a:t>Maintainer affiliations for GAIE, Kueue and vLLM are not published in their OWNERS or committers files [124,125,126].</a:t>
            </a:r>
          </a:p>
          <a:p>
            <a:r>
              <a:rPr lang="en-US" dirty="0"/>
              <a:t>KServe's roadmap dates from 2024–2025, so its 2026 priorities are inferred from release notes [37,110].</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Employer demand rests on 3 postings from tier 3–4 aggregators, one already removed [69,70,71].</a:t>
            </a:r>
          </a:p>
          <a:p>
            <a:r>
              <a:rPr lang="en-US" dirty="0"/>
              <a:t>None of these gaps changes the ranking's basic logic, which rests on direct, tier 1 data: language shares, governance changes, SIG structure and dated issue counts [1,2,3,4,5,6,7,8,9,10,11,12,13,14,15,16,17,18,19,20,21,29,30,35,41,42,43,44,45,46]. They do mean that project activity should be judged again at the start of each stage of the roadmap rather than taken from this snapshot.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roughly two-thirds of your time into llm-d's Go repositories and SIGs, and use Kueue or LWS to get quick merged Go PRs while you learn the vocabulary. Since the 2026 hand-off, llm-d holds the routing, KV-cache and autoscaling logic that employers describe, and its simulator removes the need for a GPU [29,30,34,109]. Add KServe when you want controller work in a CNCF incubating project that a hiring posting names [22,23,24,25,26,69].</a:t>
            </a:r>
          </a:p>
          <a:p>
            <a:r>
              <a:rPr lang="en-US" dirty="0"/>
              <a:t>Treat vLLM as a learning resource first and a contribution target second. Its metrics and tracing are where an SRE's contributions fit naturally, and it is the project employers name most often in the sampled postings [69,70,71,75]. Avoid starting in GAIE: after v1.6.0 it covers APIs and conformance, and its meetings have moved to llm-d [29,30,31,32,33].</a:t>
            </a:r>
          </a:p>
          <a:p>
            <a:r>
              <a:rPr lang="en-US" dirty="0"/>
              <a:t>Watch three things over the next two quarters. First, whether llm-d's newcomer labels and SIG asks grow as it matures inside the CNCF. Second, whether KServe publishes a 2026 roadmap. Third, whether 2027 LFX and GSoC rounds include the core inference projects [37,62,63,64,65,110]. Any of these would lower the cost of getting started.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2800" b="1">
          <a:solidFill>
            <a:schemeClr val="tx1"/>
          </a:solidFill>
          <a:latin typeface="+mj-lt"/>
        </a:defRPr>
      </a:lvl1pPr>
    </p:titleStyle>
    <p:bodyStyle>
      <a:lvl1pPr>
        <a:defRPr sz="1600">
          <a:solidFill>
            <a:schemeClr val="tx1"/>
          </a:solidFill>
          <a:latin typeface="+mn-lt"/>
        </a:defRPr>
      </a:lvl1pPr>
    </p:bodyStyle>
    <p:otherStyle>
      <a:lvl1pPr>
        <a:defRPr sz="16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6096000" y="-3810000"/>
            <a:ext cx="10160000" cy="8636000"/>
          </a:xfrm>
          <a:prstGeom prst="ellipse">
            <a:avLst/>
          </a:prstGeom>
          <a:gradFill rotWithShape="1">
            <a:gsLst>
              <a:gs pos="0">
                <a:srgbClr val="7C3AED">
                  <a:alpha val="42000"/>
                </a:srgbClr>
              </a:gs>
              <a:gs pos="100000">
                <a:srgbClr val="7C3AED">
                  <a:alpha val="0"/>
                </a:srgbClr>
              </a:gs>
            </a:gsLst>
            <a:path path="circle">
              <a:fillToRect l="50000" t="50000" r="50000" b="50000"/>
            </a:path>
          </a:gradFill>
          <a:ln>
            <a:noFill/>
          </a:ln>
        </p:spPr>
      </p:sp>
      <p:sp>
        <p:nvSpPr>
          <p:cNvPr id="3" name="Shape 3"/>
          <p:cNvSpPr/>
          <p:nvPr/>
        </p:nvSpPr>
        <p:spPr>
          <a:xfrm>
            <a:off x="-4064000" y="-1016000"/>
            <a:ext cx="9652000" cy="8890000"/>
          </a:xfrm>
          <a:prstGeom prst="ellipse">
            <a:avLst/>
          </a:prstGeom>
          <a:gradFill rotWithShape="1">
            <a:gsLst>
              <a:gs pos="0">
                <a:srgbClr val="4F46E5">
                  <a:alpha val="30000"/>
                </a:srgbClr>
              </a:gs>
              <a:gs pos="100000">
                <a:srgbClr val="4F46E5">
                  <a:alpha val="0"/>
                </a:srgbClr>
              </a:gs>
            </a:gsLst>
            <a:path path="circle">
              <a:fillToRect l="50000" t="50000" r="50000" b="50000"/>
            </a:path>
          </a:gradFill>
          <a:ln>
            <a:noFill/>
          </a:ln>
        </p:spPr>
      </p:sp>
      <p:sp>
        <p:nvSpPr>
          <p:cNvPr id="4" name="Shape 4"/>
          <p:cNvSpPr/>
          <p:nvPr/>
        </p:nvSpPr>
        <p:spPr>
          <a:xfrm>
            <a:off x="4826000" y="2794000"/>
            <a:ext cx="10414000" cy="7874000"/>
          </a:xfrm>
          <a:prstGeom prst="ellipse">
            <a:avLst/>
          </a:prstGeom>
          <a:gradFill rotWithShape="1">
            <a:gsLst>
              <a:gs pos="0">
                <a:srgbClr val="06B6D4">
                  <a:alpha val="26000"/>
                </a:srgbClr>
              </a:gs>
              <a:gs pos="100000">
                <a:srgbClr val="06B6D4">
                  <a:alpha val="0"/>
                </a:srgbClr>
              </a:gs>
            </a:gsLst>
            <a:path path="circle">
              <a:fillToRect l="50000" t="50000" r="50000" b="50000"/>
            </a:path>
          </a:gradFill>
          <a:ln>
            <a:noFill/>
          </a:ln>
        </p:spPr>
      </p:sp>
      <p:sp>
        <p:nvSpPr>
          <p:cNvPr id="5" name="Text 5"/>
          <p:cNvSpPr txBox="1"/>
          <p:nvPr/>
        </p:nvSpPr>
        <p:spPr>
          <a:xfrm>
            <a:off x="711200" y="787400"/>
            <a:ext cx="4241324" cy="330200"/>
          </a:xfrm>
          <a:prstGeom prst="roundRect">
            <a:avLst>
              <a:gd name="adj" fmla="val 50000"/>
            </a:avLst>
          </a:prstGeom>
          <a:solidFill>
            <a:srgbClr val="FFFFFF"/>
          </a:solidFill>
          <a:ln w="9525" cap="rnd">
            <a:solidFill>
              <a:srgbClr val="B9B5F5"/>
            </a:solidFill>
            <a:round/>
          </a:ln>
        </p:spPr>
        <p:txBody>
          <a:bodyPr wrap="none" lIns="0" tIns="0" rIns="0" bIns="0" anchor="ctr">
            <a:noAutofit/>
          </a:bodyPr>
          <a:lstStyle/>
          <a:p>
            <a:pPr algn="ctr">
              <a:lnSpc>
                <a:spcPct val="108000"/>
              </a:lnSpc>
              <a:spcBef>
                <a:spcPts val="0"/>
              </a:spcBef>
              <a:spcAft>
                <a:spcPts val="0"/>
              </a:spcAft>
              <a:buNone/>
            </a:pPr>
            <a:r>
              <a:rPr lang="en-US" sz="950" b="1" spc="140" dirty="0">
                <a:solidFill>
                  <a:srgbClr val="4F46E5"/>
                </a:solidFill>
                <a:latin typeface="Arial"/>
                <a:cs typeface="Arial"/>
              </a:rPr>
              <a:t>PRACTICAL GUIDE (RANKED RECOMMENDATION)</a:t>
            </a:r>
            <a:endParaRPr lang="en-US" sz="950" dirty="0"/>
          </a:p>
        </p:txBody>
      </p:sp>
      <p:sp>
        <p:nvSpPr>
          <p:cNvPr id="6" name="Shape 6"/>
          <p:cNvSpPr/>
          <p:nvPr/>
        </p:nvSpPr>
        <p:spPr>
          <a:xfrm>
            <a:off x="711200" y="1778000"/>
            <a:ext cx="660400" cy="76200"/>
          </a:xfrm>
          <a:prstGeom prst="roundRect">
            <a:avLst>
              <a:gd name="adj" fmla="val 50000"/>
            </a:avLst>
          </a:prstGeom>
          <a:gradFill rotWithShape="1">
            <a:gsLst>
              <a:gs pos="0">
                <a:srgbClr val="7C3AED"/>
              </a:gs>
              <a:gs pos="100000">
                <a:srgbClr val="06B6D4"/>
              </a:gs>
            </a:gsLst>
            <a:lin ang="0" scaled="0"/>
          </a:gradFill>
          <a:ln>
            <a:noFill/>
          </a:ln>
        </p:spPr>
      </p:sp>
      <p:sp>
        <p:nvSpPr>
          <p:cNvPr id="7" name="Shape 7"/>
          <p:cNvSpPr/>
          <p:nvPr/>
        </p:nvSpPr>
        <p:spPr>
          <a:xfrm>
            <a:off x="711200" y="1778000"/>
            <a:ext cx="660400" cy="762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8" name="Text 8"/>
          <p:cNvSpPr txBox="1"/>
          <p:nvPr/>
        </p:nvSpPr>
        <p:spPr>
          <a:xfrm>
            <a:off x="711200" y="2133600"/>
            <a:ext cx="10160000" cy="2029460"/>
          </a:xfrm>
          <a:prstGeom prst="rect">
            <a:avLst/>
          </a:prstGeom>
          <a:noFill/>
          <a:ln>
            <a:noFill/>
          </a:ln>
        </p:spPr>
        <p:txBody>
          <a:bodyPr wrap="square" lIns="0" tIns="0" rIns="0" bIns="0" anchor="t">
            <a:noAutofit/>
          </a:bodyPr>
          <a:lstStyle/>
          <a:p>
            <a:pPr algn="l">
              <a:lnSpc>
                <a:spcPct val="94000"/>
              </a:lnSpc>
              <a:spcBef>
                <a:spcPts val="0"/>
              </a:spcBef>
              <a:spcAft>
                <a:spcPts val="0"/>
              </a:spcAft>
              <a:buNone/>
            </a:pPr>
            <a:r>
              <a:rPr lang="en-US" sz="4600" b="1" spc="-60" dirty="0">
                <a:solidFill>
                  <a:srgbClr val="0F172A"/>
                </a:solidFill>
                <a:latin typeface="Arial"/>
                <a:cs typeface="Arial"/>
              </a:rPr>
              <a:t>Open-Source Paths into LLM Inference for SRE and Go Engineers</a:t>
            </a:r>
            <a:endParaRPr lang="en-US" sz="4600" dirty="0"/>
          </a:p>
        </p:txBody>
      </p:sp>
      <p:sp>
        <p:nvSpPr>
          <p:cNvPr id="9" name="Text 9"/>
          <p:cNvSpPr txBox="1"/>
          <p:nvPr/>
        </p:nvSpPr>
        <p:spPr>
          <a:xfrm>
            <a:off x="711200" y="4290060"/>
            <a:ext cx="8636000" cy="889000"/>
          </a:xfrm>
          <a:prstGeom prst="rect">
            <a:avLst/>
          </a:prstGeom>
          <a:noFill/>
          <a:ln>
            <a:noFill/>
          </a:ln>
        </p:spPr>
        <p:txBody>
          <a:bodyPr wrap="square" lIns="0" tIns="0" rIns="0" bIns="0" anchor="t">
            <a:noAutofit/>
          </a:bodyPr>
          <a:lstStyle/>
          <a:p>
            <a:pPr algn="l">
              <a:lnSpc>
                <a:spcPct val="120000"/>
              </a:lnSpc>
              <a:spcBef>
                <a:spcPts val="0"/>
              </a:spcBef>
              <a:spcAft>
                <a:spcPts val="0"/>
              </a:spcAft>
              <a:buNone/>
            </a:pPr>
            <a:r>
              <a:rPr lang="en-US" sz="1700" dirty="0">
                <a:solidFill>
                  <a:srgbClr val="354156"/>
                </a:solidFill>
                <a:latin typeface="Arial"/>
                <a:cs typeface="Arial"/>
              </a:rPr>
              <a:t>A ranked guide to the Kubernetes-native inference projects where Go, Kubernetes and operations skills carry over, with project health data, first contributions and a 30/90/180-day roadmap (September 2026)</a:t>
            </a:r>
            <a:endParaRPr lang="en-US" sz="1700" dirty="0"/>
          </a:p>
        </p:txBody>
      </p:sp>
      <p:sp>
        <p:nvSpPr>
          <p:cNvPr id="10" name="Shape 10"/>
          <p:cNvSpPr/>
          <p:nvPr/>
        </p:nvSpPr>
        <p:spPr>
          <a:xfrm>
            <a:off x="711200" y="5740400"/>
            <a:ext cx="10769600" cy="9525"/>
          </a:xfrm>
          <a:prstGeom prst="rect">
            <a:avLst/>
          </a:prstGeom>
          <a:solidFill>
            <a:srgbClr val="424F64">
              <a:alpha val="50000"/>
            </a:srgbClr>
          </a:solidFill>
          <a:ln>
            <a:noFill/>
          </a:ln>
        </p:spPr>
      </p:sp>
      <p:sp>
        <p:nvSpPr>
          <p:cNvPr id="11" name="Text 11"/>
          <p:cNvSpPr txBox="1"/>
          <p:nvPr/>
        </p:nvSpPr>
        <p:spPr>
          <a:xfrm>
            <a:off x="711200" y="5892800"/>
            <a:ext cx="10769600" cy="2286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b="1" dirty="0">
                <a:solidFill>
                  <a:srgbClr val="64748B"/>
                </a:solidFill>
                <a:latin typeface="Arial"/>
                <a:cs typeface="Arial"/>
              </a:rPr>
              <a:t>September 2026   ·   126 cited sources   ·   Boku research agents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AGENDA</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In this deck</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a:t>
            </a:r>
            <a:endParaRPr lang="en-US" sz="850" dirty="0"/>
          </a:p>
        </p:txBody>
      </p:sp>
      <p:sp>
        <p:nvSpPr>
          <p:cNvPr id="8" name="Text 8"/>
          <p:cNvSpPr txBox="1"/>
          <p:nvPr/>
        </p:nvSpPr>
        <p:spPr>
          <a:xfrm>
            <a:off x="711200" y="17007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01</a:t>
            </a:r>
            <a:endParaRPr lang="en-US" sz="1500" dirty="0"/>
          </a:p>
        </p:txBody>
      </p:sp>
      <p:sp>
        <p:nvSpPr>
          <p:cNvPr id="9" name="Text 9"/>
          <p:cNvSpPr txBox="1"/>
          <p:nvPr/>
        </p:nvSpPr>
        <p:spPr>
          <a:xfrm>
            <a:off x="1320800" y="17007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Where to spend your contribution time</a:t>
            </a:r>
            <a:endParaRPr lang="en-US" sz="1500" dirty="0"/>
          </a:p>
        </p:txBody>
      </p:sp>
      <p:sp>
        <p:nvSpPr>
          <p:cNvPr id="10" name="Shape 10"/>
          <p:cNvSpPr/>
          <p:nvPr/>
        </p:nvSpPr>
        <p:spPr>
          <a:xfrm>
            <a:off x="711200" y="2361184"/>
            <a:ext cx="5130800" cy="9525"/>
          </a:xfrm>
          <a:prstGeom prst="rect">
            <a:avLst/>
          </a:prstGeom>
          <a:solidFill>
            <a:srgbClr val="E2E8F0"/>
          </a:solidFill>
          <a:ln>
            <a:noFill/>
          </a:ln>
        </p:spPr>
      </p:sp>
      <p:sp>
        <p:nvSpPr>
          <p:cNvPr id="11" name="Text 11"/>
          <p:cNvSpPr txBox="1"/>
          <p:nvPr/>
        </p:nvSpPr>
        <p:spPr>
          <a:xfrm>
            <a:off x="711200" y="24373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02</a:t>
            </a:r>
            <a:endParaRPr lang="en-US" sz="1500" dirty="0"/>
          </a:p>
        </p:txBody>
      </p:sp>
      <p:sp>
        <p:nvSpPr>
          <p:cNvPr id="12" name="Text 12"/>
          <p:cNvSpPr txBox="1"/>
          <p:nvPr/>
        </p:nvSpPr>
        <p:spPr>
          <a:xfrm>
            <a:off x="1320800" y="24373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How the inference stack fits together, and who owns what since 2026</a:t>
            </a:r>
            <a:endParaRPr lang="en-US" sz="1500" dirty="0"/>
          </a:p>
        </p:txBody>
      </p:sp>
      <p:sp>
        <p:nvSpPr>
          <p:cNvPr id="13" name="Shape 13"/>
          <p:cNvSpPr/>
          <p:nvPr/>
        </p:nvSpPr>
        <p:spPr>
          <a:xfrm>
            <a:off x="711200" y="3097784"/>
            <a:ext cx="5130800" cy="9525"/>
          </a:xfrm>
          <a:prstGeom prst="rect">
            <a:avLst/>
          </a:prstGeom>
          <a:solidFill>
            <a:srgbClr val="E2E8F0"/>
          </a:solidFill>
          <a:ln>
            <a:noFill/>
          </a:ln>
        </p:spPr>
      </p:sp>
      <p:sp>
        <p:nvSpPr>
          <p:cNvPr id="14" name="Text 14"/>
          <p:cNvSpPr txBox="1"/>
          <p:nvPr/>
        </p:nvSpPr>
        <p:spPr>
          <a:xfrm>
            <a:off x="711200" y="31739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03</a:t>
            </a:r>
            <a:endParaRPr lang="en-US" sz="1500" dirty="0"/>
          </a:p>
        </p:txBody>
      </p:sp>
      <p:sp>
        <p:nvSpPr>
          <p:cNvPr id="15" name="Text 15"/>
          <p:cNvSpPr txBox="1"/>
          <p:nvPr/>
        </p:nvSpPr>
        <p:spPr>
          <a:xfrm>
            <a:off x="1320800" y="31739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Project health and newcomer-friendliness compared</a:t>
            </a:r>
            <a:endParaRPr lang="en-US" sz="1500" dirty="0"/>
          </a:p>
        </p:txBody>
      </p:sp>
      <p:sp>
        <p:nvSpPr>
          <p:cNvPr id="16" name="Shape 16"/>
          <p:cNvSpPr/>
          <p:nvPr/>
        </p:nvSpPr>
        <p:spPr>
          <a:xfrm>
            <a:off x="711200" y="3834384"/>
            <a:ext cx="5130800" cy="9525"/>
          </a:xfrm>
          <a:prstGeom prst="rect">
            <a:avLst/>
          </a:prstGeom>
          <a:solidFill>
            <a:srgbClr val="E2E8F0"/>
          </a:solidFill>
          <a:ln>
            <a:noFill/>
          </a:ln>
        </p:spPr>
      </p:sp>
      <p:sp>
        <p:nvSpPr>
          <p:cNvPr id="17" name="Text 17"/>
          <p:cNvSpPr txBox="1"/>
          <p:nvPr/>
        </p:nvSpPr>
        <p:spPr>
          <a:xfrm>
            <a:off x="711200" y="39105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04</a:t>
            </a:r>
            <a:endParaRPr lang="en-US" sz="1500" dirty="0"/>
          </a:p>
        </p:txBody>
      </p:sp>
      <p:sp>
        <p:nvSpPr>
          <p:cNvPr id="18" name="Text 18"/>
          <p:cNvSpPr txBox="1"/>
          <p:nvPr/>
        </p:nvSpPr>
        <p:spPr>
          <a:xfrm>
            <a:off x="1320800" y="39105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Project profiles and concrete first contributions</a:t>
            </a:r>
            <a:endParaRPr lang="en-US" sz="1500" dirty="0"/>
          </a:p>
        </p:txBody>
      </p:sp>
      <p:sp>
        <p:nvSpPr>
          <p:cNvPr id="19" name="Shape 19"/>
          <p:cNvSpPr/>
          <p:nvPr/>
        </p:nvSpPr>
        <p:spPr>
          <a:xfrm>
            <a:off x="711200" y="4570984"/>
            <a:ext cx="5130800" cy="9525"/>
          </a:xfrm>
          <a:prstGeom prst="rect">
            <a:avLst/>
          </a:prstGeom>
          <a:solidFill>
            <a:srgbClr val="E2E8F0"/>
          </a:solidFill>
          <a:ln>
            <a:noFill/>
          </a:ln>
        </p:spPr>
      </p:sp>
      <p:sp>
        <p:nvSpPr>
          <p:cNvPr id="20" name="Text 20"/>
          <p:cNvSpPr txBox="1"/>
          <p:nvPr/>
        </p:nvSpPr>
        <p:spPr>
          <a:xfrm>
            <a:off x="6350000" y="17007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05</a:t>
            </a:r>
            <a:endParaRPr lang="en-US" sz="1500" dirty="0"/>
          </a:p>
        </p:txBody>
      </p:sp>
      <p:sp>
        <p:nvSpPr>
          <p:cNvPr id="21" name="Text 21"/>
          <p:cNvSpPr txBox="1"/>
          <p:nvPr/>
        </p:nvSpPr>
        <p:spPr>
          <a:xfrm>
            <a:off x="6959600" y="17007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What carries over, and what you must learn</a:t>
            </a:r>
            <a:endParaRPr lang="en-US" sz="1500" dirty="0"/>
          </a:p>
        </p:txBody>
      </p:sp>
      <p:sp>
        <p:nvSpPr>
          <p:cNvPr id="22" name="Shape 22"/>
          <p:cNvSpPr/>
          <p:nvPr/>
        </p:nvSpPr>
        <p:spPr>
          <a:xfrm>
            <a:off x="6350000" y="2361184"/>
            <a:ext cx="5130800" cy="9525"/>
          </a:xfrm>
          <a:prstGeom prst="rect">
            <a:avLst/>
          </a:prstGeom>
          <a:solidFill>
            <a:srgbClr val="E2E8F0"/>
          </a:solidFill>
          <a:ln>
            <a:noFill/>
          </a:ln>
        </p:spPr>
      </p:sp>
      <p:sp>
        <p:nvSpPr>
          <p:cNvPr id="23" name="Text 23"/>
          <p:cNvSpPr txBox="1"/>
          <p:nvPr/>
        </p:nvSpPr>
        <p:spPr>
          <a:xfrm>
            <a:off x="6350000" y="24373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06</a:t>
            </a:r>
            <a:endParaRPr lang="en-US" sz="1500" dirty="0"/>
          </a:p>
        </p:txBody>
      </p:sp>
      <p:sp>
        <p:nvSpPr>
          <p:cNvPr id="24" name="Text 24"/>
          <p:cNvSpPr txBox="1"/>
          <p:nvPr/>
        </p:nvSpPr>
        <p:spPr>
          <a:xfrm>
            <a:off x="6959600" y="24373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Career signal: what employers ask for</a:t>
            </a:r>
            <a:endParaRPr lang="en-US" sz="1500" dirty="0"/>
          </a:p>
        </p:txBody>
      </p:sp>
      <p:sp>
        <p:nvSpPr>
          <p:cNvPr id="25" name="Shape 25"/>
          <p:cNvSpPr/>
          <p:nvPr/>
        </p:nvSpPr>
        <p:spPr>
          <a:xfrm>
            <a:off x="6350000" y="3097784"/>
            <a:ext cx="5130800" cy="9525"/>
          </a:xfrm>
          <a:prstGeom prst="rect">
            <a:avLst/>
          </a:prstGeom>
          <a:solidFill>
            <a:srgbClr val="E2E8F0"/>
          </a:solidFill>
          <a:ln>
            <a:noFill/>
          </a:ln>
        </p:spPr>
      </p:sp>
      <p:sp>
        <p:nvSpPr>
          <p:cNvPr id="26" name="Text 26"/>
          <p:cNvSpPr txBox="1"/>
          <p:nvPr/>
        </p:nvSpPr>
        <p:spPr>
          <a:xfrm>
            <a:off x="6350000" y="31739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07</a:t>
            </a:r>
            <a:endParaRPr lang="en-US" sz="1500" dirty="0"/>
          </a:p>
        </p:txBody>
      </p:sp>
      <p:sp>
        <p:nvSpPr>
          <p:cNvPr id="27" name="Text 27"/>
          <p:cNvSpPr txBox="1"/>
          <p:nvPr/>
        </p:nvSpPr>
        <p:spPr>
          <a:xfrm>
            <a:off x="6959600" y="31739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Staged roadmap: first 30, 90 and 180 days</a:t>
            </a:r>
            <a:endParaRPr lang="en-US" sz="1500" dirty="0"/>
          </a:p>
        </p:txBody>
      </p:sp>
      <p:sp>
        <p:nvSpPr>
          <p:cNvPr id="28" name="Shape 28"/>
          <p:cNvSpPr/>
          <p:nvPr/>
        </p:nvSpPr>
        <p:spPr>
          <a:xfrm>
            <a:off x="6350000" y="3834384"/>
            <a:ext cx="5130800" cy="9525"/>
          </a:xfrm>
          <a:prstGeom prst="rect">
            <a:avLst/>
          </a:prstGeom>
          <a:solidFill>
            <a:srgbClr val="E2E8F0"/>
          </a:solidFill>
          <a:ln>
            <a:noFill/>
          </a:ln>
        </p:spPr>
      </p:sp>
      <p:sp>
        <p:nvSpPr>
          <p:cNvPr id="29" name="Text 29"/>
          <p:cNvSpPr txBox="1"/>
          <p:nvPr/>
        </p:nvSpPr>
        <p:spPr>
          <a:xfrm>
            <a:off x="6350000" y="39105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08</a:t>
            </a:r>
            <a:endParaRPr lang="en-US" sz="1500" dirty="0"/>
          </a:p>
        </p:txBody>
      </p:sp>
      <p:sp>
        <p:nvSpPr>
          <p:cNvPr id="30" name="Text 30"/>
          <p:cNvSpPr txBox="1"/>
          <p:nvPr/>
        </p:nvSpPr>
        <p:spPr>
          <a:xfrm>
            <a:off x="6959600" y="39105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Limitations and data gaps</a:t>
            </a:r>
            <a:endParaRPr lang="en-US" sz="1500" dirty="0"/>
          </a:p>
        </p:txBody>
      </p:sp>
      <p:sp>
        <p:nvSpPr>
          <p:cNvPr id="31" name="Shape 31"/>
          <p:cNvSpPr/>
          <p:nvPr/>
        </p:nvSpPr>
        <p:spPr>
          <a:xfrm>
            <a:off x="6350000" y="4570984"/>
            <a:ext cx="5130800" cy="9525"/>
          </a:xfrm>
          <a:prstGeom prst="rect">
            <a:avLst/>
          </a:prstGeom>
          <a:solidFill>
            <a:srgbClr val="E2E8F0"/>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THE SHORT ANSWER</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Open-Source Paths into LLM Inference for SRE and Go Engineers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a:t>
            </a:r>
            <a:endParaRPr lang="en-US" sz="850" dirty="0"/>
          </a:p>
        </p:txBody>
      </p:sp>
      <p:sp>
        <p:nvSpPr>
          <p:cNvPr id="8" name="Text 8"/>
          <p:cNvSpPr txBox="1"/>
          <p:nvPr/>
        </p:nvSpPr>
        <p:spPr>
          <a:xfrm>
            <a:off x="711200" y="2106168"/>
            <a:ext cx="8831072" cy="4142232"/>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Start with the Kubernetes layer of the LLM inference stack, not the serving engines.</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llm-d is the best single place to start. It was founded in May 2025 by Red Hat, Google Cloud, IBM Research, CoreWeave and NVIDIA, and the CNCF accepted it as a Sandbox project on 2026-03-12</a:t>
            </a:r>
            <a:r>
              <a:rPr lang="en-US" sz="1700" baseline="30000" dirty="0">
                <a:solidFill>
                  <a:srgbClr val="64748B"/>
                </a:solidFill>
                <a:latin typeface="Arial"/>
                <a:cs typeface="Arial"/>
              </a:rPr>
              <a:t> 22,23,24,25,26,27,28</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KServe comes second. It is a CNCF incubating project (accepted 2025-09-29), 64.3% Go, and shipped four minor releases, v0.18 to v0.21, between April and September 2026</a:t>
            </a:r>
            <a:r>
              <a:rPr lang="en-US" sz="1700" baseline="30000" dirty="0">
                <a:solidFill>
                  <a:srgbClr val="64748B"/>
                </a:solidFill>
                <a:latin typeface="Arial"/>
                <a:cs typeface="Arial"/>
              </a:rPr>
              <a:t> 1,2,3,4,5,6,7,8,9,10,11,12,13,14,15,16,17,18,19,20,21,22,23,24,25,26,36,37,38</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main problem is getting in. Labelled beginner work is scarce exactly where the inference signal is strongest.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NOT VERIFIED BY FACT-CHECK</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Points the fact checker could not verify</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4</a:t>
            </a:r>
            <a:endParaRPr lang="en-US" sz="850" dirty="0"/>
          </a:p>
        </p:txBody>
      </p:sp>
      <p:sp>
        <p:nvSpPr>
          <p:cNvPr id="8" name="Shape 8"/>
          <p:cNvSpPr/>
          <p:nvPr/>
        </p:nvSpPr>
        <p:spPr>
          <a:xfrm>
            <a:off x="711200" y="1700784"/>
            <a:ext cx="10769600" cy="4547616"/>
          </a:xfrm>
          <a:prstGeom prst="roundRect">
            <a:avLst>
              <a:gd name="adj" fmla="val 3351"/>
            </a:avLst>
          </a:prstGeom>
          <a:solidFill>
            <a:srgbClr val="FEF3F2"/>
          </a:solidFill>
          <a:ln w="9525" cap="rnd">
            <a:solidFill>
              <a:srgbClr val="E1A7A3"/>
            </a:solidFill>
            <a:round/>
          </a:ln>
        </p:spPr>
      </p:sp>
      <p:sp>
        <p:nvSpPr>
          <p:cNvPr id="9" name="Text 9"/>
          <p:cNvSpPr txBox="1"/>
          <p:nvPr/>
        </p:nvSpPr>
        <p:spPr>
          <a:xfrm>
            <a:off x="711200" y="1700784"/>
            <a:ext cx="10769600" cy="4547616"/>
          </a:xfrm>
          <a:prstGeom prst="rect">
            <a:avLst/>
          </a:prstGeom>
          <a:noFill/>
          <a:ln>
            <a:noFill/>
          </a:ln>
        </p:spPr>
        <p:txBody>
          <a:bodyPr wrap="square" lIns="279400" tIns="228600" rIns="279400" bIns="177800" anchor="t">
            <a:noAutofit/>
          </a:bodyPr>
          <a:lstStyle/>
          <a:p>
            <a:pPr algn="l">
              <a:lnSpc>
                <a:spcPct val="108000"/>
              </a:lnSpc>
              <a:spcBef>
                <a:spcPts val="0"/>
              </a:spcBef>
              <a:spcAft>
                <a:spcPts val="1000"/>
              </a:spcAft>
              <a:buNone/>
            </a:pPr>
            <a:r>
              <a:rPr lang="en-US" sz="1300" b="1" dirty="0">
                <a:solidFill>
                  <a:srgbClr val="B42318"/>
                </a:solidFill>
                <a:latin typeface="Arial"/>
                <a:cs typeface="Arial"/>
              </a:rPr>
              <a:t>Treat any statement in this deck that touches on the following as unconfirmed.</a:t>
            </a:r>
            <a:endParaRPr lang="en-US" sz="1300" dirty="0"/>
          </a:p>
          <a:p>
            <a:pPr marL="189865" indent="-189865" algn="l">
              <a:lnSpc>
                <a:spcPct val="114000"/>
              </a:lnSpc>
              <a:spcBef>
                <a:spcPts val="0"/>
              </a:spcBef>
              <a:spcAft>
                <a:spcPts val="650"/>
              </a:spcAft>
              <a:buClr>
                <a:srgbClr val="B42318"/>
              </a:buClr>
              <a:buFont typeface="Arial"/>
              <a:buChar char="•"/>
            </a:pPr>
            <a:r>
              <a:rPr lang="en-US" sz="1300" dirty="0">
                <a:solidFill>
                  <a:srgbClr val="0F172A"/>
                </a:solidFill>
                <a:latin typeface="Arial"/>
                <a:cs typeface="Arial"/>
              </a:rPr>
              <a:t>No verified data available for AI chip market size in 2025</a:t>
            </a:r>
            <a:endParaRPr lang="en-US" sz="1300" dirty="0"/>
          </a:p>
          <a:p>
            <a:pPr marL="189865" indent="-189865" algn="l">
              <a:lnSpc>
                <a:spcPct val="114000"/>
              </a:lnSpc>
              <a:spcBef>
                <a:spcPts val="0"/>
              </a:spcBef>
              <a:spcAft>
                <a:spcPts val="650"/>
              </a:spcAft>
              <a:buClr>
                <a:srgbClr val="B42318"/>
              </a:buClr>
              <a:buFont typeface="Arial"/>
              <a:buChar char="•"/>
            </a:pPr>
            <a:r>
              <a:rPr lang="en-US" sz="1300" dirty="0">
                <a:solidFill>
                  <a:srgbClr val="0F172A"/>
                </a:solidFill>
                <a:latin typeface="Arial"/>
                <a:cs typeface="Arial"/>
              </a:rPr>
              <a:t>No verified data available for NVIDIA AI chip revenue in 2025</a:t>
            </a:r>
            <a:endParaRPr lang="en-US" sz="1300" dirty="0"/>
          </a:p>
          <a:p>
            <a:pPr marL="189865" indent="-189865" algn="l">
              <a:lnSpc>
                <a:spcPct val="114000"/>
              </a:lnSpc>
              <a:spcBef>
                <a:spcPts val="0"/>
              </a:spcBef>
              <a:spcAft>
                <a:spcPts val="650"/>
              </a:spcAft>
              <a:buClr>
                <a:srgbClr val="B42318"/>
              </a:buClr>
              <a:buFont typeface="Arial"/>
              <a:buChar char="•"/>
            </a:pPr>
            <a:r>
              <a:rPr lang="en-US" sz="1300" dirty="0">
                <a:solidFill>
                  <a:srgbClr val="0F172A"/>
                </a:solidFill>
                <a:latin typeface="Arial"/>
                <a:cs typeface="Arial"/>
              </a:rPr>
              <a:t>No verified data available for AMD AI chip market share in 2025</a:t>
            </a:r>
            <a:endParaRPr lang="en-US" sz="1300" dirty="0"/>
          </a:p>
          <a:p>
            <a:pPr marL="189865" indent="-189865" algn="l">
              <a:lnSpc>
                <a:spcPct val="114000"/>
              </a:lnSpc>
              <a:spcBef>
                <a:spcPts val="0"/>
              </a:spcBef>
              <a:spcAft>
                <a:spcPts val="650"/>
              </a:spcAft>
              <a:buClr>
                <a:srgbClr val="B42318"/>
              </a:buClr>
              <a:buFont typeface="Arial"/>
              <a:buChar char="•"/>
            </a:pPr>
            <a:r>
              <a:rPr lang="en-US" sz="1300" dirty="0">
                <a:solidFill>
                  <a:srgbClr val="0F172A"/>
                </a:solidFill>
                <a:latin typeface="Arial"/>
                <a:cs typeface="Arial"/>
              </a:rPr>
              <a:t>No verified growth rate data for AI chip market in 2025</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KEY FINDINGS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the evidence shows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5</a:t>
            </a:r>
            <a:endParaRPr lang="en-US" sz="850" dirty="0"/>
          </a:p>
        </p:txBody>
      </p:sp>
      <p:sp>
        <p:nvSpPr>
          <p:cNvPr id="8" name="Shape 8"/>
          <p:cNvSpPr/>
          <p:nvPr/>
        </p:nvSpPr>
        <p:spPr>
          <a:xfrm>
            <a:off x="711200" y="1700784"/>
            <a:ext cx="3454400" cy="2172208"/>
          </a:xfrm>
          <a:prstGeom prst="roundRect">
            <a:avLst>
              <a:gd name="adj" fmla="val 7015"/>
            </a:avLst>
          </a:prstGeom>
          <a:solidFill>
            <a:srgbClr val="FFFFFF"/>
          </a:solidFill>
          <a:ln w="9525" cap="rnd">
            <a:solidFill>
              <a:srgbClr val="E2E8F0"/>
            </a:solidFill>
            <a:round/>
          </a:ln>
        </p:spPr>
      </p:sp>
      <p:sp>
        <p:nvSpPr>
          <p:cNvPr id="9" name="Text 9"/>
          <p:cNvSpPr txBox="1"/>
          <p:nvPr/>
        </p:nvSpPr>
        <p:spPr>
          <a:xfrm>
            <a:off x="9144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01</a:t>
            </a:r>
            <a:endParaRPr lang="en-US" sz="1050" dirty="0"/>
          </a:p>
        </p:txBody>
      </p:sp>
      <p:sp>
        <p:nvSpPr>
          <p:cNvPr id="10" name="Text 10"/>
          <p:cNvSpPr txBox="1"/>
          <p:nvPr/>
        </p:nvSpPr>
        <p:spPr>
          <a:xfrm>
            <a:off x="914400" y="2335784"/>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Go stops at the serving engine: the control-plane and scheduling projects are 64.3–98.5% Go, while vLLM is 0% Go.</a:t>
            </a:r>
            <a:endParaRPr lang="en-US" sz="1300" dirty="0"/>
          </a:p>
          <a:p>
            <a:pPr algn="l">
              <a:lnSpc>
                <a:spcPct val="116000"/>
              </a:lnSpc>
              <a:spcBef>
                <a:spcPts val="0"/>
              </a:spcBef>
              <a:spcAft>
                <a:spcPts val="0"/>
              </a:spcAft>
              <a:buNone/>
            </a:pPr>
            <a:r>
              <a:rPr lang="en-US" sz="1050" dirty="0">
                <a:solidFill>
                  <a:srgbClr val="64748B"/>
                </a:solidFill>
                <a:latin typeface="Arial"/>
                <a:cs typeface="Arial"/>
              </a:rPr>
              <a:t>KAI Scheduler is 98.5% Go, LWS 95.9%, Kueue 94.3%, GAIE 88.6% and KServe 64.3%. vLLM is 85.0% Python, and Dynamo's core is 52.8% Rust</a:t>
            </a:r>
            <a:r>
              <a:rPr lang="en-US" sz="1050" baseline="30000" dirty="0">
                <a:solidFill>
                  <a:srgbClr val="64748B"/>
                </a:solidFill>
                <a:latin typeface="Arial"/>
                <a:cs typeface="Arial"/>
              </a:rPr>
              <a:t> 1,2,3,4,5,6,7,8,9,10,11,12,13,14,15,16,17,18,19,20,21</a:t>
            </a:r>
            <a:r>
              <a:rPr lang="en-US" sz="1050" dirty="0">
                <a:solidFill>
                  <a:srgbClr val="64748B"/>
                </a:solidFill>
                <a:latin typeface="Arial"/>
                <a:cs typeface="Arial"/>
              </a:rPr>
              <a:t>.</a:t>
            </a:r>
            <a:endParaRPr lang="en-US" sz="1050" dirty="0"/>
          </a:p>
        </p:txBody>
      </p:sp>
      <p:sp>
        <p:nvSpPr>
          <p:cNvPr id="11" name="Shape 11"/>
          <p:cNvSpPr/>
          <p:nvPr/>
        </p:nvSpPr>
        <p:spPr>
          <a:xfrm>
            <a:off x="4368800" y="1700784"/>
            <a:ext cx="3454400" cy="2172208"/>
          </a:xfrm>
          <a:prstGeom prst="roundRect">
            <a:avLst>
              <a:gd name="adj" fmla="val 7015"/>
            </a:avLst>
          </a:prstGeom>
          <a:solidFill>
            <a:srgbClr val="FFFFFF"/>
          </a:solidFill>
          <a:ln w="9525" cap="rnd">
            <a:solidFill>
              <a:srgbClr val="E2E8F0"/>
            </a:solidFill>
            <a:round/>
          </a:ln>
        </p:spPr>
      </p:sp>
      <p:sp>
        <p:nvSpPr>
          <p:cNvPr id="12" name="Text 12"/>
          <p:cNvSpPr txBox="1"/>
          <p:nvPr/>
        </p:nvSpPr>
        <p:spPr>
          <a:xfrm>
            <a:off x="45720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02</a:t>
            </a:r>
            <a:endParaRPr lang="en-US" sz="1050" dirty="0"/>
          </a:p>
        </p:txBody>
      </p:sp>
      <p:sp>
        <p:nvSpPr>
          <p:cNvPr id="13" name="Text 13"/>
          <p:cNvSpPr txBox="1"/>
          <p:nvPr/>
        </p:nvSpPr>
        <p:spPr>
          <a:xfrm>
            <a:off x="4572000" y="2335784"/>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llm-d is the best single project for a Go SRE, with at least 6 Go repositories and SIGs for installation, observability, benchmarking and autoscaling.</a:t>
            </a:r>
            <a:endParaRPr lang="en-US" sz="1300" dirty="0"/>
          </a:p>
          <a:p>
            <a:pPr algn="l">
              <a:lnSpc>
                <a:spcPct val="116000"/>
              </a:lnSpc>
              <a:spcBef>
                <a:spcPts val="0"/>
              </a:spcBef>
              <a:spcAft>
                <a:spcPts val="0"/>
              </a:spcAft>
              <a:buNone/>
            </a:pPr>
            <a:r>
              <a:rPr lang="en-US" sz="1050" dirty="0">
                <a:solidFill>
                  <a:srgbClr val="64748B"/>
                </a:solidFill>
                <a:latin typeface="Arial"/>
                <a:cs typeface="Arial"/>
              </a:rPr>
              <a:t>Its CONTRIBUTING file asks for load and chaos testing, docs and dependency updates.</a:t>
            </a:r>
            <a:endParaRPr lang="en-US" sz="1050" dirty="0"/>
          </a:p>
        </p:txBody>
      </p:sp>
      <p:sp>
        <p:nvSpPr>
          <p:cNvPr id="14" name="Shape 14"/>
          <p:cNvSpPr/>
          <p:nvPr/>
        </p:nvSpPr>
        <p:spPr>
          <a:xfrm>
            <a:off x="8026400" y="1700784"/>
            <a:ext cx="3454400" cy="2172208"/>
          </a:xfrm>
          <a:prstGeom prst="roundRect">
            <a:avLst>
              <a:gd name="adj" fmla="val 7015"/>
            </a:avLst>
          </a:prstGeom>
          <a:solidFill>
            <a:srgbClr val="FFFFFF"/>
          </a:solidFill>
          <a:ln w="9525" cap="rnd">
            <a:solidFill>
              <a:srgbClr val="E2E8F0"/>
            </a:solidFill>
            <a:round/>
          </a:ln>
        </p:spPr>
      </p:sp>
      <p:sp>
        <p:nvSpPr>
          <p:cNvPr id="15" name="Text 15"/>
          <p:cNvSpPr txBox="1"/>
          <p:nvPr/>
        </p:nvSpPr>
        <p:spPr>
          <a:xfrm>
            <a:off x="82296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03</a:t>
            </a:r>
            <a:endParaRPr lang="en-US" sz="1050" dirty="0"/>
          </a:p>
        </p:txBody>
      </p:sp>
      <p:sp>
        <p:nvSpPr>
          <p:cNvPr id="16" name="Text 16"/>
          <p:cNvSpPr txBox="1"/>
          <p:nvPr/>
        </p:nvSpPr>
        <p:spPr>
          <a:xfrm>
            <a:off x="8229600" y="2335784"/>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In 2026, routing logic moved from the Kubernetes SIG repository to llm-d.</a:t>
            </a:r>
            <a:endParaRPr lang="en-US" sz="1300" dirty="0"/>
          </a:p>
          <a:p>
            <a:pPr algn="l">
              <a:lnSpc>
                <a:spcPct val="116000"/>
              </a:lnSpc>
              <a:spcBef>
                <a:spcPts val="0"/>
              </a:spcBef>
              <a:spcAft>
                <a:spcPts val="0"/>
              </a:spcAft>
              <a:buNone/>
            </a:pPr>
            <a:r>
              <a:rPr lang="en-US" sz="1050" dirty="0">
                <a:solidFill>
                  <a:srgbClr val="64748B"/>
                </a:solidFill>
                <a:latin typeface="Arial"/>
                <a:cs typeface="Arial"/>
              </a:rPr>
              <a:t>WG Serving concluded (announced 2026-02-26), and GAIE v1.6.0 (August 2026) moved the full EPP and latency predictor into the llm-d org.</a:t>
            </a:r>
            <a:endParaRPr lang="en-US" sz="1050" dirty="0"/>
          </a:p>
        </p:txBody>
      </p:sp>
      <p:sp>
        <p:nvSpPr>
          <p:cNvPr id="17" name="Shape 17"/>
          <p:cNvSpPr/>
          <p:nvPr/>
        </p:nvSpPr>
        <p:spPr>
          <a:xfrm>
            <a:off x="711200" y="4076192"/>
            <a:ext cx="3454400" cy="2172208"/>
          </a:xfrm>
          <a:prstGeom prst="roundRect">
            <a:avLst>
              <a:gd name="adj" fmla="val 7015"/>
            </a:avLst>
          </a:prstGeom>
          <a:solidFill>
            <a:srgbClr val="FFFFFF"/>
          </a:solidFill>
          <a:ln w="9525" cap="rnd">
            <a:solidFill>
              <a:srgbClr val="E2E8F0"/>
            </a:solidFill>
            <a:round/>
          </a:ln>
        </p:spPr>
      </p:sp>
      <p:sp>
        <p:nvSpPr>
          <p:cNvPr id="18" name="Text 18"/>
          <p:cNvSpPr txBox="1"/>
          <p:nvPr/>
        </p:nvSpPr>
        <p:spPr>
          <a:xfrm>
            <a:off x="914400" y="4279392"/>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04</a:t>
            </a:r>
            <a:endParaRPr lang="en-US" sz="1050" dirty="0"/>
          </a:p>
        </p:txBody>
      </p:sp>
      <p:sp>
        <p:nvSpPr>
          <p:cNvPr id="19" name="Text 19"/>
          <p:cNvSpPr txBox="1"/>
          <p:nvPr/>
        </p:nvSpPr>
        <p:spPr>
          <a:xfrm>
            <a:off x="914400" y="4711192"/>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Labelled newcomer work is scarce: 1 good-first-issue in llm-d's main repo, 0 in GAIE and 1 in KServe on 2026-09-30.</a:t>
            </a:r>
            <a:endParaRPr lang="en-US" sz="1300" dirty="0"/>
          </a:p>
          <a:p>
            <a:pPr algn="l">
              <a:lnSpc>
                <a:spcPct val="116000"/>
              </a:lnSpc>
              <a:spcBef>
                <a:spcPts val="0"/>
              </a:spcBef>
              <a:spcAft>
                <a:spcPts val="0"/>
              </a:spcAft>
              <a:buNone/>
            </a:pPr>
            <a:r>
              <a:rPr lang="en-US" sz="1050" dirty="0">
                <a:solidFill>
                  <a:srgbClr val="64748B"/>
                </a:solidFill>
                <a:latin typeface="Arial"/>
                <a:cs typeface="Arial"/>
              </a:rPr>
              <a:t>vLLM (10) and Kueue (4) had the most. All 3 good-first-issues in llm-d-router require prefix-cache/TTFT or KV-transfer knowledge</a:t>
            </a:r>
            <a:r>
              <a:rPr lang="en-US" sz="1050" baseline="30000" dirty="0">
                <a:solidFill>
                  <a:srgbClr val="64748B"/>
                </a:solidFill>
                <a:latin typeface="Arial"/>
                <a:cs typeface="Arial"/>
              </a:rPr>
              <a:t> 33,41,42,43,44,45,46,74</a:t>
            </a:r>
            <a:r>
              <a:rPr lang="en-US" sz="1050" dirty="0">
                <a:solidFill>
                  <a:srgbClr val="64748B"/>
                </a:solidFill>
                <a:latin typeface="Arial"/>
                <a:cs typeface="Arial"/>
              </a:rPr>
              <a:t>.</a:t>
            </a:r>
            <a:endParaRPr lang="en-US" sz="1050" dirty="0"/>
          </a:p>
        </p:txBody>
      </p:sp>
      <p:sp>
        <p:nvSpPr>
          <p:cNvPr id="20" name="Shape 20"/>
          <p:cNvSpPr/>
          <p:nvPr/>
        </p:nvSpPr>
        <p:spPr>
          <a:xfrm>
            <a:off x="4368800" y="4076192"/>
            <a:ext cx="3454400" cy="2172208"/>
          </a:xfrm>
          <a:prstGeom prst="roundRect">
            <a:avLst>
              <a:gd name="adj" fmla="val 7015"/>
            </a:avLst>
          </a:prstGeom>
          <a:solidFill>
            <a:srgbClr val="FFFFFF"/>
          </a:solidFill>
          <a:ln w="9525" cap="rnd">
            <a:solidFill>
              <a:srgbClr val="E2E8F0"/>
            </a:solidFill>
            <a:round/>
          </a:ln>
        </p:spPr>
      </p:sp>
      <p:sp>
        <p:nvSpPr>
          <p:cNvPr id="21" name="Text 21"/>
          <p:cNvSpPr txBox="1"/>
          <p:nvPr/>
        </p:nvSpPr>
        <p:spPr>
          <a:xfrm>
            <a:off x="4572000" y="4279392"/>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05</a:t>
            </a:r>
            <a:endParaRPr lang="en-US" sz="1050" dirty="0"/>
          </a:p>
        </p:txBody>
      </p:sp>
      <p:sp>
        <p:nvSpPr>
          <p:cNvPr id="22" name="Text 22"/>
          <p:cNvSpPr txBox="1"/>
          <p:nvPr/>
        </p:nvSpPr>
        <p:spPr>
          <a:xfrm>
            <a:off x="4572000" y="4711192"/>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Observability is the shortest bridge from SRE to inference work.</a:t>
            </a:r>
            <a:endParaRPr lang="en-US" sz="1300" dirty="0"/>
          </a:p>
          <a:p>
            <a:pPr algn="l">
              <a:lnSpc>
                <a:spcPct val="116000"/>
              </a:lnSpc>
              <a:spcBef>
                <a:spcPts val="0"/>
              </a:spcBef>
              <a:spcAft>
                <a:spcPts val="0"/>
              </a:spcAft>
              <a:buNone/>
            </a:pPr>
            <a:r>
              <a:rPr lang="en-US" sz="1050" dirty="0">
                <a:solidFill>
                  <a:srgbClr val="64748B"/>
                </a:solidFill>
                <a:latin typeface="Arial"/>
                <a:cs typeface="Arial"/>
              </a:rPr>
              <a:t>vLLM exports Prometheus metrics for TTFT, ITL, queue depth and KV-cache usage. llm-d renamed its router metrics to llm_d_epp_* in v0.10, and its August 2026 tracing post asks for missing spans and Collector recipes</a:t>
            </a:r>
            <a:r>
              <a:rPr lang="en-US" sz="1050" baseline="30000" dirty="0">
                <a:solidFill>
                  <a:srgbClr val="64748B"/>
                </a:solidFill>
                <a:latin typeface="Arial"/>
                <a:cs typeface="Arial"/>
              </a:rPr>
              <a:t> 75,76,77,78</a:t>
            </a:r>
            <a:r>
              <a:rPr lang="en-US" sz="1050" dirty="0">
                <a:solidFill>
                  <a:srgbClr val="64748B"/>
                </a:solidFill>
                <a:latin typeface="Arial"/>
                <a:cs typeface="Arial"/>
              </a:rPr>
              <a:t>.</a:t>
            </a:r>
            <a:endParaRPr lang="en-US" sz="1050" dirty="0"/>
          </a:p>
        </p:txBody>
      </p:sp>
      <p:sp>
        <p:nvSpPr>
          <p:cNvPr id="23" name="Shape 23"/>
          <p:cNvSpPr/>
          <p:nvPr/>
        </p:nvSpPr>
        <p:spPr>
          <a:xfrm>
            <a:off x="8026400" y="4076192"/>
            <a:ext cx="3454400" cy="2172208"/>
          </a:xfrm>
          <a:prstGeom prst="roundRect">
            <a:avLst>
              <a:gd name="adj" fmla="val 7015"/>
            </a:avLst>
          </a:prstGeom>
          <a:solidFill>
            <a:srgbClr val="FFFFFF"/>
          </a:solidFill>
          <a:ln w="9525" cap="rnd">
            <a:solidFill>
              <a:srgbClr val="E2E8F0"/>
            </a:solidFill>
            <a:round/>
          </a:ln>
        </p:spPr>
      </p:sp>
      <p:sp>
        <p:nvSpPr>
          <p:cNvPr id="24" name="Text 24"/>
          <p:cNvSpPr txBox="1"/>
          <p:nvPr/>
        </p:nvSpPr>
        <p:spPr>
          <a:xfrm>
            <a:off x="8229600" y="4279392"/>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06</a:t>
            </a:r>
            <a:endParaRPr lang="en-US" sz="1050" dirty="0"/>
          </a:p>
        </p:txBody>
      </p:sp>
      <p:sp>
        <p:nvSpPr>
          <p:cNvPr id="25" name="Text 25"/>
          <p:cNvSpPr txBox="1"/>
          <p:nvPr/>
        </p:nvSpPr>
        <p:spPr>
          <a:xfrm>
            <a:off x="8229600" y="4711192"/>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All 3 sampled 2026 inference postings require Kubernetes and name Go, but 3 postings is a small sample.</a:t>
            </a:r>
            <a:endParaRPr lang="en-US" sz="1300" dirty="0"/>
          </a:p>
          <a:p>
            <a:pPr algn="l">
              <a:lnSpc>
                <a:spcPct val="116000"/>
              </a:lnSpc>
              <a:spcBef>
                <a:spcPts val="0"/>
              </a:spcBef>
              <a:spcAft>
                <a:spcPts val="0"/>
              </a:spcAft>
              <a:buNone/>
            </a:pPr>
            <a:r>
              <a:rPr lang="en-US" sz="1050" dirty="0">
                <a:solidFill>
                  <a:srgbClr val="64748B"/>
                </a:solidFill>
                <a:latin typeface="Arial"/>
                <a:cs typeface="Arial"/>
              </a:rPr>
              <a:t>vLLM appears in 2 of the 3, and llm-d and KServe in 1 each. The Red Hat posting accepts SRE backgrounds and prefers KServe/vLLM contributions</a:t>
            </a:r>
            <a:r>
              <a:rPr lang="en-US" sz="1050" baseline="30000" dirty="0">
                <a:solidFill>
                  <a:srgbClr val="64748B"/>
                </a:solidFill>
                <a:latin typeface="Arial"/>
                <a:cs typeface="Arial"/>
              </a:rPr>
              <a:t> 69,70,71</a:t>
            </a:r>
            <a:r>
              <a:rPr lang="en-US" sz="1050" dirty="0">
                <a:solidFill>
                  <a:srgbClr val="64748B"/>
                </a:solidFill>
                <a:latin typeface="Arial"/>
                <a:cs typeface="Arial"/>
              </a:rPr>
              <a: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WHERE TO SPEND YOUR CONTRIBUTION TIME</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Where to spend your contribution time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6</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ranking weighs four things: how much Go the project contains, how closely its open work matches SRE tasks, how active and well governed it is, and how directly employers name it.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WHERE TO SPEND YOUR CONTRIBUTION TIME · TABLE 1</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Ranked candidate projects for a Go-fluent SRE, September 2026</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7</a:t>
            </a:r>
            <a:endParaRPr lang="en-US" sz="850" dirty="0"/>
          </a:p>
        </p:txBody>
      </p:sp>
      <p:graphicFrame>
        <p:nvGraphicFramePr>
          <p:cNvPr id="8" name="Table 8"/>
          <p:cNvGraphicFramePr>
            <a:graphicFrameLocks noGrp="1"/>
          </p:cNvGraphicFramePr>
          <p:nvPr/>
        </p:nvGraphicFramePr>
        <p:xfrm>
          <a:off x="711200" y="2106168"/>
          <a:ext cx="10769600" cy="2133600"/>
        </p:xfrm>
        <a:graphic>
          <a:graphicData uri="http://schemas.openxmlformats.org/drawingml/2006/table">
            <a:tbl>
              <a:tblPr firstRow="1"/>
              <a:tblGrid>
                <a:gridCol w="1093360"/>
                <a:gridCol w="2514729"/>
                <a:gridCol w="2241389"/>
                <a:gridCol w="2514729"/>
                <a:gridCol w="656016"/>
                <a:gridCol w="1749377"/>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RANK / PROJECT</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GO SHARE (% OF REPO BYTES)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STACK LAYER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GOVERNANCE AND BACKERS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GITHUB STARS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OPEN GOOD-FIRST-ISSUES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1. llm-d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Router predecessor 96.8%; router, KV-cache, sim, autoscaler repos are Go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Routing, KV-aware scheduling, autoscaling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CNCF Sandbox (2026-03-12); Red Hat, Google, IBM maintainers; NVIDIA, CoreWeave founders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4.7k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 (main repo); 3 in llm-d-router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2. KServe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64.3%</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K8s control plane (LLMInferenceService)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CNCF Incubating (2025-09-29); steering from Bloomberg, IBM, Red Hat, Google, NVIDIA and others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6.1k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3a. Kueue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94.3%</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Batch and quota scheduling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Kubernetes SIG Scheduling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3.0k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4</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3b. LeaderWorkerSet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95.9%</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Multi-node and P/D replicas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Kubernetes SIG Apps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846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4. KAI Scheduler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98.5%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GPU scheduling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CNCF Sandbox (2025-12-21); all 10 maintainers NVIDIA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1.5k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5. vLLM (edges only)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0% (Python 85.0%)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Serving engine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PyTorch Foundation-hosted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93.0k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[5], [6], [7], [8], [9], [10], [11], [12], [13], [14], [15], [16], [17], [18], [19], [20], [21], [22], [23], [24], [25], [26], [27], [28], [32], [33], [34], [39], [40], [4…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WHERE TO SPEND YOUR CONTRIBUTION TIME · TABLE 1</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Ranked candidate projects for a Go-fluent SRE, September 2026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8</a:t>
            </a:r>
            <a:endParaRPr lang="en-US" sz="850" dirty="0"/>
          </a:p>
        </p:txBody>
      </p:sp>
      <p:graphicFrame>
        <p:nvGraphicFramePr>
          <p:cNvPr id="8" name="Table 8"/>
          <p:cNvGraphicFramePr>
            <a:graphicFrameLocks noGrp="1"/>
          </p:cNvGraphicFramePr>
          <p:nvPr/>
        </p:nvGraphicFramePr>
        <p:xfrm>
          <a:off x="711200" y="2106168"/>
          <a:ext cx="10769600" cy="914400"/>
        </p:xfrm>
        <a:graphic>
          <a:graphicData uri="http://schemas.openxmlformats.org/drawingml/2006/table">
            <a:tbl>
              <a:tblPr firstRow="1"/>
              <a:tblGrid>
                <a:gridCol w="1093360"/>
                <a:gridCol w="2514729"/>
                <a:gridCol w="2241389"/>
                <a:gridCol w="2514729"/>
                <a:gridCol w="656016"/>
                <a:gridCol w="1749377"/>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RANK / PROJECT</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GO SHARE (% OF REPO BYTES)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STACK LAYER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GOVERNANCE AND BACKERS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GITHUB STARS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OPEN GOOD-FIRST-ISSUES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Secondary: GAIE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88.6%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InferencePool API, conformance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Kubernetes SIG Network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775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Secondary: Ollama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69.2%</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Local model runner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181.9k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3</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[5], [6], [7], [8], [9], [10], [11], [12], [13], [14], [15], [16], [17], [18], [19], [20], [21], [22], [23], [24], [25], [26], [27], [28], [32], [33], [34], [39], [40], [4…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WHERE TO SPEND YOUR CONTRIBUTION TIME</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Where to spend your contribution time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9</a:t>
            </a:r>
            <a:endParaRPr lang="en-US" sz="850" dirty="0"/>
          </a:p>
        </p:txBody>
      </p:sp>
      <p:sp>
        <p:nvSpPr>
          <p:cNvPr id="8" name="Shape 8"/>
          <p:cNvSpPr/>
          <p:nvPr/>
        </p:nvSpPr>
        <p:spPr>
          <a:xfrm>
            <a:off x="711200" y="5251450"/>
            <a:ext cx="10769600" cy="996950"/>
          </a:xfrm>
          <a:prstGeom prst="roundRect">
            <a:avLst>
              <a:gd name="adj" fmla="val 12738"/>
            </a:avLst>
          </a:prstGeom>
          <a:solidFill>
            <a:srgbClr val="FFFBEB"/>
          </a:solidFill>
          <a:ln>
            <a:noFill/>
          </a:ln>
        </p:spPr>
      </p:sp>
      <p:sp>
        <p:nvSpPr>
          <p:cNvPr id="9" name="Shape 9"/>
          <p:cNvSpPr/>
          <p:nvPr/>
        </p:nvSpPr>
        <p:spPr>
          <a:xfrm>
            <a:off x="711200" y="5251450"/>
            <a:ext cx="50800" cy="996950"/>
          </a:xfrm>
          <a:prstGeom prst="roundRect">
            <a:avLst>
              <a:gd name="adj" fmla="val 50000"/>
            </a:avLst>
          </a:prstGeom>
          <a:solidFill>
            <a:srgbClr val="B45309"/>
          </a:solidFill>
          <a:ln>
            <a:noFill/>
          </a:ln>
        </p:spPr>
      </p:sp>
      <p:sp>
        <p:nvSpPr>
          <p:cNvPr id="10" name="Text 10"/>
          <p:cNvSpPr txBox="1"/>
          <p:nvPr/>
        </p:nvSpPr>
        <p:spPr>
          <a:xfrm>
            <a:off x="990600" y="5403850"/>
            <a:ext cx="10210800" cy="742950"/>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B45309"/>
                </a:solidFill>
                <a:latin typeface="Arial"/>
                <a:cs typeface="Arial"/>
              </a:rPr>
              <a:t>LABELS WILL NOT FIND YOU THE WORK</a:t>
            </a:r>
            <a:endParaRPr lang="en-US" sz="850" dirty="0"/>
          </a:p>
          <a:p>
            <a:pPr algn="l">
              <a:lnSpc>
                <a:spcPct val="116000"/>
              </a:lnSpc>
              <a:spcBef>
                <a:spcPts val="0"/>
              </a:spcBef>
              <a:spcAft>
                <a:spcPts val="0"/>
              </a:spcAft>
              <a:buNone/>
            </a:pPr>
            <a:r>
              <a:rPr lang="en-US" sz="1250" dirty="0">
                <a:solidFill>
                  <a:srgbClr val="0F172A"/>
                </a:solidFill>
                <a:latin typeface="Arial"/>
                <a:cs typeface="Arial"/>
              </a:rPr>
              <a:t>The inference control-plane projects have almost no labelled beginner issues: 1 good-first-issue in llm-d's main repo and 0 in GAIE on 2026-09-30</a:t>
            </a:r>
            <a:r>
              <a:rPr lang="en-US" sz="1250" baseline="30000" dirty="0">
                <a:solidFill>
                  <a:srgbClr val="64748B"/>
                </a:solidFill>
                <a:latin typeface="Arial"/>
                <a:cs typeface="Arial"/>
              </a:rPr>
              <a:t> 41,42,43,44,45,46</a:t>
            </a:r>
            <a:r>
              <a:rPr lang="en-US" sz="1250" dirty="0">
                <a:solidFill>
                  <a:srgbClr val="0F172A"/>
                </a:solidFill>
                <a:latin typeface="Arial"/>
                <a:cs typeface="Arial"/>
              </a:rPr>
              <a:t>.</a:t>
            </a:r>
            <a:endParaRPr lang="en-US" sz="1250" dirty="0"/>
          </a:p>
        </p:txBody>
      </p:sp>
      <p:sp>
        <p:nvSpPr>
          <p:cNvPr id="11" name="Text 11"/>
          <p:cNvSpPr txBox="1"/>
          <p:nvPr/>
        </p:nvSpPr>
        <p:spPr>
          <a:xfrm>
            <a:off x="711200" y="1700784"/>
            <a:ext cx="9261856" cy="3372866"/>
          </a:xfrm>
          <a:prstGeom prst="rect">
            <a:avLst/>
          </a:prstGeom>
          <a:noFill/>
          <a:ln>
            <a:noFill/>
          </a:ln>
        </p:spPr>
        <p:txBody>
          <a:bodyPr wrap="square" lIns="0" tIns="0" rIns="0" bIns="0" anchor="t">
            <a:noAutofit/>
          </a:bodyPr>
          <a:lstStyle/>
          <a:p>
            <a:pPr marL="189865" indent="-189865" algn="l">
              <a:lnSpc>
                <a:spcPct val="118000"/>
              </a:lnSpc>
              <a:spcBef>
                <a:spcPts val="0"/>
              </a:spcBef>
              <a:spcAft>
                <a:spcPts val="975"/>
              </a:spcAft>
              <a:buClr>
                <a:srgbClr val="4F46E5"/>
              </a:buClr>
              <a:buFont typeface="Arial"/>
              <a:buChar char="•"/>
            </a:pPr>
            <a:r>
              <a:rPr lang="en-US" sz="1300" b="1" dirty="0">
                <a:solidFill>
                  <a:srgbClr val="334155"/>
                </a:solidFill>
                <a:latin typeface="Arial"/>
                <a:cs typeface="Arial"/>
              </a:rPr>
              <a:t>llm-d</a:t>
            </a:r>
            <a:r>
              <a:rPr lang="en-US" sz="1300" dirty="0">
                <a:solidFill>
                  <a:srgbClr val="334155"/>
                </a:solidFill>
                <a:latin typeface="Arial"/>
                <a:cs typeface="Arial"/>
              </a:rPr>
              <a:t>: the routing, KV-cache and autoscaling work is in Go, and SIGs exist for installation, observability and benchmarking</a:t>
            </a:r>
            <a:r>
              <a:rPr lang="en-US" sz="1300" baseline="30000" dirty="0">
                <a:solidFill>
                  <a:srgbClr val="64748B"/>
                </a:solidFill>
                <a:latin typeface="Arial"/>
                <a:cs typeface="Arial"/>
              </a:rPr>
              <a:t> 34,35</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b="1" dirty="0">
                <a:solidFill>
                  <a:srgbClr val="334155"/>
                </a:solidFill>
                <a:latin typeface="Arial"/>
                <a:cs typeface="Arial"/>
              </a:rPr>
              <a:t>KServe</a:t>
            </a:r>
            <a:r>
              <a:rPr lang="en-US" sz="1300" dirty="0">
                <a:solidFill>
                  <a:srgbClr val="334155"/>
                </a:solidFill>
                <a:latin typeface="Arial"/>
                <a:cs typeface="Arial"/>
              </a:rPr>
              <a:t>: its LLMInferenceService controller turns LLM deployments into Gateway, HTTPRoute, InferencePool and LWS resources, which is standard controller and Helm work</a:t>
            </a:r>
            <a:r>
              <a:rPr lang="en-US" sz="1300" baseline="30000" dirty="0">
                <a:solidFill>
                  <a:srgbClr val="64748B"/>
                </a:solidFill>
                <a:latin typeface="Arial"/>
                <a:cs typeface="Arial"/>
              </a:rPr>
              <a:t> 83,84</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b="1" dirty="0">
                <a:solidFill>
                  <a:srgbClr val="334155"/>
                </a:solidFill>
                <a:latin typeface="Arial"/>
                <a:cs typeface="Arial"/>
              </a:rPr>
              <a:t>Kueue + LWS</a:t>
            </a:r>
            <a:r>
              <a:rPr lang="en-US" sz="1300" dirty="0">
                <a:solidFill>
                  <a:srgbClr val="334155"/>
                </a:solidFill>
                <a:latin typeface="Arial"/>
                <a:cs typeface="Arial"/>
              </a:rPr>
              <a:t>: the easiest Go entry points, run by Kubernetes-SIGs; LWS supplies the multi-node and P/D replicas that llm-d and KServe depend on</a:t>
            </a:r>
            <a:r>
              <a:rPr lang="en-US" sz="1300" baseline="30000" dirty="0">
                <a:solidFill>
                  <a:srgbClr val="64748B"/>
                </a:solidFill>
                <a:latin typeface="Arial"/>
                <a:cs typeface="Arial"/>
              </a:rPr>
              <a:t> 27,41,42,43,44,45,46,56,83,84</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b="1" dirty="0">
                <a:solidFill>
                  <a:srgbClr val="334155"/>
                </a:solidFill>
                <a:latin typeface="Arial"/>
                <a:cs typeface="Arial"/>
              </a:rPr>
              <a:t>KAI Scheduler</a:t>
            </a:r>
            <a:r>
              <a:rPr lang="en-US" sz="1300" dirty="0">
                <a:solidFill>
                  <a:srgbClr val="334155"/>
                </a:solidFill>
                <a:latin typeface="Arial"/>
                <a:cs typeface="Arial"/>
              </a:rPr>
              <a:t>: fast release cadence and a direct NVIDIA hiring signal, but a single-vendor maintainer group</a:t>
            </a:r>
            <a:r>
              <a:rPr lang="en-US" sz="1300" baseline="30000" dirty="0">
                <a:solidFill>
                  <a:srgbClr val="64748B"/>
                </a:solidFill>
                <a:latin typeface="Arial"/>
                <a:cs typeface="Arial"/>
              </a:rPr>
              <a:t> 50,51,52,71</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b="1" dirty="0">
                <a:solidFill>
                  <a:srgbClr val="334155"/>
                </a:solidFill>
                <a:latin typeface="Arial"/>
                <a:cs typeface="Arial"/>
              </a:rPr>
              <a:t>vLLM</a:t>
            </a:r>
            <a:r>
              <a:rPr lang="en-US" sz="1300" dirty="0">
                <a:solidFill>
                  <a:srgbClr val="334155"/>
                </a:solidFill>
                <a:latin typeface="Arial"/>
                <a:cs typeface="Arial"/>
              </a:rPr>
              <a:t>: learn from it and contribute to its metrics, tracing, benchmarks and CI; do not expect Go work there</a:t>
            </a:r>
            <a:r>
              <a:rPr lang="en-US" sz="1300" baseline="30000" dirty="0">
                <a:solidFill>
                  <a:srgbClr val="64748B"/>
                </a:solidFill>
                <a:latin typeface="Arial"/>
                <a:cs typeface="Arial"/>
              </a:rPr>
              <a:t> 75,85,86,87,88,89</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The ranking follows the employer evidence that exists. Kubernetes-based inference is common: 66% of organisations hosting generative AI models use Kubernetes for some or all inference</a:t>
            </a:r>
            <a:r>
              <a:rPr lang="en-US" sz="1300" baseline="30000" dirty="0">
                <a:solidFill>
                  <a:srgbClr val="64748B"/>
                </a:solidFill>
                <a:latin typeface="Arial"/>
                <a:cs typeface="Arial"/>
              </a:rPr>
              <a:t> 66,67</a:t>
            </a:r>
            <a:r>
              <a:rPr lang="en-US" sz="1300" dirty="0">
                <a:solidFill>
                  <a:srgbClr val="334155"/>
                </a:solidFill>
                <a:latin typeface="Arial"/>
                <a:cs typeface="Arial"/>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HOW THE INFERENCE STACK FITS TOGETHER, AND WHO OWNS WHAT SINCE 2026</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How the inference stack fits together, and who owns what since 2026</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10</a:t>
            </a:r>
            <a:endParaRPr lang="en-US" sz="850" dirty="0"/>
          </a:p>
        </p:txBody>
      </p:sp>
      <p:sp>
        <p:nvSpPr>
          <p:cNvPr id="8" name="Text 8"/>
          <p:cNvSpPr txBox="1"/>
          <p:nvPr/>
        </p:nvSpPr>
        <p:spPr>
          <a:xfrm>
            <a:off x="711200" y="2106168"/>
            <a:ext cx="9261856" cy="4142232"/>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An inference request follows a short, documented path. In llm-d, a client request reaches the llm-d Router.</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HOW THE INFERENCE STACK FITS TOGETHER, AND WHO OWNS WHAT SINCE 2026 · FIGURE 1</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LLM inference stack on Kubernetes, with Go share by component</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11</a:t>
            </a:r>
            <a:endParaRPr lang="en-US" sz="850" dirty="0"/>
          </a:p>
        </p:txBody>
      </p:sp>
      <p:sp>
        <p:nvSpPr>
          <p:cNvPr id="8" name="Shape 8"/>
          <p:cNvSpPr/>
          <p:nvPr/>
        </p:nvSpPr>
        <p:spPr>
          <a:xfrm>
            <a:off x="8305800" y="2106168"/>
            <a:ext cx="3175000" cy="3837432"/>
          </a:xfrm>
          <a:prstGeom prst="roundRect">
            <a:avLst>
              <a:gd name="adj" fmla="val 4800"/>
            </a:avLst>
          </a:prstGeom>
          <a:solidFill>
            <a:srgbClr val="F6F6FE"/>
          </a:solidFill>
          <a:ln>
            <a:noFill/>
          </a:ln>
        </p:spPr>
      </p:sp>
      <p:sp>
        <p:nvSpPr>
          <p:cNvPr id="9" name="Text 9"/>
          <p:cNvSpPr txBox="1"/>
          <p:nvPr/>
        </p:nvSpPr>
        <p:spPr>
          <a:xfrm>
            <a:off x="8534400" y="2334768"/>
            <a:ext cx="2717800" cy="3380232"/>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KServe creates the same structure from one custom resource. Its LLMInferenceService controller creates a Gateway, an HTTPRoute, an InferencePool, an EPP scheduler pod and, for P/D, a LeaderWorkerSet.</a:t>
            </a:r>
            <a:endParaRPr lang="en-US" sz="1300" dirty="0"/>
          </a:p>
        </p:txBody>
      </p:sp>
      <p:grpSp>
        <p:nvGrpSpPr>
          <p:cNvPr id="10" name="Figure 10"/>
          <p:cNvGrpSpPr/>
          <p:nvPr/>
        </p:nvGrpSpPr>
        <p:grpSpPr>
          <a:xfrm>
            <a:off x="1475697" y="2106168"/>
            <a:ext cx="5710006" cy="3812032"/>
            <a:chOff x="1475697" y="2106168"/>
            <a:chExt cx="5710006" cy="3812032"/>
          </a:xfrm>
        </p:grpSpPr>
        <p:cxnSp>
          <p:nvCxnSpPr>
            <p:cNvPr id="11" name="Line 11"/>
            <p:cNvCxnSpPr/>
            <p:nvPr/>
          </p:nvCxnSpPr>
          <p:spPr>
            <a:xfrm>
              <a:off x="2183416" y="2604788"/>
              <a:ext cx="20041" cy="45937"/>
            </a:xfrm>
            <a:prstGeom prst="line">
              <a:avLst/>
            </a:prstGeom>
            <a:ln w="10455" cap="rnd">
              <a:solidFill>
                <a:srgbClr val="7B899C"/>
              </a:solidFill>
              <a:round/>
            </a:ln>
          </p:spPr>
        </p:cxnSp>
        <p:cxnSp>
          <p:nvCxnSpPr>
            <p:cNvPr id="12" name="Line 12"/>
            <p:cNvCxnSpPr/>
            <p:nvPr/>
          </p:nvCxnSpPr>
          <p:spPr>
            <a:xfrm>
              <a:off x="2203457" y="2650726"/>
              <a:ext cx="54398" cy="37831"/>
            </a:xfrm>
            <a:prstGeom prst="line">
              <a:avLst/>
            </a:prstGeom>
            <a:ln w="10455" cap="rnd">
              <a:solidFill>
                <a:srgbClr val="7B899C"/>
              </a:solidFill>
              <a:round/>
            </a:ln>
          </p:spPr>
        </p:cxnSp>
        <p:cxnSp>
          <p:nvCxnSpPr>
            <p:cNvPr id="13" name="Line 13"/>
            <p:cNvCxnSpPr/>
            <p:nvPr/>
          </p:nvCxnSpPr>
          <p:spPr>
            <a:xfrm>
              <a:off x="2257855" y="2688556"/>
              <a:ext cx="80165" cy="31751"/>
            </a:xfrm>
            <a:prstGeom prst="line">
              <a:avLst/>
            </a:prstGeom>
            <a:ln w="10455" cap="rnd">
              <a:solidFill>
                <a:srgbClr val="7B899C"/>
              </a:solidFill>
              <a:round/>
            </a:ln>
          </p:spPr>
        </p:cxnSp>
        <p:cxnSp>
          <p:nvCxnSpPr>
            <p:cNvPr id="14" name="Line 14"/>
            <p:cNvCxnSpPr/>
            <p:nvPr/>
          </p:nvCxnSpPr>
          <p:spPr>
            <a:xfrm>
              <a:off x="2338021" y="2720307"/>
              <a:ext cx="97344" cy="27698"/>
            </a:xfrm>
            <a:prstGeom prst="line">
              <a:avLst/>
            </a:prstGeom>
            <a:ln w="10455" cap="rnd">
              <a:solidFill>
                <a:srgbClr val="7B899C"/>
              </a:solidFill>
              <a:round/>
            </a:ln>
          </p:spPr>
        </p:cxnSp>
        <p:cxnSp>
          <p:nvCxnSpPr>
            <p:cNvPr id="15" name="Line 15"/>
            <p:cNvCxnSpPr/>
            <p:nvPr/>
          </p:nvCxnSpPr>
          <p:spPr>
            <a:xfrm>
              <a:off x="2435364" y="2748005"/>
              <a:ext cx="105933" cy="25671"/>
            </a:xfrm>
            <a:prstGeom prst="line">
              <a:avLst/>
            </a:prstGeom>
            <a:ln w="10455" cap="rnd">
              <a:solidFill>
                <a:srgbClr val="7B899C"/>
              </a:solidFill>
              <a:round/>
            </a:ln>
          </p:spPr>
        </p:cxnSp>
        <p:cxnSp>
          <p:nvCxnSpPr>
            <p:cNvPr id="16" name="Line 16"/>
            <p:cNvCxnSpPr/>
            <p:nvPr/>
          </p:nvCxnSpPr>
          <p:spPr>
            <a:xfrm>
              <a:off x="2541297" y="2773676"/>
              <a:ext cx="105933" cy="25671"/>
            </a:xfrm>
            <a:prstGeom prst="line">
              <a:avLst/>
            </a:prstGeom>
            <a:ln w="10455" cap="rnd">
              <a:solidFill>
                <a:srgbClr val="7B899C"/>
              </a:solidFill>
              <a:round/>
            </a:ln>
          </p:spPr>
        </p:cxnSp>
        <p:cxnSp>
          <p:nvCxnSpPr>
            <p:cNvPr id="17" name="Line 17"/>
            <p:cNvCxnSpPr/>
            <p:nvPr/>
          </p:nvCxnSpPr>
          <p:spPr>
            <a:xfrm>
              <a:off x="2647229" y="2799347"/>
              <a:ext cx="97344" cy="27698"/>
            </a:xfrm>
            <a:prstGeom prst="line">
              <a:avLst/>
            </a:prstGeom>
            <a:ln w="10455" cap="rnd">
              <a:solidFill>
                <a:srgbClr val="7B899C"/>
              </a:solidFill>
              <a:round/>
            </a:ln>
          </p:spPr>
        </p:cxnSp>
        <p:cxnSp>
          <p:nvCxnSpPr>
            <p:cNvPr id="18" name="Line 18"/>
            <p:cNvCxnSpPr/>
            <p:nvPr/>
          </p:nvCxnSpPr>
          <p:spPr>
            <a:xfrm>
              <a:off x="2744573" y="2827044"/>
              <a:ext cx="80165" cy="31751"/>
            </a:xfrm>
            <a:prstGeom prst="line">
              <a:avLst/>
            </a:prstGeom>
            <a:ln w="10455" cap="rnd">
              <a:solidFill>
                <a:srgbClr val="7B899C"/>
              </a:solidFill>
              <a:round/>
            </a:ln>
          </p:spPr>
        </p:cxnSp>
        <p:cxnSp>
          <p:nvCxnSpPr>
            <p:cNvPr id="19" name="Line 19"/>
            <p:cNvCxnSpPr/>
            <p:nvPr/>
          </p:nvCxnSpPr>
          <p:spPr>
            <a:xfrm>
              <a:off x="2824738" y="2858795"/>
              <a:ext cx="54398" cy="37831"/>
            </a:xfrm>
            <a:prstGeom prst="line">
              <a:avLst/>
            </a:prstGeom>
            <a:ln w="10455" cap="rnd">
              <a:solidFill>
                <a:srgbClr val="7B899C"/>
              </a:solidFill>
              <a:round/>
            </a:ln>
          </p:spPr>
        </p:cxnSp>
        <p:cxnSp>
          <p:nvCxnSpPr>
            <p:cNvPr id="20" name="Line 20"/>
            <p:cNvCxnSpPr/>
            <p:nvPr/>
          </p:nvCxnSpPr>
          <p:spPr>
            <a:xfrm>
              <a:off x="2879136" y="2896626"/>
              <a:ext cx="20041" cy="45937"/>
            </a:xfrm>
            <a:prstGeom prst="line">
              <a:avLst/>
            </a:prstGeom>
            <a:ln w="10455" cap="rnd">
              <a:solidFill>
                <a:srgbClr val="7B899C"/>
              </a:solidFill>
              <a:round/>
              <a:tailEnd type="triangle" w="med" len="med"/>
            </a:ln>
          </p:spPr>
        </p:cxnSp>
        <p:sp>
          <p:nvSpPr>
            <p:cNvPr id="21" name="Rect 21"/>
            <p:cNvSpPr/>
            <p:nvPr/>
          </p:nvSpPr>
          <p:spPr>
            <a:xfrm>
              <a:off x="2348665" y="2705316"/>
              <a:ext cx="385265" cy="120634"/>
            </a:xfrm>
            <a:prstGeom prst="roundRect">
              <a:avLst>
                <a:gd name="adj" fmla="val 26666"/>
              </a:avLst>
            </a:prstGeom>
            <a:solidFill>
              <a:srgbClr val="FFFFFF"/>
            </a:solidFill>
            <a:ln>
              <a:noFill/>
            </a:ln>
          </p:spPr>
        </p:sp>
        <p:sp>
          <p:nvSpPr>
            <p:cNvPr id="22" name="Text 22"/>
            <p:cNvSpPr txBox="1"/>
            <p:nvPr/>
          </p:nvSpPr>
          <p:spPr>
            <a:xfrm>
              <a:off x="2305050" y="2722849"/>
              <a:ext cx="472495"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creates</a:t>
              </a:r>
              <a:endParaRPr lang="en-US" sz="602" dirty="0"/>
            </a:p>
          </p:txBody>
        </p:sp>
        <p:cxnSp>
          <p:nvCxnSpPr>
            <p:cNvPr id="23" name="Line 23"/>
            <p:cNvCxnSpPr/>
            <p:nvPr/>
          </p:nvCxnSpPr>
          <p:spPr>
            <a:xfrm>
              <a:off x="2183416" y="2604788"/>
              <a:ext cx="60124" cy="45937"/>
            </a:xfrm>
            <a:prstGeom prst="line">
              <a:avLst/>
            </a:prstGeom>
            <a:ln w="10455" cap="rnd">
              <a:solidFill>
                <a:srgbClr val="7B899C"/>
              </a:solidFill>
              <a:round/>
            </a:ln>
          </p:spPr>
        </p:cxnSp>
        <p:cxnSp>
          <p:nvCxnSpPr>
            <p:cNvPr id="24" name="Line 24"/>
            <p:cNvCxnSpPr/>
            <p:nvPr/>
          </p:nvCxnSpPr>
          <p:spPr>
            <a:xfrm>
              <a:off x="2243540" y="2650726"/>
              <a:ext cx="163194" cy="37831"/>
            </a:xfrm>
            <a:prstGeom prst="line">
              <a:avLst/>
            </a:prstGeom>
            <a:ln w="10455" cap="rnd">
              <a:solidFill>
                <a:srgbClr val="7B899C"/>
              </a:solidFill>
              <a:round/>
            </a:ln>
          </p:spPr>
        </p:cxnSp>
        <p:cxnSp>
          <p:nvCxnSpPr>
            <p:cNvPr id="25" name="Line 25"/>
            <p:cNvCxnSpPr/>
            <p:nvPr/>
          </p:nvCxnSpPr>
          <p:spPr>
            <a:xfrm>
              <a:off x="2406734" y="2688556"/>
              <a:ext cx="240496" cy="31751"/>
            </a:xfrm>
            <a:prstGeom prst="line">
              <a:avLst/>
            </a:prstGeom>
            <a:ln w="10455" cap="rnd">
              <a:solidFill>
                <a:srgbClr val="7B899C"/>
              </a:solidFill>
              <a:round/>
            </a:ln>
          </p:spPr>
        </p:cxnSp>
        <p:cxnSp>
          <p:nvCxnSpPr>
            <p:cNvPr id="26" name="Line 26"/>
            <p:cNvCxnSpPr/>
            <p:nvPr/>
          </p:nvCxnSpPr>
          <p:spPr>
            <a:xfrm>
              <a:off x="2647229" y="2720307"/>
              <a:ext cx="292031" cy="27698"/>
            </a:xfrm>
            <a:prstGeom prst="line">
              <a:avLst/>
            </a:prstGeom>
            <a:ln w="10455" cap="rnd">
              <a:solidFill>
                <a:srgbClr val="7B899C"/>
              </a:solidFill>
              <a:round/>
            </a:ln>
          </p:spPr>
        </p:cxnSp>
        <p:cxnSp>
          <p:nvCxnSpPr>
            <p:cNvPr id="27" name="Line 27"/>
            <p:cNvCxnSpPr/>
            <p:nvPr/>
          </p:nvCxnSpPr>
          <p:spPr>
            <a:xfrm>
              <a:off x="2939260" y="2748005"/>
              <a:ext cx="317798" cy="25671"/>
            </a:xfrm>
            <a:prstGeom prst="line">
              <a:avLst/>
            </a:prstGeom>
            <a:ln w="10455" cap="rnd">
              <a:solidFill>
                <a:srgbClr val="7B899C"/>
              </a:solidFill>
              <a:round/>
            </a:ln>
          </p:spPr>
        </p:cxnSp>
        <p:cxnSp>
          <p:nvCxnSpPr>
            <p:cNvPr id="28" name="Line 28"/>
            <p:cNvCxnSpPr/>
            <p:nvPr/>
          </p:nvCxnSpPr>
          <p:spPr>
            <a:xfrm>
              <a:off x="3257058" y="2773676"/>
              <a:ext cx="317798" cy="25671"/>
            </a:xfrm>
            <a:prstGeom prst="line">
              <a:avLst/>
            </a:prstGeom>
            <a:ln w="10455" cap="rnd">
              <a:solidFill>
                <a:srgbClr val="7B899C"/>
              </a:solidFill>
              <a:round/>
            </a:ln>
          </p:spPr>
        </p:cxnSp>
        <p:cxnSp>
          <p:nvCxnSpPr>
            <p:cNvPr id="29" name="Line 29"/>
            <p:cNvCxnSpPr/>
            <p:nvPr/>
          </p:nvCxnSpPr>
          <p:spPr>
            <a:xfrm>
              <a:off x="3574856" y="2799347"/>
              <a:ext cx="292031" cy="27698"/>
            </a:xfrm>
            <a:prstGeom prst="line">
              <a:avLst/>
            </a:prstGeom>
            <a:ln w="10455" cap="rnd">
              <a:solidFill>
                <a:srgbClr val="7B899C"/>
              </a:solidFill>
              <a:round/>
            </a:ln>
          </p:spPr>
        </p:cxnSp>
        <p:cxnSp>
          <p:nvCxnSpPr>
            <p:cNvPr id="30" name="Line 30"/>
            <p:cNvCxnSpPr/>
            <p:nvPr/>
          </p:nvCxnSpPr>
          <p:spPr>
            <a:xfrm>
              <a:off x="3866887" y="2827044"/>
              <a:ext cx="240496" cy="31751"/>
            </a:xfrm>
            <a:prstGeom prst="line">
              <a:avLst/>
            </a:prstGeom>
            <a:ln w="10455" cap="rnd">
              <a:solidFill>
                <a:srgbClr val="7B899C"/>
              </a:solidFill>
              <a:round/>
            </a:ln>
          </p:spPr>
        </p:cxnSp>
        <p:cxnSp>
          <p:nvCxnSpPr>
            <p:cNvPr id="31" name="Line 31"/>
            <p:cNvCxnSpPr/>
            <p:nvPr/>
          </p:nvCxnSpPr>
          <p:spPr>
            <a:xfrm>
              <a:off x="4107382" y="2858795"/>
              <a:ext cx="163194" cy="37831"/>
            </a:xfrm>
            <a:prstGeom prst="line">
              <a:avLst/>
            </a:prstGeom>
            <a:ln w="10455" cap="rnd">
              <a:solidFill>
                <a:srgbClr val="7B899C"/>
              </a:solidFill>
              <a:round/>
            </a:ln>
          </p:spPr>
        </p:cxnSp>
        <p:cxnSp>
          <p:nvCxnSpPr>
            <p:cNvPr id="32" name="Line 32"/>
            <p:cNvCxnSpPr/>
            <p:nvPr/>
          </p:nvCxnSpPr>
          <p:spPr>
            <a:xfrm>
              <a:off x="4270576" y="2896626"/>
              <a:ext cx="60124" cy="45937"/>
            </a:xfrm>
            <a:prstGeom prst="line">
              <a:avLst/>
            </a:prstGeom>
            <a:ln w="10455" cap="rnd">
              <a:solidFill>
                <a:srgbClr val="7B899C"/>
              </a:solidFill>
              <a:round/>
              <a:tailEnd type="triangle" w="med" len="med"/>
            </a:ln>
          </p:spPr>
        </p:cxnSp>
        <p:sp>
          <p:nvSpPr>
            <p:cNvPr id="33" name="Rect 33"/>
            <p:cNvSpPr/>
            <p:nvPr/>
          </p:nvSpPr>
          <p:spPr>
            <a:xfrm>
              <a:off x="3064426" y="2705316"/>
              <a:ext cx="385265" cy="120634"/>
            </a:xfrm>
            <a:prstGeom prst="roundRect">
              <a:avLst>
                <a:gd name="adj" fmla="val 26666"/>
              </a:avLst>
            </a:prstGeom>
            <a:solidFill>
              <a:srgbClr val="FFFFFF"/>
            </a:solidFill>
            <a:ln>
              <a:noFill/>
            </a:ln>
          </p:spPr>
        </p:sp>
        <p:sp>
          <p:nvSpPr>
            <p:cNvPr id="34" name="Text 34"/>
            <p:cNvSpPr txBox="1"/>
            <p:nvPr/>
          </p:nvSpPr>
          <p:spPr>
            <a:xfrm>
              <a:off x="3020811" y="2722849"/>
              <a:ext cx="472495"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creates</a:t>
              </a:r>
              <a:endParaRPr lang="en-US" sz="602" dirty="0"/>
            </a:p>
          </p:txBody>
        </p:sp>
        <p:cxnSp>
          <p:nvCxnSpPr>
            <p:cNvPr id="35" name="Line 35"/>
            <p:cNvCxnSpPr/>
            <p:nvPr/>
          </p:nvCxnSpPr>
          <p:spPr>
            <a:xfrm>
              <a:off x="2183416" y="2604788"/>
              <a:ext cx="100207" cy="45937"/>
            </a:xfrm>
            <a:prstGeom prst="line">
              <a:avLst/>
            </a:prstGeom>
            <a:ln w="10455" cap="rnd">
              <a:solidFill>
                <a:srgbClr val="7B899C"/>
              </a:solidFill>
              <a:round/>
            </a:ln>
          </p:spPr>
        </p:cxnSp>
        <p:cxnSp>
          <p:nvCxnSpPr>
            <p:cNvPr id="36" name="Line 36"/>
            <p:cNvCxnSpPr/>
            <p:nvPr/>
          </p:nvCxnSpPr>
          <p:spPr>
            <a:xfrm>
              <a:off x="2283623" y="2650726"/>
              <a:ext cx="271989" cy="37831"/>
            </a:xfrm>
            <a:prstGeom prst="line">
              <a:avLst/>
            </a:prstGeom>
            <a:ln w="10455" cap="rnd">
              <a:solidFill>
                <a:srgbClr val="7B899C"/>
              </a:solidFill>
              <a:round/>
            </a:ln>
          </p:spPr>
        </p:cxnSp>
        <p:cxnSp>
          <p:nvCxnSpPr>
            <p:cNvPr id="37" name="Line 37"/>
            <p:cNvCxnSpPr/>
            <p:nvPr/>
          </p:nvCxnSpPr>
          <p:spPr>
            <a:xfrm>
              <a:off x="2555612" y="2688556"/>
              <a:ext cx="400826" cy="31751"/>
            </a:xfrm>
            <a:prstGeom prst="line">
              <a:avLst/>
            </a:prstGeom>
            <a:ln w="10455" cap="rnd">
              <a:solidFill>
                <a:srgbClr val="7B899C"/>
              </a:solidFill>
              <a:round/>
            </a:ln>
          </p:spPr>
        </p:cxnSp>
        <p:cxnSp>
          <p:nvCxnSpPr>
            <p:cNvPr id="38" name="Line 38"/>
            <p:cNvCxnSpPr/>
            <p:nvPr/>
          </p:nvCxnSpPr>
          <p:spPr>
            <a:xfrm>
              <a:off x="2956438" y="2720307"/>
              <a:ext cx="486718" cy="27698"/>
            </a:xfrm>
            <a:prstGeom prst="line">
              <a:avLst/>
            </a:prstGeom>
            <a:ln w="10455" cap="rnd">
              <a:solidFill>
                <a:srgbClr val="7B899C"/>
              </a:solidFill>
              <a:round/>
            </a:ln>
          </p:spPr>
        </p:cxnSp>
        <p:cxnSp>
          <p:nvCxnSpPr>
            <p:cNvPr id="39" name="Line 39"/>
            <p:cNvCxnSpPr/>
            <p:nvPr/>
          </p:nvCxnSpPr>
          <p:spPr>
            <a:xfrm>
              <a:off x="3443156" y="2748005"/>
              <a:ext cx="529663" cy="25671"/>
            </a:xfrm>
            <a:prstGeom prst="line">
              <a:avLst/>
            </a:prstGeom>
            <a:ln w="10455" cap="rnd">
              <a:solidFill>
                <a:srgbClr val="7B899C"/>
              </a:solidFill>
              <a:round/>
            </a:ln>
          </p:spPr>
        </p:cxnSp>
        <p:cxnSp>
          <p:nvCxnSpPr>
            <p:cNvPr id="40" name="Line 40"/>
            <p:cNvCxnSpPr/>
            <p:nvPr/>
          </p:nvCxnSpPr>
          <p:spPr>
            <a:xfrm>
              <a:off x="3972819" y="2773676"/>
              <a:ext cx="529663" cy="25671"/>
            </a:xfrm>
            <a:prstGeom prst="line">
              <a:avLst/>
            </a:prstGeom>
            <a:ln w="10455" cap="rnd">
              <a:solidFill>
                <a:srgbClr val="7B899C"/>
              </a:solidFill>
              <a:round/>
            </a:ln>
          </p:spPr>
        </p:cxnSp>
        <p:cxnSp>
          <p:nvCxnSpPr>
            <p:cNvPr id="41" name="Line 41"/>
            <p:cNvCxnSpPr/>
            <p:nvPr/>
          </p:nvCxnSpPr>
          <p:spPr>
            <a:xfrm>
              <a:off x="4502483" y="2799347"/>
              <a:ext cx="486718" cy="27698"/>
            </a:xfrm>
            <a:prstGeom prst="line">
              <a:avLst/>
            </a:prstGeom>
            <a:ln w="10455" cap="rnd">
              <a:solidFill>
                <a:srgbClr val="7B899C"/>
              </a:solidFill>
              <a:round/>
            </a:ln>
          </p:spPr>
        </p:cxnSp>
        <p:cxnSp>
          <p:nvCxnSpPr>
            <p:cNvPr id="42" name="Line 42"/>
            <p:cNvCxnSpPr/>
            <p:nvPr/>
          </p:nvCxnSpPr>
          <p:spPr>
            <a:xfrm>
              <a:off x="4989200" y="2827044"/>
              <a:ext cx="400826" cy="31751"/>
            </a:xfrm>
            <a:prstGeom prst="line">
              <a:avLst/>
            </a:prstGeom>
            <a:ln w="10455" cap="rnd">
              <a:solidFill>
                <a:srgbClr val="7B899C"/>
              </a:solidFill>
              <a:round/>
            </a:ln>
          </p:spPr>
        </p:cxnSp>
        <p:cxnSp>
          <p:nvCxnSpPr>
            <p:cNvPr id="43" name="Line 43"/>
            <p:cNvCxnSpPr/>
            <p:nvPr/>
          </p:nvCxnSpPr>
          <p:spPr>
            <a:xfrm>
              <a:off x="5390027" y="2858795"/>
              <a:ext cx="271989" cy="37831"/>
            </a:xfrm>
            <a:prstGeom prst="line">
              <a:avLst/>
            </a:prstGeom>
            <a:ln w="10455" cap="rnd">
              <a:solidFill>
                <a:srgbClr val="7B899C"/>
              </a:solidFill>
              <a:round/>
            </a:ln>
          </p:spPr>
        </p:cxnSp>
        <p:cxnSp>
          <p:nvCxnSpPr>
            <p:cNvPr id="44" name="Line 44"/>
            <p:cNvCxnSpPr/>
            <p:nvPr/>
          </p:nvCxnSpPr>
          <p:spPr>
            <a:xfrm>
              <a:off x="5662016" y="2896626"/>
              <a:ext cx="100207" cy="45937"/>
            </a:xfrm>
            <a:prstGeom prst="line">
              <a:avLst/>
            </a:prstGeom>
            <a:ln w="10455" cap="rnd">
              <a:solidFill>
                <a:srgbClr val="7B899C"/>
              </a:solidFill>
              <a:round/>
              <a:tailEnd type="triangle" w="med" len="med"/>
            </a:ln>
          </p:spPr>
        </p:cxnSp>
        <p:sp>
          <p:nvSpPr>
            <p:cNvPr id="45" name="Rect 45"/>
            <p:cNvSpPr/>
            <p:nvPr/>
          </p:nvSpPr>
          <p:spPr>
            <a:xfrm>
              <a:off x="3690797" y="2705316"/>
              <a:ext cx="564044" cy="120634"/>
            </a:xfrm>
            <a:prstGeom prst="roundRect">
              <a:avLst>
                <a:gd name="adj" fmla="val 26666"/>
              </a:avLst>
            </a:prstGeom>
            <a:solidFill>
              <a:srgbClr val="FFFFFF"/>
            </a:solidFill>
            <a:ln>
              <a:noFill/>
            </a:ln>
          </p:spPr>
        </p:sp>
        <p:sp>
          <p:nvSpPr>
            <p:cNvPr id="46" name="Text 46"/>
            <p:cNvSpPr txBox="1"/>
            <p:nvPr/>
          </p:nvSpPr>
          <p:spPr>
            <a:xfrm>
              <a:off x="3620365" y="2722849"/>
              <a:ext cx="704908"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P/D replicas</a:t>
              </a:r>
              <a:endParaRPr lang="en-US" sz="602" dirty="0"/>
            </a:p>
          </p:txBody>
        </p:sp>
        <p:cxnSp>
          <p:nvCxnSpPr>
            <p:cNvPr id="47" name="Line 47"/>
            <p:cNvCxnSpPr/>
            <p:nvPr/>
          </p:nvCxnSpPr>
          <p:spPr>
            <a:xfrm>
              <a:off x="2899177" y="3360761"/>
              <a:ext cx="40083" cy="45937"/>
            </a:xfrm>
            <a:prstGeom prst="line">
              <a:avLst/>
            </a:prstGeom>
            <a:ln w="10455" cap="rnd">
              <a:solidFill>
                <a:srgbClr val="7B899C"/>
              </a:solidFill>
              <a:round/>
            </a:ln>
          </p:spPr>
        </p:cxnSp>
        <p:cxnSp>
          <p:nvCxnSpPr>
            <p:cNvPr id="48" name="Line 48"/>
            <p:cNvCxnSpPr/>
            <p:nvPr/>
          </p:nvCxnSpPr>
          <p:spPr>
            <a:xfrm>
              <a:off x="2939260" y="3406698"/>
              <a:ext cx="108796" cy="37831"/>
            </a:xfrm>
            <a:prstGeom prst="line">
              <a:avLst/>
            </a:prstGeom>
            <a:ln w="10455" cap="rnd">
              <a:solidFill>
                <a:srgbClr val="7B899C"/>
              </a:solidFill>
              <a:round/>
            </a:ln>
          </p:spPr>
        </p:cxnSp>
        <p:cxnSp>
          <p:nvCxnSpPr>
            <p:cNvPr id="49" name="Line 49"/>
            <p:cNvCxnSpPr/>
            <p:nvPr/>
          </p:nvCxnSpPr>
          <p:spPr>
            <a:xfrm>
              <a:off x="3048056" y="3444529"/>
              <a:ext cx="160331" cy="31751"/>
            </a:xfrm>
            <a:prstGeom prst="line">
              <a:avLst/>
            </a:prstGeom>
            <a:ln w="10455" cap="rnd">
              <a:solidFill>
                <a:srgbClr val="7B899C"/>
              </a:solidFill>
              <a:round/>
            </a:ln>
          </p:spPr>
        </p:cxnSp>
        <p:cxnSp>
          <p:nvCxnSpPr>
            <p:cNvPr id="50" name="Line 50"/>
            <p:cNvCxnSpPr/>
            <p:nvPr/>
          </p:nvCxnSpPr>
          <p:spPr>
            <a:xfrm>
              <a:off x="3208386" y="3476280"/>
              <a:ext cx="194687" cy="27698"/>
            </a:xfrm>
            <a:prstGeom prst="line">
              <a:avLst/>
            </a:prstGeom>
            <a:ln w="10455" cap="rnd">
              <a:solidFill>
                <a:srgbClr val="7B899C"/>
              </a:solidFill>
              <a:round/>
            </a:ln>
          </p:spPr>
        </p:cxnSp>
        <p:cxnSp>
          <p:nvCxnSpPr>
            <p:cNvPr id="51" name="Line 51"/>
            <p:cNvCxnSpPr/>
            <p:nvPr/>
          </p:nvCxnSpPr>
          <p:spPr>
            <a:xfrm>
              <a:off x="3403073" y="3503977"/>
              <a:ext cx="211865" cy="25671"/>
            </a:xfrm>
            <a:prstGeom prst="line">
              <a:avLst/>
            </a:prstGeom>
            <a:ln w="10455" cap="rnd">
              <a:solidFill>
                <a:srgbClr val="7B899C"/>
              </a:solidFill>
              <a:round/>
            </a:ln>
          </p:spPr>
        </p:cxnSp>
        <p:cxnSp>
          <p:nvCxnSpPr>
            <p:cNvPr id="52" name="Line 52"/>
            <p:cNvCxnSpPr/>
            <p:nvPr/>
          </p:nvCxnSpPr>
          <p:spPr>
            <a:xfrm>
              <a:off x="3614939" y="3529648"/>
              <a:ext cx="211865" cy="25671"/>
            </a:xfrm>
            <a:prstGeom prst="line">
              <a:avLst/>
            </a:prstGeom>
            <a:ln w="10455" cap="rnd">
              <a:solidFill>
                <a:srgbClr val="7B899C"/>
              </a:solidFill>
              <a:round/>
            </a:ln>
          </p:spPr>
        </p:cxnSp>
        <p:cxnSp>
          <p:nvCxnSpPr>
            <p:cNvPr id="53" name="Line 53"/>
            <p:cNvCxnSpPr/>
            <p:nvPr/>
          </p:nvCxnSpPr>
          <p:spPr>
            <a:xfrm>
              <a:off x="3826804" y="3555319"/>
              <a:ext cx="194687" cy="27698"/>
            </a:xfrm>
            <a:prstGeom prst="line">
              <a:avLst/>
            </a:prstGeom>
            <a:ln w="10455" cap="rnd">
              <a:solidFill>
                <a:srgbClr val="7B899C"/>
              </a:solidFill>
              <a:round/>
            </a:ln>
          </p:spPr>
        </p:cxnSp>
        <p:cxnSp>
          <p:nvCxnSpPr>
            <p:cNvPr id="54" name="Line 54"/>
            <p:cNvCxnSpPr/>
            <p:nvPr/>
          </p:nvCxnSpPr>
          <p:spPr>
            <a:xfrm>
              <a:off x="4021491" y="3583017"/>
              <a:ext cx="160331" cy="31751"/>
            </a:xfrm>
            <a:prstGeom prst="line">
              <a:avLst/>
            </a:prstGeom>
            <a:ln w="10455" cap="rnd">
              <a:solidFill>
                <a:srgbClr val="7B899C"/>
              </a:solidFill>
              <a:round/>
            </a:ln>
          </p:spPr>
        </p:cxnSp>
        <p:cxnSp>
          <p:nvCxnSpPr>
            <p:cNvPr id="55" name="Line 55"/>
            <p:cNvCxnSpPr/>
            <p:nvPr/>
          </p:nvCxnSpPr>
          <p:spPr>
            <a:xfrm>
              <a:off x="4181822" y="3614768"/>
              <a:ext cx="108796" cy="37831"/>
            </a:xfrm>
            <a:prstGeom prst="line">
              <a:avLst/>
            </a:prstGeom>
            <a:ln w="10455" cap="rnd">
              <a:solidFill>
                <a:srgbClr val="7B899C"/>
              </a:solidFill>
              <a:round/>
            </a:ln>
          </p:spPr>
        </p:cxnSp>
        <p:cxnSp>
          <p:nvCxnSpPr>
            <p:cNvPr id="56" name="Line 56"/>
            <p:cNvCxnSpPr/>
            <p:nvPr/>
          </p:nvCxnSpPr>
          <p:spPr>
            <a:xfrm>
              <a:off x="4290617" y="3652598"/>
              <a:ext cx="40083" cy="45937"/>
            </a:xfrm>
            <a:prstGeom prst="line">
              <a:avLst/>
            </a:prstGeom>
            <a:ln w="10455" cap="rnd">
              <a:solidFill>
                <a:srgbClr val="7B899C"/>
              </a:solidFill>
              <a:round/>
              <a:tailEnd type="triangle" w="med" len="med"/>
            </a:ln>
          </p:spPr>
        </p:cxnSp>
        <p:sp>
          <p:nvSpPr>
            <p:cNvPr id="57" name="Rect 57"/>
            <p:cNvSpPr/>
            <p:nvPr/>
          </p:nvSpPr>
          <p:spPr>
            <a:xfrm>
              <a:off x="3399386" y="3461289"/>
              <a:ext cx="431105" cy="120634"/>
            </a:xfrm>
            <a:prstGeom prst="roundRect">
              <a:avLst>
                <a:gd name="adj" fmla="val 26666"/>
              </a:avLst>
            </a:prstGeom>
            <a:solidFill>
              <a:srgbClr val="FFFFFF"/>
            </a:solidFill>
            <a:ln>
              <a:noFill/>
            </a:ln>
          </p:spPr>
        </p:sp>
        <p:sp>
          <p:nvSpPr>
            <p:cNvPr id="58" name="Text 58"/>
            <p:cNvSpPr txBox="1"/>
            <p:nvPr/>
          </p:nvSpPr>
          <p:spPr>
            <a:xfrm>
              <a:off x="3348895" y="3478821"/>
              <a:ext cx="532088"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asks pick</a:t>
              </a:r>
              <a:endParaRPr lang="en-US" sz="602" dirty="0"/>
            </a:p>
          </p:txBody>
        </p:sp>
        <p:cxnSp>
          <p:nvCxnSpPr>
            <p:cNvPr id="59" name="Line 59"/>
            <p:cNvCxnSpPr/>
            <p:nvPr/>
          </p:nvCxnSpPr>
          <p:spPr>
            <a:xfrm flipV="1">
              <a:off x="4310659" y="4116733"/>
              <a:ext cx="20041" cy="148750"/>
            </a:xfrm>
            <a:prstGeom prst="line">
              <a:avLst/>
            </a:prstGeom>
            <a:ln w="10455" cap="rnd">
              <a:solidFill>
                <a:srgbClr val="7B899C"/>
              </a:solidFill>
              <a:round/>
            </a:ln>
          </p:spPr>
        </p:cxnSp>
        <p:cxnSp>
          <p:nvCxnSpPr>
            <p:cNvPr id="60" name="Line 60"/>
            <p:cNvCxnSpPr/>
            <p:nvPr/>
          </p:nvCxnSpPr>
          <p:spPr>
            <a:xfrm flipV="1">
              <a:off x="4256261" y="4265483"/>
              <a:ext cx="54398" cy="122500"/>
            </a:xfrm>
            <a:prstGeom prst="line">
              <a:avLst/>
            </a:prstGeom>
            <a:ln w="10455" cap="rnd">
              <a:solidFill>
                <a:srgbClr val="7B899C"/>
              </a:solidFill>
              <a:round/>
            </a:ln>
          </p:spPr>
        </p:cxnSp>
        <p:cxnSp>
          <p:nvCxnSpPr>
            <p:cNvPr id="61" name="Line 61"/>
            <p:cNvCxnSpPr/>
            <p:nvPr/>
          </p:nvCxnSpPr>
          <p:spPr>
            <a:xfrm flipV="1">
              <a:off x="4176096" y="4387983"/>
              <a:ext cx="80165" cy="102812"/>
            </a:xfrm>
            <a:prstGeom prst="line">
              <a:avLst/>
            </a:prstGeom>
            <a:ln w="10455" cap="rnd">
              <a:solidFill>
                <a:srgbClr val="7B899C"/>
              </a:solidFill>
              <a:round/>
            </a:ln>
          </p:spPr>
        </p:cxnSp>
        <p:cxnSp>
          <p:nvCxnSpPr>
            <p:cNvPr id="62" name="Line 62"/>
            <p:cNvCxnSpPr/>
            <p:nvPr/>
          </p:nvCxnSpPr>
          <p:spPr>
            <a:xfrm flipV="1">
              <a:off x="4078752" y="4490795"/>
              <a:ext cx="97344" cy="89687"/>
            </a:xfrm>
            <a:prstGeom prst="line">
              <a:avLst/>
            </a:prstGeom>
            <a:ln w="10455" cap="rnd">
              <a:solidFill>
                <a:srgbClr val="7B899C"/>
              </a:solidFill>
              <a:round/>
            </a:ln>
          </p:spPr>
        </p:cxnSp>
        <p:cxnSp>
          <p:nvCxnSpPr>
            <p:cNvPr id="63" name="Line 63"/>
            <p:cNvCxnSpPr/>
            <p:nvPr/>
          </p:nvCxnSpPr>
          <p:spPr>
            <a:xfrm flipV="1">
              <a:off x="3972819" y="4580482"/>
              <a:ext cx="105933" cy="83125"/>
            </a:xfrm>
            <a:prstGeom prst="line">
              <a:avLst/>
            </a:prstGeom>
            <a:ln w="10455" cap="rnd">
              <a:solidFill>
                <a:srgbClr val="7B899C"/>
              </a:solidFill>
              <a:round/>
            </a:ln>
          </p:spPr>
        </p:cxnSp>
        <p:cxnSp>
          <p:nvCxnSpPr>
            <p:cNvPr id="64" name="Line 64"/>
            <p:cNvCxnSpPr/>
            <p:nvPr/>
          </p:nvCxnSpPr>
          <p:spPr>
            <a:xfrm flipV="1">
              <a:off x="3866887" y="4663607"/>
              <a:ext cx="105933" cy="83125"/>
            </a:xfrm>
            <a:prstGeom prst="line">
              <a:avLst/>
            </a:prstGeom>
            <a:ln w="10455" cap="rnd">
              <a:solidFill>
                <a:srgbClr val="7B899C"/>
              </a:solidFill>
              <a:round/>
            </a:ln>
          </p:spPr>
        </p:cxnSp>
        <p:cxnSp>
          <p:nvCxnSpPr>
            <p:cNvPr id="65" name="Line 65"/>
            <p:cNvCxnSpPr/>
            <p:nvPr/>
          </p:nvCxnSpPr>
          <p:spPr>
            <a:xfrm flipV="1">
              <a:off x="3769543" y="4746732"/>
              <a:ext cx="97344" cy="89687"/>
            </a:xfrm>
            <a:prstGeom prst="line">
              <a:avLst/>
            </a:prstGeom>
            <a:ln w="10455" cap="rnd">
              <a:solidFill>
                <a:srgbClr val="7B899C"/>
              </a:solidFill>
              <a:round/>
            </a:ln>
          </p:spPr>
        </p:cxnSp>
        <p:cxnSp>
          <p:nvCxnSpPr>
            <p:cNvPr id="66" name="Line 66"/>
            <p:cNvCxnSpPr/>
            <p:nvPr/>
          </p:nvCxnSpPr>
          <p:spPr>
            <a:xfrm flipV="1">
              <a:off x="3689378" y="4836419"/>
              <a:ext cx="80165" cy="102812"/>
            </a:xfrm>
            <a:prstGeom prst="line">
              <a:avLst/>
            </a:prstGeom>
            <a:ln w="10455" cap="rnd">
              <a:solidFill>
                <a:srgbClr val="7B899C"/>
              </a:solidFill>
              <a:round/>
            </a:ln>
          </p:spPr>
        </p:cxnSp>
        <p:cxnSp>
          <p:nvCxnSpPr>
            <p:cNvPr id="67" name="Line 67"/>
            <p:cNvCxnSpPr/>
            <p:nvPr/>
          </p:nvCxnSpPr>
          <p:spPr>
            <a:xfrm flipV="1">
              <a:off x="3634980" y="4939232"/>
              <a:ext cx="54398" cy="122500"/>
            </a:xfrm>
            <a:prstGeom prst="line">
              <a:avLst/>
            </a:prstGeom>
            <a:ln w="10455" cap="rnd">
              <a:solidFill>
                <a:srgbClr val="7B899C"/>
              </a:solidFill>
              <a:round/>
            </a:ln>
          </p:spPr>
        </p:cxnSp>
        <p:cxnSp>
          <p:nvCxnSpPr>
            <p:cNvPr id="68" name="Line 68"/>
            <p:cNvCxnSpPr/>
            <p:nvPr/>
          </p:nvCxnSpPr>
          <p:spPr>
            <a:xfrm flipV="1">
              <a:off x="3614939" y="5061731"/>
              <a:ext cx="20041" cy="148750"/>
            </a:xfrm>
            <a:prstGeom prst="line">
              <a:avLst/>
            </a:prstGeom>
            <a:ln w="10455" cap="rnd">
              <a:solidFill>
                <a:srgbClr val="7B899C"/>
              </a:solidFill>
              <a:round/>
              <a:headEnd type="triangle" w="med" len="med"/>
            </a:ln>
          </p:spPr>
        </p:cxnSp>
        <p:sp>
          <p:nvSpPr>
            <p:cNvPr id="69" name="Rect 69"/>
            <p:cNvSpPr/>
            <p:nvPr/>
          </p:nvSpPr>
          <p:spPr>
            <a:xfrm>
              <a:off x="3691943" y="4595248"/>
              <a:ext cx="561752" cy="120634"/>
            </a:xfrm>
            <a:prstGeom prst="roundRect">
              <a:avLst>
                <a:gd name="adj" fmla="val 26666"/>
              </a:avLst>
            </a:prstGeom>
            <a:solidFill>
              <a:srgbClr val="FFFFFF"/>
            </a:solidFill>
            <a:ln>
              <a:noFill/>
            </a:ln>
          </p:spPr>
        </p:sp>
        <p:sp>
          <p:nvSpPr>
            <p:cNvPr id="70" name="Text 70"/>
            <p:cNvSpPr txBox="1"/>
            <p:nvPr/>
          </p:nvSpPr>
          <p:spPr>
            <a:xfrm>
              <a:off x="3621855" y="4612780"/>
              <a:ext cx="701928"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prefix score</a:t>
              </a:r>
              <a:endParaRPr lang="en-US" sz="602" dirty="0"/>
            </a:p>
          </p:txBody>
        </p:sp>
        <p:cxnSp>
          <p:nvCxnSpPr>
            <p:cNvPr id="71" name="Line 71"/>
            <p:cNvCxnSpPr/>
            <p:nvPr/>
          </p:nvCxnSpPr>
          <p:spPr>
            <a:xfrm>
              <a:off x="4330700" y="3360761"/>
              <a:ext cx="0" cy="148750"/>
            </a:xfrm>
            <a:prstGeom prst="line">
              <a:avLst/>
            </a:prstGeom>
            <a:ln w="10455" cap="rnd">
              <a:solidFill>
                <a:srgbClr val="7B899C"/>
              </a:solidFill>
              <a:round/>
            </a:ln>
          </p:spPr>
        </p:cxnSp>
        <p:cxnSp>
          <p:nvCxnSpPr>
            <p:cNvPr id="72" name="Line 72"/>
            <p:cNvCxnSpPr/>
            <p:nvPr/>
          </p:nvCxnSpPr>
          <p:spPr>
            <a:xfrm>
              <a:off x="4330700" y="3509510"/>
              <a:ext cx="0" cy="122500"/>
            </a:xfrm>
            <a:prstGeom prst="line">
              <a:avLst/>
            </a:prstGeom>
            <a:ln w="10455" cap="rnd">
              <a:solidFill>
                <a:srgbClr val="7B899C"/>
              </a:solidFill>
              <a:round/>
            </a:ln>
          </p:spPr>
        </p:cxnSp>
        <p:cxnSp>
          <p:nvCxnSpPr>
            <p:cNvPr id="73" name="Line 73"/>
            <p:cNvCxnSpPr/>
            <p:nvPr/>
          </p:nvCxnSpPr>
          <p:spPr>
            <a:xfrm flipV="1">
              <a:off x="4330700" y="3632010"/>
              <a:ext cx="0" cy="102812"/>
            </a:xfrm>
            <a:prstGeom prst="line">
              <a:avLst/>
            </a:prstGeom>
            <a:ln w="10455" cap="rnd">
              <a:solidFill>
                <a:srgbClr val="7B899C"/>
              </a:solidFill>
              <a:round/>
            </a:ln>
          </p:spPr>
        </p:cxnSp>
        <p:cxnSp>
          <p:nvCxnSpPr>
            <p:cNvPr id="74" name="Line 74"/>
            <p:cNvCxnSpPr/>
            <p:nvPr/>
          </p:nvCxnSpPr>
          <p:spPr>
            <a:xfrm>
              <a:off x="4330700" y="3734822"/>
              <a:ext cx="0" cy="89687"/>
            </a:xfrm>
            <a:prstGeom prst="line">
              <a:avLst/>
            </a:prstGeom>
            <a:ln w="10455" cap="rnd">
              <a:solidFill>
                <a:srgbClr val="7B899C"/>
              </a:solidFill>
              <a:round/>
            </a:ln>
          </p:spPr>
        </p:cxnSp>
        <p:cxnSp>
          <p:nvCxnSpPr>
            <p:cNvPr id="75" name="Line 75"/>
            <p:cNvCxnSpPr/>
            <p:nvPr/>
          </p:nvCxnSpPr>
          <p:spPr>
            <a:xfrm>
              <a:off x="4330700" y="3824510"/>
              <a:ext cx="0" cy="83125"/>
            </a:xfrm>
            <a:prstGeom prst="line">
              <a:avLst/>
            </a:prstGeom>
            <a:ln w="10455" cap="rnd">
              <a:solidFill>
                <a:srgbClr val="7B899C"/>
              </a:solidFill>
              <a:round/>
            </a:ln>
          </p:spPr>
        </p:cxnSp>
        <p:cxnSp>
          <p:nvCxnSpPr>
            <p:cNvPr id="76" name="Line 76"/>
            <p:cNvCxnSpPr/>
            <p:nvPr/>
          </p:nvCxnSpPr>
          <p:spPr>
            <a:xfrm>
              <a:off x="4330700" y="3907635"/>
              <a:ext cx="0" cy="83125"/>
            </a:xfrm>
            <a:prstGeom prst="line">
              <a:avLst/>
            </a:prstGeom>
            <a:ln w="10455" cap="rnd">
              <a:solidFill>
                <a:srgbClr val="7B899C"/>
              </a:solidFill>
              <a:round/>
            </a:ln>
          </p:spPr>
        </p:cxnSp>
        <p:cxnSp>
          <p:nvCxnSpPr>
            <p:cNvPr id="77" name="Line 77"/>
            <p:cNvCxnSpPr/>
            <p:nvPr/>
          </p:nvCxnSpPr>
          <p:spPr>
            <a:xfrm flipV="1">
              <a:off x="4330700" y="3990759"/>
              <a:ext cx="0" cy="89687"/>
            </a:xfrm>
            <a:prstGeom prst="line">
              <a:avLst/>
            </a:prstGeom>
            <a:ln w="10455" cap="rnd">
              <a:solidFill>
                <a:srgbClr val="7B899C"/>
              </a:solidFill>
              <a:round/>
            </a:ln>
          </p:spPr>
        </p:cxnSp>
        <p:cxnSp>
          <p:nvCxnSpPr>
            <p:cNvPr id="78" name="Line 78"/>
            <p:cNvCxnSpPr/>
            <p:nvPr/>
          </p:nvCxnSpPr>
          <p:spPr>
            <a:xfrm>
              <a:off x="4330700" y="4080447"/>
              <a:ext cx="0" cy="102812"/>
            </a:xfrm>
            <a:prstGeom prst="line">
              <a:avLst/>
            </a:prstGeom>
            <a:ln w="10455" cap="rnd">
              <a:solidFill>
                <a:srgbClr val="7B899C"/>
              </a:solidFill>
              <a:round/>
            </a:ln>
          </p:spPr>
        </p:cxnSp>
        <p:cxnSp>
          <p:nvCxnSpPr>
            <p:cNvPr id="79" name="Line 79"/>
            <p:cNvCxnSpPr/>
            <p:nvPr/>
          </p:nvCxnSpPr>
          <p:spPr>
            <a:xfrm>
              <a:off x="4330700" y="4183259"/>
              <a:ext cx="0" cy="122500"/>
            </a:xfrm>
            <a:prstGeom prst="line">
              <a:avLst/>
            </a:prstGeom>
            <a:ln w="10455" cap="rnd">
              <a:solidFill>
                <a:srgbClr val="7B899C"/>
              </a:solidFill>
              <a:round/>
            </a:ln>
          </p:spPr>
        </p:cxnSp>
        <p:cxnSp>
          <p:nvCxnSpPr>
            <p:cNvPr id="80" name="Line 80"/>
            <p:cNvCxnSpPr/>
            <p:nvPr/>
          </p:nvCxnSpPr>
          <p:spPr>
            <a:xfrm>
              <a:off x="4330700" y="4305759"/>
              <a:ext cx="0" cy="148750"/>
            </a:xfrm>
            <a:prstGeom prst="line">
              <a:avLst/>
            </a:prstGeom>
            <a:ln w="10455" cap="rnd">
              <a:solidFill>
                <a:srgbClr val="7B899C"/>
              </a:solidFill>
              <a:round/>
              <a:tailEnd type="triangle" w="med" len="med"/>
            </a:ln>
          </p:spPr>
        </p:cxnSp>
        <p:sp>
          <p:nvSpPr>
            <p:cNvPr id="81" name="Rect 81"/>
            <p:cNvSpPr/>
            <p:nvPr/>
          </p:nvSpPr>
          <p:spPr>
            <a:xfrm>
              <a:off x="4061284" y="3839275"/>
              <a:ext cx="538832" cy="120634"/>
            </a:xfrm>
            <a:prstGeom prst="roundRect">
              <a:avLst>
                <a:gd name="adj" fmla="val 26666"/>
              </a:avLst>
            </a:prstGeom>
            <a:solidFill>
              <a:srgbClr val="FFFFFF"/>
            </a:solidFill>
            <a:ln>
              <a:noFill/>
            </a:ln>
          </p:spPr>
        </p:sp>
        <p:sp>
          <p:nvSpPr>
            <p:cNvPr id="82" name="Text 82"/>
            <p:cNvSpPr txBox="1"/>
            <p:nvPr/>
          </p:nvSpPr>
          <p:spPr>
            <a:xfrm>
              <a:off x="3994634" y="3856808"/>
              <a:ext cx="672132"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groups pods</a:t>
              </a:r>
              <a:endParaRPr lang="en-US" sz="602" dirty="0"/>
            </a:p>
          </p:txBody>
        </p:sp>
        <p:cxnSp>
          <p:nvCxnSpPr>
            <p:cNvPr id="83" name="Line 83"/>
            <p:cNvCxnSpPr/>
            <p:nvPr/>
          </p:nvCxnSpPr>
          <p:spPr>
            <a:xfrm>
              <a:off x="4330700" y="4116733"/>
              <a:ext cx="0" cy="45937"/>
            </a:xfrm>
            <a:prstGeom prst="line">
              <a:avLst/>
            </a:prstGeom>
            <a:ln w="10455" cap="rnd">
              <a:solidFill>
                <a:srgbClr val="7B899C"/>
              </a:solidFill>
              <a:round/>
            </a:ln>
          </p:spPr>
        </p:cxnSp>
        <p:cxnSp>
          <p:nvCxnSpPr>
            <p:cNvPr id="84" name="Line 84"/>
            <p:cNvCxnSpPr/>
            <p:nvPr/>
          </p:nvCxnSpPr>
          <p:spPr>
            <a:xfrm>
              <a:off x="4330700" y="4162671"/>
              <a:ext cx="0" cy="37831"/>
            </a:xfrm>
            <a:prstGeom prst="line">
              <a:avLst/>
            </a:prstGeom>
            <a:ln w="10455" cap="rnd">
              <a:solidFill>
                <a:srgbClr val="7B899C"/>
              </a:solidFill>
              <a:round/>
            </a:ln>
          </p:spPr>
        </p:cxnSp>
        <p:cxnSp>
          <p:nvCxnSpPr>
            <p:cNvPr id="85" name="Line 85"/>
            <p:cNvCxnSpPr/>
            <p:nvPr/>
          </p:nvCxnSpPr>
          <p:spPr>
            <a:xfrm flipV="1">
              <a:off x="4330700" y="4200502"/>
              <a:ext cx="0" cy="31751"/>
            </a:xfrm>
            <a:prstGeom prst="line">
              <a:avLst/>
            </a:prstGeom>
            <a:ln w="10455" cap="rnd">
              <a:solidFill>
                <a:srgbClr val="7B899C"/>
              </a:solidFill>
              <a:round/>
            </a:ln>
          </p:spPr>
        </p:cxnSp>
        <p:cxnSp>
          <p:nvCxnSpPr>
            <p:cNvPr id="86" name="Line 86"/>
            <p:cNvCxnSpPr/>
            <p:nvPr/>
          </p:nvCxnSpPr>
          <p:spPr>
            <a:xfrm>
              <a:off x="4330700" y="4232252"/>
              <a:ext cx="0" cy="27698"/>
            </a:xfrm>
            <a:prstGeom prst="line">
              <a:avLst/>
            </a:prstGeom>
            <a:ln w="10455" cap="rnd">
              <a:solidFill>
                <a:srgbClr val="7B899C"/>
              </a:solidFill>
              <a:round/>
            </a:ln>
          </p:spPr>
        </p:cxnSp>
        <p:cxnSp>
          <p:nvCxnSpPr>
            <p:cNvPr id="87" name="Line 87"/>
            <p:cNvCxnSpPr/>
            <p:nvPr/>
          </p:nvCxnSpPr>
          <p:spPr>
            <a:xfrm>
              <a:off x="4330700" y="4259950"/>
              <a:ext cx="0" cy="25671"/>
            </a:xfrm>
            <a:prstGeom prst="line">
              <a:avLst/>
            </a:prstGeom>
            <a:ln w="10455" cap="rnd">
              <a:solidFill>
                <a:srgbClr val="7B899C"/>
              </a:solidFill>
              <a:round/>
            </a:ln>
          </p:spPr>
        </p:cxnSp>
        <p:cxnSp>
          <p:nvCxnSpPr>
            <p:cNvPr id="88" name="Line 88"/>
            <p:cNvCxnSpPr/>
            <p:nvPr/>
          </p:nvCxnSpPr>
          <p:spPr>
            <a:xfrm>
              <a:off x="4330700" y="4285621"/>
              <a:ext cx="0" cy="25671"/>
            </a:xfrm>
            <a:prstGeom prst="line">
              <a:avLst/>
            </a:prstGeom>
            <a:ln w="10455" cap="rnd">
              <a:solidFill>
                <a:srgbClr val="7B899C"/>
              </a:solidFill>
              <a:round/>
            </a:ln>
          </p:spPr>
        </p:cxnSp>
        <p:cxnSp>
          <p:nvCxnSpPr>
            <p:cNvPr id="89" name="Line 89"/>
            <p:cNvCxnSpPr/>
            <p:nvPr/>
          </p:nvCxnSpPr>
          <p:spPr>
            <a:xfrm flipV="1">
              <a:off x="4330700" y="4311292"/>
              <a:ext cx="0" cy="27698"/>
            </a:xfrm>
            <a:prstGeom prst="line">
              <a:avLst/>
            </a:prstGeom>
            <a:ln w="10455" cap="rnd">
              <a:solidFill>
                <a:srgbClr val="7B899C"/>
              </a:solidFill>
              <a:round/>
            </a:ln>
          </p:spPr>
        </p:cxnSp>
        <p:cxnSp>
          <p:nvCxnSpPr>
            <p:cNvPr id="90" name="Line 90"/>
            <p:cNvCxnSpPr/>
            <p:nvPr/>
          </p:nvCxnSpPr>
          <p:spPr>
            <a:xfrm>
              <a:off x="4330700" y="4338989"/>
              <a:ext cx="0" cy="31751"/>
            </a:xfrm>
            <a:prstGeom prst="line">
              <a:avLst/>
            </a:prstGeom>
            <a:ln w="10455" cap="rnd">
              <a:solidFill>
                <a:srgbClr val="7B899C"/>
              </a:solidFill>
              <a:round/>
            </a:ln>
          </p:spPr>
        </p:cxnSp>
        <p:cxnSp>
          <p:nvCxnSpPr>
            <p:cNvPr id="91" name="Line 91"/>
            <p:cNvCxnSpPr/>
            <p:nvPr/>
          </p:nvCxnSpPr>
          <p:spPr>
            <a:xfrm>
              <a:off x="4330700" y="4370740"/>
              <a:ext cx="0" cy="37831"/>
            </a:xfrm>
            <a:prstGeom prst="line">
              <a:avLst/>
            </a:prstGeom>
            <a:ln w="10455" cap="rnd">
              <a:solidFill>
                <a:srgbClr val="7B899C"/>
              </a:solidFill>
              <a:round/>
            </a:ln>
          </p:spPr>
        </p:cxnSp>
        <p:cxnSp>
          <p:nvCxnSpPr>
            <p:cNvPr id="92" name="Line 92"/>
            <p:cNvCxnSpPr/>
            <p:nvPr/>
          </p:nvCxnSpPr>
          <p:spPr>
            <a:xfrm>
              <a:off x="4330700" y="4408571"/>
              <a:ext cx="0" cy="45937"/>
            </a:xfrm>
            <a:prstGeom prst="line">
              <a:avLst/>
            </a:prstGeom>
            <a:ln w="10455" cap="rnd">
              <a:solidFill>
                <a:srgbClr val="7B899C"/>
              </a:solidFill>
              <a:round/>
              <a:tailEnd type="triangle" w="med" len="med"/>
            </a:ln>
          </p:spPr>
        </p:cxnSp>
        <p:sp>
          <p:nvSpPr>
            <p:cNvPr id="93" name="Rect 93"/>
            <p:cNvSpPr/>
            <p:nvPr/>
          </p:nvSpPr>
          <p:spPr>
            <a:xfrm>
              <a:off x="3995961" y="4217262"/>
              <a:ext cx="669478" cy="120634"/>
            </a:xfrm>
            <a:prstGeom prst="roundRect">
              <a:avLst>
                <a:gd name="adj" fmla="val 26666"/>
              </a:avLst>
            </a:prstGeom>
            <a:solidFill>
              <a:srgbClr val="FFFFFF"/>
            </a:solidFill>
            <a:ln>
              <a:noFill/>
            </a:ln>
          </p:spPr>
        </p:sp>
        <p:sp>
          <p:nvSpPr>
            <p:cNvPr id="94" name="Text 94"/>
            <p:cNvSpPr txBox="1"/>
            <p:nvPr/>
          </p:nvSpPr>
          <p:spPr>
            <a:xfrm>
              <a:off x="3909714" y="4234794"/>
              <a:ext cx="841972"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routes request</a:t>
              </a:r>
              <a:endParaRPr lang="en-US" sz="602" dirty="0"/>
            </a:p>
          </p:txBody>
        </p:sp>
        <p:cxnSp>
          <p:nvCxnSpPr>
            <p:cNvPr id="95" name="Line 95"/>
            <p:cNvCxnSpPr/>
            <p:nvPr/>
          </p:nvCxnSpPr>
          <p:spPr>
            <a:xfrm flipV="1">
              <a:off x="4310659" y="4872706"/>
              <a:ext cx="20041" cy="45937"/>
            </a:xfrm>
            <a:prstGeom prst="line">
              <a:avLst/>
            </a:prstGeom>
            <a:ln w="10455" cap="rnd">
              <a:solidFill>
                <a:srgbClr val="7B899C"/>
              </a:solidFill>
              <a:round/>
            </a:ln>
          </p:spPr>
        </p:cxnSp>
        <p:cxnSp>
          <p:nvCxnSpPr>
            <p:cNvPr id="96" name="Line 96"/>
            <p:cNvCxnSpPr/>
            <p:nvPr/>
          </p:nvCxnSpPr>
          <p:spPr>
            <a:xfrm flipV="1">
              <a:off x="4256261" y="4918643"/>
              <a:ext cx="54398" cy="37831"/>
            </a:xfrm>
            <a:prstGeom prst="line">
              <a:avLst/>
            </a:prstGeom>
            <a:ln w="10455" cap="rnd">
              <a:solidFill>
                <a:srgbClr val="7B899C"/>
              </a:solidFill>
              <a:round/>
            </a:ln>
          </p:spPr>
        </p:cxnSp>
        <p:cxnSp>
          <p:nvCxnSpPr>
            <p:cNvPr id="97" name="Line 97"/>
            <p:cNvCxnSpPr/>
            <p:nvPr/>
          </p:nvCxnSpPr>
          <p:spPr>
            <a:xfrm flipV="1">
              <a:off x="4176096" y="4956474"/>
              <a:ext cx="80165" cy="31751"/>
            </a:xfrm>
            <a:prstGeom prst="line">
              <a:avLst/>
            </a:prstGeom>
            <a:ln w="10455" cap="rnd">
              <a:solidFill>
                <a:srgbClr val="7B899C"/>
              </a:solidFill>
              <a:round/>
            </a:ln>
          </p:spPr>
        </p:cxnSp>
        <p:cxnSp>
          <p:nvCxnSpPr>
            <p:cNvPr id="98" name="Line 98"/>
            <p:cNvCxnSpPr/>
            <p:nvPr/>
          </p:nvCxnSpPr>
          <p:spPr>
            <a:xfrm flipV="1">
              <a:off x="4078752" y="4988225"/>
              <a:ext cx="97344" cy="27698"/>
            </a:xfrm>
            <a:prstGeom prst="line">
              <a:avLst/>
            </a:prstGeom>
            <a:ln w="10455" cap="rnd">
              <a:solidFill>
                <a:srgbClr val="7B899C"/>
              </a:solidFill>
              <a:round/>
            </a:ln>
          </p:spPr>
        </p:cxnSp>
        <p:cxnSp>
          <p:nvCxnSpPr>
            <p:cNvPr id="99" name="Line 99"/>
            <p:cNvCxnSpPr/>
            <p:nvPr/>
          </p:nvCxnSpPr>
          <p:spPr>
            <a:xfrm flipV="1">
              <a:off x="3972819" y="5015923"/>
              <a:ext cx="105933" cy="25671"/>
            </a:xfrm>
            <a:prstGeom prst="line">
              <a:avLst/>
            </a:prstGeom>
            <a:ln w="10455" cap="rnd">
              <a:solidFill>
                <a:srgbClr val="7B899C"/>
              </a:solidFill>
              <a:round/>
            </a:ln>
          </p:spPr>
        </p:cxnSp>
        <p:cxnSp>
          <p:nvCxnSpPr>
            <p:cNvPr id="100" name="Line 100"/>
            <p:cNvCxnSpPr/>
            <p:nvPr/>
          </p:nvCxnSpPr>
          <p:spPr>
            <a:xfrm flipV="1">
              <a:off x="3866887" y="5041593"/>
              <a:ext cx="105933" cy="25671"/>
            </a:xfrm>
            <a:prstGeom prst="line">
              <a:avLst/>
            </a:prstGeom>
            <a:ln w="10455" cap="rnd">
              <a:solidFill>
                <a:srgbClr val="7B899C"/>
              </a:solidFill>
              <a:round/>
            </a:ln>
          </p:spPr>
        </p:cxnSp>
        <p:cxnSp>
          <p:nvCxnSpPr>
            <p:cNvPr id="101" name="Line 101"/>
            <p:cNvCxnSpPr/>
            <p:nvPr/>
          </p:nvCxnSpPr>
          <p:spPr>
            <a:xfrm flipV="1">
              <a:off x="3769543" y="5067264"/>
              <a:ext cx="97344" cy="27698"/>
            </a:xfrm>
            <a:prstGeom prst="line">
              <a:avLst/>
            </a:prstGeom>
            <a:ln w="10455" cap="rnd">
              <a:solidFill>
                <a:srgbClr val="7B899C"/>
              </a:solidFill>
              <a:round/>
            </a:ln>
          </p:spPr>
        </p:cxnSp>
        <p:cxnSp>
          <p:nvCxnSpPr>
            <p:cNvPr id="102" name="Line 102"/>
            <p:cNvCxnSpPr/>
            <p:nvPr/>
          </p:nvCxnSpPr>
          <p:spPr>
            <a:xfrm flipV="1">
              <a:off x="3689378" y="5094962"/>
              <a:ext cx="80165" cy="31751"/>
            </a:xfrm>
            <a:prstGeom prst="line">
              <a:avLst/>
            </a:prstGeom>
            <a:ln w="10455" cap="rnd">
              <a:solidFill>
                <a:srgbClr val="7B899C"/>
              </a:solidFill>
              <a:round/>
            </a:ln>
          </p:spPr>
        </p:cxnSp>
        <p:cxnSp>
          <p:nvCxnSpPr>
            <p:cNvPr id="103" name="Line 103"/>
            <p:cNvCxnSpPr/>
            <p:nvPr/>
          </p:nvCxnSpPr>
          <p:spPr>
            <a:xfrm flipV="1">
              <a:off x="3634980" y="5126713"/>
              <a:ext cx="54398" cy="37831"/>
            </a:xfrm>
            <a:prstGeom prst="line">
              <a:avLst/>
            </a:prstGeom>
            <a:ln w="10455" cap="rnd">
              <a:solidFill>
                <a:srgbClr val="7B899C"/>
              </a:solidFill>
              <a:round/>
            </a:ln>
          </p:spPr>
        </p:cxnSp>
        <p:cxnSp>
          <p:nvCxnSpPr>
            <p:cNvPr id="104" name="Line 104"/>
            <p:cNvCxnSpPr/>
            <p:nvPr/>
          </p:nvCxnSpPr>
          <p:spPr>
            <a:xfrm flipV="1">
              <a:off x="3614939" y="5164544"/>
              <a:ext cx="20041" cy="45937"/>
            </a:xfrm>
            <a:prstGeom prst="line">
              <a:avLst/>
            </a:prstGeom>
            <a:ln w="10455" cap="rnd">
              <a:solidFill>
                <a:srgbClr val="7B899C"/>
              </a:solidFill>
              <a:round/>
              <a:headEnd type="triangle" w="med" len="med"/>
            </a:ln>
          </p:spPr>
        </p:cxnSp>
        <p:sp>
          <p:nvSpPr>
            <p:cNvPr id="105" name="Rect 105"/>
            <p:cNvSpPr/>
            <p:nvPr/>
          </p:nvSpPr>
          <p:spPr>
            <a:xfrm>
              <a:off x="3641518" y="4973234"/>
              <a:ext cx="662602" cy="120634"/>
            </a:xfrm>
            <a:prstGeom prst="roundRect">
              <a:avLst>
                <a:gd name="adj" fmla="val 26666"/>
              </a:avLst>
            </a:prstGeom>
            <a:solidFill>
              <a:srgbClr val="FFFFFF"/>
            </a:solidFill>
            <a:ln>
              <a:noFill/>
            </a:ln>
          </p:spPr>
        </p:sp>
        <p:sp>
          <p:nvSpPr>
            <p:cNvPr id="106" name="Text 106"/>
            <p:cNvSpPr txBox="1"/>
            <p:nvPr/>
          </p:nvSpPr>
          <p:spPr>
            <a:xfrm>
              <a:off x="3556303" y="4990766"/>
              <a:ext cx="833033"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ZMQ KV events</a:t>
              </a:r>
              <a:endParaRPr lang="en-US" sz="602" dirty="0"/>
            </a:p>
          </p:txBody>
        </p:sp>
        <p:cxnSp>
          <p:nvCxnSpPr>
            <p:cNvPr id="107" name="Line 107"/>
            <p:cNvCxnSpPr/>
            <p:nvPr/>
          </p:nvCxnSpPr>
          <p:spPr>
            <a:xfrm>
              <a:off x="3614939" y="2604788"/>
              <a:ext cx="20041" cy="251562"/>
            </a:xfrm>
            <a:prstGeom prst="line">
              <a:avLst/>
            </a:prstGeom>
            <a:ln w="10455" cap="rnd">
              <a:solidFill>
                <a:srgbClr val="7B899C"/>
              </a:solidFill>
              <a:round/>
            </a:ln>
          </p:spPr>
        </p:cxnSp>
        <p:cxnSp>
          <p:nvCxnSpPr>
            <p:cNvPr id="108" name="Line 108"/>
            <p:cNvCxnSpPr/>
            <p:nvPr/>
          </p:nvCxnSpPr>
          <p:spPr>
            <a:xfrm>
              <a:off x="3634980" y="2856350"/>
              <a:ext cx="54398" cy="207169"/>
            </a:xfrm>
            <a:prstGeom prst="line">
              <a:avLst/>
            </a:prstGeom>
            <a:ln w="10455" cap="rnd">
              <a:solidFill>
                <a:srgbClr val="7B899C"/>
              </a:solidFill>
              <a:round/>
            </a:ln>
          </p:spPr>
        </p:cxnSp>
        <p:cxnSp>
          <p:nvCxnSpPr>
            <p:cNvPr id="109" name="Line 109"/>
            <p:cNvCxnSpPr/>
            <p:nvPr/>
          </p:nvCxnSpPr>
          <p:spPr>
            <a:xfrm>
              <a:off x="3689378" y="3063519"/>
              <a:ext cx="80165" cy="173874"/>
            </a:xfrm>
            <a:prstGeom prst="line">
              <a:avLst/>
            </a:prstGeom>
            <a:ln w="10455" cap="rnd">
              <a:solidFill>
                <a:srgbClr val="7B899C"/>
              </a:solidFill>
              <a:round/>
            </a:ln>
          </p:spPr>
        </p:cxnSp>
        <p:cxnSp>
          <p:nvCxnSpPr>
            <p:cNvPr id="110" name="Line 110"/>
            <p:cNvCxnSpPr/>
            <p:nvPr/>
          </p:nvCxnSpPr>
          <p:spPr>
            <a:xfrm>
              <a:off x="3769543" y="3237393"/>
              <a:ext cx="97344" cy="151677"/>
            </a:xfrm>
            <a:prstGeom prst="line">
              <a:avLst/>
            </a:prstGeom>
            <a:ln w="10455" cap="rnd">
              <a:solidFill>
                <a:srgbClr val="7B899C"/>
              </a:solidFill>
              <a:round/>
            </a:ln>
          </p:spPr>
        </p:cxnSp>
        <p:cxnSp>
          <p:nvCxnSpPr>
            <p:cNvPr id="111" name="Line 111"/>
            <p:cNvCxnSpPr/>
            <p:nvPr/>
          </p:nvCxnSpPr>
          <p:spPr>
            <a:xfrm>
              <a:off x="3866887" y="3389070"/>
              <a:ext cx="105933" cy="140579"/>
            </a:xfrm>
            <a:prstGeom prst="line">
              <a:avLst/>
            </a:prstGeom>
            <a:ln w="10455" cap="rnd">
              <a:solidFill>
                <a:srgbClr val="7B899C"/>
              </a:solidFill>
              <a:round/>
            </a:ln>
          </p:spPr>
        </p:cxnSp>
        <p:cxnSp>
          <p:nvCxnSpPr>
            <p:cNvPr id="112" name="Line 112"/>
            <p:cNvCxnSpPr/>
            <p:nvPr/>
          </p:nvCxnSpPr>
          <p:spPr>
            <a:xfrm>
              <a:off x="3972819" y="3529648"/>
              <a:ext cx="105933" cy="140579"/>
            </a:xfrm>
            <a:prstGeom prst="line">
              <a:avLst/>
            </a:prstGeom>
            <a:ln w="10455" cap="rnd">
              <a:solidFill>
                <a:srgbClr val="7B899C"/>
              </a:solidFill>
              <a:round/>
            </a:ln>
          </p:spPr>
        </p:cxnSp>
        <p:cxnSp>
          <p:nvCxnSpPr>
            <p:cNvPr id="113" name="Line 113"/>
            <p:cNvCxnSpPr/>
            <p:nvPr/>
          </p:nvCxnSpPr>
          <p:spPr>
            <a:xfrm>
              <a:off x="4078752" y="3670227"/>
              <a:ext cx="97344" cy="151677"/>
            </a:xfrm>
            <a:prstGeom prst="line">
              <a:avLst/>
            </a:prstGeom>
            <a:ln w="10455" cap="rnd">
              <a:solidFill>
                <a:srgbClr val="7B899C"/>
              </a:solidFill>
              <a:round/>
            </a:ln>
          </p:spPr>
        </p:cxnSp>
        <p:cxnSp>
          <p:nvCxnSpPr>
            <p:cNvPr id="114" name="Line 114"/>
            <p:cNvCxnSpPr/>
            <p:nvPr/>
          </p:nvCxnSpPr>
          <p:spPr>
            <a:xfrm>
              <a:off x="4176096" y="3821904"/>
              <a:ext cx="80165" cy="173874"/>
            </a:xfrm>
            <a:prstGeom prst="line">
              <a:avLst/>
            </a:prstGeom>
            <a:ln w="10455" cap="rnd">
              <a:solidFill>
                <a:srgbClr val="7B899C"/>
              </a:solidFill>
              <a:round/>
            </a:ln>
          </p:spPr>
        </p:cxnSp>
        <p:cxnSp>
          <p:nvCxnSpPr>
            <p:cNvPr id="115" name="Line 115"/>
            <p:cNvCxnSpPr/>
            <p:nvPr/>
          </p:nvCxnSpPr>
          <p:spPr>
            <a:xfrm>
              <a:off x="4256261" y="3995778"/>
              <a:ext cx="54398" cy="207169"/>
            </a:xfrm>
            <a:prstGeom prst="line">
              <a:avLst/>
            </a:prstGeom>
            <a:ln w="10455" cap="rnd">
              <a:solidFill>
                <a:srgbClr val="7B899C"/>
              </a:solidFill>
              <a:round/>
            </a:ln>
          </p:spPr>
        </p:cxnSp>
        <p:cxnSp>
          <p:nvCxnSpPr>
            <p:cNvPr id="116" name="Line 116"/>
            <p:cNvCxnSpPr/>
            <p:nvPr/>
          </p:nvCxnSpPr>
          <p:spPr>
            <a:xfrm>
              <a:off x="4310659" y="4202946"/>
              <a:ext cx="20041" cy="251562"/>
            </a:xfrm>
            <a:prstGeom prst="line">
              <a:avLst/>
            </a:prstGeom>
            <a:ln w="10455" cap="rnd">
              <a:solidFill>
                <a:srgbClr val="7B899C"/>
              </a:solidFill>
              <a:round/>
              <a:tailEnd type="triangle" w="med" len="med"/>
            </a:ln>
          </p:spPr>
        </p:cxnSp>
        <p:sp>
          <p:nvSpPr>
            <p:cNvPr id="117" name="Rect 117"/>
            <p:cNvSpPr/>
            <p:nvPr/>
          </p:nvSpPr>
          <p:spPr>
            <a:xfrm>
              <a:off x="3812276" y="3461289"/>
              <a:ext cx="321087" cy="120634"/>
            </a:xfrm>
            <a:prstGeom prst="roundRect">
              <a:avLst>
                <a:gd name="adj" fmla="val 26666"/>
              </a:avLst>
            </a:prstGeom>
            <a:solidFill>
              <a:srgbClr val="FFFFFF"/>
            </a:solidFill>
            <a:ln>
              <a:noFill/>
            </a:ln>
          </p:spPr>
        </p:sp>
        <p:sp>
          <p:nvSpPr>
            <p:cNvPr id="118" name="Text 118"/>
            <p:cNvSpPr txBox="1"/>
            <p:nvPr/>
          </p:nvSpPr>
          <p:spPr>
            <a:xfrm>
              <a:off x="3778287" y="3478821"/>
              <a:ext cx="389064"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scales</a:t>
              </a:r>
              <a:endParaRPr lang="en-US" sz="602" dirty="0"/>
            </a:p>
          </p:txBody>
        </p:sp>
        <p:cxnSp>
          <p:nvCxnSpPr>
            <p:cNvPr id="119" name="Line 119"/>
            <p:cNvCxnSpPr/>
            <p:nvPr/>
          </p:nvCxnSpPr>
          <p:spPr>
            <a:xfrm>
              <a:off x="4330700" y="4872706"/>
              <a:ext cx="20041" cy="45937"/>
            </a:xfrm>
            <a:prstGeom prst="line">
              <a:avLst/>
            </a:prstGeom>
            <a:ln w="10455" cap="rnd">
              <a:solidFill>
                <a:srgbClr val="7B899C"/>
              </a:solidFill>
              <a:round/>
            </a:ln>
          </p:spPr>
        </p:cxnSp>
        <p:cxnSp>
          <p:nvCxnSpPr>
            <p:cNvPr id="120" name="Line 120"/>
            <p:cNvCxnSpPr/>
            <p:nvPr/>
          </p:nvCxnSpPr>
          <p:spPr>
            <a:xfrm>
              <a:off x="4350741" y="4918643"/>
              <a:ext cx="54398" cy="37831"/>
            </a:xfrm>
            <a:prstGeom prst="line">
              <a:avLst/>
            </a:prstGeom>
            <a:ln w="10455" cap="rnd">
              <a:solidFill>
                <a:srgbClr val="7B899C"/>
              </a:solidFill>
              <a:round/>
            </a:ln>
          </p:spPr>
        </p:cxnSp>
        <p:cxnSp>
          <p:nvCxnSpPr>
            <p:cNvPr id="121" name="Line 121"/>
            <p:cNvCxnSpPr/>
            <p:nvPr/>
          </p:nvCxnSpPr>
          <p:spPr>
            <a:xfrm>
              <a:off x="4405139" y="4956474"/>
              <a:ext cx="80165" cy="31751"/>
            </a:xfrm>
            <a:prstGeom prst="line">
              <a:avLst/>
            </a:prstGeom>
            <a:ln w="10455" cap="rnd">
              <a:solidFill>
                <a:srgbClr val="7B899C"/>
              </a:solidFill>
              <a:round/>
            </a:ln>
          </p:spPr>
        </p:cxnSp>
        <p:cxnSp>
          <p:nvCxnSpPr>
            <p:cNvPr id="122" name="Line 122"/>
            <p:cNvCxnSpPr/>
            <p:nvPr/>
          </p:nvCxnSpPr>
          <p:spPr>
            <a:xfrm>
              <a:off x="4485304" y="4988225"/>
              <a:ext cx="97344" cy="27698"/>
            </a:xfrm>
            <a:prstGeom prst="line">
              <a:avLst/>
            </a:prstGeom>
            <a:ln w="10455" cap="rnd">
              <a:solidFill>
                <a:srgbClr val="7B899C"/>
              </a:solidFill>
              <a:round/>
            </a:ln>
          </p:spPr>
        </p:cxnSp>
        <p:cxnSp>
          <p:nvCxnSpPr>
            <p:cNvPr id="123" name="Line 123"/>
            <p:cNvCxnSpPr/>
            <p:nvPr/>
          </p:nvCxnSpPr>
          <p:spPr>
            <a:xfrm>
              <a:off x="4582648" y="5015923"/>
              <a:ext cx="105933" cy="25671"/>
            </a:xfrm>
            <a:prstGeom prst="line">
              <a:avLst/>
            </a:prstGeom>
            <a:ln w="10455" cap="rnd">
              <a:solidFill>
                <a:srgbClr val="7B899C"/>
              </a:solidFill>
              <a:round/>
            </a:ln>
          </p:spPr>
        </p:cxnSp>
        <p:cxnSp>
          <p:nvCxnSpPr>
            <p:cNvPr id="124" name="Line 124"/>
            <p:cNvCxnSpPr/>
            <p:nvPr/>
          </p:nvCxnSpPr>
          <p:spPr>
            <a:xfrm>
              <a:off x="4688581" y="5041593"/>
              <a:ext cx="105933" cy="25671"/>
            </a:xfrm>
            <a:prstGeom prst="line">
              <a:avLst/>
            </a:prstGeom>
            <a:ln w="10455" cap="rnd">
              <a:solidFill>
                <a:srgbClr val="7B899C"/>
              </a:solidFill>
              <a:round/>
            </a:ln>
          </p:spPr>
        </p:cxnSp>
        <p:cxnSp>
          <p:nvCxnSpPr>
            <p:cNvPr id="125" name="Line 125"/>
            <p:cNvCxnSpPr/>
            <p:nvPr/>
          </p:nvCxnSpPr>
          <p:spPr>
            <a:xfrm>
              <a:off x="4794513" y="5067264"/>
              <a:ext cx="97344" cy="27698"/>
            </a:xfrm>
            <a:prstGeom prst="line">
              <a:avLst/>
            </a:prstGeom>
            <a:ln w="10455" cap="rnd">
              <a:solidFill>
                <a:srgbClr val="7B899C"/>
              </a:solidFill>
              <a:round/>
            </a:ln>
          </p:spPr>
        </p:cxnSp>
        <p:cxnSp>
          <p:nvCxnSpPr>
            <p:cNvPr id="126" name="Line 126"/>
            <p:cNvCxnSpPr/>
            <p:nvPr/>
          </p:nvCxnSpPr>
          <p:spPr>
            <a:xfrm>
              <a:off x="4891857" y="5094962"/>
              <a:ext cx="80165" cy="31751"/>
            </a:xfrm>
            <a:prstGeom prst="line">
              <a:avLst/>
            </a:prstGeom>
            <a:ln w="10455" cap="rnd">
              <a:solidFill>
                <a:srgbClr val="7B899C"/>
              </a:solidFill>
              <a:round/>
            </a:ln>
          </p:spPr>
        </p:cxnSp>
        <p:cxnSp>
          <p:nvCxnSpPr>
            <p:cNvPr id="127" name="Line 127"/>
            <p:cNvCxnSpPr/>
            <p:nvPr/>
          </p:nvCxnSpPr>
          <p:spPr>
            <a:xfrm>
              <a:off x="4972022" y="5126713"/>
              <a:ext cx="54398" cy="37831"/>
            </a:xfrm>
            <a:prstGeom prst="line">
              <a:avLst/>
            </a:prstGeom>
            <a:ln w="10455" cap="rnd">
              <a:solidFill>
                <a:srgbClr val="7B899C"/>
              </a:solidFill>
              <a:round/>
            </a:ln>
          </p:spPr>
        </p:cxnSp>
        <p:cxnSp>
          <p:nvCxnSpPr>
            <p:cNvPr id="128" name="Line 128"/>
            <p:cNvCxnSpPr/>
            <p:nvPr/>
          </p:nvCxnSpPr>
          <p:spPr>
            <a:xfrm>
              <a:off x="5026420" y="5164544"/>
              <a:ext cx="20041" cy="45937"/>
            </a:xfrm>
            <a:prstGeom prst="line">
              <a:avLst/>
            </a:prstGeom>
            <a:ln w="10455" cap="rnd">
              <a:solidFill>
                <a:srgbClr val="7B899C"/>
              </a:solidFill>
              <a:round/>
              <a:tailEnd type="triangle" w="med" len="med"/>
            </a:ln>
          </p:spPr>
        </p:cxnSp>
        <p:sp>
          <p:nvSpPr>
            <p:cNvPr id="129" name="Rect 129"/>
            <p:cNvSpPr/>
            <p:nvPr/>
          </p:nvSpPr>
          <p:spPr>
            <a:xfrm>
              <a:off x="4368740" y="4973234"/>
              <a:ext cx="639681" cy="120634"/>
            </a:xfrm>
            <a:prstGeom prst="roundRect">
              <a:avLst>
                <a:gd name="adj" fmla="val 26666"/>
              </a:avLst>
            </a:prstGeom>
            <a:solidFill>
              <a:srgbClr val="FFFFFF"/>
            </a:solidFill>
            <a:ln>
              <a:noFill/>
            </a:ln>
          </p:spPr>
        </p:sp>
        <p:sp>
          <p:nvSpPr>
            <p:cNvPr id="130" name="Text 130"/>
            <p:cNvSpPr txBox="1"/>
            <p:nvPr/>
          </p:nvSpPr>
          <p:spPr>
            <a:xfrm>
              <a:off x="4286962" y="4990766"/>
              <a:ext cx="803237"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metrics, spans</a:t>
              </a:r>
              <a:endParaRPr lang="en-US" sz="602" dirty="0"/>
            </a:p>
          </p:txBody>
        </p:sp>
        <p:cxnSp>
          <p:nvCxnSpPr>
            <p:cNvPr id="131" name="Line 131"/>
            <p:cNvCxnSpPr/>
            <p:nvPr/>
          </p:nvCxnSpPr>
          <p:spPr>
            <a:xfrm>
              <a:off x="4330700" y="4116733"/>
              <a:ext cx="20041" cy="148750"/>
            </a:xfrm>
            <a:prstGeom prst="line">
              <a:avLst/>
            </a:prstGeom>
            <a:ln w="10455" cap="rnd">
              <a:solidFill>
                <a:srgbClr val="7B899C"/>
              </a:solidFill>
              <a:round/>
            </a:ln>
          </p:spPr>
        </p:cxnSp>
        <p:cxnSp>
          <p:nvCxnSpPr>
            <p:cNvPr id="132" name="Line 132"/>
            <p:cNvCxnSpPr/>
            <p:nvPr/>
          </p:nvCxnSpPr>
          <p:spPr>
            <a:xfrm>
              <a:off x="4350741" y="4265483"/>
              <a:ext cx="54398" cy="122500"/>
            </a:xfrm>
            <a:prstGeom prst="line">
              <a:avLst/>
            </a:prstGeom>
            <a:ln w="10455" cap="rnd">
              <a:solidFill>
                <a:srgbClr val="7B899C"/>
              </a:solidFill>
              <a:round/>
            </a:ln>
          </p:spPr>
        </p:cxnSp>
        <p:cxnSp>
          <p:nvCxnSpPr>
            <p:cNvPr id="133" name="Line 133"/>
            <p:cNvCxnSpPr/>
            <p:nvPr/>
          </p:nvCxnSpPr>
          <p:spPr>
            <a:xfrm>
              <a:off x="4405139" y="4387983"/>
              <a:ext cx="80165" cy="102812"/>
            </a:xfrm>
            <a:prstGeom prst="line">
              <a:avLst/>
            </a:prstGeom>
            <a:ln w="10455" cap="rnd">
              <a:solidFill>
                <a:srgbClr val="7B899C"/>
              </a:solidFill>
              <a:round/>
            </a:ln>
          </p:spPr>
        </p:cxnSp>
        <p:cxnSp>
          <p:nvCxnSpPr>
            <p:cNvPr id="134" name="Line 134"/>
            <p:cNvCxnSpPr/>
            <p:nvPr/>
          </p:nvCxnSpPr>
          <p:spPr>
            <a:xfrm>
              <a:off x="4485304" y="4490795"/>
              <a:ext cx="97344" cy="89687"/>
            </a:xfrm>
            <a:prstGeom prst="line">
              <a:avLst/>
            </a:prstGeom>
            <a:ln w="10455" cap="rnd">
              <a:solidFill>
                <a:srgbClr val="7B899C"/>
              </a:solidFill>
              <a:round/>
            </a:ln>
          </p:spPr>
        </p:cxnSp>
        <p:cxnSp>
          <p:nvCxnSpPr>
            <p:cNvPr id="135" name="Line 135"/>
            <p:cNvCxnSpPr/>
            <p:nvPr/>
          </p:nvCxnSpPr>
          <p:spPr>
            <a:xfrm>
              <a:off x="4582648" y="4580482"/>
              <a:ext cx="105933" cy="83125"/>
            </a:xfrm>
            <a:prstGeom prst="line">
              <a:avLst/>
            </a:prstGeom>
            <a:ln w="10455" cap="rnd">
              <a:solidFill>
                <a:srgbClr val="7B899C"/>
              </a:solidFill>
              <a:round/>
            </a:ln>
          </p:spPr>
        </p:cxnSp>
        <p:cxnSp>
          <p:nvCxnSpPr>
            <p:cNvPr id="136" name="Line 136"/>
            <p:cNvCxnSpPr/>
            <p:nvPr/>
          </p:nvCxnSpPr>
          <p:spPr>
            <a:xfrm>
              <a:off x="4688581" y="4663607"/>
              <a:ext cx="105933" cy="83125"/>
            </a:xfrm>
            <a:prstGeom prst="line">
              <a:avLst/>
            </a:prstGeom>
            <a:ln w="10455" cap="rnd">
              <a:solidFill>
                <a:srgbClr val="7B899C"/>
              </a:solidFill>
              <a:round/>
            </a:ln>
          </p:spPr>
        </p:cxnSp>
        <p:cxnSp>
          <p:nvCxnSpPr>
            <p:cNvPr id="137" name="Line 137"/>
            <p:cNvCxnSpPr/>
            <p:nvPr/>
          </p:nvCxnSpPr>
          <p:spPr>
            <a:xfrm>
              <a:off x="4794513" y="4746732"/>
              <a:ext cx="97344" cy="89687"/>
            </a:xfrm>
            <a:prstGeom prst="line">
              <a:avLst/>
            </a:prstGeom>
            <a:ln w="10455" cap="rnd">
              <a:solidFill>
                <a:srgbClr val="7B899C"/>
              </a:solidFill>
              <a:round/>
            </a:ln>
          </p:spPr>
        </p:cxnSp>
        <p:cxnSp>
          <p:nvCxnSpPr>
            <p:cNvPr id="138" name="Line 138"/>
            <p:cNvCxnSpPr/>
            <p:nvPr/>
          </p:nvCxnSpPr>
          <p:spPr>
            <a:xfrm>
              <a:off x="4891857" y="4836419"/>
              <a:ext cx="80165" cy="102812"/>
            </a:xfrm>
            <a:prstGeom prst="line">
              <a:avLst/>
            </a:prstGeom>
            <a:ln w="10455" cap="rnd">
              <a:solidFill>
                <a:srgbClr val="7B899C"/>
              </a:solidFill>
              <a:round/>
            </a:ln>
          </p:spPr>
        </p:cxnSp>
        <p:cxnSp>
          <p:nvCxnSpPr>
            <p:cNvPr id="139" name="Line 139"/>
            <p:cNvCxnSpPr/>
            <p:nvPr/>
          </p:nvCxnSpPr>
          <p:spPr>
            <a:xfrm>
              <a:off x="4972022" y="4939232"/>
              <a:ext cx="54398" cy="122500"/>
            </a:xfrm>
            <a:prstGeom prst="line">
              <a:avLst/>
            </a:prstGeom>
            <a:ln w="10455" cap="rnd">
              <a:solidFill>
                <a:srgbClr val="7B899C"/>
              </a:solidFill>
              <a:round/>
            </a:ln>
          </p:spPr>
        </p:cxnSp>
        <p:cxnSp>
          <p:nvCxnSpPr>
            <p:cNvPr id="140" name="Line 140"/>
            <p:cNvCxnSpPr/>
            <p:nvPr/>
          </p:nvCxnSpPr>
          <p:spPr>
            <a:xfrm>
              <a:off x="5026420" y="5061731"/>
              <a:ext cx="20041" cy="148750"/>
            </a:xfrm>
            <a:prstGeom prst="line">
              <a:avLst/>
            </a:prstGeom>
            <a:ln w="10455" cap="rnd">
              <a:solidFill>
                <a:srgbClr val="7B899C"/>
              </a:solidFill>
              <a:round/>
              <a:tailEnd type="triangle" w="med" len="med"/>
            </a:ln>
          </p:spPr>
        </p:cxnSp>
        <p:sp>
          <p:nvSpPr>
            <p:cNvPr id="141" name="Rect 141"/>
            <p:cNvSpPr/>
            <p:nvPr/>
          </p:nvSpPr>
          <p:spPr>
            <a:xfrm>
              <a:off x="4368740" y="4595248"/>
              <a:ext cx="639681" cy="120634"/>
            </a:xfrm>
            <a:prstGeom prst="roundRect">
              <a:avLst>
                <a:gd name="adj" fmla="val 26666"/>
              </a:avLst>
            </a:prstGeom>
            <a:solidFill>
              <a:srgbClr val="FFFFFF"/>
            </a:solidFill>
            <a:ln>
              <a:noFill/>
            </a:ln>
          </p:spPr>
        </p:sp>
        <p:sp>
          <p:nvSpPr>
            <p:cNvPr id="142" name="Text 142"/>
            <p:cNvSpPr txBox="1"/>
            <p:nvPr/>
          </p:nvSpPr>
          <p:spPr>
            <a:xfrm>
              <a:off x="4286962" y="4612780"/>
              <a:ext cx="803237"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metrics, spans</a:t>
              </a:r>
              <a:endParaRPr lang="en-US" sz="602" dirty="0"/>
            </a:p>
          </p:txBody>
        </p:sp>
        <p:sp>
          <p:nvSpPr>
            <p:cNvPr id="143" name="Rect 143"/>
            <p:cNvSpPr/>
            <p:nvPr/>
          </p:nvSpPr>
          <p:spPr>
            <a:xfrm>
              <a:off x="3703404" y="4454508"/>
              <a:ext cx="1254593" cy="418198"/>
            </a:xfrm>
            <a:prstGeom prst="roundRect">
              <a:avLst>
                <a:gd name="adj" fmla="val 17307"/>
              </a:avLst>
            </a:prstGeom>
            <a:solidFill>
              <a:srgbClr val="FDEDF5"/>
            </a:solidFill>
            <a:ln w="8846" cap="rnd">
              <a:solidFill>
                <a:srgbClr val="F59AC7"/>
              </a:solidFill>
              <a:round/>
            </a:ln>
          </p:spPr>
        </p:sp>
        <p:sp>
          <p:nvSpPr>
            <p:cNvPr id="144" name="Rect 144"/>
            <p:cNvSpPr/>
            <p:nvPr/>
          </p:nvSpPr>
          <p:spPr>
            <a:xfrm>
              <a:off x="3759699" y="4542973"/>
              <a:ext cx="28148" cy="241268"/>
            </a:xfrm>
            <a:prstGeom prst="roundRect">
              <a:avLst>
                <a:gd name="adj" fmla="val 50000"/>
              </a:avLst>
            </a:prstGeom>
            <a:solidFill>
              <a:srgbClr val="EC4899"/>
            </a:solidFill>
            <a:ln>
              <a:noFill/>
            </a:ln>
          </p:spPr>
        </p:sp>
        <p:sp>
          <p:nvSpPr>
            <p:cNvPr id="145" name="Text 145"/>
            <p:cNvSpPr txBox="1"/>
            <p:nvPr/>
          </p:nvSpPr>
          <p:spPr>
            <a:xfrm>
              <a:off x="3729622" y="4562596"/>
              <a:ext cx="1266495"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vLLM / SGLang pods</a:t>
              </a:r>
              <a:endParaRPr lang="en-US" sz="697" dirty="0"/>
            </a:p>
          </p:txBody>
        </p:sp>
        <p:sp>
          <p:nvSpPr>
            <p:cNvPr id="146" name="Text 146"/>
            <p:cNvSpPr txBox="1"/>
            <p:nvPr/>
          </p:nvSpPr>
          <p:spPr>
            <a:xfrm>
              <a:off x="4029783" y="4686769"/>
              <a:ext cx="666172"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0% / 0.1%</a:t>
              </a:r>
              <a:endParaRPr lang="en-US" sz="602" dirty="0"/>
            </a:p>
          </p:txBody>
        </p:sp>
        <p:sp>
          <p:nvSpPr>
            <p:cNvPr id="147" name="Rect 147"/>
            <p:cNvSpPr/>
            <p:nvPr/>
          </p:nvSpPr>
          <p:spPr>
            <a:xfrm>
              <a:off x="3703404" y="3698536"/>
              <a:ext cx="1254593" cy="418198"/>
            </a:xfrm>
            <a:prstGeom prst="roundRect">
              <a:avLst>
                <a:gd name="adj" fmla="val 17307"/>
              </a:avLst>
            </a:prstGeom>
            <a:solidFill>
              <a:srgbClr val="E6F8FB"/>
            </a:solidFill>
            <a:ln w="8846" cap="rnd">
              <a:solidFill>
                <a:srgbClr val="76D7E7"/>
              </a:solidFill>
              <a:round/>
            </a:ln>
          </p:spPr>
        </p:sp>
        <p:sp>
          <p:nvSpPr>
            <p:cNvPr id="148" name="Rect 148"/>
            <p:cNvSpPr/>
            <p:nvPr/>
          </p:nvSpPr>
          <p:spPr>
            <a:xfrm>
              <a:off x="3759699" y="3787001"/>
              <a:ext cx="28148" cy="241268"/>
            </a:xfrm>
            <a:prstGeom prst="roundRect">
              <a:avLst>
                <a:gd name="adj" fmla="val 50000"/>
              </a:avLst>
            </a:prstGeom>
            <a:solidFill>
              <a:srgbClr val="06B6D4"/>
            </a:solidFill>
            <a:ln>
              <a:noFill/>
            </a:ln>
          </p:spPr>
        </p:sp>
        <p:sp>
          <p:nvSpPr>
            <p:cNvPr id="149" name="Text 149"/>
            <p:cNvSpPr txBox="1"/>
            <p:nvPr/>
          </p:nvSpPr>
          <p:spPr>
            <a:xfrm>
              <a:off x="3753772" y="3806624"/>
              <a:ext cx="1218193"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llm-d Router (EPP)</a:t>
              </a:r>
              <a:endParaRPr lang="en-US" sz="697" dirty="0"/>
            </a:p>
          </p:txBody>
        </p:sp>
        <p:sp>
          <p:nvSpPr>
            <p:cNvPr id="150" name="Text 150"/>
            <p:cNvSpPr txBox="1"/>
            <p:nvPr/>
          </p:nvSpPr>
          <p:spPr>
            <a:xfrm>
              <a:off x="3976149" y="3930796"/>
              <a:ext cx="773440"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repository</a:t>
              </a:r>
              <a:endParaRPr lang="en-US" sz="602" dirty="0"/>
            </a:p>
          </p:txBody>
        </p:sp>
        <p:sp>
          <p:nvSpPr>
            <p:cNvPr id="151" name="Rect 151"/>
            <p:cNvSpPr/>
            <p:nvPr/>
          </p:nvSpPr>
          <p:spPr>
            <a:xfrm>
              <a:off x="2271881" y="2942563"/>
              <a:ext cx="1254593" cy="418198"/>
            </a:xfrm>
            <a:prstGeom prst="roundRect">
              <a:avLst>
                <a:gd name="adj" fmla="val 17307"/>
              </a:avLst>
            </a:prstGeom>
            <a:solidFill>
              <a:srgbClr val="E6F8FB"/>
            </a:solidFill>
            <a:ln w="8846" cap="rnd">
              <a:solidFill>
                <a:srgbClr val="76D7E7"/>
              </a:solidFill>
              <a:round/>
            </a:ln>
          </p:spPr>
        </p:sp>
        <p:sp>
          <p:nvSpPr>
            <p:cNvPr id="152" name="Rect 152"/>
            <p:cNvSpPr/>
            <p:nvPr/>
          </p:nvSpPr>
          <p:spPr>
            <a:xfrm>
              <a:off x="2328177" y="3031028"/>
              <a:ext cx="28148" cy="241268"/>
            </a:xfrm>
            <a:prstGeom prst="roundRect">
              <a:avLst>
                <a:gd name="adj" fmla="val 50000"/>
              </a:avLst>
            </a:prstGeom>
            <a:solidFill>
              <a:srgbClr val="06B6D4"/>
            </a:solidFill>
            <a:ln>
              <a:noFill/>
            </a:ln>
          </p:spPr>
        </p:sp>
        <p:sp>
          <p:nvSpPr>
            <p:cNvPr id="153" name="Text 153"/>
            <p:cNvSpPr txBox="1"/>
            <p:nvPr/>
          </p:nvSpPr>
          <p:spPr>
            <a:xfrm>
              <a:off x="2406778" y="3046630"/>
              <a:ext cx="1049137"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Gateway (Envoy,</a:t>
              </a:r>
              <a:endParaRPr lang="en-US" sz="697" dirty="0"/>
            </a:p>
          </p:txBody>
        </p:sp>
        <p:sp>
          <p:nvSpPr>
            <p:cNvPr id="154" name="Text 154"/>
            <p:cNvSpPr txBox="1"/>
            <p:nvPr/>
          </p:nvSpPr>
          <p:spPr>
            <a:xfrm>
              <a:off x="2589635" y="3151179"/>
              <a:ext cx="683423"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kgateway)</a:t>
              </a:r>
              <a:endParaRPr lang="en-US" sz="697" dirty="0"/>
            </a:p>
          </p:txBody>
        </p:sp>
        <p:sp>
          <p:nvSpPr>
            <p:cNvPr id="155" name="Rect 155"/>
            <p:cNvSpPr/>
            <p:nvPr/>
          </p:nvSpPr>
          <p:spPr>
            <a:xfrm>
              <a:off x="5850687" y="2186591"/>
              <a:ext cx="1254593" cy="418198"/>
            </a:xfrm>
            <a:prstGeom prst="roundRect">
              <a:avLst>
                <a:gd name="adj" fmla="val 17307"/>
              </a:avLst>
            </a:prstGeom>
            <a:solidFill>
              <a:srgbClr val="FEF5E7"/>
            </a:solidFill>
            <a:ln w="8846" cap="rnd">
              <a:solidFill>
                <a:srgbClr val="FACA79"/>
              </a:solidFill>
              <a:round/>
            </a:ln>
          </p:spPr>
        </p:sp>
        <p:sp>
          <p:nvSpPr>
            <p:cNvPr id="156" name="Rect 156"/>
            <p:cNvSpPr/>
            <p:nvPr/>
          </p:nvSpPr>
          <p:spPr>
            <a:xfrm>
              <a:off x="5906983" y="2275055"/>
              <a:ext cx="28148" cy="241268"/>
            </a:xfrm>
            <a:prstGeom prst="roundRect">
              <a:avLst>
                <a:gd name="adj" fmla="val 50000"/>
              </a:avLst>
            </a:prstGeom>
            <a:solidFill>
              <a:srgbClr val="F59E0B"/>
            </a:solidFill>
            <a:ln>
              <a:noFill/>
            </a:ln>
          </p:spPr>
        </p:sp>
        <p:sp>
          <p:nvSpPr>
            <p:cNvPr id="157" name="Text 157"/>
            <p:cNvSpPr txBox="1"/>
            <p:nvPr/>
          </p:nvSpPr>
          <p:spPr>
            <a:xfrm>
              <a:off x="6066663" y="2294679"/>
              <a:ext cx="886981"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KAI Scheduler</a:t>
              </a:r>
              <a:endParaRPr lang="en-US" sz="697" dirty="0"/>
            </a:p>
          </p:txBody>
        </p:sp>
        <p:sp>
          <p:nvSpPr>
            <p:cNvPr id="158" name="Text 158"/>
            <p:cNvSpPr txBox="1"/>
            <p:nvPr/>
          </p:nvSpPr>
          <p:spPr>
            <a:xfrm>
              <a:off x="6257518" y="2418851"/>
              <a:ext cx="505271"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98.5%</a:t>
              </a:r>
              <a:endParaRPr lang="en-US" sz="602" dirty="0"/>
            </a:p>
          </p:txBody>
        </p:sp>
        <p:sp>
          <p:nvSpPr>
            <p:cNvPr id="159" name="Rect 159"/>
            <p:cNvSpPr/>
            <p:nvPr/>
          </p:nvSpPr>
          <p:spPr>
            <a:xfrm>
              <a:off x="1556120" y="2186591"/>
              <a:ext cx="1254593" cy="418198"/>
            </a:xfrm>
            <a:prstGeom prst="roundRect">
              <a:avLst>
                <a:gd name="adj" fmla="val 17307"/>
              </a:avLst>
            </a:prstGeom>
            <a:solidFill>
              <a:srgbClr val="EDEDFC"/>
            </a:solidFill>
            <a:ln w="8846" cap="rnd">
              <a:solidFill>
                <a:srgbClr val="9E99F1"/>
              </a:solidFill>
              <a:round/>
            </a:ln>
          </p:spPr>
        </p:sp>
        <p:sp>
          <p:nvSpPr>
            <p:cNvPr id="160" name="Rect 160"/>
            <p:cNvSpPr/>
            <p:nvPr/>
          </p:nvSpPr>
          <p:spPr>
            <a:xfrm>
              <a:off x="1612416" y="2275055"/>
              <a:ext cx="28148" cy="241268"/>
            </a:xfrm>
            <a:prstGeom prst="roundRect">
              <a:avLst>
                <a:gd name="adj" fmla="val 50000"/>
              </a:avLst>
            </a:prstGeom>
            <a:solidFill>
              <a:srgbClr val="4F46E5"/>
            </a:solidFill>
            <a:ln>
              <a:noFill/>
            </a:ln>
          </p:spPr>
        </p:sp>
        <p:sp>
          <p:nvSpPr>
            <p:cNvPr id="161" name="Text 161"/>
            <p:cNvSpPr txBox="1"/>
            <p:nvPr/>
          </p:nvSpPr>
          <p:spPr>
            <a:xfrm>
              <a:off x="1963577" y="2290657"/>
              <a:ext cx="504016"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KServe</a:t>
              </a:r>
              <a:endParaRPr lang="en-US" sz="697" dirty="0"/>
            </a:p>
          </p:txBody>
        </p:sp>
        <p:sp>
          <p:nvSpPr>
            <p:cNvPr id="162" name="Text 162"/>
            <p:cNvSpPr txBox="1"/>
            <p:nvPr/>
          </p:nvSpPr>
          <p:spPr>
            <a:xfrm>
              <a:off x="1551287" y="2395207"/>
              <a:ext cx="1328597"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LLMInferenceService</a:t>
              </a:r>
              <a:endParaRPr lang="en-US" sz="697" dirty="0"/>
            </a:p>
          </p:txBody>
        </p:sp>
        <p:sp>
          <p:nvSpPr>
            <p:cNvPr id="163" name="Rect 163"/>
            <p:cNvSpPr/>
            <p:nvPr/>
          </p:nvSpPr>
          <p:spPr>
            <a:xfrm>
              <a:off x="4419165" y="2186591"/>
              <a:ext cx="1254593" cy="418198"/>
            </a:xfrm>
            <a:prstGeom prst="roundRect">
              <a:avLst>
                <a:gd name="adj" fmla="val 17307"/>
              </a:avLst>
            </a:prstGeom>
            <a:solidFill>
              <a:srgbClr val="FEF5E7"/>
            </a:solidFill>
            <a:ln w="8846" cap="rnd">
              <a:solidFill>
                <a:srgbClr val="FACA79"/>
              </a:solidFill>
              <a:round/>
            </a:ln>
          </p:spPr>
        </p:sp>
        <p:sp>
          <p:nvSpPr>
            <p:cNvPr id="164" name="Rect 164"/>
            <p:cNvSpPr/>
            <p:nvPr/>
          </p:nvSpPr>
          <p:spPr>
            <a:xfrm>
              <a:off x="4475461" y="2275055"/>
              <a:ext cx="28148" cy="241268"/>
            </a:xfrm>
            <a:prstGeom prst="roundRect">
              <a:avLst>
                <a:gd name="adj" fmla="val 50000"/>
              </a:avLst>
            </a:prstGeom>
            <a:solidFill>
              <a:srgbClr val="F59E0B"/>
            </a:solidFill>
            <a:ln>
              <a:noFill/>
            </a:ln>
          </p:spPr>
        </p:sp>
        <p:sp>
          <p:nvSpPr>
            <p:cNvPr id="165" name="Text 165"/>
            <p:cNvSpPr txBox="1"/>
            <p:nvPr/>
          </p:nvSpPr>
          <p:spPr>
            <a:xfrm>
              <a:off x="4868024" y="2294679"/>
              <a:ext cx="421213"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Kueue</a:t>
              </a:r>
              <a:endParaRPr lang="en-US" sz="697" dirty="0"/>
            </a:p>
          </p:txBody>
        </p:sp>
        <p:sp>
          <p:nvSpPr>
            <p:cNvPr id="166" name="Text 166"/>
            <p:cNvSpPr txBox="1"/>
            <p:nvPr/>
          </p:nvSpPr>
          <p:spPr>
            <a:xfrm>
              <a:off x="4825995" y="2418851"/>
              <a:ext cx="505271"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94.3%</a:t>
              </a:r>
              <a:endParaRPr lang="en-US" sz="602" dirty="0"/>
            </a:p>
          </p:txBody>
        </p:sp>
        <p:sp>
          <p:nvSpPr>
            <p:cNvPr id="167" name="Rect 167"/>
            <p:cNvSpPr/>
            <p:nvPr/>
          </p:nvSpPr>
          <p:spPr>
            <a:xfrm>
              <a:off x="2987642" y="5210481"/>
              <a:ext cx="1254593" cy="418198"/>
            </a:xfrm>
            <a:prstGeom prst="roundRect">
              <a:avLst>
                <a:gd name="adj" fmla="val 17307"/>
              </a:avLst>
            </a:prstGeom>
            <a:solidFill>
              <a:srgbClr val="E6F8FB"/>
            </a:solidFill>
            <a:ln w="8846" cap="rnd">
              <a:solidFill>
                <a:srgbClr val="76D7E7"/>
              </a:solidFill>
              <a:round/>
            </a:ln>
          </p:spPr>
        </p:sp>
        <p:sp>
          <p:nvSpPr>
            <p:cNvPr id="168" name="Rect 168"/>
            <p:cNvSpPr/>
            <p:nvPr/>
          </p:nvSpPr>
          <p:spPr>
            <a:xfrm>
              <a:off x="3043938" y="5298946"/>
              <a:ext cx="28148" cy="241268"/>
            </a:xfrm>
            <a:prstGeom prst="roundRect">
              <a:avLst>
                <a:gd name="adj" fmla="val 50000"/>
              </a:avLst>
            </a:prstGeom>
            <a:solidFill>
              <a:srgbClr val="06B6D4"/>
            </a:solidFill>
            <a:ln>
              <a:noFill/>
            </a:ln>
          </p:spPr>
        </p:sp>
        <p:sp>
          <p:nvSpPr>
            <p:cNvPr id="169" name="Text 169"/>
            <p:cNvSpPr txBox="1"/>
            <p:nvPr/>
          </p:nvSpPr>
          <p:spPr>
            <a:xfrm>
              <a:off x="3098388" y="5318569"/>
              <a:ext cx="1097439"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KV-cache indexer</a:t>
              </a:r>
              <a:endParaRPr lang="en-US" sz="697" dirty="0"/>
            </a:p>
          </p:txBody>
        </p:sp>
        <p:sp>
          <p:nvSpPr>
            <p:cNvPr id="170" name="Text 170"/>
            <p:cNvSpPr txBox="1"/>
            <p:nvPr/>
          </p:nvSpPr>
          <p:spPr>
            <a:xfrm>
              <a:off x="3029464" y="5442741"/>
              <a:ext cx="1235287"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now in llm-d-router</a:t>
              </a:r>
              <a:endParaRPr lang="en-US" sz="602" dirty="0"/>
            </a:p>
          </p:txBody>
        </p:sp>
        <p:sp>
          <p:nvSpPr>
            <p:cNvPr id="171" name="Rect 171"/>
            <p:cNvSpPr/>
            <p:nvPr/>
          </p:nvSpPr>
          <p:spPr>
            <a:xfrm>
              <a:off x="5134926" y="2942563"/>
              <a:ext cx="1254593" cy="418198"/>
            </a:xfrm>
            <a:prstGeom prst="roundRect">
              <a:avLst>
                <a:gd name="adj" fmla="val 17307"/>
              </a:avLst>
            </a:prstGeom>
            <a:solidFill>
              <a:srgbClr val="FEF5E7"/>
            </a:solidFill>
            <a:ln w="8846" cap="rnd">
              <a:solidFill>
                <a:srgbClr val="FACA79"/>
              </a:solidFill>
              <a:round/>
            </a:ln>
          </p:spPr>
        </p:sp>
        <p:sp>
          <p:nvSpPr>
            <p:cNvPr id="172" name="Rect 172"/>
            <p:cNvSpPr/>
            <p:nvPr/>
          </p:nvSpPr>
          <p:spPr>
            <a:xfrm>
              <a:off x="5191222" y="3031028"/>
              <a:ext cx="28148" cy="241268"/>
            </a:xfrm>
            <a:prstGeom prst="roundRect">
              <a:avLst>
                <a:gd name="adj" fmla="val 50000"/>
              </a:avLst>
            </a:prstGeom>
            <a:solidFill>
              <a:srgbClr val="F59E0B"/>
            </a:solidFill>
            <a:ln>
              <a:noFill/>
            </a:ln>
          </p:spPr>
        </p:sp>
        <p:sp>
          <p:nvSpPr>
            <p:cNvPr id="173" name="Text 173"/>
            <p:cNvSpPr txBox="1"/>
            <p:nvPr/>
          </p:nvSpPr>
          <p:spPr>
            <a:xfrm>
              <a:off x="5238772" y="3050651"/>
              <a:ext cx="1111239"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LeaderWorkerSet</a:t>
              </a:r>
              <a:endParaRPr lang="en-US" sz="697" dirty="0"/>
            </a:p>
          </p:txBody>
        </p:sp>
        <p:sp>
          <p:nvSpPr>
            <p:cNvPr id="174" name="Text 174"/>
            <p:cNvSpPr txBox="1"/>
            <p:nvPr/>
          </p:nvSpPr>
          <p:spPr>
            <a:xfrm>
              <a:off x="5541756" y="3174824"/>
              <a:ext cx="505271"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95.9%</a:t>
              </a:r>
              <a:endParaRPr lang="en-US" sz="602" dirty="0"/>
            </a:p>
          </p:txBody>
        </p:sp>
        <p:sp>
          <p:nvSpPr>
            <p:cNvPr id="175" name="Rect 175"/>
            <p:cNvSpPr/>
            <p:nvPr/>
          </p:nvSpPr>
          <p:spPr>
            <a:xfrm>
              <a:off x="4419165" y="5210481"/>
              <a:ext cx="1254593" cy="418198"/>
            </a:xfrm>
            <a:prstGeom prst="roundRect">
              <a:avLst>
                <a:gd name="adj" fmla="val 17307"/>
              </a:avLst>
            </a:prstGeom>
            <a:solidFill>
              <a:srgbClr val="E7F8F2"/>
            </a:solidFill>
            <a:ln w="8846" cap="rnd">
              <a:solidFill>
                <a:srgbClr val="7CD9BA"/>
              </a:solidFill>
              <a:round/>
            </a:ln>
          </p:spPr>
        </p:sp>
        <p:sp>
          <p:nvSpPr>
            <p:cNvPr id="176" name="Rect 176"/>
            <p:cNvSpPr/>
            <p:nvPr/>
          </p:nvSpPr>
          <p:spPr>
            <a:xfrm>
              <a:off x="4475461" y="5298946"/>
              <a:ext cx="28148" cy="241268"/>
            </a:xfrm>
            <a:prstGeom prst="roundRect">
              <a:avLst>
                <a:gd name="adj" fmla="val 50000"/>
              </a:avLst>
            </a:prstGeom>
            <a:solidFill>
              <a:srgbClr val="10B981"/>
            </a:solidFill>
            <a:ln>
              <a:noFill/>
            </a:ln>
          </p:spPr>
        </p:sp>
        <p:sp>
          <p:nvSpPr>
            <p:cNvPr id="177" name="Text 177"/>
            <p:cNvSpPr txBox="1"/>
            <p:nvPr/>
          </p:nvSpPr>
          <p:spPr>
            <a:xfrm>
              <a:off x="4579938" y="5314548"/>
              <a:ext cx="997385"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Prometheus and</a:t>
              </a:r>
              <a:endParaRPr lang="en-US" sz="697" dirty="0"/>
            </a:p>
          </p:txBody>
        </p:sp>
        <p:sp>
          <p:nvSpPr>
            <p:cNvPr id="178" name="Text 178"/>
            <p:cNvSpPr txBox="1"/>
            <p:nvPr/>
          </p:nvSpPr>
          <p:spPr>
            <a:xfrm>
              <a:off x="4604089" y="5419097"/>
              <a:ext cx="949083"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OpenTelemetry</a:t>
              </a:r>
              <a:endParaRPr lang="en-US" sz="697" dirty="0"/>
            </a:p>
          </p:txBody>
        </p:sp>
        <p:sp>
          <p:nvSpPr>
            <p:cNvPr id="179" name="Rect 179"/>
            <p:cNvSpPr/>
            <p:nvPr/>
          </p:nvSpPr>
          <p:spPr>
            <a:xfrm>
              <a:off x="3703404" y="2942563"/>
              <a:ext cx="1254593" cy="418198"/>
            </a:xfrm>
            <a:prstGeom prst="roundRect">
              <a:avLst>
                <a:gd name="adj" fmla="val 17307"/>
              </a:avLst>
            </a:prstGeom>
            <a:solidFill>
              <a:srgbClr val="E6F8FB"/>
            </a:solidFill>
            <a:ln w="8846" cap="rnd">
              <a:solidFill>
                <a:srgbClr val="76D7E7"/>
              </a:solidFill>
              <a:round/>
            </a:ln>
          </p:spPr>
        </p:sp>
        <p:sp>
          <p:nvSpPr>
            <p:cNvPr id="180" name="Rect 180"/>
            <p:cNvSpPr/>
            <p:nvPr/>
          </p:nvSpPr>
          <p:spPr>
            <a:xfrm>
              <a:off x="3759699" y="3031028"/>
              <a:ext cx="28148" cy="241268"/>
            </a:xfrm>
            <a:prstGeom prst="roundRect">
              <a:avLst>
                <a:gd name="adj" fmla="val 50000"/>
              </a:avLst>
            </a:prstGeom>
            <a:solidFill>
              <a:srgbClr val="06B6D4"/>
            </a:solidFill>
            <a:ln>
              <a:noFill/>
            </a:ln>
          </p:spPr>
        </p:sp>
        <p:sp>
          <p:nvSpPr>
            <p:cNvPr id="181" name="Text 181"/>
            <p:cNvSpPr txBox="1"/>
            <p:nvPr/>
          </p:nvSpPr>
          <p:spPr>
            <a:xfrm>
              <a:off x="3762398" y="3046630"/>
              <a:ext cx="1200942"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GAIE InferencePool</a:t>
              </a:r>
              <a:endParaRPr lang="en-US" sz="697" dirty="0"/>
            </a:p>
          </p:txBody>
        </p:sp>
        <p:sp>
          <p:nvSpPr>
            <p:cNvPr id="182" name="Text 182"/>
            <p:cNvSpPr txBox="1"/>
            <p:nvPr/>
          </p:nvSpPr>
          <p:spPr>
            <a:xfrm>
              <a:off x="4224715" y="3151179"/>
              <a:ext cx="276308"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API</a:t>
              </a:r>
              <a:endParaRPr lang="en-US" sz="697" dirty="0"/>
            </a:p>
          </p:txBody>
        </p:sp>
        <p:sp>
          <p:nvSpPr>
            <p:cNvPr id="183" name="Rect 183"/>
            <p:cNvSpPr/>
            <p:nvPr/>
          </p:nvSpPr>
          <p:spPr>
            <a:xfrm>
              <a:off x="2987642" y="2186591"/>
              <a:ext cx="1254593" cy="418198"/>
            </a:xfrm>
            <a:prstGeom prst="roundRect">
              <a:avLst>
                <a:gd name="adj" fmla="val 17307"/>
              </a:avLst>
            </a:prstGeom>
            <a:solidFill>
              <a:srgbClr val="EDEDFC"/>
            </a:solidFill>
            <a:ln w="8846" cap="rnd">
              <a:solidFill>
                <a:srgbClr val="9E99F1"/>
              </a:solidFill>
              <a:round/>
            </a:ln>
          </p:spPr>
        </p:sp>
        <p:sp>
          <p:nvSpPr>
            <p:cNvPr id="184" name="Rect 184"/>
            <p:cNvSpPr/>
            <p:nvPr/>
          </p:nvSpPr>
          <p:spPr>
            <a:xfrm>
              <a:off x="3043938" y="2275055"/>
              <a:ext cx="28148" cy="241268"/>
            </a:xfrm>
            <a:prstGeom prst="roundRect">
              <a:avLst>
                <a:gd name="adj" fmla="val 50000"/>
              </a:avLst>
            </a:prstGeom>
            <a:solidFill>
              <a:srgbClr val="4F46E5"/>
            </a:solidFill>
            <a:ln>
              <a:noFill/>
            </a:ln>
          </p:spPr>
        </p:sp>
        <p:sp>
          <p:nvSpPr>
            <p:cNvPr id="185" name="Text 185"/>
            <p:cNvSpPr txBox="1"/>
            <p:nvPr/>
          </p:nvSpPr>
          <p:spPr>
            <a:xfrm>
              <a:off x="3120814" y="2294679"/>
              <a:ext cx="1052587" cy="110581"/>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97" b="1" dirty="0">
                  <a:solidFill>
                    <a:srgbClr val="0F172A"/>
                  </a:solidFill>
                  <a:latin typeface="Arial"/>
                  <a:cs typeface="Arial"/>
                </a:rPr>
                <a:t>llm-d autoscaling</a:t>
              </a:r>
              <a:endParaRPr lang="en-US" sz="697" dirty="0"/>
            </a:p>
          </p:txBody>
        </p:sp>
        <p:sp>
          <p:nvSpPr>
            <p:cNvPr id="186" name="Text 186"/>
            <p:cNvSpPr txBox="1"/>
            <p:nvPr/>
          </p:nvSpPr>
          <p:spPr>
            <a:xfrm>
              <a:off x="3260388" y="2418851"/>
              <a:ext cx="773440" cy="9550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02" dirty="0">
                  <a:solidFill>
                    <a:srgbClr val="64748B"/>
                  </a:solidFill>
                  <a:latin typeface="Arial"/>
                  <a:cs typeface="Arial"/>
                </a:rPr>
                <a:t>Go repository</a:t>
              </a:r>
              <a:endParaRPr lang="en-US" sz="602" dirty="0"/>
            </a:p>
          </p:txBody>
        </p:sp>
        <p:sp>
          <p:nvSpPr>
            <p:cNvPr id="187" name="Rect 187"/>
            <p:cNvSpPr/>
            <p:nvPr/>
          </p:nvSpPr>
          <p:spPr>
            <a:xfrm>
              <a:off x="1556120" y="5773439"/>
              <a:ext cx="80423" cy="80423"/>
            </a:xfrm>
            <a:prstGeom prst="roundRect">
              <a:avLst>
                <a:gd name="adj" fmla="val 30000"/>
              </a:avLst>
            </a:prstGeom>
            <a:solidFill>
              <a:srgbClr val="4F46E5"/>
            </a:solidFill>
            <a:ln>
              <a:noFill/>
            </a:ln>
          </p:spPr>
        </p:sp>
        <p:sp>
          <p:nvSpPr>
            <p:cNvPr id="188" name="Text 188"/>
            <p:cNvSpPr txBox="1"/>
            <p:nvPr/>
          </p:nvSpPr>
          <p:spPr>
            <a:xfrm>
              <a:off x="1676754" y="5768614"/>
              <a:ext cx="781908" cy="100528"/>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633" dirty="0">
                  <a:solidFill>
                    <a:srgbClr val="64748B"/>
                  </a:solidFill>
                  <a:latin typeface="Arial"/>
                  <a:cs typeface="Arial"/>
                </a:rPr>
                <a:t>Control plane</a:t>
              </a:r>
              <a:endParaRPr lang="en-US" sz="633" dirty="0"/>
            </a:p>
          </p:txBody>
        </p:sp>
        <p:sp>
          <p:nvSpPr>
            <p:cNvPr id="189" name="Rect 189"/>
            <p:cNvSpPr/>
            <p:nvPr/>
          </p:nvSpPr>
          <p:spPr>
            <a:xfrm>
              <a:off x="2380452" y="5773439"/>
              <a:ext cx="80423" cy="80423"/>
            </a:xfrm>
            <a:prstGeom prst="roundRect">
              <a:avLst>
                <a:gd name="adj" fmla="val 30000"/>
              </a:avLst>
            </a:prstGeom>
            <a:solidFill>
              <a:srgbClr val="06B6D4"/>
            </a:solidFill>
            <a:ln>
              <a:noFill/>
            </a:ln>
          </p:spPr>
        </p:sp>
        <p:sp>
          <p:nvSpPr>
            <p:cNvPr id="190" name="Text 190"/>
            <p:cNvSpPr txBox="1"/>
            <p:nvPr/>
          </p:nvSpPr>
          <p:spPr>
            <a:xfrm>
              <a:off x="2501085" y="5768614"/>
              <a:ext cx="480806" cy="100528"/>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633" dirty="0">
                  <a:solidFill>
                    <a:srgbClr val="64748B"/>
                  </a:solidFill>
                  <a:latin typeface="Arial"/>
                  <a:cs typeface="Arial"/>
                </a:rPr>
                <a:t>Routing</a:t>
              </a:r>
              <a:endParaRPr lang="en-US" sz="633" dirty="0"/>
            </a:p>
          </p:txBody>
        </p:sp>
        <p:sp>
          <p:nvSpPr>
            <p:cNvPr id="191" name="Rect 191"/>
            <p:cNvSpPr/>
            <p:nvPr/>
          </p:nvSpPr>
          <p:spPr>
            <a:xfrm>
              <a:off x="2973166" y="5773439"/>
              <a:ext cx="80423" cy="80423"/>
            </a:xfrm>
            <a:prstGeom prst="roundRect">
              <a:avLst>
                <a:gd name="adj" fmla="val 30000"/>
              </a:avLst>
            </a:prstGeom>
            <a:solidFill>
              <a:srgbClr val="F59E0B"/>
            </a:solidFill>
            <a:ln>
              <a:noFill/>
            </a:ln>
          </p:spPr>
        </p:sp>
        <p:sp>
          <p:nvSpPr>
            <p:cNvPr id="192" name="Text 192"/>
            <p:cNvSpPr txBox="1"/>
            <p:nvPr/>
          </p:nvSpPr>
          <p:spPr>
            <a:xfrm>
              <a:off x="3093800" y="5768614"/>
              <a:ext cx="631357" cy="100528"/>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633" dirty="0">
                  <a:solidFill>
                    <a:srgbClr val="64748B"/>
                  </a:solidFill>
                  <a:latin typeface="Arial"/>
                  <a:cs typeface="Arial"/>
                </a:rPr>
                <a:t>Scheduling</a:t>
              </a:r>
              <a:endParaRPr lang="en-US" sz="633" dirty="0"/>
            </a:p>
          </p:txBody>
        </p:sp>
        <p:sp>
          <p:nvSpPr>
            <p:cNvPr id="193" name="Rect 193"/>
            <p:cNvSpPr/>
            <p:nvPr/>
          </p:nvSpPr>
          <p:spPr>
            <a:xfrm>
              <a:off x="3681689" y="5773439"/>
              <a:ext cx="80423" cy="80423"/>
            </a:xfrm>
            <a:prstGeom prst="roundRect">
              <a:avLst>
                <a:gd name="adj" fmla="val 30000"/>
              </a:avLst>
            </a:prstGeom>
            <a:solidFill>
              <a:srgbClr val="EC4899"/>
            </a:solidFill>
            <a:ln>
              <a:noFill/>
            </a:ln>
          </p:spPr>
        </p:sp>
        <p:sp>
          <p:nvSpPr>
            <p:cNvPr id="194" name="Text 194"/>
            <p:cNvSpPr txBox="1"/>
            <p:nvPr/>
          </p:nvSpPr>
          <p:spPr>
            <a:xfrm>
              <a:off x="3802323" y="5768614"/>
              <a:ext cx="841502" cy="100528"/>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633" dirty="0">
                  <a:solidFill>
                    <a:srgbClr val="64748B"/>
                  </a:solidFill>
                  <a:latin typeface="Arial"/>
                  <a:cs typeface="Arial"/>
                </a:rPr>
                <a:t>Serving engine</a:t>
              </a:r>
              <a:endParaRPr lang="en-US" sz="633" dirty="0"/>
            </a:p>
          </p:txBody>
        </p:sp>
        <p:sp>
          <p:nvSpPr>
            <p:cNvPr id="195" name="Rect 195"/>
            <p:cNvSpPr/>
            <p:nvPr/>
          </p:nvSpPr>
          <p:spPr>
            <a:xfrm>
              <a:off x="4551862" y="5773439"/>
              <a:ext cx="80423" cy="80423"/>
            </a:xfrm>
            <a:prstGeom prst="roundRect">
              <a:avLst>
                <a:gd name="adj" fmla="val 30000"/>
              </a:avLst>
            </a:prstGeom>
            <a:solidFill>
              <a:srgbClr val="10B981"/>
            </a:solidFill>
            <a:ln>
              <a:noFill/>
            </a:ln>
          </p:spPr>
        </p:sp>
        <p:sp>
          <p:nvSpPr>
            <p:cNvPr id="196" name="Text 196"/>
            <p:cNvSpPr txBox="1"/>
            <p:nvPr/>
          </p:nvSpPr>
          <p:spPr>
            <a:xfrm>
              <a:off x="4672496" y="5768614"/>
              <a:ext cx="781908" cy="100528"/>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633" dirty="0">
                  <a:solidFill>
                    <a:srgbClr val="64748B"/>
                  </a:solidFill>
                  <a:latin typeface="Arial"/>
                  <a:cs typeface="Arial"/>
                </a:rPr>
                <a:t>Observability</a:t>
              </a:r>
              <a:endParaRPr lang="en-US" sz="633" dirty="0"/>
            </a:p>
          </p:txBody>
        </p:sp>
      </p:grpSp>
      <p:sp>
        <p:nvSpPr>
          <p:cNvPr id="197" name="Text 197"/>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[5], [6], [7], [8], [9], [10], [11], [12], [13], [14], [15], [16], [17], [18], [19], [20], [21], [34], [76], [77], [78], [83], [84], [90], [91].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HOW THE INFERENCE STACK FITS TOGETHER, AND WHO OWNS WHAT SINCE 2026 · FIGURE 2</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Go share of main repository, selected inference projects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12</a:t>
            </a:r>
            <a:endParaRPr lang="en-US" sz="850" dirty="0"/>
          </a:p>
        </p:txBody>
      </p:sp>
      <p:sp>
        <p:nvSpPr>
          <p:cNvPr id="8" name="Text 8"/>
          <p:cNvSpPr txBox="1"/>
          <p:nvPr/>
        </p:nvSpPr>
        <p:spPr>
          <a:xfrm>
            <a:off x="711200" y="1446784"/>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dirty="0">
                <a:solidFill>
                  <a:srgbClr val="64748B"/>
                </a:solidFill>
                <a:latin typeface="Arial"/>
                <a:cs typeface="Arial"/>
              </a:rPr>
              <a:t>% of repository bytes</a:t>
            </a:r>
            <a:endParaRPr lang="en-US" sz="1100" dirty="0"/>
          </a:p>
        </p:txBody>
      </p:sp>
      <p:sp>
        <p:nvSpPr>
          <p:cNvPr id="9" name="Shape 9"/>
          <p:cNvSpPr/>
          <p:nvPr/>
        </p:nvSpPr>
        <p:spPr>
          <a:xfrm>
            <a:off x="8305800" y="1751584"/>
            <a:ext cx="3175000" cy="4192016"/>
          </a:xfrm>
          <a:prstGeom prst="roundRect">
            <a:avLst>
              <a:gd name="adj" fmla="val 4800"/>
            </a:avLst>
          </a:prstGeom>
          <a:solidFill>
            <a:srgbClr val="F6F6FE"/>
          </a:solidFill>
          <a:ln>
            <a:noFill/>
          </a:ln>
        </p:spPr>
      </p:sp>
      <p:sp>
        <p:nvSpPr>
          <p:cNvPr id="10" name="Text 10"/>
          <p:cNvSpPr txBox="1"/>
          <p:nvPr/>
        </p:nvSpPr>
        <p:spPr>
          <a:xfrm>
            <a:off x="8534400" y="1980184"/>
            <a:ext cx="2717800" cy="3734816"/>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The chart below shows where Go work actually exists. Of the 21 repositories measured, the Kubernetes control-plane, scheduling and ops projects sit at 82.8–98.5% Go.</a:t>
            </a:r>
            <a:endParaRPr lang="en-US" sz="1300" dirty="0"/>
          </a:p>
        </p:txBody>
      </p:sp>
      <p:grpSp>
        <p:nvGrpSpPr>
          <p:cNvPr id="11" name="Figure 11"/>
          <p:cNvGrpSpPr/>
          <p:nvPr/>
        </p:nvGrpSpPr>
        <p:grpSpPr>
          <a:xfrm>
            <a:off x="1575913" y="1751584"/>
            <a:ext cx="5509575" cy="4166616"/>
            <a:chOff x="1575913" y="1751584"/>
            <a:chExt cx="5509575" cy="4166616"/>
          </a:xfrm>
        </p:grpSpPr>
        <p:cxnSp>
          <p:nvCxnSpPr>
            <p:cNvPr id="12" name="Line 12"/>
            <p:cNvCxnSpPr/>
            <p:nvPr/>
          </p:nvCxnSpPr>
          <p:spPr>
            <a:xfrm>
              <a:off x="2975000" y="1820454"/>
              <a:ext cx="0" cy="3908355"/>
            </a:xfrm>
            <a:prstGeom prst="line">
              <a:avLst/>
            </a:prstGeom>
            <a:ln w="8609" cap="rnd">
              <a:solidFill>
                <a:srgbClr val="94A3B8"/>
              </a:solidFill>
              <a:round/>
            </a:ln>
          </p:spPr>
        </p:cxnSp>
        <p:sp>
          <p:nvSpPr>
            <p:cNvPr id="13" name="Text 13"/>
            <p:cNvSpPr txBox="1"/>
            <p:nvPr/>
          </p:nvSpPr>
          <p:spPr>
            <a:xfrm>
              <a:off x="2903410" y="5779772"/>
              <a:ext cx="143180" cy="112989"/>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712" dirty="0">
                  <a:solidFill>
                    <a:srgbClr val="64748B"/>
                  </a:solidFill>
                  <a:latin typeface="Arial"/>
                  <a:cs typeface="Arial"/>
                </a:rPr>
                <a:t>0</a:t>
              </a:r>
              <a:endParaRPr lang="en-US" sz="712" dirty="0"/>
            </a:p>
          </p:txBody>
        </p:sp>
        <p:cxnSp>
          <p:nvCxnSpPr>
            <p:cNvPr id="14" name="Line 14"/>
            <p:cNvCxnSpPr/>
            <p:nvPr/>
          </p:nvCxnSpPr>
          <p:spPr>
            <a:xfrm>
              <a:off x="3707567" y="1820454"/>
              <a:ext cx="0" cy="3908355"/>
            </a:xfrm>
            <a:prstGeom prst="line">
              <a:avLst/>
            </a:prstGeom>
            <a:ln w="6887" cap="rnd">
              <a:solidFill>
                <a:srgbClr val="E2E8F0"/>
              </a:solidFill>
              <a:round/>
            </a:ln>
          </p:spPr>
        </p:cxnSp>
        <p:sp>
          <p:nvSpPr>
            <p:cNvPr id="15" name="Text 15"/>
            <p:cNvSpPr txBox="1"/>
            <p:nvPr/>
          </p:nvSpPr>
          <p:spPr>
            <a:xfrm>
              <a:off x="3602487" y="5779772"/>
              <a:ext cx="210160" cy="112989"/>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712" dirty="0">
                  <a:solidFill>
                    <a:srgbClr val="64748B"/>
                  </a:solidFill>
                  <a:latin typeface="Arial"/>
                  <a:cs typeface="Arial"/>
                </a:rPr>
                <a:t>20</a:t>
              </a:r>
              <a:endParaRPr lang="en-US" sz="712" dirty="0"/>
            </a:p>
          </p:txBody>
        </p:sp>
        <p:cxnSp>
          <p:nvCxnSpPr>
            <p:cNvPr id="16" name="Line 16"/>
            <p:cNvCxnSpPr/>
            <p:nvPr/>
          </p:nvCxnSpPr>
          <p:spPr>
            <a:xfrm>
              <a:off x="4440134" y="1820454"/>
              <a:ext cx="0" cy="3908355"/>
            </a:xfrm>
            <a:prstGeom prst="line">
              <a:avLst/>
            </a:prstGeom>
            <a:ln w="6887" cap="rnd">
              <a:solidFill>
                <a:srgbClr val="E2E8F0"/>
              </a:solidFill>
              <a:round/>
            </a:ln>
          </p:spPr>
        </p:cxnSp>
        <p:sp>
          <p:nvSpPr>
            <p:cNvPr id="17" name="Text 17"/>
            <p:cNvSpPr txBox="1"/>
            <p:nvPr/>
          </p:nvSpPr>
          <p:spPr>
            <a:xfrm>
              <a:off x="4335054" y="5779772"/>
              <a:ext cx="210160" cy="112989"/>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712" dirty="0">
                  <a:solidFill>
                    <a:srgbClr val="64748B"/>
                  </a:solidFill>
                  <a:latin typeface="Arial"/>
                  <a:cs typeface="Arial"/>
                </a:rPr>
                <a:t>40</a:t>
              </a:r>
              <a:endParaRPr lang="en-US" sz="712" dirty="0"/>
            </a:p>
          </p:txBody>
        </p:sp>
        <p:cxnSp>
          <p:nvCxnSpPr>
            <p:cNvPr id="18" name="Line 18"/>
            <p:cNvCxnSpPr/>
            <p:nvPr/>
          </p:nvCxnSpPr>
          <p:spPr>
            <a:xfrm>
              <a:off x="5172701" y="1820454"/>
              <a:ext cx="0" cy="3908355"/>
            </a:xfrm>
            <a:prstGeom prst="line">
              <a:avLst/>
            </a:prstGeom>
            <a:ln w="6887" cap="rnd">
              <a:solidFill>
                <a:srgbClr val="E2E8F0"/>
              </a:solidFill>
              <a:round/>
            </a:ln>
          </p:spPr>
        </p:cxnSp>
        <p:sp>
          <p:nvSpPr>
            <p:cNvPr id="19" name="Text 19"/>
            <p:cNvSpPr txBox="1"/>
            <p:nvPr/>
          </p:nvSpPr>
          <p:spPr>
            <a:xfrm>
              <a:off x="5067621" y="5779772"/>
              <a:ext cx="210160" cy="112989"/>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712" dirty="0">
                  <a:solidFill>
                    <a:srgbClr val="64748B"/>
                  </a:solidFill>
                  <a:latin typeface="Arial"/>
                  <a:cs typeface="Arial"/>
                </a:rPr>
                <a:t>60</a:t>
              </a:r>
              <a:endParaRPr lang="en-US" sz="712" dirty="0"/>
            </a:p>
          </p:txBody>
        </p:sp>
        <p:cxnSp>
          <p:nvCxnSpPr>
            <p:cNvPr id="20" name="Line 20"/>
            <p:cNvCxnSpPr/>
            <p:nvPr/>
          </p:nvCxnSpPr>
          <p:spPr>
            <a:xfrm>
              <a:off x="5905268" y="1820454"/>
              <a:ext cx="0" cy="3908355"/>
            </a:xfrm>
            <a:prstGeom prst="line">
              <a:avLst/>
            </a:prstGeom>
            <a:ln w="6887" cap="rnd">
              <a:solidFill>
                <a:srgbClr val="E2E8F0"/>
              </a:solidFill>
              <a:round/>
            </a:ln>
          </p:spPr>
        </p:cxnSp>
        <p:sp>
          <p:nvSpPr>
            <p:cNvPr id="21" name="Text 21"/>
            <p:cNvSpPr txBox="1"/>
            <p:nvPr/>
          </p:nvSpPr>
          <p:spPr>
            <a:xfrm>
              <a:off x="5800188" y="5779772"/>
              <a:ext cx="210160" cy="112989"/>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712" dirty="0">
                  <a:solidFill>
                    <a:srgbClr val="64748B"/>
                  </a:solidFill>
                  <a:latin typeface="Arial"/>
                  <a:cs typeface="Arial"/>
                </a:rPr>
                <a:t>80</a:t>
              </a:r>
              <a:endParaRPr lang="en-US" sz="712" dirty="0"/>
            </a:p>
          </p:txBody>
        </p:sp>
        <p:cxnSp>
          <p:nvCxnSpPr>
            <p:cNvPr id="22" name="Line 22"/>
            <p:cNvCxnSpPr/>
            <p:nvPr/>
          </p:nvCxnSpPr>
          <p:spPr>
            <a:xfrm>
              <a:off x="6637834" y="1820454"/>
              <a:ext cx="0" cy="3908355"/>
            </a:xfrm>
            <a:prstGeom prst="line">
              <a:avLst/>
            </a:prstGeom>
            <a:ln w="6887" cap="rnd">
              <a:solidFill>
                <a:srgbClr val="E2E8F0"/>
              </a:solidFill>
              <a:round/>
            </a:ln>
          </p:spPr>
        </p:cxnSp>
        <p:sp>
          <p:nvSpPr>
            <p:cNvPr id="23" name="Text 23"/>
            <p:cNvSpPr txBox="1"/>
            <p:nvPr/>
          </p:nvSpPr>
          <p:spPr>
            <a:xfrm>
              <a:off x="6515128" y="5779772"/>
              <a:ext cx="245413" cy="112989"/>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712" dirty="0">
                  <a:solidFill>
                    <a:srgbClr val="64748B"/>
                  </a:solidFill>
                  <a:latin typeface="Arial"/>
                  <a:cs typeface="Arial"/>
                </a:rPr>
                <a:t>100</a:t>
              </a:r>
              <a:endParaRPr lang="en-US" sz="712" dirty="0"/>
            </a:p>
          </p:txBody>
        </p:sp>
        <p:sp>
          <p:nvSpPr>
            <p:cNvPr id="24" name="Text 24"/>
            <p:cNvSpPr txBox="1"/>
            <p:nvPr/>
          </p:nvSpPr>
          <p:spPr>
            <a:xfrm>
              <a:off x="1927609" y="1893111"/>
              <a:ext cx="944087"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KAI Scheduler</a:t>
              </a:r>
              <a:endParaRPr lang="en-US" sz="746" dirty="0"/>
            </a:p>
          </p:txBody>
        </p:sp>
        <p:sp>
          <p:nvSpPr>
            <p:cNvPr id="25" name="Rect 25"/>
            <p:cNvSpPr/>
            <p:nvPr/>
          </p:nvSpPr>
          <p:spPr>
            <a:xfrm>
              <a:off x="2975000" y="1872106"/>
              <a:ext cx="3607892" cy="137739"/>
            </a:xfrm>
            <a:prstGeom prst="roundRect">
              <a:avLst>
                <a:gd name="adj" fmla="val 18749"/>
              </a:avLst>
            </a:prstGeom>
            <a:solidFill>
              <a:srgbClr val="4F46E5"/>
            </a:solidFill>
            <a:ln>
              <a:noFill/>
            </a:ln>
          </p:spPr>
        </p:sp>
        <p:sp>
          <p:nvSpPr>
            <p:cNvPr id="26" name="Text 26"/>
            <p:cNvSpPr txBox="1"/>
            <p:nvPr/>
          </p:nvSpPr>
          <p:spPr>
            <a:xfrm>
              <a:off x="6634544" y="1886913"/>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98.5</a:t>
              </a:r>
              <a:endParaRPr lang="en-US" sz="712" dirty="0"/>
            </a:p>
          </p:txBody>
        </p:sp>
        <p:sp>
          <p:nvSpPr>
            <p:cNvPr id="27" name="Text 27"/>
            <p:cNvSpPr txBox="1"/>
            <p:nvPr/>
          </p:nvSpPr>
          <p:spPr>
            <a:xfrm>
              <a:off x="1155743" y="2151373"/>
              <a:ext cx="1715953"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llm-d-inference-scheduler</a:t>
              </a:r>
              <a:endParaRPr lang="en-US" sz="746" dirty="0"/>
            </a:p>
          </p:txBody>
        </p:sp>
        <p:sp>
          <p:nvSpPr>
            <p:cNvPr id="28" name="Rect 28"/>
            <p:cNvSpPr/>
            <p:nvPr/>
          </p:nvSpPr>
          <p:spPr>
            <a:xfrm>
              <a:off x="2975000" y="2130367"/>
              <a:ext cx="3545624" cy="137739"/>
            </a:xfrm>
            <a:prstGeom prst="roundRect">
              <a:avLst>
                <a:gd name="adj" fmla="val 18749"/>
              </a:avLst>
            </a:prstGeom>
            <a:solidFill>
              <a:srgbClr val="4F46E5"/>
            </a:solidFill>
            <a:ln>
              <a:noFill/>
            </a:ln>
          </p:spPr>
        </p:sp>
        <p:sp>
          <p:nvSpPr>
            <p:cNvPr id="29" name="Text 29"/>
            <p:cNvSpPr txBox="1"/>
            <p:nvPr/>
          </p:nvSpPr>
          <p:spPr>
            <a:xfrm>
              <a:off x="6572276" y="2145174"/>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96.8</a:t>
              </a:r>
              <a:endParaRPr lang="en-US" sz="712" dirty="0"/>
            </a:p>
          </p:txBody>
        </p:sp>
        <p:sp>
          <p:nvSpPr>
            <p:cNvPr id="30" name="Text 30"/>
            <p:cNvSpPr txBox="1"/>
            <p:nvPr/>
          </p:nvSpPr>
          <p:spPr>
            <a:xfrm>
              <a:off x="2319081" y="2409634"/>
              <a:ext cx="552615"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Volcano</a:t>
              </a:r>
              <a:endParaRPr lang="en-US" sz="746" dirty="0"/>
            </a:p>
          </p:txBody>
        </p:sp>
        <p:sp>
          <p:nvSpPr>
            <p:cNvPr id="31" name="Rect 31"/>
            <p:cNvSpPr/>
            <p:nvPr/>
          </p:nvSpPr>
          <p:spPr>
            <a:xfrm>
              <a:off x="2975000" y="2388629"/>
              <a:ext cx="3523647" cy="137739"/>
            </a:xfrm>
            <a:prstGeom prst="roundRect">
              <a:avLst>
                <a:gd name="adj" fmla="val 18749"/>
              </a:avLst>
            </a:prstGeom>
            <a:solidFill>
              <a:srgbClr val="4F46E5"/>
            </a:solidFill>
            <a:ln>
              <a:noFill/>
            </a:ln>
          </p:spPr>
        </p:sp>
        <p:sp>
          <p:nvSpPr>
            <p:cNvPr id="32" name="Text 32"/>
            <p:cNvSpPr txBox="1"/>
            <p:nvPr/>
          </p:nvSpPr>
          <p:spPr>
            <a:xfrm>
              <a:off x="6550299" y="2403436"/>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96.2</a:t>
              </a:r>
              <a:endParaRPr lang="en-US" sz="712" dirty="0"/>
            </a:p>
          </p:txBody>
        </p:sp>
        <p:sp>
          <p:nvSpPr>
            <p:cNvPr id="33" name="Text 33"/>
            <p:cNvSpPr txBox="1"/>
            <p:nvPr/>
          </p:nvSpPr>
          <p:spPr>
            <a:xfrm>
              <a:off x="1687555" y="2667895"/>
              <a:ext cx="1184141"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LeaderWorkerSet</a:t>
              </a:r>
              <a:endParaRPr lang="en-US" sz="746" dirty="0"/>
            </a:p>
          </p:txBody>
        </p:sp>
        <p:sp>
          <p:nvSpPr>
            <p:cNvPr id="34" name="Rect 34"/>
            <p:cNvSpPr/>
            <p:nvPr/>
          </p:nvSpPr>
          <p:spPr>
            <a:xfrm>
              <a:off x="2975000" y="2646890"/>
              <a:ext cx="3512658" cy="137739"/>
            </a:xfrm>
            <a:prstGeom prst="roundRect">
              <a:avLst>
                <a:gd name="adj" fmla="val 18749"/>
              </a:avLst>
            </a:prstGeom>
            <a:solidFill>
              <a:srgbClr val="4F46E5"/>
            </a:solidFill>
            <a:ln>
              <a:noFill/>
            </a:ln>
          </p:spPr>
        </p:sp>
        <p:sp>
          <p:nvSpPr>
            <p:cNvPr id="35" name="Text 35"/>
            <p:cNvSpPr txBox="1"/>
            <p:nvPr/>
          </p:nvSpPr>
          <p:spPr>
            <a:xfrm>
              <a:off x="6539311" y="2661697"/>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95.9</a:t>
              </a:r>
              <a:endParaRPr lang="en-US" sz="712" dirty="0"/>
            </a:p>
          </p:txBody>
        </p:sp>
        <p:sp>
          <p:nvSpPr>
            <p:cNvPr id="36" name="Text 36"/>
            <p:cNvSpPr txBox="1"/>
            <p:nvPr/>
          </p:nvSpPr>
          <p:spPr>
            <a:xfrm>
              <a:off x="2426182" y="2926156"/>
              <a:ext cx="445514"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Kueue</a:t>
              </a:r>
              <a:endParaRPr lang="en-US" sz="746" dirty="0"/>
            </a:p>
          </p:txBody>
        </p:sp>
        <p:sp>
          <p:nvSpPr>
            <p:cNvPr id="37" name="Rect 37"/>
            <p:cNvSpPr/>
            <p:nvPr/>
          </p:nvSpPr>
          <p:spPr>
            <a:xfrm>
              <a:off x="2975000" y="2905151"/>
              <a:ext cx="3454053" cy="137739"/>
            </a:xfrm>
            <a:prstGeom prst="roundRect">
              <a:avLst>
                <a:gd name="adj" fmla="val 18749"/>
              </a:avLst>
            </a:prstGeom>
            <a:solidFill>
              <a:srgbClr val="4F46E5"/>
            </a:solidFill>
            <a:ln>
              <a:noFill/>
            </a:ln>
          </p:spPr>
        </p:sp>
        <p:sp>
          <p:nvSpPr>
            <p:cNvPr id="38" name="Text 38"/>
            <p:cNvSpPr txBox="1"/>
            <p:nvPr/>
          </p:nvSpPr>
          <p:spPr>
            <a:xfrm>
              <a:off x="6480705" y="2919958"/>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94.3</a:t>
              </a:r>
              <a:endParaRPr lang="en-US" sz="712" dirty="0"/>
            </a:p>
          </p:txBody>
        </p:sp>
        <p:sp>
          <p:nvSpPr>
            <p:cNvPr id="39" name="Text 39"/>
            <p:cNvSpPr txBox="1"/>
            <p:nvPr/>
          </p:nvSpPr>
          <p:spPr>
            <a:xfrm>
              <a:off x="1447501" y="3184418"/>
              <a:ext cx="1424195"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NVIDIA GPU Operator</a:t>
              </a:r>
              <a:endParaRPr lang="en-US" sz="746" dirty="0"/>
            </a:p>
          </p:txBody>
        </p:sp>
        <p:sp>
          <p:nvSpPr>
            <p:cNvPr id="40" name="Rect 40"/>
            <p:cNvSpPr/>
            <p:nvPr/>
          </p:nvSpPr>
          <p:spPr>
            <a:xfrm>
              <a:off x="2975000" y="3163413"/>
              <a:ext cx="3406436" cy="137739"/>
            </a:xfrm>
            <a:prstGeom prst="roundRect">
              <a:avLst>
                <a:gd name="adj" fmla="val 18749"/>
              </a:avLst>
            </a:prstGeom>
            <a:solidFill>
              <a:srgbClr val="4F46E5"/>
            </a:solidFill>
            <a:ln>
              <a:noFill/>
            </a:ln>
          </p:spPr>
        </p:sp>
        <p:sp>
          <p:nvSpPr>
            <p:cNvPr id="41" name="Text 41"/>
            <p:cNvSpPr txBox="1"/>
            <p:nvPr/>
          </p:nvSpPr>
          <p:spPr>
            <a:xfrm>
              <a:off x="6433088" y="3178220"/>
              <a:ext cx="210160"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93</a:t>
              </a:r>
              <a:endParaRPr lang="en-US" sz="712" dirty="0"/>
            </a:p>
          </p:txBody>
        </p:sp>
        <p:sp>
          <p:nvSpPr>
            <p:cNvPr id="42" name="Text 42"/>
            <p:cNvSpPr txBox="1"/>
            <p:nvPr/>
          </p:nvSpPr>
          <p:spPr>
            <a:xfrm>
              <a:off x="2492658" y="3442679"/>
              <a:ext cx="379037"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GAIE</a:t>
              </a:r>
              <a:endParaRPr lang="en-US" sz="746" dirty="0"/>
            </a:p>
          </p:txBody>
        </p:sp>
        <p:sp>
          <p:nvSpPr>
            <p:cNvPr id="43" name="Rect 43"/>
            <p:cNvSpPr/>
            <p:nvPr/>
          </p:nvSpPr>
          <p:spPr>
            <a:xfrm>
              <a:off x="2975000" y="3421674"/>
              <a:ext cx="3245271" cy="137739"/>
            </a:xfrm>
            <a:prstGeom prst="roundRect">
              <a:avLst>
                <a:gd name="adj" fmla="val 18749"/>
              </a:avLst>
            </a:prstGeom>
            <a:solidFill>
              <a:srgbClr val="4F46E5"/>
            </a:solidFill>
            <a:ln>
              <a:noFill/>
            </a:ln>
          </p:spPr>
        </p:sp>
        <p:sp>
          <p:nvSpPr>
            <p:cNvPr id="44" name="Text 44"/>
            <p:cNvSpPr txBox="1"/>
            <p:nvPr/>
          </p:nvSpPr>
          <p:spPr>
            <a:xfrm>
              <a:off x="6271924" y="3436481"/>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88.6</a:t>
              </a:r>
              <a:endParaRPr lang="en-US" sz="712" dirty="0"/>
            </a:p>
          </p:txBody>
        </p:sp>
        <p:sp>
          <p:nvSpPr>
            <p:cNvPr id="45" name="Text 45"/>
            <p:cNvSpPr txBox="1"/>
            <p:nvPr/>
          </p:nvSpPr>
          <p:spPr>
            <a:xfrm>
              <a:off x="1698634" y="3700940"/>
              <a:ext cx="1173062"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Envoy AI Gateway</a:t>
              </a:r>
              <a:endParaRPr lang="en-US" sz="746" dirty="0"/>
            </a:p>
          </p:txBody>
        </p:sp>
        <p:sp>
          <p:nvSpPr>
            <p:cNvPr id="46" name="Rect 46"/>
            <p:cNvSpPr/>
            <p:nvPr/>
          </p:nvSpPr>
          <p:spPr>
            <a:xfrm>
              <a:off x="2975000" y="3679935"/>
              <a:ext cx="3032827" cy="137739"/>
            </a:xfrm>
            <a:prstGeom prst="roundRect">
              <a:avLst>
                <a:gd name="adj" fmla="val 18749"/>
              </a:avLst>
            </a:prstGeom>
            <a:solidFill>
              <a:srgbClr val="4F46E5"/>
            </a:solidFill>
            <a:ln>
              <a:noFill/>
            </a:ln>
          </p:spPr>
        </p:sp>
        <p:sp>
          <p:nvSpPr>
            <p:cNvPr id="47" name="Text 47"/>
            <p:cNvSpPr txBox="1"/>
            <p:nvPr/>
          </p:nvSpPr>
          <p:spPr>
            <a:xfrm>
              <a:off x="6059479" y="3694742"/>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82.8</a:t>
              </a:r>
              <a:endParaRPr lang="en-US" sz="712" dirty="0"/>
            </a:p>
          </p:txBody>
        </p:sp>
        <p:sp>
          <p:nvSpPr>
            <p:cNvPr id="48" name="Text 48"/>
            <p:cNvSpPr txBox="1"/>
            <p:nvPr/>
          </p:nvSpPr>
          <p:spPr>
            <a:xfrm>
              <a:off x="2404023" y="3959202"/>
              <a:ext cx="467673"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Ollama</a:t>
              </a:r>
              <a:endParaRPr lang="en-US" sz="746" dirty="0"/>
            </a:p>
          </p:txBody>
        </p:sp>
        <p:sp>
          <p:nvSpPr>
            <p:cNvPr id="49" name="Rect 49"/>
            <p:cNvSpPr/>
            <p:nvPr/>
          </p:nvSpPr>
          <p:spPr>
            <a:xfrm>
              <a:off x="2975000" y="3938197"/>
              <a:ext cx="2534681" cy="137739"/>
            </a:xfrm>
            <a:prstGeom prst="roundRect">
              <a:avLst>
                <a:gd name="adj" fmla="val 18749"/>
              </a:avLst>
            </a:prstGeom>
            <a:solidFill>
              <a:srgbClr val="4F46E5"/>
            </a:solidFill>
            <a:ln>
              <a:noFill/>
            </a:ln>
          </p:spPr>
        </p:sp>
        <p:sp>
          <p:nvSpPr>
            <p:cNvPr id="50" name="Text 50"/>
            <p:cNvSpPr txBox="1"/>
            <p:nvPr/>
          </p:nvSpPr>
          <p:spPr>
            <a:xfrm>
              <a:off x="5561334" y="3953004"/>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69.2</a:t>
              </a:r>
              <a:endParaRPr lang="en-US" sz="712" dirty="0"/>
            </a:p>
          </p:txBody>
        </p:sp>
        <p:sp>
          <p:nvSpPr>
            <p:cNvPr id="51" name="Text 51"/>
            <p:cNvSpPr txBox="1"/>
            <p:nvPr/>
          </p:nvSpPr>
          <p:spPr>
            <a:xfrm>
              <a:off x="2337547" y="4217463"/>
              <a:ext cx="534149"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KServe</a:t>
              </a:r>
              <a:endParaRPr lang="en-US" sz="746" dirty="0"/>
            </a:p>
          </p:txBody>
        </p:sp>
        <p:sp>
          <p:nvSpPr>
            <p:cNvPr id="52" name="Rect 52"/>
            <p:cNvSpPr/>
            <p:nvPr/>
          </p:nvSpPr>
          <p:spPr>
            <a:xfrm>
              <a:off x="2975000" y="4196458"/>
              <a:ext cx="2355202" cy="137739"/>
            </a:xfrm>
            <a:prstGeom prst="roundRect">
              <a:avLst>
                <a:gd name="adj" fmla="val 18749"/>
              </a:avLst>
            </a:prstGeom>
            <a:solidFill>
              <a:srgbClr val="4F46E5"/>
            </a:solidFill>
            <a:ln>
              <a:noFill/>
            </a:ln>
          </p:spPr>
        </p:sp>
        <p:sp>
          <p:nvSpPr>
            <p:cNvPr id="53" name="Text 53"/>
            <p:cNvSpPr txBox="1"/>
            <p:nvPr/>
          </p:nvSpPr>
          <p:spPr>
            <a:xfrm>
              <a:off x="5381855" y="4211265"/>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64.3</a:t>
              </a:r>
              <a:endParaRPr lang="en-US" sz="712" dirty="0"/>
            </a:p>
          </p:txBody>
        </p:sp>
        <p:sp>
          <p:nvSpPr>
            <p:cNvPr id="54" name="Text 54"/>
            <p:cNvSpPr txBox="1"/>
            <p:nvPr/>
          </p:nvSpPr>
          <p:spPr>
            <a:xfrm>
              <a:off x="2404023" y="4475724"/>
              <a:ext cx="467673"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AIBrix</a:t>
              </a:r>
              <a:endParaRPr lang="en-US" sz="746" dirty="0"/>
            </a:p>
          </p:txBody>
        </p:sp>
        <p:sp>
          <p:nvSpPr>
            <p:cNvPr id="55" name="Rect 55"/>
            <p:cNvSpPr/>
            <p:nvPr/>
          </p:nvSpPr>
          <p:spPr>
            <a:xfrm>
              <a:off x="2975000" y="4454719"/>
              <a:ext cx="1908337" cy="137739"/>
            </a:xfrm>
            <a:prstGeom prst="roundRect">
              <a:avLst>
                <a:gd name="adj" fmla="val 18749"/>
              </a:avLst>
            </a:prstGeom>
            <a:solidFill>
              <a:srgbClr val="4F46E5"/>
            </a:solidFill>
            <a:ln>
              <a:noFill/>
            </a:ln>
          </p:spPr>
        </p:sp>
        <p:sp>
          <p:nvSpPr>
            <p:cNvPr id="56" name="Text 56"/>
            <p:cNvSpPr txBox="1"/>
            <p:nvPr/>
          </p:nvSpPr>
          <p:spPr>
            <a:xfrm>
              <a:off x="4934989" y="4469526"/>
              <a:ext cx="280665"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52.1</a:t>
              </a:r>
              <a:endParaRPr lang="en-US" sz="712" dirty="0"/>
            </a:p>
          </p:txBody>
        </p:sp>
        <p:sp>
          <p:nvSpPr>
            <p:cNvPr id="57" name="Text 57"/>
            <p:cNvSpPr txBox="1"/>
            <p:nvPr/>
          </p:nvSpPr>
          <p:spPr>
            <a:xfrm>
              <a:off x="2337547" y="4733986"/>
              <a:ext cx="534149"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JobSet</a:t>
              </a:r>
              <a:endParaRPr lang="en-US" sz="746" dirty="0"/>
            </a:p>
          </p:txBody>
        </p:sp>
        <p:sp>
          <p:nvSpPr>
            <p:cNvPr id="58" name="Rect 58"/>
            <p:cNvSpPr/>
            <p:nvPr/>
          </p:nvSpPr>
          <p:spPr>
            <a:xfrm>
              <a:off x="2975000" y="4712980"/>
              <a:ext cx="1443157" cy="137739"/>
            </a:xfrm>
            <a:prstGeom prst="roundRect">
              <a:avLst>
                <a:gd name="adj" fmla="val 18749"/>
              </a:avLst>
            </a:prstGeom>
            <a:solidFill>
              <a:srgbClr val="4F46E5"/>
            </a:solidFill>
            <a:ln>
              <a:noFill/>
            </a:ln>
          </p:spPr>
        </p:sp>
        <p:sp>
          <p:nvSpPr>
            <p:cNvPr id="59" name="Text 59"/>
            <p:cNvSpPr txBox="1"/>
            <p:nvPr/>
          </p:nvSpPr>
          <p:spPr>
            <a:xfrm>
              <a:off x="4469809" y="4727787"/>
              <a:ext cx="31239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39.4</a:t>
              </a:r>
              <a:endParaRPr lang="en-US" sz="712" dirty="0"/>
            </a:p>
          </p:txBody>
        </p:sp>
        <p:sp>
          <p:nvSpPr>
            <p:cNvPr id="60" name="Text 60"/>
            <p:cNvSpPr txBox="1"/>
            <p:nvPr/>
          </p:nvSpPr>
          <p:spPr>
            <a:xfrm>
              <a:off x="2337547" y="4992247"/>
              <a:ext cx="534149"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Dynamo</a:t>
              </a:r>
              <a:endParaRPr lang="en-US" sz="746" dirty="0"/>
            </a:p>
          </p:txBody>
        </p:sp>
        <p:sp>
          <p:nvSpPr>
            <p:cNvPr id="61" name="Rect 61"/>
            <p:cNvSpPr/>
            <p:nvPr/>
          </p:nvSpPr>
          <p:spPr>
            <a:xfrm>
              <a:off x="2975000" y="4971242"/>
              <a:ext cx="366283" cy="137739"/>
            </a:xfrm>
            <a:prstGeom prst="roundRect">
              <a:avLst>
                <a:gd name="adj" fmla="val 18749"/>
              </a:avLst>
            </a:prstGeom>
            <a:solidFill>
              <a:srgbClr val="4F46E5"/>
            </a:solidFill>
            <a:ln>
              <a:noFill/>
            </a:ln>
          </p:spPr>
        </p:sp>
        <p:sp>
          <p:nvSpPr>
            <p:cNvPr id="62" name="Text 62"/>
            <p:cNvSpPr txBox="1"/>
            <p:nvPr/>
          </p:nvSpPr>
          <p:spPr>
            <a:xfrm>
              <a:off x="3392936" y="4986049"/>
              <a:ext cx="178433"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10</a:t>
              </a:r>
              <a:endParaRPr lang="en-US" sz="712" dirty="0"/>
            </a:p>
          </p:txBody>
        </p:sp>
        <p:sp>
          <p:nvSpPr>
            <p:cNvPr id="63" name="Text 63"/>
            <p:cNvSpPr txBox="1"/>
            <p:nvPr/>
          </p:nvSpPr>
          <p:spPr>
            <a:xfrm>
              <a:off x="2319081" y="5250508"/>
              <a:ext cx="552615"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SGLang</a:t>
              </a:r>
              <a:endParaRPr lang="en-US" sz="746" dirty="0"/>
            </a:p>
          </p:txBody>
        </p:sp>
        <p:sp>
          <p:nvSpPr>
            <p:cNvPr id="64" name="Rect 64"/>
            <p:cNvSpPr/>
            <p:nvPr/>
          </p:nvSpPr>
          <p:spPr>
            <a:xfrm>
              <a:off x="2975000" y="5229503"/>
              <a:ext cx="4304" cy="137739"/>
            </a:xfrm>
            <a:prstGeom prst="roundRect">
              <a:avLst>
                <a:gd name="adj" fmla="val 50000"/>
              </a:avLst>
            </a:prstGeom>
            <a:solidFill>
              <a:srgbClr val="4F46E5"/>
            </a:solidFill>
            <a:ln>
              <a:noFill/>
            </a:ln>
          </p:spPr>
        </p:sp>
        <p:sp>
          <p:nvSpPr>
            <p:cNvPr id="65" name="Text 65"/>
            <p:cNvSpPr txBox="1"/>
            <p:nvPr/>
          </p:nvSpPr>
          <p:spPr>
            <a:xfrm>
              <a:off x="3030315" y="5244310"/>
              <a:ext cx="213685"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0.1</a:t>
              </a:r>
              <a:endParaRPr lang="en-US" sz="712" dirty="0"/>
            </a:p>
          </p:txBody>
        </p:sp>
        <p:sp>
          <p:nvSpPr>
            <p:cNvPr id="66" name="Text 66"/>
            <p:cNvSpPr txBox="1"/>
            <p:nvPr/>
          </p:nvSpPr>
          <p:spPr>
            <a:xfrm>
              <a:off x="2459420" y="5508770"/>
              <a:ext cx="412275" cy="118370"/>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746" dirty="0">
                  <a:solidFill>
                    <a:srgbClr val="0F172A"/>
                  </a:solidFill>
                  <a:latin typeface="Arial"/>
                  <a:cs typeface="Arial"/>
                </a:rPr>
                <a:t>vLLM</a:t>
              </a:r>
              <a:endParaRPr lang="en-US" sz="746" dirty="0"/>
            </a:p>
          </p:txBody>
        </p:sp>
        <p:sp>
          <p:nvSpPr>
            <p:cNvPr id="67" name="Rect 67"/>
            <p:cNvSpPr/>
            <p:nvPr/>
          </p:nvSpPr>
          <p:spPr>
            <a:xfrm>
              <a:off x="2975000" y="5487764"/>
              <a:ext cx="4304" cy="137739"/>
            </a:xfrm>
            <a:prstGeom prst="roundRect">
              <a:avLst>
                <a:gd name="adj" fmla="val 50000"/>
              </a:avLst>
            </a:prstGeom>
            <a:solidFill>
              <a:srgbClr val="4F46E5"/>
            </a:solidFill>
            <a:ln>
              <a:noFill/>
            </a:ln>
          </p:spPr>
        </p:sp>
        <p:sp>
          <p:nvSpPr>
            <p:cNvPr id="68" name="Text 68"/>
            <p:cNvSpPr txBox="1"/>
            <p:nvPr/>
          </p:nvSpPr>
          <p:spPr>
            <a:xfrm>
              <a:off x="3026652" y="5502571"/>
              <a:ext cx="143180" cy="112989"/>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712" b="1" dirty="0">
                  <a:solidFill>
                    <a:srgbClr val="0F172A"/>
                  </a:solidFill>
                  <a:latin typeface="Arial"/>
                  <a:cs typeface="Arial"/>
                </a:rPr>
                <a:t>0</a:t>
              </a:r>
              <a:endParaRPr lang="en-US" sz="712" dirty="0"/>
            </a:p>
          </p:txBody>
        </p:sp>
      </p:grpSp>
      <p:sp>
        <p:nvSpPr>
          <p:cNvPr id="69" name="Text 6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[5], [6], [7], [8], [9], [10], [11], [12], [13], [14], [15], [16], [17], [18], [19], [20], [21]. Data as of 2026-09-30. Derived from GitHub languages API byte counts fetch…</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HOW THE INFERENCE STACK FITS TOGETHER, AND WHO OWNS WHAT SINCE 2026</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How the inference stack fits together, and who owns what since 2026</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13</a:t>
            </a:r>
            <a:endParaRPr lang="en-US" sz="850" dirty="0"/>
          </a:p>
        </p:txBody>
      </p:sp>
      <p:sp>
        <p:nvSpPr>
          <p:cNvPr id="8" name="Text 8"/>
          <p:cNvSpPr txBox="1"/>
          <p:nvPr/>
        </p:nvSpPr>
        <p:spPr>
          <a:xfrm>
            <a:off x="711200" y="2106168"/>
            <a:ext cx="9261856" cy="4142232"/>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2026 moved the router into llm-d</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Kubernetes WG Serving concluded in 2026 (CNCF announcement 2026-02-26).</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HOW THE INFERENCE STACK FITS TOGETHER, AND WHO OWNS WHAT SINCE 2026 · FIGURE 3</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Key inference-infrastructure events, Nov 2025 to Sep 2026</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14</a:t>
            </a:r>
            <a:endParaRPr lang="en-US" sz="850" dirty="0"/>
          </a:p>
        </p:txBody>
      </p:sp>
      <p:sp>
        <p:nvSpPr>
          <p:cNvPr id="8" name="Shape 8"/>
          <p:cNvSpPr/>
          <p:nvPr/>
        </p:nvSpPr>
        <p:spPr>
          <a:xfrm>
            <a:off x="8305800" y="2106168"/>
            <a:ext cx="3175000" cy="3837432"/>
          </a:xfrm>
          <a:prstGeom prst="roundRect">
            <a:avLst>
              <a:gd name="adj" fmla="val 4800"/>
            </a:avLst>
          </a:prstGeom>
          <a:solidFill>
            <a:srgbClr val="F6F6FE"/>
          </a:solidFill>
          <a:ln>
            <a:noFill/>
          </a:ln>
        </p:spPr>
      </p:sp>
      <p:sp>
        <p:nvSpPr>
          <p:cNvPr id="9" name="Text 9"/>
          <p:cNvSpPr txBox="1"/>
          <p:nvPr/>
        </p:nvSpPr>
        <p:spPr>
          <a:xfrm>
            <a:off x="8534400" y="2334768"/>
            <a:ext cx="2717800" cy="3380232"/>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GAIE v1.6.0 (August 2026) completed the move. The full EPP, Body-Based Routing and the latency predictor left the repository, and GAIE now covers the InferencePool API, CRDs, conformance and a lightweight EPP</a:t>
            </a:r>
            <a:r>
              <a:rPr lang="en-US" sz="1300" baseline="30000" dirty="0">
                <a:solidFill>
                  <a:srgbClr val="64748B"/>
                </a:solidFill>
                <a:latin typeface="Arial"/>
                <a:cs typeface="Arial"/>
              </a:rPr>
              <a:t> 29,30</a:t>
            </a:r>
            <a:r>
              <a:rPr lang="en-US" sz="1300" dirty="0">
                <a:solidFill>
                  <a:srgbClr val="0F172A"/>
                </a:solidFill>
                <a:latin typeface="Arial"/>
                <a:cs typeface="Arial"/>
              </a:rPr>
              <a:t>.</a:t>
            </a:r>
            <a:endParaRPr lang="en-US" sz="1300" dirty="0"/>
          </a:p>
        </p:txBody>
      </p:sp>
      <p:grpSp>
        <p:nvGrpSpPr>
          <p:cNvPr id="10" name="Figure 10"/>
          <p:cNvGrpSpPr/>
          <p:nvPr/>
        </p:nvGrpSpPr>
        <p:grpSpPr>
          <a:xfrm>
            <a:off x="711200" y="2937645"/>
            <a:ext cx="7239000" cy="2149078"/>
            <a:chOff x="711200" y="2937645"/>
            <a:chExt cx="7239000" cy="2149078"/>
          </a:xfrm>
        </p:grpSpPr>
        <p:cxnSp>
          <p:nvCxnSpPr>
            <p:cNvPr id="11" name="Line 11"/>
            <p:cNvCxnSpPr/>
            <p:nvPr/>
          </p:nvCxnSpPr>
          <p:spPr>
            <a:xfrm>
              <a:off x="1073150" y="4012184"/>
              <a:ext cx="6515100" cy="0"/>
            </a:xfrm>
            <a:prstGeom prst="line">
              <a:avLst/>
            </a:prstGeom>
            <a:ln w="27146" cap="rnd">
              <a:solidFill>
                <a:srgbClr val="E2E8F0"/>
              </a:solidFill>
              <a:round/>
            </a:ln>
          </p:spPr>
        </p:cxnSp>
        <p:cxnSp>
          <p:nvCxnSpPr>
            <p:cNvPr id="12" name="Line 12"/>
            <p:cNvCxnSpPr/>
            <p:nvPr/>
          </p:nvCxnSpPr>
          <p:spPr>
            <a:xfrm>
              <a:off x="1344613" y="3740721"/>
              <a:ext cx="0" cy="180975"/>
            </a:xfrm>
            <a:prstGeom prst="line">
              <a:avLst/>
            </a:prstGeom>
            <a:ln w="13573" cap="rnd">
              <a:solidFill>
                <a:srgbClr val="E2E8F0"/>
              </a:solidFill>
              <a:round/>
            </a:ln>
          </p:spPr>
        </p:cxnSp>
        <p:sp>
          <p:nvSpPr>
            <p:cNvPr id="13" name="Dot 13"/>
            <p:cNvSpPr/>
            <p:nvPr/>
          </p:nvSpPr>
          <p:spPr>
            <a:xfrm>
              <a:off x="1282402" y="3949974"/>
              <a:ext cx="124420" cy="124420"/>
            </a:xfrm>
            <a:prstGeom prst="ellipse">
              <a:avLst/>
            </a:prstGeom>
            <a:solidFill>
              <a:srgbClr val="4F46E5"/>
            </a:solidFill>
            <a:ln w="22622" cap="rnd">
              <a:solidFill>
                <a:srgbClr val="FFFFFF"/>
              </a:solidFill>
              <a:round/>
            </a:ln>
          </p:spPr>
        </p:sp>
        <p:sp>
          <p:nvSpPr>
            <p:cNvPr id="14" name="Text 14"/>
            <p:cNvSpPr txBox="1"/>
            <p:nvPr/>
          </p:nvSpPr>
          <p:spPr>
            <a:xfrm>
              <a:off x="996401" y="337741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Nov 2025</a:t>
              </a:r>
              <a:endParaRPr lang="en-US" sz="846" dirty="0"/>
            </a:p>
          </p:txBody>
        </p:sp>
        <p:sp>
          <p:nvSpPr>
            <p:cNvPr id="15" name="Text 15"/>
            <p:cNvSpPr txBox="1"/>
            <p:nvPr/>
          </p:nvSpPr>
          <p:spPr>
            <a:xfrm>
              <a:off x="440360" y="3536220"/>
              <a:ext cx="1808504"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Envoy AI Gateway v0.4</a:t>
              </a:r>
              <a:endParaRPr lang="en-US" sz="935" dirty="0"/>
            </a:p>
          </p:txBody>
        </p:sp>
        <p:cxnSp>
          <p:nvCxnSpPr>
            <p:cNvPr id="16" name="Line 16"/>
            <p:cNvCxnSpPr/>
            <p:nvPr/>
          </p:nvCxnSpPr>
          <p:spPr>
            <a:xfrm>
              <a:off x="2197780" y="4102671"/>
              <a:ext cx="0" cy="180975"/>
            </a:xfrm>
            <a:prstGeom prst="line">
              <a:avLst/>
            </a:prstGeom>
            <a:ln w="13573" cap="rnd">
              <a:solidFill>
                <a:srgbClr val="E2E8F0"/>
              </a:solidFill>
              <a:round/>
            </a:ln>
          </p:spPr>
        </p:cxnSp>
        <p:sp>
          <p:nvSpPr>
            <p:cNvPr id="17" name="Dot 17"/>
            <p:cNvSpPr/>
            <p:nvPr/>
          </p:nvSpPr>
          <p:spPr>
            <a:xfrm>
              <a:off x="2135570" y="3949974"/>
              <a:ext cx="124420" cy="124420"/>
            </a:xfrm>
            <a:prstGeom prst="ellipse">
              <a:avLst/>
            </a:prstGeom>
            <a:solidFill>
              <a:srgbClr val="4F46E5"/>
            </a:solidFill>
            <a:ln w="22622" cap="rnd">
              <a:solidFill>
                <a:srgbClr val="FFFFFF"/>
              </a:solidFill>
              <a:round/>
            </a:ln>
          </p:spPr>
        </p:sp>
        <p:sp>
          <p:nvSpPr>
            <p:cNvPr id="18" name="Text 18"/>
            <p:cNvSpPr txBox="1"/>
            <p:nvPr/>
          </p:nvSpPr>
          <p:spPr>
            <a:xfrm>
              <a:off x="1459833" y="4361466"/>
              <a:ext cx="1475895"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Dec 2025 (Sandbox)</a:t>
              </a:r>
              <a:endParaRPr lang="en-US" sz="846" dirty="0"/>
            </a:p>
          </p:txBody>
        </p:sp>
        <p:sp>
          <p:nvSpPr>
            <p:cNvPr id="19" name="Text 19"/>
            <p:cNvSpPr txBox="1"/>
            <p:nvPr/>
          </p:nvSpPr>
          <p:spPr>
            <a:xfrm>
              <a:off x="1168469" y="4520271"/>
              <a:ext cx="2058623"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KAI Scheduler joins CNCF</a:t>
              </a:r>
              <a:endParaRPr lang="en-US" sz="935" dirty="0"/>
            </a:p>
          </p:txBody>
        </p:sp>
        <p:cxnSp>
          <p:nvCxnSpPr>
            <p:cNvPr id="20" name="Line 20"/>
            <p:cNvCxnSpPr/>
            <p:nvPr/>
          </p:nvCxnSpPr>
          <p:spPr>
            <a:xfrm>
              <a:off x="3050948" y="3740721"/>
              <a:ext cx="0" cy="180975"/>
            </a:xfrm>
            <a:prstGeom prst="line">
              <a:avLst/>
            </a:prstGeom>
            <a:ln w="13573" cap="rnd">
              <a:solidFill>
                <a:srgbClr val="E2E8F0"/>
              </a:solidFill>
              <a:round/>
            </a:ln>
          </p:spPr>
        </p:cxnSp>
        <p:sp>
          <p:nvSpPr>
            <p:cNvPr id="21" name="Dot 21"/>
            <p:cNvSpPr/>
            <p:nvPr/>
          </p:nvSpPr>
          <p:spPr>
            <a:xfrm>
              <a:off x="2988738" y="3949974"/>
              <a:ext cx="124420" cy="124420"/>
            </a:xfrm>
            <a:prstGeom prst="ellipse">
              <a:avLst/>
            </a:prstGeom>
            <a:solidFill>
              <a:srgbClr val="4F46E5"/>
            </a:solidFill>
            <a:ln w="22622" cap="rnd">
              <a:solidFill>
                <a:srgbClr val="FFFFFF"/>
              </a:solidFill>
              <a:round/>
            </a:ln>
          </p:spPr>
        </p:sp>
        <p:sp>
          <p:nvSpPr>
            <p:cNvPr id="22" name="Text 22"/>
            <p:cNvSpPr txBox="1"/>
            <p:nvPr/>
          </p:nvSpPr>
          <p:spPr>
            <a:xfrm>
              <a:off x="2250140" y="3377414"/>
              <a:ext cx="1601616"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Feb 2026; GAIE #2430</a:t>
              </a:r>
              <a:endParaRPr lang="en-US" sz="846" dirty="0"/>
            </a:p>
          </p:txBody>
        </p:sp>
        <p:sp>
          <p:nvSpPr>
            <p:cNvPr id="23" name="Text 23"/>
            <p:cNvSpPr txBox="1"/>
            <p:nvPr/>
          </p:nvSpPr>
          <p:spPr>
            <a:xfrm>
              <a:off x="2181435" y="3536220"/>
              <a:ext cx="1739027"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WG Serving concludes</a:t>
              </a:r>
              <a:endParaRPr lang="en-US" sz="935" dirty="0"/>
            </a:p>
          </p:txBody>
        </p:sp>
        <p:cxnSp>
          <p:nvCxnSpPr>
            <p:cNvPr id="24" name="Line 24"/>
            <p:cNvCxnSpPr/>
            <p:nvPr/>
          </p:nvCxnSpPr>
          <p:spPr>
            <a:xfrm>
              <a:off x="3904116" y="4102671"/>
              <a:ext cx="0" cy="180975"/>
            </a:xfrm>
            <a:prstGeom prst="line">
              <a:avLst/>
            </a:prstGeom>
            <a:ln w="13573" cap="rnd">
              <a:solidFill>
                <a:srgbClr val="E2E8F0"/>
              </a:solidFill>
              <a:round/>
            </a:ln>
          </p:spPr>
        </p:cxnSp>
        <p:sp>
          <p:nvSpPr>
            <p:cNvPr id="25" name="Dot 25"/>
            <p:cNvSpPr/>
            <p:nvPr/>
          </p:nvSpPr>
          <p:spPr>
            <a:xfrm>
              <a:off x="3841906" y="3949974"/>
              <a:ext cx="124420" cy="124420"/>
            </a:xfrm>
            <a:prstGeom prst="ellipse">
              <a:avLst/>
            </a:prstGeom>
            <a:solidFill>
              <a:srgbClr val="4F46E5"/>
            </a:solidFill>
            <a:ln w="22622" cap="rnd">
              <a:solidFill>
                <a:srgbClr val="FFFFFF"/>
              </a:solidFill>
              <a:round/>
            </a:ln>
          </p:spPr>
        </p:sp>
        <p:sp>
          <p:nvSpPr>
            <p:cNvPr id="26" name="Text 26"/>
            <p:cNvSpPr txBox="1"/>
            <p:nvPr/>
          </p:nvSpPr>
          <p:spPr>
            <a:xfrm>
              <a:off x="3166169" y="4361466"/>
              <a:ext cx="1475895"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Mar 2026 (Sandbox)</a:t>
              </a:r>
              <a:endParaRPr lang="en-US" sz="846" dirty="0"/>
            </a:p>
          </p:txBody>
        </p:sp>
        <p:sp>
          <p:nvSpPr>
            <p:cNvPr id="27" name="Text 27"/>
            <p:cNvSpPr txBox="1"/>
            <p:nvPr/>
          </p:nvSpPr>
          <p:spPr>
            <a:xfrm>
              <a:off x="3229140" y="4520271"/>
              <a:ext cx="1349953"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llm-d joins CNCF</a:t>
              </a:r>
              <a:endParaRPr lang="en-US" sz="935" dirty="0"/>
            </a:p>
          </p:txBody>
        </p:sp>
        <p:cxnSp>
          <p:nvCxnSpPr>
            <p:cNvPr id="28" name="Line 28"/>
            <p:cNvCxnSpPr/>
            <p:nvPr/>
          </p:nvCxnSpPr>
          <p:spPr>
            <a:xfrm>
              <a:off x="4757284" y="3740721"/>
              <a:ext cx="0" cy="180975"/>
            </a:xfrm>
            <a:prstGeom prst="line">
              <a:avLst/>
            </a:prstGeom>
            <a:ln w="13573" cap="rnd">
              <a:solidFill>
                <a:srgbClr val="E2E8F0"/>
              </a:solidFill>
              <a:round/>
            </a:ln>
          </p:spPr>
        </p:cxnSp>
        <p:sp>
          <p:nvSpPr>
            <p:cNvPr id="29" name="Dot 29"/>
            <p:cNvSpPr/>
            <p:nvPr/>
          </p:nvSpPr>
          <p:spPr>
            <a:xfrm>
              <a:off x="4695074" y="3949974"/>
              <a:ext cx="124420" cy="124420"/>
            </a:xfrm>
            <a:prstGeom prst="ellipse">
              <a:avLst/>
            </a:prstGeom>
            <a:solidFill>
              <a:srgbClr val="4F46E5"/>
            </a:solidFill>
            <a:ln w="22622" cap="rnd">
              <a:solidFill>
                <a:srgbClr val="FFFFFF"/>
              </a:solidFill>
              <a:round/>
            </a:ln>
          </p:spPr>
        </p:sp>
        <p:sp>
          <p:nvSpPr>
            <p:cNvPr id="30" name="Text 30"/>
            <p:cNvSpPr txBox="1"/>
            <p:nvPr/>
          </p:nvSpPr>
          <p:spPr>
            <a:xfrm>
              <a:off x="4409072" y="337741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Apr 2026</a:t>
              </a:r>
              <a:endParaRPr lang="en-US" sz="846" dirty="0"/>
            </a:p>
          </p:txBody>
        </p:sp>
        <p:sp>
          <p:nvSpPr>
            <p:cNvPr id="31" name="Text 31"/>
            <p:cNvSpPr txBox="1"/>
            <p:nvPr/>
          </p:nvSpPr>
          <p:spPr>
            <a:xfrm>
              <a:off x="4230526" y="3536220"/>
              <a:ext cx="1053516"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KServe v0.18</a:t>
              </a:r>
              <a:endParaRPr lang="en-US" sz="935" dirty="0"/>
            </a:p>
          </p:txBody>
        </p:sp>
        <p:cxnSp>
          <p:nvCxnSpPr>
            <p:cNvPr id="32" name="Line 32"/>
            <p:cNvCxnSpPr/>
            <p:nvPr/>
          </p:nvCxnSpPr>
          <p:spPr>
            <a:xfrm>
              <a:off x="5610452" y="4102671"/>
              <a:ext cx="0" cy="180975"/>
            </a:xfrm>
            <a:prstGeom prst="line">
              <a:avLst/>
            </a:prstGeom>
            <a:ln w="13573" cap="rnd">
              <a:solidFill>
                <a:srgbClr val="E2E8F0"/>
              </a:solidFill>
              <a:round/>
            </a:ln>
          </p:spPr>
        </p:cxnSp>
        <p:sp>
          <p:nvSpPr>
            <p:cNvPr id="33" name="Dot 33"/>
            <p:cNvSpPr/>
            <p:nvPr/>
          </p:nvSpPr>
          <p:spPr>
            <a:xfrm>
              <a:off x="5548242" y="3949974"/>
              <a:ext cx="124420" cy="124420"/>
            </a:xfrm>
            <a:prstGeom prst="ellipse">
              <a:avLst/>
            </a:prstGeom>
            <a:solidFill>
              <a:srgbClr val="4F46E5"/>
            </a:solidFill>
            <a:ln w="22622" cap="rnd">
              <a:solidFill>
                <a:srgbClr val="FFFFFF"/>
              </a:solidFill>
              <a:round/>
            </a:ln>
          </p:spPr>
        </p:sp>
        <p:sp>
          <p:nvSpPr>
            <p:cNvPr id="34" name="Text 34"/>
            <p:cNvSpPr txBox="1"/>
            <p:nvPr/>
          </p:nvSpPr>
          <p:spPr>
            <a:xfrm>
              <a:off x="4979367" y="4361466"/>
              <a:ext cx="1262169"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Jun 2026 (v1.0.0)</a:t>
              </a:r>
              <a:endParaRPr lang="en-US" sz="846" dirty="0"/>
            </a:p>
          </p:txBody>
        </p:sp>
        <p:sp>
          <p:nvSpPr>
            <p:cNvPr id="35" name="Text 35"/>
            <p:cNvSpPr txBox="1"/>
            <p:nvPr/>
          </p:nvSpPr>
          <p:spPr>
            <a:xfrm>
              <a:off x="4750202" y="4520271"/>
              <a:ext cx="172049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Envoy AI Gateway GA</a:t>
              </a:r>
              <a:endParaRPr lang="en-US" sz="935" dirty="0"/>
            </a:p>
          </p:txBody>
        </p:sp>
        <p:cxnSp>
          <p:nvCxnSpPr>
            <p:cNvPr id="36" name="Line 36"/>
            <p:cNvCxnSpPr/>
            <p:nvPr/>
          </p:nvCxnSpPr>
          <p:spPr>
            <a:xfrm>
              <a:off x="6463620" y="3740721"/>
              <a:ext cx="0" cy="180975"/>
            </a:xfrm>
            <a:prstGeom prst="line">
              <a:avLst/>
            </a:prstGeom>
            <a:ln w="13573" cap="rnd">
              <a:solidFill>
                <a:srgbClr val="E2E8F0"/>
              </a:solidFill>
              <a:round/>
            </a:ln>
          </p:spPr>
        </p:cxnSp>
        <p:sp>
          <p:nvSpPr>
            <p:cNvPr id="37" name="Dot 37"/>
            <p:cNvSpPr/>
            <p:nvPr/>
          </p:nvSpPr>
          <p:spPr>
            <a:xfrm>
              <a:off x="6401409" y="3949974"/>
              <a:ext cx="124420" cy="124420"/>
            </a:xfrm>
            <a:prstGeom prst="ellipse">
              <a:avLst/>
            </a:prstGeom>
            <a:solidFill>
              <a:srgbClr val="4F46E5"/>
            </a:solidFill>
            <a:ln w="22622" cap="rnd">
              <a:solidFill>
                <a:srgbClr val="FFFFFF"/>
              </a:solidFill>
              <a:round/>
            </a:ln>
          </p:spPr>
        </p:sp>
        <p:sp>
          <p:nvSpPr>
            <p:cNvPr id="38" name="Text 38"/>
            <p:cNvSpPr txBox="1"/>
            <p:nvPr/>
          </p:nvSpPr>
          <p:spPr>
            <a:xfrm>
              <a:off x="6115408" y="337741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Aug 2026</a:t>
              </a:r>
              <a:endParaRPr lang="en-US" sz="846" dirty="0"/>
            </a:p>
          </p:txBody>
        </p:sp>
        <p:sp>
          <p:nvSpPr>
            <p:cNvPr id="39" name="Text 39"/>
            <p:cNvSpPr txBox="1"/>
            <p:nvPr/>
          </p:nvSpPr>
          <p:spPr>
            <a:xfrm>
              <a:off x="5612634" y="3536220"/>
              <a:ext cx="1701972"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GAIE v1.6.0 hands off</a:t>
              </a:r>
              <a:endParaRPr lang="en-US" sz="935" dirty="0"/>
            </a:p>
          </p:txBody>
        </p:sp>
        <p:cxnSp>
          <p:nvCxnSpPr>
            <p:cNvPr id="40" name="Line 40"/>
            <p:cNvCxnSpPr/>
            <p:nvPr/>
          </p:nvCxnSpPr>
          <p:spPr>
            <a:xfrm>
              <a:off x="7316788" y="4102671"/>
              <a:ext cx="0" cy="180975"/>
            </a:xfrm>
            <a:prstGeom prst="line">
              <a:avLst/>
            </a:prstGeom>
            <a:ln w="13573" cap="rnd">
              <a:solidFill>
                <a:srgbClr val="E2E8F0"/>
              </a:solidFill>
              <a:round/>
            </a:ln>
          </p:spPr>
        </p:cxnSp>
        <p:sp>
          <p:nvSpPr>
            <p:cNvPr id="41" name="Dot 41"/>
            <p:cNvSpPr/>
            <p:nvPr/>
          </p:nvSpPr>
          <p:spPr>
            <a:xfrm>
              <a:off x="7254577" y="3949974"/>
              <a:ext cx="124420" cy="124420"/>
            </a:xfrm>
            <a:prstGeom prst="ellipse">
              <a:avLst/>
            </a:prstGeom>
            <a:solidFill>
              <a:srgbClr val="4F46E5"/>
            </a:solidFill>
            <a:ln w="22622" cap="rnd">
              <a:solidFill>
                <a:srgbClr val="FFFFFF"/>
              </a:solidFill>
              <a:round/>
            </a:ln>
          </p:spPr>
        </p:sp>
        <p:sp>
          <p:nvSpPr>
            <p:cNvPr id="42" name="Text 42"/>
            <p:cNvSpPr txBox="1"/>
            <p:nvPr/>
          </p:nvSpPr>
          <p:spPr>
            <a:xfrm>
              <a:off x="6968576" y="4361466"/>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Sep 2026</a:t>
              </a:r>
              <a:endParaRPr lang="en-US" sz="846" dirty="0"/>
            </a:p>
          </p:txBody>
        </p:sp>
        <p:sp>
          <p:nvSpPr>
            <p:cNvPr id="43" name="Text 43"/>
            <p:cNvSpPr txBox="1"/>
            <p:nvPr/>
          </p:nvSpPr>
          <p:spPr>
            <a:xfrm>
              <a:off x="6407904" y="4520271"/>
              <a:ext cx="1817768"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vLLM v0.30, llm-d v0.10</a:t>
              </a:r>
              <a:endParaRPr lang="en-US" sz="935" dirty="0"/>
            </a:p>
          </p:txBody>
        </p:sp>
      </p:grpSp>
      <p:sp>
        <p:nvSpPr>
          <p:cNvPr id="44" name="Text 44"/>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[22], [23], [24], [25], [26], [29], [30], [31], [32], [33], [36], [37], [38], [56], [59], [60], [61], [73], [94], [95].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HOW THE INFERENCE STACK FITS TOGETHER, AND WHO OWNS WHAT SINCE 2026</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How the inference stack fits together, and who owns what since 2026</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15</a:t>
            </a:r>
            <a:endParaRPr lang="en-US" sz="850" dirty="0"/>
          </a:p>
        </p:txBody>
      </p:sp>
      <p:sp>
        <p:nvSpPr>
          <p:cNvPr id="8" name="Text 8"/>
          <p:cNvSpPr txBox="1"/>
          <p:nvPr/>
        </p:nvSpPr>
        <p:spPr>
          <a:xfrm>
            <a:off x="711200" y="2106168"/>
            <a:ext cx="9261856" cy="4142232"/>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Release activity over the year was steady across the stack. llm-d shipped v0.7.0 through v0.10.0 between May and September 2026.</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Project health and newcomer-friendliness compared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16</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Stars show visibility, not how easy a project is to contribute to. Ollama (181.9k) and vLLM (93.0k) are far ahead of the Kubernetes-native projects, which range from 6.1k (KServe) down to 846 (LWS) and 775…</a:t>
            </a:r>
            <a:r>
              <a:rPr lang="en-US" sz="1700" baseline="30000" dirty="0">
                <a:solidFill>
                  <a:srgbClr val="64748B"/>
                </a:solidFill>
                <a:latin typeface="Arial"/>
                <a:cs typeface="Arial"/>
              </a:rPr>
              <a:t> 26,32,52,53,54,55,56,57,58</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 · FIGURE 4</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GitHub stars on 2026-09-30</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17</a:t>
            </a:r>
            <a:endParaRPr lang="en-US" sz="850" dirty="0"/>
          </a:p>
        </p:txBody>
      </p:sp>
      <p:sp>
        <p:nvSpPr>
          <p:cNvPr id="8" name="Text 8"/>
          <p:cNvSpPr txBox="1"/>
          <p:nvPr/>
        </p:nvSpPr>
        <p:spPr>
          <a:xfrm>
            <a:off x="711200" y="1446784"/>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dirty="0">
                <a:solidFill>
                  <a:srgbClr val="64748B"/>
                </a:solidFill>
                <a:latin typeface="Arial"/>
                <a:cs typeface="Arial"/>
              </a:rPr>
              <a:t>thousand stars</a:t>
            </a:r>
            <a:endParaRPr lang="en-US" sz="1100" dirty="0"/>
          </a:p>
        </p:txBody>
      </p:sp>
      <p:sp>
        <p:nvSpPr>
          <p:cNvPr id="9" name="Shape 9"/>
          <p:cNvSpPr/>
          <p:nvPr/>
        </p:nvSpPr>
        <p:spPr>
          <a:xfrm>
            <a:off x="8305800" y="1751584"/>
            <a:ext cx="3175000" cy="4192016"/>
          </a:xfrm>
          <a:prstGeom prst="roundRect">
            <a:avLst>
              <a:gd name="adj" fmla="val 4800"/>
            </a:avLst>
          </a:prstGeom>
          <a:solidFill>
            <a:srgbClr val="F6F6FE"/>
          </a:solidFill>
          <a:ln>
            <a:noFill/>
          </a:ln>
        </p:spPr>
      </p:sp>
      <p:sp>
        <p:nvSpPr>
          <p:cNvPr id="10" name="Text 10"/>
          <p:cNvSpPr txBox="1"/>
          <p:nvPr/>
        </p:nvSpPr>
        <p:spPr>
          <a:xfrm>
            <a:off x="8534400" y="1980184"/>
            <a:ext cx="2717800" cy="3734816"/>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Backlog size shows the same split. vLLM had 2,500+ open issues and 5,000+ open PRs on 2026-09-30.</a:t>
            </a:r>
            <a:endParaRPr lang="en-US" sz="1300" dirty="0"/>
          </a:p>
        </p:txBody>
      </p:sp>
      <p:grpSp>
        <p:nvGrpSpPr>
          <p:cNvPr id="11" name="Figure 11"/>
          <p:cNvGrpSpPr/>
          <p:nvPr/>
        </p:nvGrpSpPr>
        <p:grpSpPr>
          <a:xfrm>
            <a:off x="711200" y="2454958"/>
            <a:ext cx="7239000" cy="2759869"/>
            <a:chOff x="711200" y="2454958"/>
            <a:chExt cx="7239000" cy="2759869"/>
          </a:xfrm>
        </p:grpSpPr>
        <p:cxnSp>
          <p:nvCxnSpPr>
            <p:cNvPr id="12" name="Line 12"/>
            <p:cNvCxnSpPr/>
            <p:nvPr/>
          </p:nvCxnSpPr>
          <p:spPr>
            <a:xfrm>
              <a:off x="1769338" y="2545445"/>
              <a:ext cx="0" cy="2420541"/>
            </a:xfrm>
            <a:prstGeom prst="line">
              <a:avLst/>
            </a:prstGeom>
            <a:ln w="11311" cap="rnd">
              <a:solidFill>
                <a:srgbClr val="94A3B8"/>
              </a:solidFill>
              <a:round/>
            </a:ln>
          </p:spPr>
        </p:cxnSp>
        <p:sp>
          <p:nvSpPr>
            <p:cNvPr id="13" name="Text 13"/>
            <p:cNvSpPr txBox="1"/>
            <p:nvPr/>
          </p:nvSpPr>
          <p:spPr>
            <a:xfrm>
              <a:off x="1687236" y="5032947"/>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0</a:t>
              </a:r>
              <a:endParaRPr lang="en-US" sz="935" dirty="0"/>
            </a:p>
          </p:txBody>
        </p:sp>
        <p:cxnSp>
          <p:nvCxnSpPr>
            <p:cNvPr id="14" name="Line 14"/>
            <p:cNvCxnSpPr/>
            <p:nvPr/>
          </p:nvCxnSpPr>
          <p:spPr>
            <a:xfrm>
              <a:off x="3167511" y="2545445"/>
              <a:ext cx="0" cy="2420541"/>
            </a:xfrm>
            <a:prstGeom prst="line">
              <a:avLst/>
            </a:prstGeom>
            <a:ln w="9049" cap="rnd">
              <a:solidFill>
                <a:srgbClr val="E2E8F0"/>
              </a:solidFill>
              <a:round/>
            </a:ln>
          </p:spPr>
        </p:cxnSp>
        <p:sp>
          <p:nvSpPr>
            <p:cNvPr id="15" name="Text 15"/>
            <p:cNvSpPr txBox="1"/>
            <p:nvPr/>
          </p:nvSpPr>
          <p:spPr>
            <a:xfrm>
              <a:off x="3041407" y="5032947"/>
              <a:ext cx="25220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50</a:t>
              </a:r>
              <a:endParaRPr lang="en-US" sz="935" dirty="0"/>
            </a:p>
          </p:txBody>
        </p:sp>
        <p:cxnSp>
          <p:nvCxnSpPr>
            <p:cNvPr id="16" name="Line 16"/>
            <p:cNvCxnSpPr/>
            <p:nvPr/>
          </p:nvCxnSpPr>
          <p:spPr>
            <a:xfrm>
              <a:off x="4565685" y="2545445"/>
              <a:ext cx="0" cy="2420541"/>
            </a:xfrm>
            <a:prstGeom prst="line">
              <a:avLst/>
            </a:prstGeom>
            <a:ln w="9049" cap="rnd">
              <a:solidFill>
                <a:srgbClr val="E2E8F0"/>
              </a:solidFill>
              <a:round/>
            </a:ln>
          </p:spPr>
        </p:cxnSp>
        <p:sp>
          <p:nvSpPr>
            <p:cNvPr id="17" name="Text 17"/>
            <p:cNvSpPr txBox="1"/>
            <p:nvPr/>
          </p:nvSpPr>
          <p:spPr>
            <a:xfrm>
              <a:off x="4416421" y="5032947"/>
              <a:ext cx="298528"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100</a:t>
              </a:r>
              <a:endParaRPr lang="en-US" sz="935" dirty="0"/>
            </a:p>
          </p:txBody>
        </p:sp>
        <p:cxnSp>
          <p:nvCxnSpPr>
            <p:cNvPr id="18" name="Line 18"/>
            <p:cNvCxnSpPr/>
            <p:nvPr/>
          </p:nvCxnSpPr>
          <p:spPr>
            <a:xfrm>
              <a:off x="5963858" y="2545445"/>
              <a:ext cx="0" cy="2420541"/>
            </a:xfrm>
            <a:prstGeom prst="line">
              <a:avLst/>
            </a:prstGeom>
            <a:ln w="9049" cap="rnd">
              <a:solidFill>
                <a:srgbClr val="E2E8F0"/>
              </a:solidFill>
              <a:round/>
            </a:ln>
          </p:spPr>
        </p:cxnSp>
        <p:sp>
          <p:nvSpPr>
            <p:cNvPr id="19" name="Text 19"/>
            <p:cNvSpPr txBox="1"/>
            <p:nvPr/>
          </p:nvSpPr>
          <p:spPr>
            <a:xfrm>
              <a:off x="5814594" y="5032947"/>
              <a:ext cx="298528"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150</a:t>
              </a:r>
              <a:endParaRPr lang="en-US" sz="935" dirty="0"/>
            </a:p>
          </p:txBody>
        </p:sp>
        <p:cxnSp>
          <p:nvCxnSpPr>
            <p:cNvPr id="20" name="Line 20"/>
            <p:cNvCxnSpPr/>
            <p:nvPr/>
          </p:nvCxnSpPr>
          <p:spPr>
            <a:xfrm>
              <a:off x="7362031" y="2545445"/>
              <a:ext cx="0" cy="2420541"/>
            </a:xfrm>
            <a:prstGeom prst="line">
              <a:avLst/>
            </a:prstGeom>
            <a:ln w="9049" cap="rnd">
              <a:solidFill>
                <a:srgbClr val="E2E8F0"/>
              </a:solidFill>
              <a:round/>
            </a:ln>
          </p:spPr>
        </p:cxnSp>
        <p:sp>
          <p:nvSpPr>
            <p:cNvPr id="21" name="Text 21"/>
            <p:cNvSpPr txBox="1"/>
            <p:nvPr/>
          </p:nvSpPr>
          <p:spPr>
            <a:xfrm>
              <a:off x="7191924" y="5032947"/>
              <a:ext cx="340214"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200</a:t>
              </a:r>
              <a:endParaRPr lang="en-US" sz="935" dirty="0"/>
            </a:p>
          </p:txBody>
        </p:sp>
        <p:sp>
          <p:nvSpPr>
            <p:cNvPr id="22" name="Text 22"/>
            <p:cNvSpPr txBox="1"/>
            <p:nvPr/>
          </p:nvSpPr>
          <p:spPr>
            <a:xfrm>
              <a:off x="1043053" y="2640909"/>
              <a:ext cx="590554"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Ollama</a:t>
              </a:r>
              <a:endParaRPr lang="en-US" sz="980" dirty="0"/>
            </a:p>
          </p:txBody>
        </p:sp>
        <p:sp>
          <p:nvSpPr>
            <p:cNvPr id="23" name="Rect 23"/>
            <p:cNvSpPr/>
            <p:nvPr/>
          </p:nvSpPr>
          <p:spPr>
            <a:xfrm>
              <a:off x="1769338" y="2613311"/>
              <a:ext cx="5086554" cy="180975"/>
            </a:xfrm>
            <a:prstGeom prst="roundRect">
              <a:avLst>
                <a:gd name="adj" fmla="val 18750"/>
              </a:avLst>
            </a:prstGeom>
            <a:solidFill>
              <a:srgbClr val="4F46E5"/>
            </a:solidFill>
            <a:ln>
              <a:noFill/>
            </a:ln>
          </p:spPr>
        </p:sp>
        <p:sp>
          <p:nvSpPr>
            <p:cNvPr id="24" name="Text 24"/>
            <p:cNvSpPr txBox="1"/>
            <p:nvPr/>
          </p:nvSpPr>
          <p:spPr>
            <a:xfrm>
              <a:off x="6923758" y="2632766"/>
              <a:ext cx="391164"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181.9</a:t>
              </a:r>
              <a:endParaRPr lang="en-US" sz="935" dirty="0"/>
            </a:p>
          </p:txBody>
        </p:sp>
        <p:sp>
          <p:nvSpPr>
            <p:cNvPr id="25" name="Text 25"/>
            <p:cNvSpPr txBox="1"/>
            <p:nvPr/>
          </p:nvSpPr>
          <p:spPr>
            <a:xfrm>
              <a:off x="1115839" y="2980238"/>
              <a:ext cx="517768"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vLLM</a:t>
              </a:r>
              <a:endParaRPr lang="en-US" sz="980" dirty="0"/>
            </a:p>
          </p:txBody>
        </p:sp>
        <p:sp>
          <p:nvSpPr>
            <p:cNvPr id="26" name="Rect 26"/>
            <p:cNvSpPr/>
            <p:nvPr/>
          </p:nvSpPr>
          <p:spPr>
            <a:xfrm>
              <a:off x="1769338" y="2952639"/>
              <a:ext cx="2600602" cy="180975"/>
            </a:xfrm>
            <a:prstGeom prst="roundRect">
              <a:avLst>
                <a:gd name="adj" fmla="val 18750"/>
              </a:avLst>
            </a:prstGeom>
            <a:solidFill>
              <a:srgbClr val="4F46E5"/>
            </a:solidFill>
            <a:ln>
              <a:noFill/>
            </a:ln>
          </p:spPr>
        </p:sp>
        <p:sp>
          <p:nvSpPr>
            <p:cNvPr id="27" name="Text 27"/>
            <p:cNvSpPr txBox="1"/>
            <p:nvPr/>
          </p:nvSpPr>
          <p:spPr>
            <a:xfrm>
              <a:off x="4437806" y="2972094"/>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93</a:t>
              </a:r>
              <a:endParaRPr lang="en-US" sz="935" dirty="0"/>
            </a:p>
          </p:txBody>
        </p:sp>
        <p:sp>
          <p:nvSpPr>
            <p:cNvPr id="28" name="Text 28"/>
            <p:cNvSpPr txBox="1"/>
            <p:nvPr/>
          </p:nvSpPr>
          <p:spPr>
            <a:xfrm>
              <a:off x="931448" y="3319566"/>
              <a:ext cx="702159"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SGLang</a:t>
              </a:r>
              <a:endParaRPr lang="en-US" sz="980" dirty="0"/>
            </a:p>
          </p:txBody>
        </p:sp>
        <p:sp>
          <p:nvSpPr>
            <p:cNvPr id="29" name="Rect 29"/>
            <p:cNvSpPr/>
            <p:nvPr/>
          </p:nvSpPr>
          <p:spPr>
            <a:xfrm>
              <a:off x="1769338" y="3291967"/>
              <a:ext cx="1023463" cy="180975"/>
            </a:xfrm>
            <a:prstGeom prst="roundRect">
              <a:avLst>
                <a:gd name="adj" fmla="val 18750"/>
              </a:avLst>
            </a:prstGeom>
            <a:solidFill>
              <a:srgbClr val="4F46E5"/>
            </a:solidFill>
            <a:ln>
              <a:noFill/>
            </a:ln>
          </p:spPr>
        </p:sp>
        <p:sp>
          <p:nvSpPr>
            <p:cNvPr id="30" name="Text 30"/>
            <p:cNvSpPr txBox="1"/>
            <p:nvPr/>
          </p:nvSpPr>
          <p:spPr>
            <a:xfrm>
              <a:off x="2860667" y="3311422"/>
              <a:ext cx="386533"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36.6</a:t>
              </a:r>
              <a:endParaRPr lang="en-US" sz="935" dirty="0"/>
            </a:p>
          </p:txBody>
        </p:sp>
        <p:sp>
          <p:nvSpPr>
            <p:cNvPr id="31" name="Text 31"/>
            <p:cNvSpPr txBox="1"/>
            <p:nvPr/>
          </p:nvSpPr>
          <p:spPr>
            <a:xfrm>
              <a:off x="955710" y="3658894"/>
              <a:ext cx="677897"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KServe</a:t>
              </a:r>
              <a:endParaRPr lang="en-US" sz="980" dirty="0"/>
            </a:p>
          </p:txBody>
        </p:sp>
        <p:sp>
          <p:nvSpPr>
            <p:cNvPr id="32" name="Rect 32"/>
            <p:cNvSpPr/>
            <p:nvPr/>
          </p:nvSpPr>
          <p:spPr>
            <a:xfrm>
              <a:off x="1769338" y="3631295"/>
              <a:ext cx="170577" cy="180975"/>
            </a:xfrm>
            <a:prstGeom prst="roundRect">
              <a:avLst>
                <a:gd name="adj" fmla="val 19892"/>
              </a:avLst>
            </a:prstGeom>
            <a:solidFill>
              <a:srgbClr val="4F46E5"/>
            </a:solidFill>
            <a:ln>
              <a:noFill/>
            </a:ln>
          </p:spPr>
        </p:sp>
        <p:sp>
          <p:nvSpPr>
            <p:cNvPr id="33" name="Text 33"/>
            <p:cNvSpPr txBox="1"/>
            <p:nvPr/>
          </p:nvSpPr>
          <p:spPr>
            <a:xfrm>
              <a:off x="2007781" y="3650750"/>
              <a:ext cx="256841"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6.1</a:t>
              </a:r>
              <a:endParaRPr lang="en-US" sz="935" dirty="0"/>
            </a:p>
          </p:txBody>
        </p:sp>
        <p:sp>
          <p:nvSpPr>
            <p:cNvPr id="34" name="Text 34"/>
            <p:cNvSpPr txBox="1"/>
            <p:nvPr/>
          </p:nvSpPr>
          <p:spPr>
            <a:xfrm>
              <a:off x="1159511" y="3998222"/>
              <a:ext cx="474096"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llm-d</a:t>
              </a:r>
              <a:endParaRPr lang="en-US" sz="980" dirty="0"/>
            </a:p>
          </p:txBody>
        </p:sp>
        <p:sp>
          <p:nvSpPr>
            <p:cNvPr id="35" name="Rect 35"/>
            <p:cNvSpPr/>
            <p:nvPr/>
          </p:nvSpPr>
          <p:spPr>
            <a:xfrm>
              <a:off x="1769338" y="3970623"/>
              <a:ext cx="131428" cy="180975"/>
            </a:xfrm>
            <a:prstGeom prst="roundRect">
              <a:avLst>
                <a:gd name="adj" fmla="val 25818"/>
              </a:avLst>
            </a:prstGeom>
            <a:solidFill>
              <a:srgbClr val="4F46E5"/>
            </a:solidFill>
            <a:ln>
              <a:noFill/>
            </a:ln>
          </p:spPr>
        </p:sp>
        <p:sp>
          <p:nvSpPr>
            <p:cNvPr id="36" name="Text 36"/>
            <p:cNvSpPr txBox="1"/>
            <p:nvPr/>
          </p:nvSpPr>
          <p:spPr>
            <a:xfrm>
              <a:off x="1968632" y="3990078"/>
              <a:ext cx="298528"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4.7</a:t>
              </a:r>
              <a:endParaRPr lang="en-US" sz="935" dirty="0"/>
            </a:p>
          </p:txBody>
        </p:sp>
        <p:sp>
          <p:nvSpPr>
            <p:cNvPr id="37" name="Text 37"/>
            <p:cNvSpPr txBox="1"/>
            <p:nvPr/>
          </p:nvSpPr>
          <p:spPr>
            <a:xfrm>
              <a:off x="1072168" y="4337550"/>
              <a:ext cx="561439"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Kueue</a:t>
              </a:r>
              <a:endParaRPr lang="en-US" sz="980" dirty="0"/>
            </a:p>
          </p:txBody>
        </p:sp>
        <p:sp>
          <p:nvSpPr>
            <p:cNvPr id="38" name="Rect 38"/>
            <p:cNvSpPr/>
            <p:nvPr/>
          </p:nvSpPr>
          <p:spPr>
            <a:xfrm>
              <a:off x="1769338" y="4309951"/>
              <a:ext cx="83890" cy="180975"/>
            </a:xfrm>
            <a:prstGeom prst="roundRect">
              <a:avLst>
                <a:gd name="adj" fmla="val 40448"/>
              </a:avLst>
            </a:prstGeom>
            <a:solidFill>
              <a:srgbClr val="4F46E5"/>
            </a:solidFill>
            <a:ln>
              <a:noFill/>
            </a:ln>
          </p:spPr>
        </p:sp>
        <p:sp>
          <p:nvSpPr>
            <p:cNvPr id="39" name="Text 39"/>
            <p:cNvSpPr txBox="1"/>
            <p:nvPr/>
          </p:nvSpPr>
          <p:spPr>
            <a:xfrm>
              <a:off x="1921094" y="4329406"/>
              <a:ext cx="164205"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3</a:t>
              </a:r>
              <a:endParaRPr lang="en-US" sz="935" dirty="0"/>
            </a:p>
          </p:txBody>
        </p:sp>
        <p:sp>
          <p:nvSpPr>
            <p:cNvPr id="40" name="Text 40"/>
            <p:cNvSpPr txBox="1"/>
            <p:nvPr/>
          </p:nvSpPr>
          <p:spPr>
            <a:xfrm>
              <a:off x="417095" y="4676878"/>
              <a:ext cx="1216512"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KAI Scheduler</a:t>
              </a:r>
              <a:endParaRPr lang="en-US" sz="980" dirty="0"/>
            </a:p>
          </p:txBody>
        </p:sp>
        <p:sp>
          <p:nvSpPr>
            <p:cNvPr id="41" name="Rect 41"/>
            <p:cNvSpPr/>
            <p:nvPr/>
          </p:nvSpPr>
          <p:spPr>
            <a:xfrm>
              <a:off x="1769338" y="4649280"/>
              <a:ext cx="41945" cy="180975"/>
            </a:xfrm>
            <a:prstGeom prst="roundRect">
              <a:avLst>
                <a:gd name="adj" fmla="val 50000"/>
              </a:avLst>
            </a:prstGeom>
            <a:solidFill>
              <a:srgbClr val="4F46E5"/>
            </a:solidFill>
            <a:ln>
              <a:noFill/>
            </a:ln>
          </p:spPr>
        </p:sp>
        <p:sp>
          <p:nvSpPr>
            <p:cNvPr id="42" name="Text 42"/>
            <p:cNvSpPr txBox="1"/>
            <p:nvPr/>
          </p:nvSpPr>
          <p:spPr>
            <a:xfrm>
              <a:off x="1879149" y="4668734"/>
              <a:ext cx="256841"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1.5</a:t>
              </a:r>
              <a:endParaRPr lang="en-US" sz="935" dirty="0"/>
            </a:p>
          </p:txBody>
        </p:sp>
      </p:grpSp>
      <p:sp>
        <p:nvSpPr>
          <p:cNvPr id="43" name="Text 43"/>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[26], [32], [52], [53], [54], [55], [56], [57], [58]. Data as of 2026-09-30. Point-in-time GitHub counts. Not shown: LeaderWorkerSet 846 and GAIE 775 stars.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 · FIGURE 5</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Open 'good first issue' counts by repository</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18</a:t>
            </a:r>
            <a:endParaRPr lang="en-US" sz="850" dirty="0"/>
          </a:p>
        </p:txBody>
      </p:sp>
      <p:sp>
        <p:nvSpPr>
          <p:cNvPr id="8" name="Text 8"/>
          <p:cNvSpPr txBox="1"/>
          <p:nvPr/>
        </p:nvSpPr>
        <p:spPr>
          <a:xfrm>
            <a:off x="711200" y="1446784"/>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dirty="0">
                <a:solidFill>
                  <a:srgbClr val="64748B"/>
                </a:solidFill>
                <a:latin typeface="Arial"/>
                <a:cs typeface="Arial"/>
              </a:rPr>
              <a:t>open issues</a:t>
            </a:r>
            <a:endParaRPr lang="en-US" sz="1100" dirty="0"/>
          </a:p>
        </p:txBody>
      </p:sp>
      <p:sp>
        <p:nvSpPr>
          <p:cNvPr id="9" name="Shape 9"/>
          <p:cNvSpPr/>
          <p:nvPr/>
        </p:nvSpPr>
        <p:spPr>
          <a:xfrm>
            <a:off x="8305800" y="1751584"/>
            <a:ext cx="3175000" cy="4192016"/>
          </a:xfrm>
          <a:prstGeom prst="roundRect">
            <a:avLst>
              <a:gd name="adj" fmla="val 4800"/>
            </a:avLst>
          </a:prstGeom>
          <a:solidFill>
            <a:srgbClr val="F6F6FE"/>
          </a:solidFill>
          <a:ln>
            <a:noFill/>
          </a:ln>
        </p:spPr>
      </p:sp>
      <p:sp>
        <p:nvSpPr>
          <p:cNvPr id="10" name="Text 10"/>
          <p:cNvSpPr txBox="1"/>
          <p:nvPr/>
        </p:nvSpPr>
        <p:spPr>
          <a:xfrm>
            <a:off x="8534400" y="1980184"/>
            <a:ext cx="2717800" cy="3734816"/>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Labelled entry points are sparse everywhere, and the inference control plane has the fewest.</a:t>
            </a:r>
            <a:endParaRPr lang="en-US" sz="1300" dirty="0"/>
          </a:p>
        </p:txBody>
      </p:sp>
      <p:grpSp>
        <p:nvGrpSpPr>
          <p:cNvPr id="11" name="Figure 11"/>
          <p:cNvGrpSpPr/>
          <p:nvPr/>
        </p:nvGrpSpPr>
        <p:grpSpPr>
          <a:xfrm>
            <a:off x="711200" y="2454958"/>
            <a:ext cx="7239000" cy="2759869"/>
            <a:chOff x="711200" y="2454958"/>
            <a:chExt cx="7239000" cy="2759869"/>
          </a:xfrm>
        </p:grpSpPr>
        <p:cxnSp>
          <p:nvCxnSpPr>
            <p:cNvPr id="12" name="Line 12"/>
            <p:cNvCxnSpPr/>
            <p:nvPr/>
          </p:nvCxnSpPr>
          <p:spPr>
            <a:xfrm>
              <a:off x="1694686" y="2545445"/>
              <a:ext cx="0" cy="2420541"/>
            </a:xfrm>
            <a:prstGeom prst="line">
              <a:avLst/>
            </a:prstGeom>
            <a:ln w="11311" cap="rnd">
              <a:solidFill>
                <a:srgbClr val="94A3B8"/>
              </a:solidFill>
              <a:round/>
            </a:ln>
          </p:spPr>
        </p:cxnSp>
        <p:sp>
          <p:nvSpPr>
            <p:cNvPr id="13" name="Text 13"/>
            <p:cNvSpPr txBox="1"/>
            <p:nvPr/>
          </p:nvSpPr>
          <p:spPr>
            <a:xfrm>
              <a:off x="1612584" y="5032947"/>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0</a:t>
              </a:r>
              <a:endParaRPr lang="en-US" sz="935" dirty="0"/>
            </a:p>
          </p:txBody>
        </p:sp>
        <p:cxnSp>
          <p:nvCxnSpPr>
            <p:cNvPr id="14" name="Line 14"/>
            <p:cNvCxnSpPr/>
            <p:nvPr/>
          </p:nvCxnSpPr>
          <p:spPr>
            <a:xfrm>
              <a:off x="2828155" y="2545445"/>
              <a:ext cx="0" cy="2420541"/>
            </a:xfrm>
            <a:prstGeom prst="line">
              <a:avLst/>
            </a:prstGeom>
            <a:ln w="9049" cap="rnd">
              <a:solidFill>
                <a:srgbClr val="E2E8F0"/>
              </a:solidFill>
              <a:round/>
            </a:ln>
          </p:spPr>
        </p:cxnSp>
        <p:sp>
          <p:nvSpPr>
            <p:cNvPr id="15" name="Text 15"/>
            <p:cNvSpPr txBox="1"/>
            <p:nvPr/>
          </p:nvSpPr>
          <p:spPr>
            <a:xfrm>
              <a:off x="2746053" y="5032947"/>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2</a:t>
              </a:r>
              <a:endParaRPr lang="en-US" sz="935" dirty="0"/>
            </a:p>
          </p:txBody>
        </p:sp>
        <p:cxnSp>
          <p:nvCxnSpPr>
            <p:cNvPr id="16" name="Line 16"/>
            <p:cNvCxnSpPr/>
            <p:nvPr/>
          </p:nvCxnSpPr>
          <p:spPr>
            <a:xfrm>
              <a:off x="3961624" y="2545445"/>
              <a:ext cx="0" cy="2420541"/>
            </a:xfrm>
            <a:prstGeom prst="line">
              <a:avLst/>
            </a:prstGeom>
            <a:ln w="9049" cap="rnd">
              <a:solidFill>
                <a:srgbClr val="E2E8F0"/>
              </a:solidFill>
              <a:round/>
            </a:ln>
          </p:spPr>
        </p:cxnSp>
        <p:sp>
          <p:nvSpPr>
            <p:cNvPr id="17" name="Text 17"/>
            <p:cNvSpPr txBox="1"/>
            <p:nvPr/>
          </p:nvSpPr>
          <p:spPr>
            <a:xfrm>
              <a:off x="3879522" y="5032947"/>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4</a:t>
              </a:r>
              <a:endParaRPr lang="en-US" sz="935" dirty="0"/>
            </a:p>
          </p:txBody>
        </p:sp>
        <p:cxnSp>
          <p:nvCxnSpPr>
            <p:cNvPr id="18" name="Line 18"/>
            <p:cNvCxnSpPr/>
            <p:nvPr/>
          </p:nvCxnSpPr>
          <p:spPr>
            <a:xfrm>
              <a:off x="5095093" y="2545445"/>
              <a:ext cx="0" cy="2420541"/>
            </a:xfrm>
            <a:prstGeom prst="line">
              <a:avLst/>
            </a:prstGeom>
            <a:ln w="9049" cap="rnd">
              <a:solidFill>
                <a:srgbClr val="E2E8F0"/>
              </a:solidFill>
              <a:round/>
            </a:ln>
          </p:spPr>
        </p:cxnSp>
        <p:sp>
          <p:nvSpPr>
            <p:cNvPr id="19" name="Text 19"/>
            <p:cNvSpPr txBox="1"/>
            <p:nvPr/>
          </p:nvSpPr>
          <p:spPr>
            <a:xfrm>
              <a:off x="5012991" y="5032947"/>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6</a:t>
              </a:r>
              <a:endParaRPr lang="en-US" sz="935" dirty="0"/>
            </a:p>
          </p:txBody>
        </p:sp>
        <p:cxnSp>
          <p:nvCxnSpPr>
            <p:cNvPr id="20" name="Line 20"/>
            <p:cNvCxnSpPr/>
            <p:nvPr/>
          </p:nvCxnSpPr>
          <p:spPr>
            <a:xfrm>
              <a:off x="6228562" y="2545445"/>
              <a:ext cx="0" cy="2420541"/>
            </a:xfrm>
            <a:prstGeom prst="line">
              <a:avLst/>
            </a:prstGeom>
            <a:ln w="9049" cap="rnd">
              <a:solidFill>
                <a:srgbClr val="E2E8F0"/>
              </a:solidFill>
              <a:round/>
            </a:ln>
          </p:spPr>
        </p:cxnSp>
        <p:sp>
          <p:nvSpPr>
            <p:cNvPr id="21" name="Text 21"/>
            <p:cNvSpPr txBox="1"/>
            <p:nvPr/>
          </p:nvSpPr>
          <p:spPr>
            <a:xfrm>
              <a:off x="6146460" y="5032947"/>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8</a:t>
              </a:r>
              <a:endParaRPr lang="en-US" sz="935" dirty="0"/>
            </a:p>
          </p:txBody>
        </p:sp>
        <p:cxnSp>
          <p:nvCxnSpPr>
            <p:cNvPr id="22" name="Line 22"/>
            <p:cNvCxnSpPr/>
            <p:nvPr/>
          </p:nvCxnSpPr>
          <p:spPr>
            <a:xfrm>
              <a:off x="7362031" y="2545445"/>
              <a:ext cx="0" cy="2420541"/>
            </a:xfrm>
            <a:prstGeom prst="line">
              <a:avLst/>
            </a:prstGeom>
            <a:ln w="9049" cap="rnd">
              <a:solidFill>
                <a:srgbClr val="E2E8F0"/>
              </a:solidFill>
              <a:round/>
            </a:ln>
          </p:spPr>
        </p:cxnSp>
        <p:sp>
          <p:nvSpPr>
            <p:cNvPr id="23" name="Text 23"/>
            <p:cNvSpPr txBox="1"/>
            <p:nvPr/>
          </p:nvSpPr>
          <p:spPr>
            <a:xfrm>
              <a:off x="7256770" y="5032947"/>
              <a:ext cx="210523"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10</a:t>
              </a:r>
              <a:endParaRPr lang="en-US" sz="935" dirty="0"/>
            </a:p>
          </p:txBody>
        </p:sp>
        <p:sp>
          <p:nvSpPr>
            <p:cNvPr id="24" name="Text 24"/>
            <p:cNvSpPr txBox="1"/>
            <p:nvPr/>
          </p:nvSpPr>
          <p:spPr>
            <a:xfrm>
              <a:off x="1041187" y="2640909"/>
              <a:ext cx="517768"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vLLM</a:t>
              </a:r>
              <a:endParaRPr lang="en-US" sz="980" dirty="0"/>
            </a:p>
          </p:txBody>
        </p:sp>
        <p:sp>
          <p:nvSpPr>
            <p:cNvPr id="25" name="Rect 25"/>
            <p:cNvSpPr/>
            <p:nvPr/>
          </p:nvSpPr>
          <p:spPr>
            <a:xfrm>
              <a:off x="1694686" y="2613311"/>
              <a:ext cx="5667345" cy="180975"/>
            </a:xfrm>
            <a:prstGeom prst="roundRect">
              <a:avLst>
                <a:gd name="adj" fmla="val 18750"/>
              </a:avLst>
            </a:prstGeom>
            <a:solidFill>
              <a:srgbClr val="4F46E5"/>
            </a:solidFill>
            <a:ln>
              <a:noFill/>
            </a:ln>
          </p:spPr>
        </p:sp>
        <p:sp>
          <p:nvSpPr>
            <p:cNvPr id="26" name="Text 26"/>
            <p:cNvSpPr txBox="1"/>
            <p:nvPr/>
          </p:nvSpPr>
          <p:spPr>
            <a:xfrm>
              <a:off x="7429897" y="2632766"/>
              <a:ext cx="210523"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10</a:t>
              </a:r>
              <a:endParaRPr lang="en-US" sz="935" dirty="0"/>
            </a:p>
          </p:txBody>
        </p:sp>
        <p:sp>
          <p:nvSpPr>
            <p:cNvPr id="27" name="Text 27"/>
            <p:cNvSpPr txBox="1"/>
            <p:nvPr/>
          </p:nvSpPr>
          <p:spPr>
            <a:xfrm>
              <a:off x="997516" y="2980238"/>
              <a:ext cx="561439"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Kueue</a:t>
              </a:r>
              <a:endParaRPr lang="en-US" sz="980" dirty="0"/>
            </a:p>
          </p:txBody>
        </p:sp>
        <p:sp>
          <p:nvSpPr>
            <p:cNvPr id="28" name="Rect 28"/>
            <p:cNvSpPr/>
            <p:nvPr/>
          </p:nvSpPr>
          <p:spPr>
            <a:xfrm>
              <a:off x="1694686" y="2952639"/>
              <a:ext cx="2266938" cy="180975"/>
            </a:xfrm>
            <a:prstGeom prst="roundRect">
              <a:avLst>
                <a:gd name="adj" fmla="val 18750"/>
              </a:avLst>
            </a:prstGeom>
            <a:solidFill>
              <a:srgbClr val="4F46E5"/>
            </a:solidFill>
            <a:ln>
              <a:noFill/>
            </a:ln>
          </p:spPr>
        </p:sp>
        <p:sp>
          <p:nvSpPr>
            <p:cNvPr id="29" name="Text 29"/>
            <p:cNvSpPr txBox="1"/>
            <p:nvPr/>
          </p:nvSpPr>
          <p:spPr>
            <a:xfrm>
              <a:off x="4029490" y="2972094"/>
              <a:ext cx="164205"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4</a:t>
              </a:r>
              <a:endParaRPr lang="en-US" sz="935" dirty="0"/>
            </a:p>
          </p:txBody>
        </p:sp>
        <p:sp>
          <p:nvSpPr>
            <p:cNvPr id="30" name="Text 30"/>
            <p:cNvSpPr txBox="1"/>
            <p:nvPr/>
          </p:nvSpPr>
          <p:spPr>
            <a:xfrm>
              <a:off x="968401" y="3319566"/>
              <a:ext cx="590554"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Ollama</a:t>
              </a:r>
              <a:endParaRPr lang="en-US" sz="980" dirty="0"/>
            </a:p>
          </p:txBody>
        </p:sp>
        <p:sp>
          <p:nvSpPr>
            <p:cNvPr id="31" name="Rect 31"/>
            <p:cNvSpPr/>
            <p:nvPr/>
          </p:nvSpPr>
          <p:spPr>
            <a:xfrm>
              <a:off x="1694686" y="3291967"/>
              <a:ext cx="1700204" cy="180975"/>
            </a:xfrm>
            <a:prstGeom prst="roundRect">
              <a:avLst>
                <a:gd name="adj" fmla="val 18750"/>
              </a:avLst>
            </a:prstGeom>
            <a:solidFill>
              <a:srgbClr val="4F46E5"/>
            </a:solidFill>
            <a:ln>
              <a:noFill/>
            </a:ln>
          </p:spPr>
        </p:sp>
        <p:sp>
          <p:nvSpPr>
            <p:cNvPr id="32" name="Text 32"/>
            <p:cNvSpPr txBox="1"/>
            <p:nvPr/>
          </p:nvSpPr>
          <p:spPr>
            <a:xfrm>
              <a:off x="3462755" y="3311422"/>
              <a:ext cx="164205"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3</a:t>
              </a:r>
              <a:endParaRPr lang="en-US" sz="935" dirty="0"/>
            </a:p>
          </p:txBody>
        </p:sp>
        <p:sp>
          <p:nvSpPr>
            <p:cNvPr id="33" name="Text 33"/>
            <p:cNvSpPr txBox="1"/>
            <p:nvPr/>
          </p:nvSpPr>
          <p:spPr>
            <a:xfrm>
              <a:off x="439490" y="3658894"/>
              <a:ext cx="1119464"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llm-d-router</a:t>
              </a:r>
              <a:endParaRPr lang="en-US" sz="980" dirty="0"/>
            </a:p>
          </p:txBody>
        </p:sp>
        <p:sp>
          <p:nvSpPr>
            <p:cNvPr id="34" name="Rect 34"/>
            <p:cNvSpPr/>
            <p:nvPr/>
          </p:nvSpPr>
          <p:spPr>
            <a:xfrm>
              <a:off x="1694686" y="3631295"/>
              <a:ext cx="1700204" cy="180975"/>
            </a:xfrm>
            <a:prstGeom prst="roundRect">
              <a:avLst>
                <a:gd name="adj" fmla="val 18750"/>
              </a:avLst>
            </a:prstGeom>
            <a:solidFill>
              <a:srgbClr val="4F46E5"/>
            </a:solidFill>
            <a:ln>
              <a:noFill/>
            </a:ln>
          </p:spPr>
        </p:sp>
        <p:sp>
          <p:nvSpPr>
            <p:cNvPr id="35" name="Text 35"/>
            <p:cNvSpPr txBox="1"/>
            <p:nvPr/>
          </p:nvSpPr>
          <p:spPr>
            <a:xfrm>
              <a:off x="3462755" y="3650750"/>
              <a:ext cx="164205"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3</a:t>
              </a:r>
              <a:endParaRPr lang="en-US" sz="935" dirty="0"/>
            </a:p>
          </p:txBody>
        </p:sp>
        <p:sp>
          <p:nvSpPr>
            <p:cNvPr id="36" name="Text 36"/>
            <p:cNvSpPr txBox="1"/>
            <p:nvPr/>
          </p:nvSpPr>
          <p:spPr>
            <a:xfrm>
              <a:off x="881058" y="3998222"/>
              <a:ext cx="677897"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KServe</a:t>
              </a:r>
              <a:endParaRPr lang="en-US" sz="980" dirty="0"/>
            </a:p>
          </p:txBody>
        </p:sp>
        <p:sp>
          <p:nvSpPr>
            <p:cNvPr id="37" name="Rect 37"/>
            <p:cNvSpPr/>
            <p:nvPr/>
          </p:nvSpPr>
          <p:spPr>
            <a:xfrm>
              <a:off x="1694686" y="3970623"/>
              <a:ext cx="566735" cy="180975"/>
            </a:xfrm>
            <a:prstGeom prst="roundRect">
              <a:avLst>
                <a:gd name="adj" fmla="val 18750"/>
              </a:avLst>
            </a:prstGeom>
            <a:solidFill>
              <a:srgbClr val="4F46E5"/>
            </a:solidFill>
            <a:ln>
              <a:noFill/>
            </a:ln>
          </p:spPr>
        </p:sp>
        <p:sp>
          <p:nvSpPr>
            <p:cNvPr id="38" name="Text 38"/>
            <p:cNvSpPr txBox="1"/>
            <p:nvPr/>
          </p:nvSpPr>
          <p:spPr>
            <a:xfrm>
              <a:off x="2329286" y="3990078"/>
              <a:ext cx="122518"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1</a:t>
              </a:r>
              <a:endParaRPr lang="en-US" sz="935" dirty="0"/>
            </a:p>
          </p:txBody>
        </p:sp>
        <p:sp>
          <p:nvSpPr>
            <p:cNvPr id="39" name="Text 39"/>
            <p:cNvSpPr txBox="1"/>
            <p:nvPr/>
          </p:nvSpPr>
          <p:spPr>
            <a:xfrm>
              <a:off x="502572" y="4337550"/>
              <a:ext cx="1056383"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llm-d (main)</a:t>
              </a:r>
              <a:endParaRPr lang="en-US" sz="980" dirty="0"/>
            </a:p>
          </p:txBody>
        </p:sp>
        <p:sp>
          <p:nvSpPr>
            <p:cNvPr id="40" name="Rect 40"/>
            <p:cNvSpPr/>
            <p:nvPr/>
          </p:nvSpPr>
          <p:spPr>
            <a:xfrm>
              <a:off x="1694686" y="4309951"/>
              <a:ext cx="566735" cy="180975"/>
            </a:xfrm>
            <a:prstGeom prst="roundRect">
              <a:avLst>
                <a:gd name="adj" fmla="val 18750"/>
              </a:avLst>
            </a:prstGeom>
            <a:solidFill>
              <a:srgbClr val="4F46E5"/>
            </a:solidFill>
            <a:ln>
              <a:noFill/>
            </a:ln>
          </p:spPr>
        </p:sp>
        <p:sp>
          <p:nvSpPr>
            <p:cNvPr id="41" name="Text 41"/>
            <p:cNvSpPr txBox="1"/>
            <p:nvPr/>
          </p:nvSpPr>
          <p:spPr>
            <a:xfrm>
              <a:off x="2329286" y="4329406"/>
              <a:ext cx="122518"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1</a:t>
              </a:r>
              <a:endParaRPr lang="en-US" sz="935" dirty="0"/>
            </a:p>
          </p:txBody>
        </p:sp>
        <p:sp>
          <p:nvSpPr>
            <p:cNvPr id="42" name="Text 42"/>
            <p:cNvSpPr txBox="1"/>
            <p:nvPr/>
          </p:nvSpPr>
          <p:spPr>
            <a:xfrm>
              <a:off x="1084859" y="4676878"/>
              <a:ext cx="474096"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GAIE</a:t>
              </a:r>
              <a:endParaRPr lang="en-US" sz="980" dirty="0"/>
            </a:p>
          </p:txBody>
        </p:sp>
        <p:sp>
          <p:nvSpPr>
            <p:cNvPr id="43" name="Rect 43"/>
            <p:cNvSpPr/>
            <p:nvPr/>
          </p:nvSpPr>
          <p:spPr>
            <a:xfrm>
              <a:off x="1694686" y="4649280"/>
              <a:ext cx="5655" cy="180975"/>
            </a:xfrm>
            <a:prstGeom prst="roundRect">
              <a:avLst>
                <a:gd name="adj" fmla="val 50000"/>
              </a:avLst>
            </a:prstGeom>
            <a:solidFill>
              <a:srgbClr val="4F46E5"/>
            </a:solidFill>
            <a:ln>
              <a:noFill/>
            </a:ln>
          </p:spPr>
        </p:sp>
        <p:sp>
          <p:nvSpPr>
            <p:cNvPr id="44" name="Text 44"/>
            <p:cNvSpPr txBox="1"/>
            <p:nvPr/>
          </p:nvSpPr>
          <p:spPr>
            <a:xfrm>
              <a:off x="1762552" y="4668734"/>
              <a:ext cx="164205"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0</a:t>
              </a:r>
              <a:endParaRPr lang="en-US" sz="935" dirty="0"/>
            </a:p>
          </p:txBody>
        </p:sp>
      </p:grpSp>
      <p:sp>
        <p:nvSpPr>
          <p:cNvPr id="45" name="Text 45"/>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[33], [41], [42], [43], [44], [45], [46], [74]. Data as of 2026-09-30. GitHub label searches, 2026-09-30 (llm-d-router, September 2026). Not collected for LWS, KAI Scheduler or SGLang.</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 · TABLE 2</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LFX Insights health indicators, past 365 days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19</a:t>
            </a:r>
            <a:endParaRPr lang="en-US" sz="850" dirty="0"/>
          </a:p>
        </p:txBody>
      </p:sp>
      <p:graphicFrame>
        <p:nvGraphicFramePr>
          <p:cNvPr id="8" name="Table 8"/>
          <p:cNvGraphicFramePr>
            <a:graphicFrameLocks noGrp="1"/>
          </p:cNvGraphicFramePr>
          <p:nvPr/>
        </p:nvGraphicFramePr>
        <p:xfrm>
          <a:off x="711200" y="1700784"/>
          <a:ext cx="10769600" cy="1219200"/>
        </p:xfrm>
        <a:graphic>
          <a:graphicData uri="http://schemas.openxmlformats.org/drawingml/2006/table">
            <a:tbl>
              <a:tblPr firstRow="1"/>
              <a:tblGrid>
                <a:gridCol w="844675"/>
                <a:gridCol w="2006102"/>
                <a:gridCol w="3061945"/>
                <a:gridCol w="2111686"/>
                <a:gridCol w="2745192"/>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PROJECT</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HEALTH SCORE (/100)</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MAINTAINERS WITH MERGE RIGHTS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MEDIAN RESPONSE TIME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CONTRIBUTING ORGANISATIONS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llm-d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86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135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4 days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760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vLLM</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80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917</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3 days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5,591</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KServe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74</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41</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2 days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579</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LFX Insights says llm-d's release cadence has slowed and gives it a development-activity sub-score of 15/25</a:t>
            </a:r>
            <a:r>
              <a:rPr lang="en-US" sz="1250" baseline="30000" dirty="0">
                <a:solidFill>
                  <a:srgbClr val="64748B"/>
                </a:solidFill>
                <a:latin typeface="Arial"/>
                <a:cs typeface="Arial"/>
              </a:rPr>
              <a:t> 56,94,98,99,100</a:t>
            </a:r>
            <a:r>
              <a:rPr lang="en-US" sz="1250" dirty="0">
                <a:solidFill>
                  <a:srgbClr val="334155"/>
                </a:solidFill>
                <a:latin typeface="Arial"/>
                <a:cs typeface="Arial"/>
              </a:rPr>
              <a: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[98], [99], [100]. Data as of 2025-10 to 2026-09 (past 365 days). The exact window is not stated beyond 'past 365 days'. vLLM's 917 'maintainers with merge rights' has an unclear definition a…</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 · TABLE 3</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Community channels, meetings and 2026 mentoring by project</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20</a:t>
            </a:r>
            <a:endParaRPr lang="en-US" sz="850" dirty="0"/>
          </a:p>
        </p:txBody>
      </p:sp>
      <p:graphicFrame>
        <p:nvGraphicFramePr>
          <p:cNvPr id="8" name="Table 8"/>
          <p:cNvGraphicFramePr>
            <a:graphicFrameLocks noGrp="1"/>
          </p:cNvGraphicFramePr>
          <p:nvPr/>
        </p:nvGraphicFramePr>
        <p:xfrm>
          <a:off x="711200" y="2106168"/>
          <a:ext cx="10769600" cy="2011680"/>
        </p:xfrm>
        <a:graphic>
          <a:graphicData uri="http://schemas.openxmlformats.org/drawingml/2006/table">
            <a:tbl>
              <a:tblPr firstRow="1"/>
              <a:tblGrid>
                <a:gridCol w="1129678"/>
                <a:gridCol w="3464347"/>
                <a:gridCol w="3464347"/>
                <a:gridCol w="2711228"/>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PROJECT</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CHAT</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RECURRING MEETINGS</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2026 MENTORING (LFX / GSOC)</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Slack, including #sig-router, #sig-observability, #sig-installation</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Bi-weekly Wed 12:30 PM ET standup; SIGs weekly or bi-weekly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None run directly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GAIE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#gateway-api-inference-extension (Kubernetes Slack)</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Merged into llm-d Router meeting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None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KServe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Slack</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Not documented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Kubeflow GSoC: KServe Models Web App</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Kueue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#wg-batch, wg-batch mailing list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Not documented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Headlamp Kueue plugin (LFX)</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LeaderWorkerSet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#sig-apps (Kubernetes Slack)</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Not documented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Not documented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No reliable 12-month trend exists for contributor activity. OSS Insight's cumulative PR-creator series shows vLLM rising from 2,243 to 3,082 between October 2025 and August 2026, and Kueue from 204 to 256.</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[26], [31], [32], [33], [35], [39], [40], [52], [53], [54], [56], [57], [58], [62], [63], [64], [65], [106], [107], [108]. Data as of 2026-09.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 · TABLE 3</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Community channels, meetings and 2026 mentoring by project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21</a:t>
            </a:r>
            <a:endParaRPr lang="en-US" sz="850" dirty="0"/>
          </a:p>
        </p:txBody>
      </p:sp>
      <p:graphicFrame>
        <p:nvGraphicFramePr>
          <p:cNvPr id="8" name="Table 8"/>
          <p:cNvGraphicFramePr>
            <a:graphicFrameLocks noGrp="1"/>
          </p:cNvGraphicFramePr>
          <p:nvPr/>
        </p:nvGraphicFramePr>
        <p:xfrm>
          <a:off x="711200" y="2106168"/>
          <a:ext cx="10769600" cy="1005840"/>
        </p:xfrm>
        <a:graphic>
          <a:graphicData uri="http://schemas.openxmlformats.org/drawingml/2006/table">
            <a:tbl>
              <a:tblPr firstRow="1"/>
              <a:tblGrid>
                <a:gridCol w="1129678"/>
                <a:gridCol w="3464347"/>
                <a:gridCol w="3464347"/>
                <a:gridCol w="2711228"/>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PROJECT</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CHAT</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RECURRING MEETINGS</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2026 MENTORING (LFX / GSOC)</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KAI Scheduler</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#kai-scheduler (CNCF Slack)</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Bi-weekly Mon 17:00 CEST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None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vLLM</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slack.vllm.ai, discuss.vllm.ai</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Bi-weekly office hours; weekly SIG meetings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None run directly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[26], [31], [32], [33], [35], [39], [40], [52], [53], [54], [56], [57], [58], [62], [63], [64], [65], [106], [107], [108]. Data as of 2026-09.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PROJECT HEALTH AND NEWCOMER-FRIENDLINESS COMPARED</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Project health and newcomer-friendliness compared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22</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Structured mentoring exists only in adjacent projects. 2026 LFX terms included a Volcano KV-cache-aware scheduler e2e test suite, HAMi GPU observability dashboards and a Headlamp Kueue plugin</a:t>
            </a:r>
            <a:r>
              <a:rPr lang="en-US" sz="1700" baseline="30000" dirty="0">
                <a:solidFill>
                  <a:srgbClr val="64748B"/>
                </a:solidFill>
                <a:latin typeface="Arial"/>
                <a:cs typeface="Arial"/>
              </a:rPr>
              <a:t> 62</a:t>
            </a:r>
            <a:r>
              <a:rPr lang="en-US" sz="1700" dirty="0">
                <a:solidFill>
                  <a:srgbClr val="334155"/>
                </a:solidFill>
                <a:latin typeface="Arial"/>
                <a:cs typeface="Arial"/>
              </a:rPr>
              <a: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PROJECT PROFILES AND CONCRETE FIRST CONTRIBUTIONS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Project profiles and concrete first contributions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23</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1. llm-d: the Go core of Kubernetes-native inference</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llm-d has 7 listed maintainers: 3 from Red Hat, 2 from Google and 2 from IBM</a:t>
            </a:r>
            <a:r>
              <a:rPr lang="en-US" sz="1700" baseline="30000" dirty="0">
                <a:solidFill>
                  <a:srgbClr val="64748B"/>
                </a:solidFill>
                <a:latin typeface="Arial"/>
                <a:cs typeface="Arial"/>
              </a:rPr>
              <a:t> 79</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best place to start is llm-d-inference-sim. It imitates vLLM's TTFT and inter-token latency, emits KV-cache ZMQ events, exposes some of vLLM's Prometheus metrics and can inject failures, all without a GPU</a:t>
            </a:r>
            <a:r>
              <a:rPr lang="en-US" sz="1700" baseline="30000" dirty="0">
                <a:solidFill>
                  <a:srgbClr val="64748B"/>
                </a:solidFill>
                <a:latin typeface="Arial"/>
                <a:cs typeface="Arial"/>
              </a:rPr>
              <a:t> 109</a:t>
            </a:r>
            <a:r>
              <a:rPr lang="en-US" sz="1700" dirty="0">
                <a:solidFill>
                  <a:srgbClr val="334155"/>
                </a:solidFill>
                <a:latin typeface="Arial"/>
                <a:cs typeface="Arial"/>
              </a:rPr>
              <a:t>.</a:t>
            </a:r>
            <a:endParaRPr lang="en-US" sz="1700" dirty="0"/>
          </a:p>
          <a:p>
            <a:pPr algn="l">
              <a:lnSpc>
                <a:spcPct val="112000"/>
              </a:lnSpc>
              <a:spcBef>
                <a:spcPts val="0"/>
              </a:spcBef>
              <a:spcAft>
                <a:spcPts val="594"/>
              </a:spcAft>
              <a:buNone/>
            </a:pPr>
            <a:r>
              <a:rPr lang="en-US" sz="1564" b="1" dirty="0">
                <a:solidFill>
                  <a:srgbClr val="4F46E5"/>
                </a:solidFill>
                <a:latin typeface="Arial"/>
                <a:cs typeface="Arial"/>
              </a:rPr>
              <a:t>2. KServe: controllers and Helm with a clear career signal</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KServe had 19 maintainers and 300+ contributors when it moved to incubation (announced 2025-11-11)</a:t>
            </a:r>
            <a:r>
              <a:rPr lang="en-US" sz="1700" baseline="30000" dirty="0">
                <a:solidFill>
                  <a:srgbClr val="64748B"/>
                </a:solidFill>
                <a:latin typeface="Arial"/>
                <a:cs typeface="Arial"/>
              </a:rPr>
              <a:t> 80,81</a:t>
            </a:r>
            <a:r>
              <a:rPr lang="en-US" sz="1700" dirty="0">
                <a:solidFill>
                  <a:srgbClr val="334155"/>
                </a:solidFill>
                <a:latin typeface="Arial"/>
                <a:cs typeface="Arial"/>
              </a:rPr>
              <a: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PROJECT PROFILES AND CONCRETE FIRST CONTRIBUTIONS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Project profiles and concrete first contributions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24</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3. Kueue and LeaderWorkerSet: the easiest Go pull requests</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Kueue's open good-first-issues include ProvisioningRequest docs (#5172), kueue-viz configuration (#3880) and SLSA attestations (#1466)</a:t>
            </a:r>
            <a:r>
              <a:rPr lang="en-US" sz="1700" baseline="30000" dirty="0">
                <a:solidFill>
                  <a:srgbClr val="64748B"/>
                </a:solidFill>
                <a:latin typeface="Arial"/>
                <a:cs typeface="Arial"/>
              </a:rPr>
              <a:t> 41,42,43,44,45,46</a:t>
            </a:r>
            <a:r>
              <a:rPr lang="en-US" sz="1700" dirty="0">
                <a:solidFill>
                  <a:srgbClr val="334155"/>
                </a:solidFill>
                <a:latin typeface="Arial"/>
                <a:cs typeface="Arial"/>
              </a:rPr>
              <a:t>.</a:t>
            </a:r>
            <a:endParaRPr lang="en-US" sz="1700" dirty="0"/>
          </a:p>
          <a:p>
            <a:pPr algn="l">
              <a:lnSpc>
                <a:spcPct val="112000"/>
              </a:lnSpc>
              <a:spcBef>
                <a:spcPts val="0"/>
              </a:spcBef>
              <a:spcAft>
                <a:spcPts val="594"/>
              </a:spcAft>
              <a:buNone/>
            </a:pPr>
            <a:r>
              <a:rPr lang="en-US" sz="1564" b="1" dirty="0">
                <a:solidFill>
                  <a:srgbClr val="4F46E5"/>
                </a:solidFill>
                <a:latin typeface="Arial"/>
                <a:cs typeface="Arial"/>
              </a:rPr>
              <a:t>4. KAI Scheduler: for GPU scheduling roles</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KAI Scheduler provides gang scheduling and hierarchical queues with DRF, and has been tested on clusters of more than 10,000 GPUs.</a:t>
            </a:r>
            <a:endParaRPr lang="en-US" sz="1700" dirty="0"/>
          </a:p>
          <a:p>
            <a:pPr algn="l">
              <a:lnSpc>
                <a:spcPct val="112000"/>
              </a:lnSpc>
              <a:spcBef>
                <a:spcPts val="0"/>
              </a:spcBef>
              <a:spcAft>
                <a:spcPts val="594"/>
              </a:spcAft>
              <a:buNone/>
            </a:pPr>
            <a:r>
              <a:rPr lang="en-US" sz="1564" b="1" dirty="0">
                <a:solidFill>
                  <a:srgbClr val="4F46E5"/>
                </a:solidFill>
                <a:latin typeface="Arial"/>
                <a:cs typeface="Arial"/>
              </a:rPr>
              <a:t>5. vLLM: contribute at the edges, learn from the core</a:t>
            </a:r>
            <a:endParaRPr lang="en-US" sz="1564"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PROJECT PROFILES AND CONCRETE FIRST CONTRIBUTIONS · TABLE 4</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Concrete first-contribution targets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25</a:t>
            </a:r>
            <a:endParaRPr lang="en-US" sz="850" dirty="0"/>
          </a:p>
        </p:txBody>
      </p:sp>
      <p:graphicFrame>
        <p:nvGraphicFramePr>
          <p:cNvPr id="8" name="Table 8"/>
          <p:cNvGraphicFramePr>
            <a:graphicFrameLocks noGrp="1"/>
          </p:cNvGraphicFramePr>
          <p:nvPr/>
        </p:nvGraphicFramePr>
        <p:xfrm>
          <a:off x="711200" y="1700784"/>
          <a:ext cx="10769600" cy="3352800"/>
        </p:xfrm>
        <a:graphic>
          <a:graphicData uri="http://schemas.openxmlformats.org/drawingml/2006/table">
            <a:tbl>
              <a:tblPr firstRow="1"/>
              <a:tblGrid>
                <a:gridCol w="2261616"/>
                <a:gridCol w="4954016"/>
                <a:gridCol w="2692400"/>
                <a:gridCol w="861568"/>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REPOSITORY</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TARGET</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TYPE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ML LEVEL</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llm-d/llm-d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#1525 guides: request draining (opened 2026-05-16)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Docs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llm-d-inference-sim</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CI/e2e and failure-injection scenarios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Testing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llm-d-router / Helm</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Missing spans, Collector recipes for a backend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Observability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llm-d-autoscaling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Follow the OTel pattern from #1272 (now closed)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Go observability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 dashboards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Update alerts for the llm_d_epp_* rename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Prometheus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kserve/kserve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#6260 (opened 2026-09-21); LLMInferenceService e2e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Controller, testing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1–2</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kubernetes-sigs/kueue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#5172 docs, #3880 kueue-viz config, #1466 SLSA</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Docs, build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kubernetes-sigs/kueue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DisaggregatedSet integration (help wanted)</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Go feature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2</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llm-d-router</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#655 load-aware scorers; #2650 TTFT load gate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Go routing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2</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vLLM's metrics, OpenTelemetry tracing (off by default) and benchmarking CLI are the realistic places for an SRE to contribute</a:t>
            </a:r>
            <a:r>
              <a:rPr lang="en-US" sz="1250" baseline="30000" dirty="0">
                <a:solidFill>
                  <a:srgbClr val="64748B"/>
                </a:solidFill>
                <a:latin typeface="Arial"/>
                <a:cs typeface="Arial"/>
              </a:rPr>
              <a:t> 75,78,85,86,87,88,89</a:t>
            </a:r>
            <a:r>
              <a:rPr lang="en-US" sz="1250" dirty="0">
                <a:solidFill>
                  <a:srgbClr val="334155"/>
                </a:solidFill>
                <a:latin typeface="Arial"/>
                <a:cs typeface="Arial"/>
              </a:rPr>
              <a: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[33], [41], [42], [43], [44], [45], [46], [47], [48], [49], [74], [75], [76], [77], [78], [83], [84], [85], [86], [87], [88], [89], [91], [109], [114], [115]. Data as of 2026-09-30. ML levels…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PROJECT PROFILES AND CONCRETE FIRST CONTRIBUTIONS · TABLE 4</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Concrete first-contribution targets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26</a:t>
            </a:r>
            <a:endParaRPr lang="en-US" sz="850" dirty="0"/>
          </a:p>
        </p:txBody>
      </p:sp>
      <p:graphicFrame>
        <p:nvGraphicFramePr>
          <p:cNvPr id="8" name="Table 8"/>
          <p:cNvGraphicFramePr>
            <a:graphicFrameLocks noGrp="1"/>
          </p:cNvGraphicFramePr>
          <p:nvPr/>
        </p:nvGraphicFramePr>
        <p:xfrm>
          <a:off x="711200" y="1700784"/>
          <a:ext cx="10769600" cy="670560"/>
        </p:xfrm>
        <a:graphic>
          <a:graphicData uri="http://schemas.openxmlformats.org/drawingml/2006/table">
            <a:tbl>
              <a:tblPr firstRow="1"/>
              <a:tblGrid>
                <a:gridCol w="2261616"/>
                <a:gridCol w="4954016"/>
                <a:gridCol w="2692400"/>
                <a:gridCol w="861568"/>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REPOSITORY</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TARGET</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TYPE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ML LEVEL</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vllm-project/vllm</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Metrics, tracing, vllm bench</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Observability, benchmarks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1–2</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[33], [41], [42], [43], [44], [45], [46], [47], [48], [49], [74], [75], [76], [77], [78], [83], [84], [85], [86], [87], [88], [89], [91], [109], [114], [115]. Data as of 2026-09-30. ML levels…</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WHAT CARRIES OVER, AND WHAT YOU MUST LEARN</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carries over, and what you must learn</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27</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skills overlap most on observability and install/test work. The matrix below links each SRE skill to documented contribution areas.</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WHAT CARRIES OVER, AND WHAT YOU MUST LEARN · TABLE 5</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Skill-mapping matrix: SRE/DevOps/Go skills against project contribution areas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28</a:t>
            </a:r>
            <a:endParaRPr lang="en-US" sz="850" dirty="0"/>
          </a:p>
        </p:txBody>
      </p:sp>
      <p:graphicFrame>
        <p:nvGraphicFramePr>
          <p:cNvPr id="8" name="Table 8"/>
          <p:cNvGraphicFramePr>
            <a:graphicFrameLocks noGrp="1"/>
          </p:cNvGraphicFramePr>
          <p:nvPr/>
        </p:nvGraphicFramePr>
        <p:xfrm>
          <a:off x="711200" y="2106168"/>
          <a:ext cx="10769600" cy="1828800"/>
        </p:xfrm>
        <a:graphic>
          <a:graphicData uri="http://schemas.openxmlformats.org/drawingml/2006/table">
            <a:tbl>
              <a:tblPr firstRow="1"/>
              <a:tblGrid>
                <a:gridCol w="1723136"/>
                <a:gridCol w="2646245"/>
                <a:gridCol w="2030839"/>
                <a:gridCol w="1600055"/>
                <a:gridCol w="1415433"/>
                <a:gridCol w="1353893"/>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SKILL</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LLM-D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KSERVE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KUEUE / LWS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KAI SCHEDULER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VLLM</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Go controllers and operators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Router, autoscaler, batch gateway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LLMInferenceService controller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Core codebase, ~94–96% Go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Core codebase, 98.5% Go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 (0% Go)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Helm / K8s install</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SIG Installation: llm-d-infra, modelservice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Independent CRD install, v0.21</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kueue-viz backend config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CI and e2e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inference-sim tests; load, chaos testing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JUnit E2E output, v0.19</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e2e on K8s 1.34–1.37; SLSA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Prometheus / Grafana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llm_d_epp_* dashboards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Metrics in load testing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 metrics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OpenTelemetry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End-to-end spans; autoscaler tracing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InferenceGraph tracing on roadmap</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--otlp-traces-endpoint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Benchmarking uses Python, not Go. inference-perf, GuideLLM, vllm bench and llm-d-benchmark are all Python, and NVIDIA's genai-perf now directs users to AIPerf. llm-d-benchmark runs other harnesses on Kubernetes using helm, helmfile and…</a:t>
            </a:r>
            <a:r>
              <a:rPr lang="en-US" sz="1250" baseline="30000" dirty="0">
                <a:solidFill>
                  <a:srgbClr val="64748B"/>
                </a:solidFill>
                <a:latin typeface="Arial"/>
                <a:cs typeface="Arial"/>
              </a:rPr>
              <a:t> 85,86,87,88,89</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[5], [6], [7], [8], [9], [10], [11], [12], [13], [14], [15], [16], [17], [18], [19], [20], [21], [27], [34], [35], [36], [37], [38], [41], [42], [43], [44], [45], [46], [4…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WHAT CARRIES OVER, AND WHAT YOU MUST LEARN · TABLE 5</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Skill-mapping matrix: SRE/DevOps/Go skills against project contribution areas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29</a:t>
            </a:r>
            <a:endParaRPr lang="en-US" sz="850" dirty="0"/>
          </a:p>
        </p:txBody>
      </p:sp>
      <p:graphicFrame>
        <p:nvGraphicFramePr>
          <p:cNvPr id="8" name="Table 8"/>
          <p:cNvGraphicFramePr>
            <a:graphicFrameLocks noGrp="1"/>
          </p:cNvGraphicFramePr>
          <p:nvPr/>
        </p:nvGraphicFramePr>
        <p:xfrm>
          <a:off x="711200" y="2106168"/>
          <a:ext cx="10769600" cy="914400"/>
        </p:xfrm>
        <a:graphic>
          <a:graphicData uri="http://schemas.openxmlformats.org/drawingml/2006/table">
            <a:tbl>
              <a:tblPr firstRow="1"/>
              <a:tblGrid>
                <a:gridCol w="1723136"/>
                <a:gridCol w="2646245"/>
                <a:gridCol w="2030839"/>
                <a:gridCol w="1600055"/>
                <a:gridCol w="1415433"/>
                <a:gridCol w="1353893"/>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SKILL</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LLM-D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KSERVE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KUEUE / LWS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KAI SCHEDULER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VLLM</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Autoscaling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SIG Autoscaling; llm-d-autoscaling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LWS autoscaling; HPA/KEDA status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LWS per-role HPA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Load testing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llm-d-benchmark (helm, helmfile)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Metrics in load testing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 bench, GuideLLM</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[5], [6], [7], [8], [9], [10], [11], [12], [13], [14], [15], [16], [17], [18], [19], [20], [21], [27], [34], [35], [36], [37], [38], [41], [42], [43], [44], [45], [46], [4…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WHAT CARRIES OVER, AND WHAT YOU MUST LEARN</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carries over, and what you must learn</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30</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Practitioners already treat inference signals as SLIs. At KubeCon Europe 2026 (2026-03-26), a Red Hat Senior Principal SRE co-presented a talk that framed TTFT, cache hit ratio, routing latency and GPU…</a:t>
            </a:r>
            <a:r>
              <a:rPr lang="en-US" sz="1700" baseline="30000" dirty="0">
                <a:solidFill>
                  <a:srgbClr val="64748B"/>
                </a:solidFill>
                <a:latin typeface="Arial"/>
                <a:cs typeface="Arial"/>
              </a:rPr>
              <a:t> 116</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WHAT CARRIES OVER, AND WHAT YOU MUST LEARN · TABLE 6</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Inference concept primer by contribution level</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31</a:t>
            </a:r>
            <a:endParaRPr lang="en-US" sz="850" dirty="0"/>
          </a:p>
        </p:txBody>
      </p:sp>
      <p:graphicFrame>
        <p:nvGraphicFramePr>
          <p:cNvPr id="8" name="Table 8"/>
          <p:cNvGraphicFramePr>
            <a:graphicFrameLocks noGrp="1"/>
          </p:cNvGraphicFramePr>
          <p:nvPr/>
        </p:nvGraphicFramePr>
        <p:xfrm>
          <a:off x="711200" y="1700784"/>
          <a:ext cx="10769600" cy="1219200"/>
        </p:xfrm>
        <a:graphic>
          <a:graphicData uri="http://schemas.openxmlformats.org/drawingml/2006/table">
            <a:tbl>
              <a:tblPr firstRow="1"/>
              <a:tblGrid>
                <a:gridCol w="448733"/>
                <a:gridCol w="2580217"/>
                <a:gridCol w="2580217"/>
                <a:gridCol w="2580217"/>
                <a:gridCol w="2580217"/>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LEVEL</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WORK IT UNLOCKS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KEY CONCEPTS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WHERE YOU SEE IT IN VLLM</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FREE RESOURCE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1</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Helm, CI on the simulator, dashboards, OTel plumbing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TTFT, ITL/TPOT, goodput, KV-cache usage, queue depth</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vllm:time_to_first_token_seconds, vllm:kv_cache_usage_perc, vllm:num_requests_waiting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 metrics design doc; llm-d tracing post, 2026-08-26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2</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EPP scorers, KV-cache indexer, autoscaler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Prefix caching, block hashing, prefill vs decode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vllm:prefix_cache_hits, vllm:request_prefill_time_seconds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 posts on token-aware routing (2026-08-17) and P2P KV sharing (2026-08-15)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3</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 engine, P/D sidecar, KV transfer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Continuous batching, paged attention, chunked prefill, KV connectors, quantization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vllm:model_forward_time_milliseconds, tracing only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'Inside vLLM' (2025-09-05); Hugging Face continuous batching (2025-11-25)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The ML knowledge you need can be learned in stages, not all at once. Level 1 work needs only TTFT, ITL/TPOT, throughput and goodput, KV-cache usage and queue depth.</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[74], [75], [78], [83], [91], [109], [115], [117], [118]. Data as of 2026-09.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WHAT CARRIES OVER, AND WHAT YOU MUST LEARN</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carries over, and what you must learn</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32</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two engine explainers are older but still the clearest free introductions.</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CAREER SIGNAL: WHAT EMPLOYERS ASK FOR</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Career signal: what employers ask for</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33</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Kubernetes is now a common place to run inference. The CNCF 2025 Annual Cloud Native Survey (628 respondents, published January 2026) found that 66% of organisations hosting generative AI models use Kubernetes…</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CAREER SIGNAL: WHAT EMPLOYERS ASK FOR · TABLE 7</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Three sampled 2026 inference postings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34</a:t>
            </a:r>
            <a:endParaRPr lang="en-US" sz="850" dirty="0"/>
          </a:p>
        </p:txBody>
      </p:sp>
      <p:graphicFrame>
        <p:nvGraphicFramePr>
          <p:cNvPr id="8" name="Table 8"/>
          <p:cNvGraphicFramePr>
            <a:graphicFrameLocks noGrp="1"/>
          </p:cNvGraphicFramePr>
          <p:nvPr/>
        </p:nvGraphicFramePr>
        <p:xfrm>
          <a:off x="711200" y="1700784"/>
          <a:ext cx="10769600" cy="1219200"/>
        </p:xfrm>
        <a:graphic>
          <a:graphicData uri="http://schemas.openxmlformats.org/drawingml/2006/table">
            <a:tbl>
              <a:tblPr firstRow="1"/>
              <a:tblGrid>
                <a:gridCol w="2897085"/>
                <a:gridCol w="1133642"/>
                <a:gridCol w="2897085"/>
                <a:gridCol w="2897085"/>
                <a:gridCol w="944702"/>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EMPLOYER AND ROLE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POSTED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REQUIRED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PREFERRED / NAMED PROJECTS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SALARY (USD)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Red Hat, Forward Deployed Engineer, AI Inference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Removed 2026-06-22</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Kubernetes CRDs/operators, Gateway API; Python and Go; vLLM, llm-d; KV caching, P/D, batching; SRE or infra background accepted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OSS contributions to KServe, vLLM or Kubernetes; Inference Gateway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184,940–342,490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CoreWeave, Senior Software Engineer, Inference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2026-09-22</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Python or Go; production Kubernetes; Prometheus, Grafana, OpenTelemetry; P95/P99 tuning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 Triton, TensorRT-LLM, Ray Serve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152,000–204,000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NVIDIA, Senior Software Engineer, Kubernetes AI Scheduler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2026-06-25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Go; Kubernetes internals; CRD/controller design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KAI-Scheduler; Kubernetes SIGs/WGs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disclosed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Hiring research points in the same direction. The Linux Foundation 2026 State of Tech Talent Report (400 respondents, fielded February 2026) projects a net +31% hiring effect from AI overall and +60% for AI-specific roles in 2026</a:t>
            </a:r>
            <a:r>
              <a:rPr lang="en-US" sz="1250" baseline="30000" dirty="0">
                <a:solidFill>
                  <a:srgbClr val="64748B"/>
                </a:solidFill>
                <a:latin typeface="Arial"/>
                <a:cs typeface="Arial"/>
              </a:rPr>
              <a:t> 68</a:t>
            </a:r>
            <a:r>
              <a:rPr lang="en-US" sz="1250" dirty="0">
                <a:solidFill>
                  <a:srgbClr val="334155"/>
                </a:solidFill>
                <a:latin typeface="Arial"/>
                <a:cs typeface="Arial"/>
              </a:rPr>
              <a: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[69], [70], [71]. Data as of 2026-09. Collected from tier 3–4 job aggregators; a sample for illustration, not a market measure [69,70,71].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CAREER SIGNAL: WHAT EMPLOYERS ASK FOR</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Career signal: what employers ask for</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35</a:t>
            </a:r>
            <a:endParaRPr lang="en-US" sz="850" dirty="0"/>
          </a:p>
        </p:txBody>
      </p:sp>
      <p:sp>
        <p:nvSpPr>
          <p:cNvPr id="8" name="Shape 8"/>
          <p:cNvSpPr/>
          <p:nvPr/>
        </p:nvSpPr>
        <p:spPr>
          <a:xfrm>
            <a:off x="711200" y="5251450"/>
            <a:ext cx="10769600" cy="996950"/>
          </a:xfrm>
          <a:prstGeom prst="roundRect">
            <a:avLst>
              <a:gd name="adj" fmla="val 12738"/>
            </a:avLst>
          </a:prstGeom>
          <a:solidFill>
            <a:srgbClr val="FFFBEB"/>
          </a:solidFill>
          <a:ln>
            <a:noFill/>
          </a:ln>
        </p:spPr>
      </p:sp>
      <p:sp>
        <p:nvSpPr>
          <p:cNvPr id="9" name="Shape 9"/>
          <p:cNvSpPr/>
          <p:nvPr/>
        </p:nvSpPr>
        <p:spPr>
          <a:xfrm>
            <a:off x="711200" y="5251450"/>
            <a:ext cx="50800" cy="996950"/>
          </a:xfrm>
          <a:prstGeom prst="roundRect">
            <a:avLst>
              <a:gd name="adj" fmla="val 50000"/>
            </a:avLst>
          </a:prstGeom>
          <a:solidFill>
            <a:srgbClr val="B45309"/>
          </a:solidFill>
          <a:ln>
            <a:noFill/>
          </a:ln>
        </p:spPr>
      </p:sp>
      <p:sp>
        <p:nvSpPr>
          <p:cNvPr id="10" name="Text 10"/>
          <p:cNvSpPr txBox="1"/>
          <p:nvPr/>
        </p:nvSpPr>
        <p:spPr>
          <a:xfrm>
            <a:off x="990600" y="5403850"/>
            <a:ext cx="10210800" cy="742950"/>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B45309"/>
                </a:solidFill>
                <a:latin typeface="Arial"/>
                <a:cs typeface="Arial"/>
              </a:rPr>
              <a:t>THIN EVIDENCE ON TRANSITIONS</a:t>
            </a:r>
            <a:endParaRPr lang="en-US" sz="850" dirty="0"/>
          </a:p>
          <a:p>
            <a:pPr algn="l">
              <a:lnSpc>
                <a:spcPct val="116000"/>
              </a:lnSpc>
              <a:spcBef>
                <a:spcPts val="0"/>
              </a:spcBef>
              <a:spcAft>
                <a:spcPts val="0"/>
              </a:spcAft>
              <a:buNone/>
            </a:pPr>
            <a:r>
              <a:rPr lang="en-US" sz="1250" dirty="0">
                <a:solidFill>
                  <a:srgbClr val="0F172A"/>
                </a:solidFill>
                <a:latin typeface="Arial"/>
                <a:cs typeface="Arial"/>
              </a:rPr>
              <a:t>No source reviewed for this report documents a named SRE or DevOps engineer moving into an inference role through open-source contribution.</a:t>
            </a:r>
            <a:endParaRPr lang="en-US" sz="1250" dirty="0"/>
          </a:p>
        </p:txBody>
      </p:sp>
      <p:sp>
        <p:nvSpPr>
          <p:cNvPr id="11" name="Text 11"/>
          <p:cNvSpPr txBox="1"/>
          <p:nvPr/>
        </p:nvSpPr>
        <p:spPr>
          <a:xfrm>
            <a:off x="711200" y="1700784"/>
            <a:ext cx="9261856" cy="337286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Across these 3 postings, Kubernetes and Go appear in all 3, vLLM in 2, and llm-d, KServe and GPU scheduling in 1 each</a:t>
            </a:r>
            <a:r>
              <a:rPr lang="en-US" sz="1700" baseline="30000" dirty="0">
                <a:solidFill>
                  <a:srgbClr val="64748B"/>
                </a:solidFill>
                <a:latin typeface="Arial"/>
                <a:cs typeface="Arial"/>
              </a:rPr>
              <a:t> 69,70,71</a:t>
            </a:r>
            <a:r>
              <a:rPr lang="en-US" sz="1700" dirty="0">
                <a:solidFill>
                  <a:srgbClr val="334155"/>
                </a:solidFill>
                <a:latin typeface="Arial"/>
                <a:cs typeface="Arial"/>
              </a:rPr>
              <a:t>.</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07 · STAGED ROADMAP: FIRST 30, 90 AND 180 DAYS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Staged roadmap: first 30, 90 and 180 days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36</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b="1" dirty="0">
                <a:solidFill>
                  <a:srgbClr val="334155"/>
                </a:solidFill>
                <a:latin typeface="Arial"/>
                <a:cs typeface="Arial"/>
              </a:rPr>
              <a:t>Days 0–30: get running and get visible.</a:t>
            </a:r>
            <a:r>
              <a:rPr lang="en-US" sz="1700" dirty="0">
                <a:solidFill>
                  <a:srgbClr val="334155"/>
                </a:solidFill>
                <a:latin typeface="Arial"/>
                <a:cs typeface="Arial"/>
              </a:rPr>
              <a:t> Deploy llm-d with llm-d-inference-sim on a local cluster so you can run the full routing path without a GPU</a:t>
            </a:r>
            <a:r>
              <a:rPr lang="en-US" sz="1700" baseline="30000" dirty="0">
                <a:solidFill>
                  <a:srgbClr val="64748B"/>
                </a:solidFill>
                <a:latin typeface="Arial"/>
                <a:cs typeface="Arial"/>
              </a:rPr>
              <a:t> 109</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b="1" dirty="0">
                <a:solidFill>
                  <a:srgbClr val="334155"/>
                </a:solidFill>
                <a:latin typeface="Arial"/>
                <a:cs typeface="Arial"/>
              </a:rPr>
              <a:t>Days 31–90: own an operational area.</a:t>
            </a:r>
            <a:r>
              <a:rPr lang="en-US" sz="1700" dirty="0">
                <a:solidFill>
                  <a:srgbClr val="334155"/>
                </a:solidFill>
                <a:latin typeface="Arial"/>
                <a:cs typeface="Arial"/>
              </a:rPr>
              <a:t> Take on observability: update dashboards and alerts for the llm_d_epp_* rename, and file or fix missing spans and Collector recipes as the tracing post asks</a:t>
            </a:r>
            <a:r>
              <a:rPr lang="en-US" sz="1700" baseline="30000" dirty="0">
                <a:solidFill>
                  <a:srgbClr val="64748B"/>
                </a:solidFill>
                <a:latin typeface="Arial"/>
                <a:cs typeface="Arial"/>
              </a:rPr>
              <a:t> 76,77,78</a:t>
            </a:r>
            <a:r>
              <a:rPr lang="en-US" sz="1700" dirty="0">
                <a:solidFill>
                  <a:srgbClr val="334155"/>
                </a:solidFill>
                <a:latin typeface="Arial"/>
                <a:cs typeface="Arial"/>
              </a:rPr>
              <a: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07 · STAGED ROADMAP: FIRST 30, 90 AND 180 DAYS · TABLE 8</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30/90/180-day contribution and learning milestones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37</a:t>
            </a:r>
            <a:endParaRPr lang="en-US" sz="850" dirty="0"/>
          </a:p>
        </p:txBody>
      </p:sp>
      <p:graphicFrame>
        <p:nvGraphicFramePr>
          <p:cNvPr id="8" name="Table 8"/>
          <p:cNvGraphicFramePr>
            <a:graphicFrameLocks noGrp="1"/>
          </p:cNvGraphicFramePr>
          <p:nvPr/>
        </p:nvGraphicFramePr>
        <p:xfrm>
          <a:off x="711200" y="1700784"/>
          <a:ext cx="10769600" cy="2133600"/>
        </p:xfrm>
        <a:graphic>
          <a:graphicData uri="http://schemas.openxmlformats.org/drawingml/2006/table">
            <a:tbl>
              <a:tblPr firstRow="1"/>
              <a:tblGrid>
                <a:gridCol w="740410"/>
                <a:gridCol w="1750060"/>
                <a:gridCol w="3096260"/>
                <a:gridCol w="2423160"/>
                <a:gridCol w="2759710"/>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WINDOW</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PROJECT</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CONTRIBUTION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CONCEPTS TO LEARN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EVIDENCE OF PROGRESS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0–30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 + inference-sim</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Local deploy; docs fix (#1525)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TTFT, ITL, queue depth</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First merged PR; attend SIG meeting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0–30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Kueue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Good-first-issue: docs, kueue-viz, SLSA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Quotas, batch admission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Merged Go or build PR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31–90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 observability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llm_d_epp_* dashboards; spans, Collector recipes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KV-cache usage, prefix-hit rate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Recurring owner of an observability area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31–90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llm-d-benchmark / vLLM</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Benchmark runs and harness fixes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Throughput vs goodput, load profiles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Published benchmark results or harness PR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31–90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KServe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LLMInferenceService e2e/controller; #6260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InferencePool, EPP, LWS roles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Merged controller or e2e PR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91–180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llm-d-router / autoscaling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Scorer (#655, #2650) or autoscaler feature; proposal</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Prefix caching, prefill vs decode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Merged feature; proposal reviewed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b="1" dirty="0">
                <a:solidFill>
                  <a:srgbClr val="334155"/>
                </a:solidFill>
                <a:latin typeface="Arial"/>
                <a:cs typeface="Arial"/>
              </a:rPr>
              <a:t>Days 91–180: move into inference logic.</a:t>
            </a:r>
            <a:r>
              <a:rPr lang="en-US" sz="1250" dirty="0">
                <a:solidFill>
                  <a:srgbClr val="334155"/>
                </a:solidFill>
                <a:latin typeface="Arial"/>
                <a:cs typeface="Arial"/>
              </a:rPr>
              <a:t> Work on a router scorer or autoscaler feature. llm-d-router #655 (load-aware scorers) and #2650 (TTFT load gate) are good Level 2 targets</a:t>
            </a:r>
            <a:r>
              <a:rPr lang="en-US" sz="1250" baseline="30000" dirty="0">
                <a:solidFill>
                  <a:srgbClr val="64748B"/>
                </a:solidFill>
                <a:latin typeface="Arial"/>
                <a:cs typeface="Arial"/>
              </a:rPr>
              <a:t> 33,74</a:t>
            </a:r>
            <a:r>
              <a:rPr lang="en-US" sz="1250" dirty="0">
                <a:solidFill>
                  <a:srgbClr val="334155"/>
                </a:solidFill>
                <a:latin typeface="Arial"/>
                <a:cs typeface="Arial"/>
              </a:rPr>
              <a: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[27], [33], [41], [42], [43], [44], [45], [46], [72], [74], [75], [76], [77], [78], [83], [84], [85], [86], [87], [88], [89], [91], [109], [115], [117], [118]. Data as of 2026-09.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07 · STAGED ROADMAP: FIRST 30, 90 AND 180 DAYS · TABLE 8</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30/90/180-day contribution and learning milestones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38</a:t>
            </a:r>
            <a:endParaRPr lang="en-US" sz="850" dirty="0"/>
          </a:p>
        </p:txBody>
      </p:sp>
      <p:graphicFrame>
        <p:nvGraphicFramePr>
          <p:cNvPr id="8" name="Table 8"/>
          <p:cNvGraphicFramePr>
            <a:graphicFrameLocks noGrp="1"/>
          </p:cNvGraphicFramePr>
          <p:nvPr/>
        </p:nvGraphicFramePr>
        <p:xfrm>
          <a:off x="711200" y="2106168"/>
          <a:ext cx="10769600" cy="609600"/>
        </p:xfrm>
        <a:graphic>
          <a:graphicData uri="http://schemas.openxmlformats.org/drawingml/2006/table">
            <a:tbl>
              <a:tblPr firstRow="1"/>
              <a:tblGrid>
                <a:gridCol w="740410"/>
                <a:gridCol w="1750060"/>
                <a:gridCol w="3096260"/>
                <a:gridCol w="2423160"/>
                <a:gridCol w="2759710"/>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WINDOW</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PROJECT</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CONTRIBUTION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CONCEPTS TO LEARN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EVIDENCE OF PROGRESS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Days 91–180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vLLM</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Read scheduler; metrics or tracing PRs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Continuous batching, paged attention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Engine-adjacent PR merged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[27], [33], [41], [42], [43], [44], [45], [46], [72], [74], [75], [76], [77], [78], [83], [84], [85], [86], [87], [88], [89], [91], [109], [115], [117], [118]. Data as of 2026-09.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07 · STAGED ROADMAP: FIRST 30, 90 AND 180 DAYS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Staged roadmap: first 30, 90 and 180 days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39</a:t>
            </a:r>
            <a:endParaRPr lang="en-US" sz="850" dirty="0"/>
          </a:p>
        </p:txBody>
      </p:sp>
      <p:sp>
        <p:nvSpPr>
          <p:cNvPr id="8" name="Shape 8"/>
          <p:cNvSpPr/>
          <p:nvPr/>
        </p:nvSpPr>
        <p:spPr>
          <a:xfrm>
            <a:off x="711200" y="5457825"/>
            <a:ext cx="10769600" cy="790575"/>
          </a:xfrm>
          <a:prstGeom prst="roundRect">
            <a:avLst>
              <a:gd name="adj" fmla="val 16064"/>
            </a:avLst>
          </a:prstGeom>
          <a:solidFill>
            <a:srgbClr val="F3F2FD"/>
          </a:solidFill>
          <a:ln>
            <a:noFill/>
          </a:ln>
        </p:spPr>
      </p:sp>
      <p:sp>
        <p:nvSpPr>
          <p:cNvPr id="9" name="Shape 9"/>
          <p:cNvSpPr/>
          <p:nvPr/>
        </p:nvSpPr>
        <p:spPr>
          <a:xfrm>
            <a:off x="711200" y="5457825"/>
            <a:ext cx="50800" cy="790575"/>
          </a:xfrm>
          <a:prstGeom prst="roundRect">
            <a:avLst>
              <a:gd name="adj" fmla="val 50000"/>
            </a:avLst>
          </a:prstGeom>
          <a:solidFill>
            <a:srgbClr val="4F46E5"/>
          </a:solidFill>
          <a:ln>
            <a:noFill/>
          </a:ln>
        </p:spPr>
      </p:sp>
      <p:sp>
        <p:nvSpPr>
          <p:cNvPr id="10" name="Text 10"/>
          <p:cNvSpPr txBox="1"/>
          <p:nvPr/>
        </p:nvSpPr>
        <p:spPr>
          <a:xfrm>
            <a:off x="990600" y="5610225"/>
            <a:ext cx="10210800" cy="536575"/>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4F46E5"/>
                </a:solidFill>
                <a:latin typeface="Arial"/>
                <a:cs typeface="Arial"/>
              </a:rPr>
              <a:t>ORDER MATTERS MORE THAN SPEED</a:t>
            </a:r>
            <a:endParaRPr lang="en-US" sz="850" dirty="0"/>
          </a:p>
          <a:p>
            <a:pPr algn="l">
              <a:lnSpc>
                <a:spcPct val="116000"/>
              </a:lnSpc>
              <a:spcBef>
                <a:spcPts val="0"/>
              </a:spcBef>
              <a:spcAft>
                <a:spcPts val="0"/>
              </a:spcAft>
              <a:buNone/>
            </a:pPr>
            <a:r>
              <a:rPr lang="en-US" sz="1250" dirty="0">
                <a:solidFill>
                  <a:srgbClr val="0F172A"/>
                </a:solidFill>
                <a:latin typeface="Arial"/>
                <a:cs typeface="Arial"/>
              </a:rPr>
              <a:t>Every step up in ML knowledge comes with a project area that already needs it.</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08 · LIMITATIONS AND DATA GAPS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Limitations and data gaps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40</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33680" indent="-233680" algn="l">
              <a:lnSpc>
                <a:spcPct val="118000"/>
              </a:lnSpc>
              <a:spcBef>
                <a:spcPts val="0"/>
              </a:spcBef>
              <a:spcAft>
                <a:spcPts val="1200"/>
              </a:spcAft>
              <a:buClr>
                <a:srgbClr val="4F46E5"/>
              </a:buClr>
              <a:buFont typeface="Arial"/>
              <a:buChar char="•"/>
            </a:pPr>
            <a:r>
              <a:rPr lang="en-US" sz="1600" dirty="0">
                <a:solidFill>
                  <a:srgbClr val="334155"/>
                </a:solidFill>
                <a:latin typeface="Arial"/>
                <a:cs typeface="Arial"/>
              </a:rPr>
              <a:t>The data behind this ranking is partial. Monthly active contributors and merged PRs per month for October 2025 to September 2026 could not be obtained for any project.</a:t>
            </a:r>
            <a:endParaRPr lang="en-US" sz="1600" dirty="0"/>
          </a:p>
          <a:p>
            <a:pPr marL="233680" indent="-233680" algn="l">
              <a:lnSpc>
                <a:spcPct val="118000"/>
              </a:lnSpc>
              <a:spcBef>
                <a:spcPts val="0"/>
              </a:spcBef>
              <a:spcAft>
                <a:spcPts val="1200"/>
              </a:spcAft>
              <a:buClr>
                <a:srgbClr val="4F46E5"/>
              </a:buClr>
              <a:buFont typeface="Arial"/>
              <a:buChar char="•"/>
            </a:pPr>
            <a:r>
              <a:rPr lang="en-US" sz="1600" dirty="0">
                <a:solidFill>
                  <a:srgbClr val="334155"/>
                </a:solidFill>
                <a:latin typeface="Arial"/>
                <a:cs typeface="Arial"/>
              </a:rPr>
              <a:t>LFX Insights scores cover only llm-d, vLLM and KServe. The window is stated only as 'past 365 days', and llm-d's stagnation flag conflicts with its release record</a:t>
            </a:r>
            <a:r>
              <a:rPr lang="en-US" sz="1600" baseline="30000" dirty="0">
                <a:solidFill>
                  <a:srgbClr val="64748B"/>
                </a:solidFill>
                <a:latin typeface="Arial"/>
                <a:cs typeface="Arial"/>
              </a:rPr>
              <a:t> 56,94,98,99,100</a:t>
            </a:r>
            <a:r>
              <a:rPr lang="en-US" sz="1600" dirty="0">
                <a:solidFill>
                  <a:srgbClr val="334155"/>
                </a:solidFill>
                <a:latin typeface="Arial"/>
                <a:cs typeface="Arial"/>
              </a:rPr>
              <a:t>.</a:t>
            </a:r>
            <a:endParaRPr lang="en-US" sz="1600" dirty="0"/>
          </a:p>
          <a:p>
            <a:pPr marL="233680" indent="-233680" algn="l">
              <a:lnSpc>
                <a:spcPct val="118000"/>
              </a:lnSpc>
              <a:spcBef>
                <a:spcPts val="0"/>
              </a:spcBef>
              <a:spcAft>
                <a:spcPts val="1200"/>
              </a:spcAft>
              <a:buClr>
                <a:srgbClr val="4F46E5"/>
              </a:buClr>
              <a:buFont typeface="Arial"/>
              <a:buChar char="•"/>
            </a:pPr>
            <a:r>
              <a:rPr lang="en-US" sz="1600" dirty="0">
                <a:solidFill>
                  <a:srgbClr val="334155"/>
                </a:solidFill>
                <a:latin typeface="Arial"/>
                <a:cs typeface="Arial"/>
              </a:rPr>
              <a:t>Help-wanted counts were collected only for vLLM, Kueue and KServe. Good-first-issue counts are missing for LWS, KAI Scheduler and SGLang</a:t>
            </a:r>
            <a:r>
              <a:rPr lang="en-US" sz="1600" baseline="30000" dirty="0">
                <a:solidFill>
                  <a:srgbClr val="64748B"/>
                </a:solidFill>
                <a:latin typeface="Arial"/>
                <a:cs typeface="Arial"/>
              </a:rPr>
              <a:t> 41,42,43,44,45,46,47,48,49</a:t>
            </a:r>
            <a:r>
              <a:rPr lang="en-US" sz="1600" dirty="0">
                <a:solidFill>
                  <a:srgbClr val="334155"/>
                </a:solidFill>
                <a:latin typeface="Arial"/>
                <a:cs typeface="Arial"/>
              </a:rPr>
              <a:t>.</a:t>
            </a:r>
            <a:endParaRPr lang="en-US" sz="1600" dirty="0"/>
          </a:p>
          <a:p>
            <a:pPr marL="233680" indent="-233680" algn="l">
              <a:lnSpc>
                <a:spcPct val="118000"/>
              </a:lnSpc>
              <a:spcBef>
                <a:spcPts val="0"/>
              </a:spcBef>
              <a:spcAft>
                <a:spcPts val="1200"/>
              </a:spcAft>
              <a:buClr>
                <a:srgbClr val="4F46E5"/>
              </a:buClr>
              <a:buFont typeface="Arial"/>
              <a:buChar char="•"/>
            </a:pPr>
            <a:r>
              <a:rPr lang="en-US" sz="1600" dirty="0">
                <a:solidFill>
                  <a:srgbClr val="334155"/>
                </a:solidFill>
                <a:latin typeface="Arial"/>
                <a:cs typeface="Arial"/>
              </a:rPr>
              <a:t>The Go share of llm-d-router itself was not measured. The 96.8% figure is for its predecessor repository</a:t>
            </a:r>
            <a:r>
              <a:rPr lang="en-US" sz="1600" baseline="30000" dirty="0">
                <a:solidFill>
                  <a:srgbClr val="64748B"/>
                </a:solidFill>
                <a:latin typeface="Arial"/>
                <a:cs typeface="Arial"/>
              </a:rPr>
              <a:t> 1,2,3,4,5,6,7,8,9,10,11,12,13,14,15,16,17,18,19,20,21</a:t>
            </a:r>
            <a:r>
              <a:rPr lang="en-US" sz="1600" dirty="0">
                <a:solidFill>
                  <a:srgbClr val="334155"/>
                </a:solidFill>
                <a:latin typeface="Arial"/>
                <a:cs typeface="Arial"/>
              </a:rPr>
              <a:t>.</a:t>
            </a:r>
            <a:endParaRPr lang="en-US" sz="1600" dirty="0"/>
          </a:p>
          <a:p>
            <a:pPr marL="233680" indent="-233680" algn="l">
              <a:lnSpc>
                <a:spcPct val="118000"/>
              </a:lnSpc>
              <a:spcBef>
                <a:spcPts val="0"/>
              </a:spcBef>
              <a:spcAft>
                <a:spcPts val="1200"/>
              </a:spcAft>
              <a:buClr>
                <a:srgbClr val="4F46E5"/>
              </a:buClr>
              <a:buFont typeface="Arial"/>
              <a:buChar char="•"/>
            </a:pPr>
            <a:r>
              <a:rPr lang="en-US" sz="1600" dirty="0">
                <a:solidFill>
                  <a:srgbClr val="334155"/>
                </a:solidFill>
                <a:latin typeface="Arial"/>
                <a:cs typeface="Arial"/>
              </a:rPr>
              <a:t>Maintainer affiliations for GAIE, Kueue and vLLM are not published in their OWNERS or committers files</a:t>
            </a:r>
            <a:r>
              <a:rPr lang="en-US" sz="1600" baseline="30000" dirty="0">
                <a:solidFill>
                  <a:srgbClr val="64748B"/>
                </a:solidFill>
                <a:latin typeface="Arial"/>
                <a:cs typeface="Arial"/>
              </a:rPr>
              <a:t> 124,125,126</a:t>
            </a:r>
            <a:r>
              <a:rPr lang="en-US" sz="1600" dirty="0">
                <a:solidFill>
                  <a:srgbClr val="334155"/>
                </a:solidFill>
                <a:latin typeface="Arial"/>
                <a:cs typeface="Arial"/>
              </a:rPr>
              <a:t>.</a:t>
            </a:r>
            <a:endParaRPr lang="en-US" sz="1600" dirty="0"/>
          </a:p>
          <a:p>
            <a:pPr marL="233680" indent="-233680" algn="l">
              <a:lnSpc>
                <a:spcPct val="118000"/>
              </a:lnSpc>
              <a:spcBef>
                <a:spcPts val="0"/>
              </a:spcBef>
              <a:spcAft>
                <a:spcPts val="1200"/>
              </a:spcAft>
              <a:buClr>
                <a:srgbClr val="4F46E5"/>
              </a:buClr>
              <a:buFont typeface="Arial"/>
              <a:buChar char="•"/>
            </a:pPr>
            <a:r>
              <a:rPr lang="en-US" sz="1600" dirty="0">
                <a:solidFill>
                  <a:srgbClr val="334155"/>
                </a:solidFill>
                <a:latin typeface="Arial"/>
                <a:cs typeface="Arial"/>
              </a:rPr>
              <a:t>KServe's roadmap dates from 2024–2025, so its 2026 priorities are inferred from release notes</a:t>
            </a:r>
            <a:r>
              <a:rPr lang="en-US" sz="1600" baseline="30000" dirty="0">
                <a:solidFill>
                  <a:srgbClr val="64748B"/>
                </a:solidFill>
                <a:latin typeface="Arial"/>
                <a:cs typeface="Arial"/>
              </a:rPr>
              <a:t> 37,110</a:t>
            </a:r>
            <a:r>
              <a:rPr lang="en-US" sz="1600" dirty="0">
                <a:solidFill>
                  <a:srgbClr val="334155"/>
                </a:solidFill>
                <a:latin typeface="Arial"/>
                <a:cs typeface="Arial"/>
              </a:rPr>
              <a:t>.</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08 · LIMITATIONS AND DATA GAPS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Limitations and data gaps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41</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Employer demand rests on 3 postings from tier 3–4 aggregators, one already removed</a:t>
            </a:r>
            <a:r>
              <a:rPr lang="en-US" sz="1700" baseline="30000" dirty="0">
                <a:solidFill>
                  <a:srgbClr val="64748B"/>
                </a:solidFill>
                <a:latin typeface="Arial"/>
                <a:cs typeface="Arial"/>
              </a:rPr>
              <a:t> 69,70,71</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None of these gaps changes the ranking's basic logic, which rests on direct, tier 1 data: language shares, governance changes, SIG structure and dated issue counts</a:t>
            </a:r>
            <a:r>
              <a:rPr lang="en-US" sz="1700" baseline="30000" dirty="0">
                <a:solidFill>
                  <a:srgbClr val="64748B"/>
                </a:solidFill>
                <a:latin typeface="Arial"/>
                <a:cs typeface="Arial"/>
              </a:rPr>
              <a:t> 1,2,3,4,5,6,7,8,9,10,11,12,13,14,15,16,17,18,19,20,21,29,30,35,41,42,43,44,45,46</a:t>
            </a:r>
            <a:r>
              <a:rPr lang="en-US" sz="1700" dirty="0">
                <a:solidFill>
                  <a:srgbClr val="334155"/>
                </a:solidFill>
                <a:latin typeface="Arial"/>
                <a:cs typeface="Arial"/>
              </a:rPr>
              <a:t>.</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WHAT TO DO NEXT</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to do next</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42</a:t>
            </a:r>
            <a:endParaRPr lang="en-US" sz="850" dirty="0"/>
          </a:p>
        </p:txBody>
      </p:sp>
      <p:sp>
        <p:nvSpPr>
          <p:cNvPr id="8" name="Text 8"/>
          <p:cNvSpPr txBox="1"/>
          <p:nvPr/>
        </p:nvSpPr>
        <p:spPr>
          <a:xfrm>
            <a:off x="711200" y="1700784"/>
            <a:ext cx="8831072"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Put roughly two-thirds of your time into llm-d's Go repositories and SIGs, and use Kueue or LWS to get quick merged Go PRs while you learn the vocabulary.</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Treat vLLM as a learning resource first and a contribution target second.</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Watch three things over the next two quarters. First, whether llm-d's newcomer labels and SIG asks grow as it matures inside the CNCF.</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ABOUT THIS DECK</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Method and evidence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Open-Source Paths into LLM Inference for SRE and Go Engineers</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43</a:t>
            </a:r>
            <a:endParaRPr lang="en-US" sz="850" dirty="0"/>
          </a:p>
        </p:txBody>
      </p:sp>
      <p:sp>
        <p:nvSpPr>
          <p:cNvPr id="8" name="Shape 8"/>
          <p:cNvSpPr/>
          <p:nvPr/>
        </p:nvSpPr>
        <p:spPr>
          <a:xfrm>
            <a:off x="711200" y="1751584"/>
            <a:ext cx="2252133" cy="1219200"/>
          </a:xfrm>
          <a:prstGeom prst="roundRect">
            <a:avLst>
              <a:gd name="adj" fmla="val 12500"/>
            </a:avLst>
          </a:prstGeom>
          <a:solidFill>
            <a:srgbClr val="F6F6FE"/>
          </a:solidFill>
          <a:ln w="9525" cap="rnd">
            <a:solidFill>
              <a:srgbClr val="E2E8F0"/>
            </a:solidFill>
            <a:round/>
          </a:ln>
        </p:spPr>
      </p:sp>
      <p:sp>
        <p:nvSpPr>
          <p:cNvPr id="9" name="Shape 9"/>
          <p:cNvSpPr/>
          <p:nvPr/>
        </p:nvSpPr>
        <p:spPr>
          <a:xfrm>
            <a:off x="914400" y="1954784"/>
            <a:ext cx="355600" cy="50800"/>
          </a:xfrm>
          <a:prstGeom prst="roundRect">
            <a:avLst>
              <a:gd name="adj" fmla="val 50000"/>
            </a:avLst>
          </a:prstGeom>
          <a:gradFill rotWithShape="1">
            <a:gsLst>
              <a:gs pos="0">
                <a:srgbClr val="4F46E5"/>
              </a:gs>
              <a:gs pos="100000">
                <a:srgbClr val="7C3AED"/>
              </a:gs>
            </a:gsLst>
            <a:lin ang="0" scaled="0"/>
          </a:gradFill>
          <a:ln>
            <a:noFill/>
          </a:ln>
        </p:spPr>
      </p:sp>
      <p:sp>
        <p:nvSpPr>
          <p:cNvPr id="10" name="Text 10"/>
          <p:cNvSpPr txBox="1"/>
          <p:nvPr/>
        </p:nvSpPr>
        <p:spPr>
          <a:xfrm>
            <a:off x="914400" y="2107184"/>
            <a:ext cx="1845733" cy="762000"/>
          </a:xfrm>
          <a:prstGeom prst="rect">
            <a:avLst/>
          </a:prstGeom>
          <a:noFill/>
          <a:ln>
            <a:noFill/>
          </a:ln>
        </p:spPr>
        <p:txBody>
          <a:bodyPr wrap="square" lIns="0" tIns="0" rIns="0" bIns="0" anchor="t">
            <a:noAutofit/>
          </a:bodyPr>
          <a:lstStyle/>
          <a:p>
            <a:pPr algn="l">
              <a:lnSpc>
                <a:spcPct val="100000"/>
              </a:lnSpc>
              <a:spcBef>
                <a:spcPts val="0"/>
              </a:spcBef>
              <a:spcAft>
                <a:spcPts val="400"/>
              </a:spcAft>
              <a:buNone/>
            </a:pPr>
            <a:r>
              <a:rPr lang="en-US" sz="3000" b="1" spc="-40" dirty="0">
                <a:solidFill>
                  <a:srgbClr val="0F172A"/>
                </a:solidFill>
                <a:latin typeface="Arial"/>
                <a:cs typeface="Arial"/>
              </a:rPr>
              <a:t>126</a:t>
            </a:r>
            <a:endParaRPr lang="en-US" sz="3000" dirty="0"/>
          </a:p>
          <a:p>
            <a:pPr algn="l">
              <a:lnSpc>
                <a:spcPct val="110000"/>
              </a:lnSpc>
              <a:spcBef>
                <a:spcPts val="0"/>
              </a:spcBef>
              <a:spcAft>
                <a:spcPts val="300"/>
              </a:spcAft>
              <a:buNone/>
            </a:pPr>
            <a:r>
              <a:rPr lang="en-US" sz="1100" b="1" dirty="0">
                <a:solidFill>
                  <a:srgbClr val="0F172A"/>
                </a:solidFill>
                <a:latin typeface="Arial"/>
                <a:cs typeface="Arial"/>
              </a:rPr>
              <a:t>sources cited</a:t>
            </a:r>
            <a:endParaRPr lang="en-US" sz="1100" dirty="0"/>
          </a:p>
        </p:txBody>
      </p:sp>
      <p:sp>
        <p:nvSpPr>
          <p:cNvPr id="11" name="Shape 11"/>
          <p:cNvSpPr/>
          <p:nvPr/>
        </p:nvSpPr>
        <p:spPr>
          <a:xfrm>
            <a:off x="3141133" y="1751584"/>
            <a:ext cx="2252133" cy="1219200"/>
          </a:xfrm>
          <a:prstGeom prst="roundRect">
            <a:avLst>
              <a:gd name="adj" fmla="val 12500"/>
            </a:avLst>
          </a:prstGeom>
          <a:solidFill>
            <a:srgbClr val="F6F6FE"/>
          </a:solidFill>
          <a:ln w="9525" cap="rnd">
            <a:solidFill>
              <a:srgbClr val="E2E8F0"/>
            </a:solidFill>
            <a:round/>
          </a:ln>
        </p:spPr>
      </p:sp>
      <p:sp>
        <p:nvSpPr>
          <p:cNvPr id="12" name="Shape 12"/>
          <p:cNvSpPr/>
          <p:nvPr/>
        </p:nvSpPr>
        <p:spPr>
          <a:xfrm>
            <a:off x="3344333" y="1954784"/>
            <a:ext cx="355600" cy="50800"/>
          </a:xfrm>
          <a:prstGeom prst="roundRect">
            <a:avLst>
              <a:gd name="adj" fmla="val 50000"/>
            </a:avLst>
          </a:prstGeom>
          <a:gradFill rotWithShape="1">
            <a:gsLst>
              <a:gs pos="0">
                <a:srgbClr val="4F46E5"/>
              </a:gs>
              <a:gs pos="100000">
                <a:srgbClr val="7C3AED"/>
              </a:gs>
            </a:gsLst>
            <a:lin ang="0" scaled="0"/>
          </a:gradFill>
          <a:ln>
            <a:noFill/>
          </a:ln>
        </p:spPr>
      </p:sp>
      <p:sp>
        <p:nvSpPr>
          <p:cNvPr id="13" name="Text 13"/>
          <p:cNvSpPr txBox="1"/>
          <p:nvPr/>
        </p:nvSpPr>
        <p:spPr>
          <a:xfrm>
            <a:off x="3344333" y="2107184"/>
            <a:ext cx="1845733" cy="762000"/>
          </a:xfrm>
          <a:prstGeom prst="rect">
            <a:avLst/>
          </a:prstGeom>
          <a:noFill/>
          <a:ln>
            <a:noFill/>
          </a:ln>
        </p:spPr>
        <p:txBody>
          <a:bodyPr wrap="square" lIns="0" tIns="0" rIns="0" bIns="0" anchor="t">
            <a:noAutofit/>
          </a:bodyPr>
          <a:lstStyle/>
          <a:p>
            <a:pPr algn="l">
              <a:lnSpc>
                <a:spcPct val="100000"/>
              </a:lnSpc>
              <a:spcBef>
                <a:spcPts val="0"/>
              </a:spcBef>
              <a:spcAft>
                <a:spcPts val="400"/>
              </a:spcAft>
              <a:buNone/>
            </a:pPr>
            <a:r>
              <a:rPr lang="en-US" sz="3000" b="1" spc="-40" dirty="0">
                <a:solidFill>
                  <a:srgbClr val="0F172A"/>
                </a:solidFill>
                <a:latin typeface="Arial"/>
                <a:cs typeface="Arial"/>
              </a:rPr>
              <a:t>65</a:t>
            </a:r>
            <a:endParaRPr lang="en-US" sz="3000" dirty="0"/>
          </a:p>
          <a:p>
            <a:pPr algn="l">
              <a:lnSpc>
                <a:spcPct val="110000"/>
              </a:lnSpc>
              <a:spcBef>
                <a:spcPts val="0"/>
              </a:spcBef>
              <a:spcAft>
                <a:spcPts val="300"/>
              </a:spcAft>
              <a:buNone/>
            </a:pPr>
            <a:r>
              <a:rPr lang="en-US" sz="1100" b="1" dirty="0">
                <a:solidFill>
                  <a:srgbClr val="0F172A"/>
                </a:solidFill>
                <a:latin typeface="Arial"/>
                <a:cs typeface="Arial"/>
              </a:rPr>
              <a:t>findings cited</a:t>
            </a:r>
            <a:endParaRPr lang="en-US" sz="1100" dirty="0"/>
          </a:p>
        </p:txBody>
      </p:sp>
      <p:sp>
        <p:nvSpPr>
          <p:cNvPr id="14" name="Shape 14"/>
          <p:cNvSpPr/>
          <p:nvPr/>
        </p:nvSpPr>
        <p:spPr>
          <a:xfrm>
            <a:off x="5571067" y="1751584"/>
            <a:ext cx="2252133" cy="1219200"/>
          </a:xfrm>
          <a:prstGeom prst="roundRect">
            <a:avLst>
              <a:gd name="adj" fmla="val 12500"/>
            </a:avLst>
          </a:prstGeom>
          <a:solidFill>
            <a:srgbClr val="F6F6FE"/>
          </a:solidFill>
          <a:ln w="9525" cap="rnd">
            <a:solidFill>
              <a:srgbClr val="E2E8F0"/>
            </a:solidFill>
            <a:round/>
          </a:ln>
        </p:spPr>
      </p:sp>
      <p:sp>
        <p:nvSpPr>
          <p:cNvPr id="15" name="Shape 15"/>
          <p:cNvSpPr/>
          <p:nvPr/>
        </p:nvSpPr>
        <p:spPr>
          <a:xfrm>
            <a:off x="5774267" y="1954784"/>
            <a:ext cx="355600" cy="50800"/>
          </a:xfrm>
          <a:prstGeom prst="roundRect">
            <a:avLst>
              <a:gd name="adj" fmla="val 50000"/>
            </a:avLst>
          </a:prstGeom>
          <a:gradFill rotWithShape="1">
            <a:gsLst>
              <a:gs pos="0">
                <a:srgbClr val="4F46E5"/>
              </a:gs>
              <a:gs pos="100000">
                <a:srgbClr val="7C3AED"/>
              </a:gs>
            </a:gsLst>
            <a:lin ang="0" scaled="0"/>
          </a:gradFill>
          <a:ln>
            <a:noFill/>
          </a:ln>
        </p:spPr>
      </p:sp>
      <p:sp>
        <p:nvSpPr>
          <p:cNvPr id="16" name="Text 16"/>
          <p:cNvSpPr txBox="1"/>
          <p:nvPr/>
        </p:nvSpPr>
        <p:spPr>
          <a:xfrm>
            <a:off x="5774267" y="2107184"/>
            <a:ext cx="1845733" cy="762000"/>
          </a:xfrm>
          <a:prstGeom prst="rect">
            <a:avLst/>
          </a:prstGeom>
          <a:noFill/>
          <a:ln>
            <a:noFill/>
          </a:ln>
        </p:spPr>
        <p:txBody>
          <a:bodyPr wrap="square" lIns="0" tIns="0" rIns="0" bIns="0" anchor="t">
            <a:noAutofit/>
          </a:bodyPr>
          <a:lstStyle/>
          <a:p>
            <a:pPr algn="l">
              <a:lnSpc>
                <a:spcPct val="100000"/>
              </a:lnSpc>
              <a:spcBef>
                <a:spcPts val="0"/>
              </a:spcBef>
              <a:spcAft>
                <a:spcPts val="400"/>
              </a:spcAft>
              <a:buNone/>
            </a:pPr>
            <a:r>
              <a:rPr lang="en-US" sz="3000" b="1" spc="-40" dirty="0">
                <a:solidFill>
                  <a:srgbClr val="0F172A"/>
                </a:solidFill>
                <a:latin typeface="Arial"/>
                <a:cs typeface="Arial"/>
              </a:rPr>
              <a:t>8</a:t>
            </a:r>
            <a:endParaRPr lang="en-US" sz="3000" dirty="0"/>
          </a:p>
          <a:p>
            <a:pPr algn="l">
              <a:lnSpc>
                <a:spcPct val="110000"/>
              </a:lnSpc>
              <a:spcBef>
                <a:spcPts val="0"/>
              </a:spcBef>
              <a:spcAft>
                <a:spcPts val="300"/>
              </a:spcAft>
              <a:buNone/>
            </a:pPr>
            <a:r>
              <a:rPr lang="en-US" sz="1100" b="1" dirty="0">
                <a:solidFill>
                  <a:srgbClr val="0F172A"/>
                </a:solidFill>
                <a:latin typeface="Arial"/>
                <a:cs typeface="Arial"/>
              </a:rPr>
              <a:t>sections</a:t>
            </a:r>
            <a:endParaRPr lang="en-US" sz="1100" dirty="0"/>
          </a:p>
        </p:txBody>
      </p:sp>
      <p:sp>
        <p:nvSpPr>
          <p:cNvPr id="17" name="Text 17"/>
          <p:cNvSpPr txBox="1"/>
          <p:nvPr/>
        </p:nvSpPr>
        <p:spPr>
          <a:xfrm>
            <a:off x="711200" y="3275584"/>
            <a:ext cx="9046464" cy="2896616"/>
          </a:xfrm>
          <a:prstGeom prst="rect">
            <a:avLst/>
          </a:prstGeom>
          <a:noFill/>
          <a:ln>
            <a:noFill/>
          </a:ln>
        </p:spPr>
        <p:txBody>
          <a:bodyPr wrap="square" lIns="0" tIns="0" rIns="0" bIns="0" anchor="t">
            <a:noAutofit/>
          </a:bodyPr>
          <a:lstStyle/>
          <a:p>
            <a:pPr algn="l">
              <a:lnSpc>
                <a:spcPct val="120000"/>
              </a:lnSpc>
              <a:spcBef>
                <a:spcPts val="0"/>
              </a:spcBef>
              <a:spcAft>
                <a:spcPts val="1000"/>
              </a:spcAft>
              <a:buNone/>
            </a:pPr>
            <a:r>
              <a:rPr lang="en-US" sz="1250" dirty="0">
                <a:solidFill>
                  <a:srgbClr val="0F172A"/>
                </a:solidFill>
                <a:latin typeface="Arial"/>
                <a:cs typeface="Arial"/>
              </a:rPr>
              <a:t>Research question: “Opensource Projects to contribute as a Someone with SRE, DevOps, Golang Experience pivoting in Inference, AI and LLM world with no idea”</a:t>
            </a:r>
            <a:endParaRPr lang="en-US" sz="1250" dirty="0"/>
          </a:p>
          <a:p>
            <a:pPr algn="l">
              <a:lnSpc>
                <a:spcPct val="124000"/>
              </a:lnSpc>
              <a:spcBef>
                <a:spcPts val="0"/>
              </a:spcBef>
              <a:spcAft>
                <a:spcPts val="1000"/>
              </a:spcAft>
              <a:buNone/>
            </a:pPr>
            <a:r>
              <a:rPr lang="en-US" sz="1150" dirty="0">
                <a:solidFill>
                  <a:srgbClr val="334155"/>
                </a:solidFill>
                <a:latin typeface="Arial"/>
                <a:cs typeface="Arial"/>
              </a:rPr>
              <a:t>Compiled from public sources by Boku, an automated multi-agent research pipeline: parallel researchers, an independent fact-checker, synthesis and an editor. Every figure on these slides traces to a cited finding. Numbered citations refer to the companion file open-source-paths-into-llm-inference-sre-go-engineers.references.json. Speaker notes carry the full text behind each slide.</a:t>
            </a:r>
            <a:endParaRPr lang="en-US" sz="1150" dirty="0"/>
          </a:p>
          <a:p>
            <a:pPr algn="l">
              <a:lnSpc>
                <a:spcPct val="124000"/>
              </a:lnSpc>
              <a:spcBef>
                <a:spcPts val="0"/>
              </a:spcBef>
              <a:spcAft>
                <a:spcPts val="0"/>
              </a:spcAft>
              <a:buNone/>
            </a:pPr>
            <a:r>
              <a:rPr lang="en-US" sz="1150" dirty="0">
                <a:solidFill>
                  <a:srgbClr val="64748B"/>
                </a:solidFill>
                <a:latin typeface="Arial"/>
                <a:cs typeface="Arial"/>
              </a:rPr>
              <a:t>Verify material facts before relying on them.</a:t>
            </a:r>
            <a:endParaRPr lang="en-US" sz="1150" dirty="0"/>
          </a:p>
        </p:txBody>
      </p:sp>
      <p:sp>
        <p:nvSpPr>
          <p:cNvPr id="18" name="Text 18"/>
          <p:cNvSpPr txBox="1"/>
          <p:nvPr/>
        </p:nvSpPr>
        <p:spPr>
          <a:xfrm>
            <a:off x="711200" y="61214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94A3B8"/>
                </a:solidFill>
                <a:latin typeface="Arial"/>
                <a:cs typeface="Arial"/>
              </a:rPr>
              <a:t>Boku dev · Run 2026-09-30T052331-opensource-projects-contribute-someone</a:t>
            </a:r>
            <a:endParaRPr lang="en-US" sz="850" dirty="0"/>
          </a:p>
        </p:txBody>
      </p:sp>
    </p:spTree>
  </p:cSld>
  <p:clrMapOvr>
    <a:masterClrMapping/>
  </p:clrMapOvr>
</p:sld>
</file>

<file path=ppt/theme/theme1.xml><?xml version="1.0" encoding="utf-8"?>
<a:theme xmlns:a="http://schemas.openxmlformats.org/drawingml/2006/main" name="Boku aurora">
  <a:themeElements>
    <a:clrScheme name="Boku aurora">
      <a:dk1>
        <a:srgbClr val="0F172A"/>
      </a:dk1>
      <a:lt1>
        <a:srgbClr val="FFFFFF"/>
      </a:lt1>
      <a:dk2>
        <a:srgbClr val="334155"/>
      </a:dk2>
      <a:lt2>
        <a:srgbClr val="F8FAFC"/>
      </a:lt2>
      <a:accent1>
        <a:srgbClr val="4F46E5"/>
      </a:accent1>
      <a:accent2>
        <a:srgbClr val="06B6D4"/>
      </a:accent2>
      <a:accent3>
        <a:srgbClr val="F59E0B"/>
      </a:accent3>
      <a:accent4>
        <a:srgbClr val="EC4899"/>
      </a:accent4>
      <a:accent5>
        <a:srgbClr val="10B981"/>
      </a:accent5>
      <a:accent6>
        <a:srgbClr val="94A3B8"/>
      </a:accent6>
      <a:hlink>
        <a:srgbClr val="4F46E5"/>
      </a:hlink>
      <a:folHlink>
        <a:srgbClr val="64748B"/>
      </a:folHlink>
    </a:clrScheme>
    <a:fontScheme name="Boku">
      <a:majorFont>
        <a:latin typeface="Arial"/>
        <a:ea typeface=""/>
        <a:cs typeface=""/>
      </a:majorFont>
      <a:minorFont>
        <a:latin typeface="Arial"/>
        <a:ea typeface=""/>
        <a:cs typeface=""/>
      </a:minorFont>
    </a:fontScheme>
    <a:fmtScheme name="Boku">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Boku notes">
  <a:themeElements>
    <a:clrScheme name="Boku notes">
      <a:dk1>
        <a:srgbClr val="0F172A"/>
      </a:dk1>
      <a:lt1>
        <a:srgbClr val="FFFFFF"/>
      </a:lt1>
      <a:dk2>
        <a:srgbClr val="334155"/>
      </a:dk2>
      <a:lt2>
        <a:srgbClr val="F8FAFC"/>
      </a:lt2>
      <a:accent1>
        <a:srgbClr val="4F46E5"/>
      </a:accent1>
      <a:accent2>
        <a:srgbClr val="06B6D4"/>
      </a:accent2>
      <a:accent3>
        <a:srgbClr val="F59E0B"/>
      </a:accent3>
      <a:accent4>
        <a:srgbClr val="EC4899"/>
      </a:accent4>
      <a:accent5>
        <a:srgbClr val="10B981"/>
      </a:accent5>
      <a:accent6>
        <a:srgbClr val="94A3B8"/>
      </a:accent6>
      <a:hlink>
        <a:srgbClr val="4F46E5"/>
      </a:hlink>
      <a:folHlink>
        <a:srgbClr val="64748B"/>
      </a:folHlink>
    </a:clrScheme>
    <a:fontScheme name="Boku">
      <a:majorFont>
        <a:latin typeface="Arial"/>
        <a:ea typeface=""/>
        <a:cs typeface=""/>
      </a:majorFont>
      <a:minorFont>
        <a:latin typeface="Arial"/>
        <a:ea typeface=""/>
        <a:cs typeface=""/>
      </a:minorFont>
    </a:fontScheme>
    <a:fmtScheme name="Boku">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TotalTime>0</TotalTime>
  <Application>Boku dev</Application>
  <PresentationFormat>Widescreen</PresentationFormat>
  <Slides>43</Slides>
  <Notes>43</Notes>
</Properties>
</file>

<file path=docProps/core.xml><?xml version="1.0" encoding="utf-8"?>
<cp:coreProperties xmlns:cp="http://schemas.openxmlformats.org/package/2006/metadata/core-properties" xmlns:dc="http://purl.org/dc/elements/1.1/" xmlns:dcterms="http://purl.org/dc/terms/" xmlns:xsi="http://www.w3.org/2001/XMLSchema-instance">
  <dc:title>Open-Source Paths into LLM Inference for SRE and Go Engineers</dc:title>
  <dc:subject>Opensource Projects to contribute as a Someone with SRE, DevOps, Golang Experience pivoting in Inference, AI and LLM world with no idea</dc:subject>
  <dc:creator>Boku research agents</dc:creator>
  <cp:lastModifiedBy>Boku dev</cp:lastModifiedBy>
  <dcterms:created xsi:type="dcterms:W3CDTF">2026-09-30T05:23:31Z</dcterms:created>
  <dcterms:modified xsi:type="dcterms:W3CDTF">2026-09-30T05:23:31Z</dcterms:modified>
</cp:coreProperties>
</file>