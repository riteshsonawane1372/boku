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B5C5B4A11}"/>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0000"/>
  </p:normalViewPr>
  <p:slideViewPr>
    <p:cSldViewPr>
      <p:cViewPr varScale="1">
        <p:scale>
          <a:sx n="100" d="100"/>
          <a:sy n="100" d="100"/>
        </p:scale>
        <p:origin x="0" y="0"/>
      </p:cViewPr>
    </p:cSldViewPr>
  </p:slideViewPr>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notesMaster" Target="notesMasters/notesMaster1.xml"/><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685800" y="685800"/>
            <a:ext cx="5486400" cy="3086100"/>
          </a:xfrm>
          <a:prstGeom prst="rect">
            <a:avLst/>
          </a:prstGeom>
          <a:noFill/>
          <a:ln w="12700">
            <a:solidFill>
              <a:prstClr val="black"/>
            </a:solidFill>
          </a:ln>
        </p:spPr>
      </p:sp>
      <p:sp>
        <p:nvSpPr>
          <p:cNvPr id="3" name="Notes Placeholder 2"/>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Notes</a:t>
            </a: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Research question: How Kubernetes is being used for AI infrastructure</a:t>
            </a:r>
          </a:p>
          <a:p>
            <a:r>
              <a:rPr lang="en-US" dirty="0"/>
              <a:t>Compiled from public sources by an automated multi-agent research pipeline. Verify material facts before relying on them.</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 of September 2026, Kubernetes is the default control plane for AI inference. For training it is a growing platform, but it still depends on add-ons. In the CNCF 2025 Annual Cloud Native Survey, released in January 2026, 66% of organisations hosting generative AI models use Kubernetes for some or all of their inference, and 82% of container users run Kubernetes in production [1,2]. No comparable official figure exists for training on Kubernetes. Over half of organisations do not train models at all [1,3,4].</a:t>
            </a:r>
          </a:p>
          <a:p>
            <a:r>
              <a:rPr lang="en-US" dirty="0"/>
              <a:t>Adoption is broad but shallow. In the same survey, 44% of organisations do not yet run AI/ML workloads on Kubernetes, and only 7% deploy models daily [1,3]. The economics favour Kubernetes' strengths anyway. Gartner forecasts that inference will account for 55% ($23.3B) of AI-optimised IaaS spending in 2026, overtaking training for the first time, and 59% in 2027 [5].</a:t>
            </a:r>
          </a:p>
          <a:p>
            <a:r>
              <a:rPr lang="en-US" dirty="0"/>
              <a:t>The inference stack has converged on shared upstream parts. These are the stable v1 InferencePool API with a model-aware Endpoint Picker [6,7,8], llm-d (a CNCF Sandbox project since March 2026) [9,10,11,12], and KServe's LLMInferenceService built on llm-d [13]. NVIDIA Dynamo with Grove is the main parallel stack [14,15]. KV-cache-aware routing is the best-evidenced performance lever. Google reports a 35% lower time to first token for one Vertex AI model and a 52% better P95 for another [16]. These figures, like all others in this area, are self-reported.</a:t>
            </a:r>
          </a:p>
          <a:p>
            <a:r>
              <a:rPr lang="en-US" dirty="0"/>
              <a:t>Accelerator management now rests on Dynamic Resource Allocation (DRA). Its core APIs went GA in v1.34 (September 2025) [17], and GPU partitioning, consumable capacity and device health moved to beta in v1.36 (April 2026) [18,19]. Training at scale is less mature. Native workload-aware (gang) scheduling is still alpha in v1.36 [19,20], and GPU allocation in NVIDIA's DRA driver is experimental [21]. Large training clusters therefore rely on Kueue, Volcano, KAI Scheduler or Slurm running on Kubernetes [20,21,22,23,24,25].</a:t>
            </a:r>
          </a:p>
          <a:p>
            <a:r>
              <a:rPr lang="en-US" dirty="0"/>
              <a:t>Vendors build on the same primitives, checked through CNCF's Kubernetes AI Conformance programme. It launched in November 2025 and had 31 certified platforms by March 2026 [26,27]. Vendors compete on control-plane scale, managed operations and vertical integration [16,24,25,26,28,29,30,31,32]. For platform teams, the practical priorities are the ones production users say matter most: queueing and GPU sharing to raise utilisation, and faster movement of model weights [33,34,35,36,37].</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Kubernetes is mainly an inference platform for AI today. In the CNCF 2025 survey (released 20 January 2026), 66% of organisations hosting generative AI models run some or all inference on Kubernetes [1,2]. No official training-on-Kubernetes figure exists, and over half of organisations do not train models [1,3,4].</a:t>
            </a:r>
          </a:p>
          <a:p>
            <a:r>
              <a:rPr lang="en-US" dirty="0"/>
              <a:t>2. Adoption is wide but operationally immature. 44% of organisations do not yet run AI/ML on Kubernetes and only 7% deploy models daily [1,3]. A separate 2025 study found 35% of platform teams do not orchestrate AI workloads [38].</a:t>
            </a:r>
          </a:p>
          <a:p>
            <a:r>
              <a:rPr lang="en-US" dirty="0"/>
              <a:t>3. DRA is the accelerator foundation, but gang scheduling for training is still alpha upstream. Core DRA went GA in v1.34, and partitionable devices and device health went beta in v1.36 [17,18,19]. Workload-aware scheduling and PodGroup are alpha in v1.36 [19,20], so training clusters rely on Kueue, Volcano, KAI or Slurm-on-Kubernetes [20,21,22,23].</a:t>
            </a:r>
          </a:p>
          <a:p>
            <a:r>
              <a:rPr lang="en-US" dirty="0"/>
              <a:t>4. The Kubernetes inference stack has converged on InferencePool, llm-d and LeaderWorkerSet, with NVIDIA Dynamo as the main alternative. InferencePool is stable at v1 and its production Endpoint Picker now lives in llm-d [6,7,8]. KServe v0.17 and OpenShift AI 3 build on llm-d [13,32]. Grove is being integrated with llm-d [31,39].</a:t>
            </a:r>
          </a:p>
          <a:p>
            <a:r>
              <a:rPr lang="en-US" dirty="0"/>
              <a:t>5. KV-cache-aware routing delivers the best-documented gains, all of them self-reported. Google reports up to 40% lower TTFT and inter-token latency (ITL) from llm-d predicted-latency scheduling in Vertex AI [40]. Baseten reports 48–49% lower P95/P99 latency with Dynamo's router [41]. Tesla reports 3x output tokens/s on one deployment [42,43].</a:t>
            </a:r>
          </a:p>
          <a:p>
            <a:r>
              <a:rPr lang="en-US" dirty="0"/>
              <a:t>6. Utilisation and cost gains come from scheduling and sharing more than from hardware. China Merchants Bank pooled nearly 10,000 accelerators under Kueue, KEDA, HAMi and Fluid [33]. It raised utilisation from 35% to over 60% and cut inference cost per million tokens by over 60% [33].</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 At the frontier, power and networking limit scale more than Kubernetes does. Google ran a 130,000-node experimental GKE cluster and named electrical power as the main constraint (about 2,700 W per GB200 GPU) [28]. EKS has supported 100,000 nodes since July 2025 [29].</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strongest adoption signal is about inference. The CNCF 2025 Annual Cloud Native Survey was released on 20 January 2026. It found that 66% of organisations hosting generative AI models use Kubernetes for some or all of their inference workloads, and that 82% of container users run Kubernetes in production, up from 66% in 2023 [1,2]. Official materials give only the combined 66% figure. We could not confirm a reported split into 'all' versus 'some' inference in any source [1,3,4,44].</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Beneath that headline, adoption is shallow. Only 7% of organisations deploy AI models daily, 47% deploy them occasionally, and 44% do not yet run AI/ML workloads on Kubernetes at all [1,3]. A CNCF blog from August 2026 cites 2025 platform-engineering research finding that 35% of platform teams still do not orchestrate AI workloads [38].</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training-adoption figure: No official CNCF or Linux Foundation page gives a share of organisations training models on Kubernetes. The 36% 'training' figure in the press release is a skills challenge, not model training [1,3,4]. Public survey data covers inference far better than training [1,3,47].</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Gartner (August 2026) forecasts worldwide AI-optimised IaaS spending to grow 96% to about $42B in 2026. Of that, $23.3B (55%) is forecast for inference and $19B for training. Gartner expects the inference share to reach 59% in 2027, in a market of about $66B [5]. Deloitte measures compute rather than spending. It estimates inference at about one-third of AI compute in 2023 and about half in 2025, and projects about two-thirds in 2026 [48].</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two forecasts measure different things and neither is a precise market share, but they point the same way. This suggests that the elastic, service-style workloads Kubernetes handles best will make up a growing share of AI infrastructure [5,48].</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Dynamic Resource Allocation replaces the fixed-count device-plugin model with claimable, parameterised devices. Its core resource.k8s.io APIs reached GA in Kubernetes v1.34 on 1 September 2025 [17]. v1.36 (22 April 2026) moved the features that matter most for GPUs into beta, enabled by default. These are partitionable devices, consumable capacity, and device taints and tolerations [18,19].</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Device health reporting closes a long-standing operational blind spot. With allocatedResourcesStatus at beta, operators can see in 'kubectl describe pod' whether a crash loop comes from an unhealthy device. This works for both device-plugin and DRA devices [19].</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Device health reporting closes a long-standing operational blind spot. With allocatedResourcesStatus at beta, operators can see in 'kubectl describe pod' whether a crash loop comes from an unhealthy device. This works for both device-plugin and DRA devices [19].</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NVIDIA's DRA driver provides ComputeDomains, an officially supported abstraction for secure Multi-Node NVLink on systems such as GB200. It sets up IMEX channels and ties the domain's lifetime to the workload [21]. The driver's GPU-allocation component is still experimental and off by default [21]. At KubeCon Europe in March 2026, NVIDIA donated the driver to community governance under the Kubernetes project [31,39].</a:t>
            </a:r>
          </a:p>
          <a:p>
            <a:r>
              <a:rPr lang="en-US" dirty="0"/>
              <a:t>Caution: DRA is GA as an API, but the most common use, allocating NVIDIA GPUs through DRA, is not yet officially supported in NVIDIA's driver [21]. Most GPU clusters still depend on device plugins or vendor tooling for day-to-day allocation. This last point is our inference.</a:t>
            </a:r>
          </a:p>
          <a:p>
            <a:r>
              <a:rPr lang="en-US" dirty="0"/>
              <a:t>WG Device Management set its 2026 priorities in June. They are multi-node allocation through integration with workload-aware scheduling, device health and failure detection, advanced sharing, and portable specifications [51].</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Distributed training needs all-or-nothing placement: a job whose workers cannot all start wastes every GPU it holds. Kubernetes first added native gang scheduling as alpha in v1.35 [20,50,52,53]. v1.36 reworked it into Workload Aware Scheduling, with a static Workload API, a decoupled runtime PodGroup API integrated with the Job controller, and a scheduling cycle that evaluates each group atomically. All of it is still alpha [19,20].</a:t>
            </a:r>
          </a:p>
          <a:p>
            <a:r>
              <a:rPr lang="en-US" dirty="0"/>
              <a:t>Production training therefore runs on add-on schedulers. Kueue's queueing, quotas with fair sharing and preemption, timeout-based all-or-nothing admission and topology-aware scheduling are GA. MultiKueue multi-cluster dispatch reached GA in February 2026 [54,55]. Kueue integrates with Job, JobSet, Kubeflow jobs, Ray and LeaderWorkerSet, and its latest stable release is v0.19.5 from 17 September 2026 [54,55]. Volcano v1.14 added gang scheduling at PodGroup and SubGroup level with network-topology-aware bin-packing. v1.15 (30 May 2026) added gang-level preemption and brought DRA devices under queue quotas [56,57].</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NVIDIA's KAI Scheduler, the open-sourced Run:ai scheduler, joined the CNCF Sandbox in March 2026 [31,39]. It provides the hierarchical gang scheduling that Grove relies on [14,15]. On the operator side, Kubeflow Trainer v2.2 (20 March 2026) merges the old per-framework job types into one TrainJob API on JobSet. It lists DRA, multi-node NVLink and native workload-aware scheduling as roadmap items [23]. Managed platforms fill the same gap. SageMaker HyperPod on EKS added gang scheduling with timeout-based requeueing in April 2026 [58].</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CoreWeave's SUNK runs Slurm login and compute nodes as pods on its Kubernetes service. A syncer and a Slurm-aware pod scheduler let batch jobs and Kubernetes services share one compute pool, with GPU straggler detection added [24]. NVIDIA reports running SchedMD's Slinky slurm-operator across internal clusters totalling more than 8,000 GPUs. It measured NCCL collective performance matching non-containerised Slurm, with a limit of one worker pod per node [25]. NVIDIA announced its acquisition of SchedMD on 15 December 2025 and committed to keeping Slurm open source [59].</a:t>
            </a:r>
          </a:p>
          <a:p>
            <a:r>
              <a:rPr lang="en-US" dirty="0"/>
              <a:t>Insight: Teams with HPC-style training habits do not have to choose between Slurm and Kubernetes. The evidence points to Slurm semantics running on a Kubernetes substrate that is shared with inference [24,25]. This is our interpretation.</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Gateway API Inference Extension is the routing layer. Its InferencePool API is stable at v1 and groups model-server Pods behind a standard Gateway such as Envoy Gateway, kgateway, GKE Gateway, NGINX or Istio. An Endpoint Picker (EPP) chooses a replica for each request from its KV-cache utilisation, queue length and active LoRA adapters [6,7,8]. In v1.6.0 the production EPP moved into the llm-d repository, and a lightweight reference EPP remains for conformance [6,7,8].</a:t>
            </a:r>
          </a:p>
          <a:p>
            <a:r>
              <a:rPr lang="en-US" dirty="0"/>
              <a:t>llm-d supplies the serving stack: vLLM plus the inference scheduler, tiered KV-cache offload, prefill/decode disaggregation and wide expert parallelism. It joined the CNCF Sandbox in March 2026 [9,10,11,12]. Its v0.9 release on 28 August 2026 added router high availability, KEDA autoscaling on KV-cache pressure and queue depth, and revision-aware routing for disaggregated deployments [9,10,11,12]. The same release added support for GB200/GB300, Intel XPU, ROCm and TPU v7 [9,10,11,12].</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Higher-level platforms wrap these parts. KServe v0.17 (13 March 2026) made LLMInferenceService production-ready on llm-d. It adds KV-cache-aware routing via the EPP, prefill/decode disaggregation, and multi-node tensor, data and expert parallelism via LeaderWorkerSet. Its Workload Variant Autoscaler scales on KV-cache use and queue depth [13]. LeaderWorkerSet deploys a leader and its workers as one replica. Its DisaggregatedSet API, co-designed with llm-d, coordinates prefill/decode rollouts, though its own gang scheduling is still alpha [22].</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NVIDIA Dynamo models an inference graph as a custom resource managed by an operator. Grove orchestrates the router, prefill and decode roles as PodCliques inside a PodCliqueSet, and uses KAI Scheduler for hierarchical gang scheduling [14,15]. Dynamo 1.0 shipped on 16 March 2026 with 17 named production adopters and integrations with managed services including EKS and AKS [60]. NVIDIA says Grove's API is being integrated with llm-d, which should narrow the gap between the two stacks [31,39].</a:t>
            </a:r>
          </a:p>
          <a:p>
            <a:r>
              <a:rPr lang="en-US" dirty="0"/>
              <a:t>Getting weights onto GPUs quickly is the main cold-start problem. OCI Artifact and Image volume sources (KEP-4639) went stable in v1.36, so weights can be packaged as OCI artifacts and mounted from a registry [19]. On GKE, the Cloud Storage FUSE serving profile cut load time for a 480 GB Qwen3-235B-A22B model on TPUs from 39 hours to 14 minutes, according to Google (April 2026) [61].</a:t>
            </a:r>
          </a:p>
          <a:p>
            <a:r>
              <a:rPr lang="en-US" dirty="0"/>
              <a:t>Caution: No independent, like-for-like benchmark compares llm-d, KServe, Dynamo and other stacks. Every performance figure in this report comes from a vendor or adopter.</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major platforms package the same upstream primitives and differentiate on three things: control-plane scale, managed operations and vertical integration [16,24,25,26,28,29,30,31,32]. The first certified platforms in CNCF's AI Conformance programme (November 2025) were EKS, GKE, Microsoft Azure, Red Hat OpenShift and Broadcom VKS, with CoreWeave, Oracle Cloud and Akamai among the supporters [26].</a:t>
            </a: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Scale engineering is where the hyperscalers diverge most visibly. Google's 130,000-node experiment replaced etcd with a Spanner-based store and handled 13,000 QPS of lease updates. It created 130,000 Pods in 3 minutes 40 seconds and preempted 39,000 Pods in 93 seconds [28]. AWS rebuilt EKS's etcd storage layer to support 100,000 nodes, which it equates to up to 800,000 NVIDIA GPUs [29].</a:t>
            </a: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Scale engineering is where the hyperscalers diverge most visibly. Google's 130,000-node experiment replaced etcd with a Spanner-based store and handled 13,000 QPS of lease updates. It created 130,000 Pods in 3 minutes 40 seconds and preempted 39,000 Pods in 93 seconds [28]. AWS rebuilt EKS's etcd storage layer to support 100,000 nodes, which it equates to up to 800,000 NVIDIA GPUs [29].</a:t>
            </a: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Microsoft's Build 2026 announcements follow a strategy of wrapping open source (Kubernetes, Ray, Gateway API) in managed services [30]. Red Hat made llm-d generally available in OpenShift AI 3 in October 2025 [32]. NVIDIA is the most vertically integrated. It spans GPU allocation (DRA driver), scheduling (KAI), serving (Dynamo, Grove) and, through SchedMD, Slurm [31,39,59].</a:t>
            </a:r>
          </a:p>
          <a:p>
            <a:r>
              <a:rPr lang="en-US" dirty="0"/>
              <a:t>Note: The corpus contains no cost comparison between managed offerings, and no detail on the EKS and AKS inference gateways. Treat the table as a capability map, not a buyer's ranking.</a:t>
            </a: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Context and problem: training needs stable reserved capacity while inference needs fast elastic scaling. China Merchants Bank had nearly 10,000 heterogeneous accelerator cards to serve both [33].</a:t>
            </a:r>
          </a:p>
          <a:p>
            <a:r>
              <a:rPr lang="en-US" dirty="0"/>
              <a:t>Approach: the bank built one Kubernetes control plane. It uses Kueue for admission and quotas, KEDA and Prometheus for inference autoscaling, HAMi for fine-grained accelerator sharing and Fluid for faster access to data and weights, with 99% of accelerator resources under the unified framework [33].</a:t>
            </a:r>
          </a:p>
          <a:p>
            <a:r>
              <a:rPr lang="en-US" dirty="0"/>
              <a:t>Results: average accelerator utilisation rose from 35% to over 60%, and inference cost per million tokens fell by more than 60% [33]. Five LoRA fine-tuning tenants sharing one base-model instance cut accelerator use by 80% [33].</a:t>
            </a:r>
          </a:p>
          <a:p>
            <a:r>
              <a:rPr lang="en-US" dirty="0"/>
              <a:t>Lessons: in this case the gains came from queueing, sharing and pooling, not from new hardware. This is consistent with other deployments, where default Kubernetes scheduling proved insufficient for shared GPUs [33,34,35,36,37].</a:t>
            </a: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HAMi's KubeCon China recap reports that ICBC's GPU utilisation rose from 20% to 70% and that SF Express cut its GPUs from 1,400 to 1,000. These are self-reported in a project recap [63]. The Character.AI figures (60% faster model loading, 50% lower TCO) and Anthropic's TPU dynamic-slicing figures trace only to conference videos [36,62,64,65,66]. Google's official documentation states dynamic slicing gives up to 5x faster startup and 4.5x faster recovery [62].</a:t>
            </a: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Earlier milestones are historical. OpenAI reported scaling one Kubernetes cluster to 7,500 nodes in January 2021, per a secondary summary [67]. In November 2024, Anthropic's Head of Compute endorsed GKE's 65,000-node support as 'the scale we need' [68]. That quote does not by itself establish which workloads Anthropic runs on GKE.</a:t>
            </a: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Gang scheduling is not native yet. Workload Aware Scheduling and PodGroup are alpha in v1.36, and LeaderWorkerSet gang scheduling is alpha [19,20,22]. Training clusters depend on Kueue, Volcano, KAI or managed equivalents [20,21,22,23].</a:t>
            </a:r>
          </a:p>
          <a:p>
            <a:r>
              <a:rPr lang="en-US" dirty="0"/>
              <a:t>GPU allocation through DRA is not production-ready from NVIDIA. The driver's GPU-allocation path is experimental and off by default, and dynamic MIG is still planned [21]. Kubeflow Trainer lists DRA and multi-node NVLink as future work [23].</a:t>
            </a:r>
          </a:p>
          <a:p>
            <a:r>
              <a:rPr lang="en-US" dirty="0"/>
              <a:t>Utilisation and multi-tenancy are the main cost levers. Default scheduling falls short for shared GPUs [35], and China Merchants Bank started from 35% average utilisation [33]. The corpus has no tier-1 comparison of the isolation trade-offs between hardware partitioning and software sharing such as HAMi.</a:t>
            </a:r>
          </a:p>
          <a:p>
            <a:r>
              <a:rPr lang="en-US" dirty="0"/>
              <a:t>Moving weights and images is a bottleneck. Tesla cited storage problems with multi-hundred-GB models and manual recovery from local-PV affinity [42,43]. Subaru's 30 GB+ images took about 3 hours to pull before its platform rebuild [34].</a:t>
            </a:r>
          </a:p>
          <a:p>
            <a:r>
              <a:rPr lang="en-US" dirty="0"/>
              <a:t>At the frontier, the limits are power, networking and multi-cluster operation. Google names electrical power as the main limit on scale and lists managed DRANET for RDMA and MultiKueue as future work [28].</a:t>
            </a:r>
          </a:p>
          <a:p>
            <a:r>
              <a:rPr lang="en-US" dirty="0"/>
              <a:t>Evidence on failure handling and goodput is thin. Beyond NVIDIA's finding that Slinky adds no measurable NCCL overhead [25], we found no quantitative comparison of large-run resilience on Kubernetes versus bare-metal Slurm.</a:t>
            </a:r>
          </a:p>
          <a:p>
            <a:r>
              <a:rPr lang="en-US" dirty="0"/>
              <a:t>Note: Non-NVIDIA accelerators are under-documented. Apart from release notes, such as llm-d v0.9 support for ROCm, Intel XPU and TPU v7 [9,10,11,12], the corpus has one AMD production data point (Tesla on MI300X) [42,43].</a:t>
            </a: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CNCF's Certified Kubernetes AI Conformance programme launched on 11 November 2025. It covers GPU resource management, distributed scheduling, accelerator autoscaling and monitoring [26]. By 24 March 2026, 31 platforms were certified, up from 18. The v1.35 requirements added high-performance pod-to-pod communication, advanced inference ingress, disaggregated inference and agentic workloads [27]. The conformance repository accepts certifications for v1.33 through v1.37, each valid for one year. v1.37 introduced hybrid verification that combines automated tests with manual attestation [69].</a:t>
            </a: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Community governance has spread out from a single working group. WG Serving concluded on 26 February 2026 and handed its work to SIG Node, Scheduling, Apps, Network and Scalability and to WG Device Management [70]. A new AI Gateway Working Group, announced on 9 March 2026, builds on the Inference Extension to standardise networking for AI traffic [71].</a:t>
            </a: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recommendations below are our interpretation of the evidence, ordered by how mature the underlying components are.</a:t>
            </a:r>
          </a:p>
          <a:p>
            <a:r>
              <a:rPr lang="en-US" dirty="0"/>
              <a:t>Adopt Kueue now for queueing, quotas and all-or-nothing admission. Its core features and MultiKueue are GA [54,55], and it underpins the China Merchants Bank, Wayve and Google 130,000-node results [28,33,35].</a:t>
            </a:r>
          </a:p>
          <a:p>
            <a:r>
              <a:rPr lang="en-US" dirty="0"/>
              <a:t>Plan device management around DRA. Use the v1.36 beta sharing and health features [18,19], and keep device plugins or vendor tooling for NVIDIA GPU allocation until the driver's path leaves experimental status [21].</a:t>
            </a:r>
          </a:p>
          <a:p>
            <a:r>
              <a:rPr lang="en-US" dirty="0"/>
              <a:t>Standardise inference routing on InferencePool with a production EPP. Choose llm-d/KServe or Dynamo for the serving layer, and design autoscaling around KV-cache and queue signals rather than CPU [6,7,8,9,10,11,12,13].</a:t>
            </a:r>
          </a:p>
          <a:p>
            <a:r>
              <a:rPr lang="en-US" dirty="0"/>
              <a:t>Treat native gang scheduling as upcoming, not available. Workload Aware Scheduling is alpha [19,20], and Kueue and Volcano API versions are still changing (Kueue v0.20 stops serving v1beta1) [54,55].</a:t>
            </a:r>
          </a:p>
          <a:p>
            <a:r>
              <a:rPr lang="en-US" dirty="0"/>
              <a:t>Budget for weight distribution. Evaluate OCI image volumes, now stable [19], and storage-side acceleration such as GKE's FUSE serving profile [61].</a:t>
            </a: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Require current AI Conformance certification from vendors, and check the Kubernetes version it covers [69].</a:t>
            </a:r>
          </a:p>
          <a:p>
            <a:r>
              <a:rPr lang="en-US" dirty="0"/>
              <a:t>Insight: The largest reported gains come from pooling and sharing GPUs across tenants and workload types, not from swapping serving frameworks [33,34,35,36,37]. Organisational and scheduling work is likely to repay more than stack selection. This is our inference.</a:t>
            </a: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most organisations, the question is no longer whether to run AI inference on Kubernetes. It is how quickly they can move from occasional deployments to operating AI as a routine platform service. The 7% of organisations deploying models daily [1,3] marks how early most teams still are. The forecast shift of spending toward inference [5] means that gap will increasingly show up as cost.</a:t>
            </a:r>
          </a:p>
          <a:p>
            <a:r>
              <a:rPr lang="en-US" dirty="0"/>
              <a:t>Three developments will decide whether Kubernetes also becomes the default for large-scale training. The first is promotion of Workload Aware Scheduling and PodGroup-scoped DRA claims beyond alpha and beta [19,20,49,50]. The second is official GPU allocation in NVIDIA's community-governed DRA driver [21,31,39]. The third is whether Slurm-on-Kubernetes under NVIDIA's ownership of SchedMD stays vendor-neutral in practice [25,59].</a:t>
            </a:r>
          </a:p>
          <a:p>
            <a:r>
              <a:rPr lang="en-US" dirty="0"/>
              <a:t>On inference, watch whether Grove's integration with llm-d merges the two leading stacks [31,39], and whether the AI Gateway Working Group standardises traffic handling beyond single-model routing [71]. The evidence also still lacks independent benchmarks. Until neutral, like-for-like results exist, platform teams should reproduce vendor latency claims on their own traffic before committing.</a:t>
            </a: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defRPr sz="2800" b="1">
          <a:solidFill>
            <a:schemeClr val="tx1"/>
          </a:solidFill>
          <a:latin typeface="+mj-lt"/>
        </a:defRPr>
      </a:lvl1pPr>
    </p:titleStyle>
    <p:bodyStyle>
      <a:lvl1pPr>
        <a:defRPr sz="1600">
          <a:solidFill>
            <a:schemeClr val="tx1"/>
          </a:solidFill>
          <a:latin typeface="+mn-lt"/>
        </a:defRPr>
      </a:lvl1pPr>
    </p:bodyStyle>
    <p:otherStyle>
      <a:lvl1pPr>
        <a:defRPr sz="1600">
          <a:solidFill>
            <a:schemeClr val="tx1"/>
          </a:solidFill>
          <a:latin typeface="+mn-lt"/>
        </a:defRPr>
      </a:lvl1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p:nvPr/>
        </p:nvSpPr>
        <p:spPr>
          <a:xfrm>
            <a:off x="6096000" y="-3810000"/>
            <a:ext cx="10160000" cy="8636000"/>
          </a:xfrm>
          <a:prstGeom prst="ellipse">
            <a:avLst/>
          </a:prstGeom>
          <a:gradFill rotWithShape="1">
            <a:gsLst>
              <a:gs pos="0">
                <a:srgbClr val="7C3AED">
                  <a:alpha val="42000"/>
                </a:srgbClr>
              </a:gs>
              <a:gs pos="100000">
                <a:srgbClr val="7C3AED">
                  <a:alpha val="0"/>
                </a:srgbClr>
              </a:gs>
            </a:gsLst>
            <a:path path="circle">
              <a:fillToRect l="50000" t="50000" r="50000" b="50000"/>
            </a:path>
          </a:gradFill>
          <a:ln>
            <a:noFill/>
          </a:ln>
        </p:spPr>
      </p:sp>
      <p:sp>
        <p:nvSpPr>
          <p:cNvPr id="3" name="Shape 3"/>
          <p:cNvSpPr/>
          <p:nvPr/>
        </p:nvSpPr>
        <p:spPr>
          <a:xfrm>
            <a:off x="-4064000" y="-1016000"/>
            <a:ext cx="9652000" cy="8890000"/>
          </a:xfrm>
          <a:prstGeom prst="ellipse">
            <a:avLst/>
          </a:prstGeom>
          <a:gradFill rotWithShape="1">
            <a:gsLst>
              <a:gs pos="0">
                <a:srgbClr val="4F46E5">
                  <a:alpha val="30000"/>
                </a:srgbClr>
              </a:gs>
              <a:gs pos="100000">
                <a:srgbClr val="4F46E5">
                  <a:alpha val="0"/>
                </a:srgbClr>
              </a:gs>
            </a:gsLst>
            <a:path path="circle">
              <a:fillToRect l="50000" t="50000" r="50000" b="50000"/>
            </a:path>
          </a:gradFill>
          <a:ln>
            <a:noFill/>
          </a:ln>
        </p:spPr>
      </p:sp>
      <p:sp>
        <p:nvSpPr>
          <p:cNvPr id="4" name="Shape 4"/>
          <p:cNvSpPr/>
          <p:nvPr/>
        </p:nvSpPr>
        <p:spPr>
          <a:xfrm>
            <a:off x="4826000" y="2794000"/>
            <a:ext cx="10414000" cy="7874000"/>
          </a:xfrm>
          <a:prstGeom prst="ellipse">
            <a:avLst/>
          </a:prstGeom>
          <a:gradFill rotWithShape="1">
            <a:gsLst>
              <a:gs pos="0">
                <a:srgbClr val="06B6D4">
                  <a:alpha val="26000"/>
                </a:srgbClr>
              </a:gs>
              <a:gs pos="100000">
                <a:srgbClr val="06B6D4">
                  <a:alpha val="0"/>
                </a:srgbClr>
              </a:gs>
            </a:gsLst>
            <a:path path="circle">
              <a:fillToRect l="50000" t="50000" r="50000" b="50000"/>
            </a:path>
          </a:gradFill>
          <a:ln>
            <a:noFill/>
          </a:ln>
        </p:spPr>
      </p:sp>
      <p:sp>
        <p:nvSpPr>
          <p:cNvPr id="5" name="Text 5"/>
          <p:cNvSpPr txBox="1"/>
          <p:nvPr/>
        </p:nvSpPr>
        <p:spPr>
          <a:xfrm>
            <a:off x="711200" y="787400"/>
            <a:ext cx="1997234" cy="330200"/>
          </a:xfrm>
          <a:prstGeom prst="roundRect">
            <a:avLst>
              <a:gd name="adj" fmla="val 50000"/>
            </a:avLst>
          </a:prstGeom>
          <a:solidFill>
            <a:srgbClr val="FFFFFF"/>
          </a:solidFill>
          <a:ln w="9525" cap="rnd">
            <a:solidFill>
              <a:srgbClr val="B9B5F5"/>
            </a:solidFill>
            <a:round/>
          </a:ln>
        </p:spPr>
        <p:txBody>
          <a:bodyPr wrap="none" lIns="0" tIns="0" rIns="0" bIns="0" anchor="ctr">
            <a:noAutofit/>
          </a:bodyPr>
          <a:lstStyle/>
          <a:p>
            <a:pPr algn="ctr">
              <a:lnSpc>
                <a:spcPct val="108000"/>
              </a:lnSpc>
              <a:spcBef>
                <a:spcPts val="0"/>
              </a:spcBef>
              <a:spcAft>
                <a:spcPts val="0"/>
              </a:spcAft>
              <a:buNone/>
            </a:pPr>
            <a:r>
              <a:rPr lang="en-US" sz="950" b="1" spc="140" dirty="0">
                <a:solidFill>
                  <a:srgbClr val="4F46E5"/>
                </a:solidFill>
                <a:latin typeface="Arial"/>
                <a:cs typeface="Arial"/>
              </a:rPr>
              <a:t>RESEARCH REPORT</a:t>
            </a:r>
            <a:endParaRPr lang="en-US" sz="950" dirty="0"/>
          </a:p>
        </p:txBody>
      </p:sp>
      <p:sp>
        <p:nvSpPr>
          <p:cNvPr id="6" name="Shape 6"/>
          <p:cNvSpPr/>
          <p:nvPr/>
        </p:nvSpPr>
        <p:spPr>
          <a:xfrm>
            <a:off x="711200" y="1778000"/>
            <a:ext cx="660400" cy="76200"/>
          </a:xfrm>
          <a:prstGeom prst="roundRect">
            <a:avLst>
              <a:gd name="adj" fmla="val 50000"/>
            </a:avLst>
          </a:prstGeom>
          <a:gradFill rotWithShape="1">
            <a:gsLst>
              <a:gs pos="0">
                <a:srgbClr val="7C3AED"/>
              </a:gs>
              <a:gs pos="100000">
                <a:srgbClr val="06B6D4"/>
              </a:gs>
            </a:gsLst>
            <a:lin ang="0" scaled="0"/>
          </a:gradFill>
          <a:ln>
            <a:noFill/>
          </a:ln>
        </p:spPr>
      </p:sp>
      <p:sp>
        <p:nvSpPr>
          <p:cNvPr id="7" name="Shape 7"/>
          <p:cNvSpPr/>
          <p:nvPr/>
        </p:nvSpPr>
        <p:spPr>
          <a:xfrm>
            <a:off x="711200" y="1778000"/>
            <a:ext cx="660400" cy="76200"/>
          </a:xfrm>
          <a:prstGeom prst="roundRect">
            <a:avLst>
              <a:gd name="adj" fmla="val 50000"/>
            </a:avLst>
          </a:prstGeom>
          <a:gradFill rotWithShape="1">
            <a:gsLst>
              <a:gs pos="0">
                <a:srgbClr val="4F46E5"/>
              </a:gs>
              <a:gs pos="50000">
                <a:srgbClr val="7C3AED"/>
              </a:gs>
              <a:gs pos="100000">
                <a:srgbClr val="06B6D4"/>
              </a:gs>
            </a:gsLst>
            <a:lin ang="0" scaled="0"/>
          </a:gradFill>
          <a:ln>
            <a:noFill/>
          </a:ln>
        </p:spPr>
      </p:sp>
      <p:sp>
        <p:nvSpPr>
          <p:cNvPr id="8" name="Text 8"/>
          <p:cNvSpPr txBox="1"/>
          <p:nvPr/>
        </p:nvSpPr>
        <p:spPr>
          <a:xfrm>
            <a:off x="711200" y="2133600"/>
            <a:ext cx="10160000" cy="1386840"/>
          </a:xfrm>
          <a:prstGeom prst="rect">
            <a:avLst/>
          </a:prstGeom>
          <a:noFill/>
          <a:ln>
            <a:noFill/>
          </a:ln>
        </p:spPr>
        <p:txBody>
          <a:bodyPr wrap="square" lIns="0" tIns="0" rIns="0" bIns="0" anchor="t">
            <a:noAutofit/>
          </a:bodyPr>
          <a:lstStyle/>
          <a:p>
            <a:pPr algn="l">
              <a:lnSpc>
                <a:spcPct val="94000"/>
              </a:lnSpc>
              <a:spcBef>
                <a:spcPts val="0"/>
              </a:spcBef>
              <a:spcAft>
                <a:spcPts val="0"/>
              </a:spcAft>
              <a:buNone/>
            </a:pPr>
            <a:r>
              <a:rPr lang="en-US" sz="4600" b="1" spc="-60" dirty="0">
                <a:solidFill>
                  <a:srgbClr val="0F172A"/>
                </a:solidFill>
                <a:latin typeface="Arial"/>
                <a:cs typeface="Arial"/>
              </a:rPr>
              <a:t>Kubernetes as the Platform for AI Infrastructure</a:t>
            </a:r>
            <a:endParaRPr lang="en-US" sz="4600" dirty="0"/>
          </a:p>
        </p:txBody>
      </p:sp>
      <p:sp>
        <p:nvSpPr>
          <p:cNvPr id="9" name="Text 9"/>
          <p:cNvSpPr txBox="1"/>
          <p:nvPr/>
        </p:nvSpPr>
        <p:spPr>
          <a:xfrm>
            <a:off x="711200" y="3647440"/>
            <a:ext cx="8636000" cy="889000"/>
          </a:xfrm>
          <a:prstGeom prst="rect">
            <a:avLst/>
          </a:prstGeom>
          <a:noFill/>
          <a:ln>
            <a:noFill/>
          </a:ln>
        </p:spPr>
        <p:txBody>
          <a:bodyPr wrap="square" lIns="0" tIns="0" rIns="0" bIns="0" anchor="t">
            <a:noAutofit/>
          </a:bodyPr>
          <a:lstStyle/>
          <a:p>
            <a:pPr algn="l">
              <a:lnSpc>
                <a:spcPct val="120000"/>
              </a:lnSpc>
              <a:spcBef>
                <a:spcPts val="0"/>
              </a:spcBef>
              <a:spcAft>
                <a:spcPts val="0"/>
              </a:spcAft>
              <a:buNone/>
            </a:pPr>
            <a:r>
              <a:rPr lang="en-US" sz="1700" dirty="0">
                <a:solidFill>
                  <a:srgbClr val="354156"/>
                </a:solidFill>
                <a:latin typeface="Arial"/>
                <a:cs typeface="Arial"/>
              </a:rPr>
              <a:t>Adoption, core technologies, vendor offerings and production experience with training and inference on Kubernetes, 2025–2026</a:t>
            </a:r>
            <a:endParaRPr lang="en-US" sz="1700" dirty="0"/>
          </a:p>
        </p:txBody>
      </p:sp>
      <p:sp>
        <p:nvSpPr>
          <p:cNvPr id="10" name="Shape 10"/>
          <p:cNvSpPr/>
          <p:nvPr/>
        </p:nvSpPr>
        <p:spPr>
          <a:xfrm>
            <a:off x="711200" y="5740400"/>
            <a:ext cx="10769600" cy="9525"/>
          </a:xfrm>
          <a:prstGeom prst="rect">
            <a:avLst/>
          </a:prstGeom>
          <a:solidFill>
            <a:srgbClr val="424F64">
              <a:alpha val="50000"/>
            </a:srgbClr>
          </a:solidFill>
          <a:ln>
            <a:noFill/>
          </a:ln>
        </p:spPr>
      </p:sp>
      <p:sp>
        <p:nvSpPr>
          <p:cNvPr id="11" name="Text 11"/>
          <p:cNvSpPr txBox="1"/>
          <p:nvPr/>
        </p:nvSpPr>
        <p:spPr>
          <a:xfrm>
            <a:off x="711200" y="5892800"/>
            <a:ext cx="10769600" cy="228600"/>
          </a:xfrm>
          <a:prstGeom prst="rect">
            <a:avLst/>
          </a:prstGeom>
          <a:noFill/>
          <a:ln>
            <a:noFill/>
          </a:ln>
        </p:spPr>
        <p:txBody>
          <a:bodyPr wrap="square" lIns="0" tIns="0" rIns="0" bIns="0" anchor="t">
            <a:noAutofit/>
          </a:bodyPr>
          <a:lstStyle/>
          <a:p>
            <a:pPr algn="l">
              <a:lnSpc>
                <a:spcPct val="108000"/>
              </a:lnSpc>
              <a:spcBef>
                <a:spcPts val="0"/>
              </a:spcBef>
              <a:spcAft>
                <a:spcPts val="0"/>
              </a:spcAft>
              <a:buNone/>
            </a:pPr>
            <a:r>
              <a:rPr lang="en-US" sz="1100" b="1" dirty="0">
                <a:solidFill>
                  <a:srgbClr val="64748B"/>
                </a:solidFill>
                <a:latin typeface="Arial"/>
                <a:cs typeface="Arial"/>
              </a:rPr>
              <a:t>September 2026   ·   71 cited sources   ·   Boku research agents</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p:nvPr/>
        </p:nvSpPr>
        <p:spPr>
          <a:xfrm>
            <a:off x="711200" y="508000"/>
            <a:ext cx="558800" cy="63500"/>
          </a:xfrm>
          <a:prstGeom prst="roundRect">
            <a:avLst>
              <a:gd name="adj" fmla="val 50000"/>
            </a:avLst>
          </a:prstGeom>
          <a:gradFill rotWithShape="1">
            <a:gsLst>
              <a:gs pos="0">
                <a:srgbClr val="4F46E5"/>
              </a:gs>
              <a:gs pos="50000">
                <a:srgbClr val="7C3AED"/>
              </a:gs>
              <a:gs pos="100000">
                <a:srgbClr val="06B6D4"/>
              </a:gs>
            </a:gsLst>
            <a:lin ang="0" scaled="0"/>
          </a:gradFill>
          <a:ln>
            <a:noFill/>
          </a:ln>
        </p:spPr>
      </p:sp>
      <p:sp>
        <p:nvSpPr>
          <p:cNvPr id="3" name="Text 3"/>
          <p:cNvSpPr txBox="1"/>
          <p:nvPr/>
        </p:nvSpPr>
        <p:spPr>
          <a:xfrm>
            <a:off x="711200" y="685800"/>
            <a:ext cx="10769600" cy="203200"/>
          </a:xfrm>
          <a:prstGeom prst="rect">
            <a:avLst/>
          </a:prstGeom>
          <a:noFill/>
          <a:ln>
            <a:noFill/>
          </a:ln>
        </p:spPr>
        <p:txBody>
          <a:bodyPr wrap="square" lIns="0" tIns="0" rIns="0" bIns="0" anchor="t">
            <a:noAutofit/>
          </a:bodyPr>
          <a:lstStyle/>
          <a:p>
            <a:pPr algn="l">
              <a:lnSpc>
                <a:spcPct val="108000"/>
              </a:lnSpc>
              <a:spcBef>
                <a:spcPts val="0"/>
              </a:spcBef>
              <a:spcAft>
                <a:spcPts val="0"/>
              </a:spcAft>
              <a:buNone/>
            </a:pPr>
            <a:r>
              <a:rPr lang="en-US" sz="950" b="1" spc="140" dirty="0">
                <a:solidFill>
                  <a:srgbClr val="4F46E5"/>
                </a:solidFill>
                <a:latin typeface="Arial"/>
                <a:cs typeface="Arial"/>
              </a:rPr>
              <a:t>AGENDA</a:t>
            </a:r>
            <a:endParaRPr lang="en-US" sz="950" dirty="0"/>
          </a:p>
        </p:txBody>
      </p:sp>
      <p:sp>
        <p:nvSpPr>
          <p:cNvPr id="4" name="Text 4"/>
          <p:cNvSpPr txBox="1"/>
          <p:nvPr/>
        </p:nvSpPr>
        <p:spPr>
          <a:xfrm>
            <a:off x="711200" y="965200"/>
            <a:ext cx="10515600" cy="481584"/>
          </a:xfrm>
          <a:prstGeom prst="rect">
            <a:avLst/>
          </a:prstGeom>
          <a:noFill/>
          <a:ln>
            <a:noFill/>
          </a:ln>
        </p:spPr>
        <p:txBody>
          <a:bodyPr wrap="square" lIns="0" tIns="0" rIns="0" bIns="0" anchor="t">
            <a:noAutofit/>
          </a:bodyPr>
          <a:lstStyle/>
          <a:p>
            <a:pPr algn="l">
              <a:lnSpc>
                <a:spcPct val="96000"/>
              </a:lnSpc>
              <a:spcBef>
                <a:spcPts val="0"/>
              </a:spcBef>
              <a:spcAft>
                <a:spcPts val="0"/>
              </a:spcAft>
              <a:buNone/>
            </a:pPr>
            <a:r>
              <a:rPr lang="en-US" sz="2800" b="1" spc="-30" dirty="0">
                <a:solidFill>
                  <a:srgbClr val="0F172A"/>
                </a:solidFill>
                <a:latin typeface="Arial"/>
                <a:cs typeface="Arial"/>
              </a:rPr>
              <a:t>In this deck</a:t>
            </a:r>
            <a:endParaRPr lang="en-US" sz="2800" dirty="0"/>
          </a:p>
        </p:txBody>
      </p:sp>
      <p:sp>
        <p:nvSpPr>
          <p:cNvPr id="5" name="Shape 5"/>
          <p:cNvSpPr/>
          <p:nvPr/>
        </p:nvSpPr>
        <p:spPr>
          <a:xfrm>
            <a:off x="711200" y="6451600"/>
            <a:ext cx="10769600" cy="9525"/>
          </a:xfrm>
          <a:prstGeom prst="rect">
            <a:avLst/>
          </a:prstGeom>
          <a:solidFill>
            <a:srgbClr val="E2E8F0"/>
          </a:solidFill>
          <a:ln>
            <a:noFill/>
          </a:ln>
        </p:spPr>
      </p:sp>
      <p:sp>
        <p:nvSpPr>
          <p:cNvPr id="6" name="Text 6"/>
          <p:cNvSpPr txBox="1"/>
          <p:nvPr/>
        </p:nvSpPr>
        <p:spPr>
          <a:xfrm>
            <a:off x="711200" y="6527800"/>
            <a:ext cx="9753600" cy="177800"/>
          </a:xfrm>
          <a:prstGeom prst="rect">
            <a:avLst/>
          </a:prstGeom>
          <a:noFill/>
          <a:ln>
            <a:noFill/>
          </a:ln>
        </p:spPr>
        <p:txBody>
          <a:bodyPr wrap="square" lIns="0" tIns="0" rIns="0" bIns="0" anchor="t">
            <a:noAutofit/>
          </a:bodyPr>
          <a:lstStyle/>
          <a:p>
            <a:pPr algn="l">
              <a:lnSpc>
                <a:spcPct val="108000"/>
              </a:lnSpc>
              <a:spcBef>
                <a:spcPts val="0"/>
              </a:spcBef>
              <a:spcAft>
                <a:spcPts val="0"/>
              </a:spcAft>
              <a:buNone/>
            </a:pPr>
            <a:r>
              <a:rPr lang="en-US" sz="800" dirty="0">
                <a:solidFill>
                  <a:srgbClr val="94A3B8"/>
                </a:solidFill>
                <a:latin typeface="Arial"/>
                <a:cs typeface="Arial"/>
              </a:rPr>
              <a:t>Kubernetes as the Platform for AI Infrastructure</a:t>
            </a:r>
            <a:endParaRPr lang="en-US" sz="800" dirty="0"/>
          </a:p>
        </p:txBody>
      </p:sp>
      <p:sp>
        <p:nvSpPr>
          <p:cNvPr id="7" name="Text 7"/>
          <p:cNvSpPr txBox="1"/>
          <p:nvPr/>
        </p:nvSpPr>
        <p:spPr>
          <a:xfrm>
            <a:off x="10718800" y="6527800"/>
            <a:ext cx="762000" cy="177800"/>
          </a:xfrm>
          <a:prstGeom prst="rect">
            <a:avLst/>
          </a:prstGeom>
          <a:noFill/>
          <a:ln>
            <a:noFill/>
          </a:ln>
        </p:spPr>
        <p:txBody>
          <a:bodyPr wrap="square" lIns="0" tIns="0" rIns="0" bIns="0" anchor="t">
            <a:noAutofit/>
          </a:bodyPr>
          <a:lstStyle/>
          <a:p>
            <a:pPr algn="r">
              <a:lnSpc>
                <a:spcPct val="108000"/>
              </a:lnSpc>
              <a:spcBef>
                <a:spcPts val="0"/>
              </a:spcBef>
              <a:spcAft>
                <a:spcPts val="0"/>
              </a:spcAft>
              <a:buNone/>
            </a:pPr>
            <a:r>
              <a:rPr lang="en-US" sz="850" b="1" dirty="0">
                <a:solidFill>
                  <a:srgbClr val="0F172A"/>
                </a:solidFill>
                <a:latin typeface="Arial"/>
                <a:cs typeface="Arial"/>
              </a:rPr>
              <a:t>2</a:t>
            </a:r>
            <a:endParaRPr lang="en-US" sz="850" dirty="0"/>
          </a:p>
        </p:txBody>
      </p:sp>
      <p:sp>
        <p:nvSpPr>
          <p:cNvPr id="8" name="Text 8"/>
          <p:cNvSpPr txBox="1"/>
          <p:nvPr/>
        </p:nvSpPr>
        <p:spPr>
          <a:xfrm>
            <a:off x="711200" y="1700784"/>
            <a:ext cx="558800" cy="609600"/>
          </a:xfrm>
          <a:prstGeom prst="rect">
            <a:avLst/>
          </a:prstGeom>
          <a:noFill/>
          <a:ln>
            <a:noFill/>
          </a:ln>
        </p:spPr>
        <p:txBody>
          <a:bodyPr wrap="square" lIns="0" tIns="0" rIns="0" bIns="0" anchor="ctr">
            <a:noAutofit/>
          </a:bodyPr>
          <a:lstStyle/>
          <a:p>
            <a:pPr algn="l">
              <a:lnSpc>
                <a:spcPct val="108000"/>
              </a:lnSpc>
              <a:spcBef>
                <a:spcPts val="0"/>
              </a:spcBef>
              <a:spcAft>
                <a:spcPts val="0"/>
              </a:spcAft>
              <a:buNone/>
            </a:pPr>
            <a:r>
              <a:rPr lang="en-US" sz="1500" b="1" dirty="0">
                <a:solidFill>
                  <a:srgbClr val="4F46E5"/>
                </a:solidFill>
                <a:latin typeface="Arial"/>
                <a:cs typeface="Arial"/>
              </a:rPr>
              <a:t>01</a:t>
            </a:r>
            <a:endParaRPr lang="en-US" sz="1500" dirty="0"/>
          </a:p>
        </p:txBody>
      </p:sp>
      <p:sp>
        <p:nvSpPr>
          <p:cNvPr id="9" name="Text 9"/>
          <p:cNvSpPr txBox="1"/>
          <p:nvPr/>
        </p:nvSpPr>
        <p:spPr>
          <a:xfrm>
            <a:off x="1320800" y="1700784"/>
            <a:ext cx="4521200" cy="609600"/>
          </a:xfrm>
          <a:prstGeom prst="rect">
            <a:avLst/>
          </a:prstGeom>
          <a:noFill/>
          <a:ln>
            <a:noFill/>
          </a:ln>
        </p:spPr>
        <p:txBody>
          <a:bodyPr wrap="square" lIns="0" tIns="0" rIns="0" bIns="0" anchor="ctr">
            <a:noAutofit/>
          </a:bodyPr>
          <a:lstStyle/>
          <a:p>
            <a:pPr algn="l">
              <a:lnSpc>
                <a:spcPct val="108000"/>
              </a:lnSpc>
              <a:spcBef>
                <a:spcPts val="0"/>
              </a:spcBef>
              <a:spcAft>
                <a:spcPts val="0"/>
              </a:spcAft>
              <a:buNone/>
            </a:pPr>
            <a:r>
              <a:rPr lang="en-US" sz="1500" b="1" dirty="0">
                <a:solidFill>
                  <a:srgbClr val="0F172A"/>
                </a:solidFill>
                <a:latin typeface="Arial"/>
                <a:cs typeface="Arial"/>
              </a:rPr>
              <a:t>Why AI workloads are moving onto Kubernetes</a:t>
            </a:r>
            <a:endParaRPr lang="en-US" sz="1500" dirty="0"/>
          </a:p>
        </p:txBody>
      </p:sp>
      <p:sp>
        <p:nvSpPr>
          <p:cNvPr id="10" name="Shape 10"/>
          <p:cNvSpPr/>
          <p:nvPr/>
        </p:nvSpPr>
        <p:spPr>
          <a:xfrm>
            <a:off x="711200" y="2361184"/>
            <a:ext cx="5130800" cy="9525"/>
          </a:xfrm>
          <a:prstGeom prst="rect">
            <a:avLst/>
          </a:prstGeom>
          <a:solidFill>
            <a:srgbClr val="E2E8F0"/>
          </a:solidFill>
          <a:ln>
            <a:noFill/>
          </a:ln>
        </p:spPr>
      </p:sp>
      <p:sp>
        <p:nvSpPr>
          <p:cNvPr id="11" name="Text 11"/>
          <p:cNvSpPr txBox="1"/>
          <p:nvPr/>
        </p:nvSpPr>
        <p:spPr>
          <a:xfrm>
            <a:off x="711200" y="2437384"/>
            <a:ext cx="558800" cy="609600"/>
          </a:xfrm>
          <a:prstGeom prst="rect">
            <a:avLst/>
          </a:prstGeom>
          <a:noFill/>
          <a:ln>
            <a:noFill/>
          </a:ln>
        </p:spPr>
        <p:txBody>
          <a:bodyPr wrap="square" lIns="0" tIns="0" rIns="0" bIns="0" anchor="ctr">
            <a:noAutofit/>
          </a:bodyPr>
          <a:lstStyle/>
          <a:p>
            <a:pPr algn="l">
              <a:lnSpc>
                <a:spcPct val="108000"/>
              </a:lnSpc>
              <a:spcBef>
                <a:spcPts val="0"/>
              </a:spcBef>
              <a:spcAft>
                <a:spcPts val="0"/>
              </a:spcAft>
              <a:buNone/>
            </a:pPr>
            <a:r>
              <a:rPr lang="en-US" sz="1500" b="1" dirty="0">
                <a:solidFill>
                  <a:srgbClr val="4F46E5"/>
                </a:solidFill>
                <a:latin typeface="Arial"/>
                <a:cs typeface="Arial"/>
              </a:rPr>
              <a:t>02</a:t>
            </a:r>
            <a:endParaRPr lang="en-US" sz="1500" dirty="0"/>
          </a:p>
        </p:txBody>
      </p:sp>
      <p:sp>
        <p:nvSpPr>
          <p:cNvPr id="12" name="Text 12"/>
          <p:cNvSpPr txBox="1"/>
          <p:nvPr/>
        </p:nvSpPr>
        <p:spPr>
          <a:xfrm>
            <a:off x="1320800" y="2437384"/>
            <a:ext cx="4521200" cy="609600"/>
          </a:xfrm>
          <a:prstGeom prst="rect">
            <a:avLst/>
          </a:prstGeom>
          <a:noFill/>
          <a:ln>
            <a:noFill/>
          </a:ln>
        </p:spPr>
        <p:txBody>
          <a:bodyPr wrap="square" lIns="0" tIns="0" rIns="0" bIns="0" anchor="ctr">
            <a:noAutofit/>
          </a:bodyPr>
          <a:lstStyle/>
          <a:p>
            <a:pPr algn="l">
              <a:lnSpc>
                <a:spcPct val="108000"/>
              </a:lnSpc>
              <a:spcBef>
                <a:spcPts val="0"/>
              </a:spcBef>
              <a:spcAft>
                <a:spcPts val="0"/>
              </a:spcAft>
              <a:buNone/>
            </a:pPr>
            <a:r>
              <a:rPr lang="en-US" sz="1500" b="1" dirty="0">
                <a:solidFill>
                  <a:srgbClr val="0F172A"/>
                </a:solidFill>
                <a:latin typeface="Arial"/>
                <a:cs typeface="Arial"/>
              </a:rPr>
              <a:t>Core building blocks: accelerator management with DRA</a:t>
            </a:r>
            <a:endParaRPr lang="en-US" sz="1500" dirty="0"/>
          </a:p>
        </p:txBody>
      </p:sp>
      <p:sp>
        <p:nvSpPr>
          <p:cNvPr id="13" name="Shape 13"/>
          <p:cNvSpPr/>
          <p:nvPr/>
        </p:nvSpPr>
        <p:spPr>
          <a:xfrm>
            <a:off x="711200" y="3097784"/>
            <a:ext cx="5130800" cy="9525"/>
          </a:xfrm>
          <a:prstGeom prst="rect">
            <a:avLst/>
          </a:prstGeom>
          <a:solidFill>
            <a:srgbClr val="E2E8F0"/>
          </a:solidFill>
          <a:ln>
            <a:noFill/>
          </a:ln>
        </p:spPr>
      </p:sp>
      <p:sp>
        <p:nvSpPr>
          <p:cNvPr id="14" name="Text 14"/>
          <p:cNvSpPr txBox="1"/>
          <p:nvPr/>
        </p:nvSpPr>
        <p:spPr>
          <a:xfrm>
            <a:off x="711200" y="3173984"/>
            <a:ext cx="558800" cy="609600"/>
          </a:xfrm>
          <a:prstGeom prst="rect">
            <a:avLst/>
          </a:prstGeom>
          <a:noFill/>
          <a:ln>
            <a:noFill/>
          </a:ln>
        </p:spPr>
        <p:txBody>
          <a:bodyPr wrap="square" lIns="0" tIns="0" rIns="0" bIns="0" anchor="ctr">
            <a:noAutofit/>
          </a:bodyPr>
          <a:lstStyle/>
          <a:p>
            <a:pPr algn="l">
              <a:lnSpc>
                <a:spcPct val="108000"/>
              </a:lnSpc>
              <a:spcBef>
                <a:spcPts val="0"/>
              </a:spcBef>
              <a:spcAft>
                <a:spcPts val="0"/>
              </a:spcAft>
              <a:buNone/>
            </a:pPr>
            <a:r>
              <a:rPr lang="en-US" sz="1500" b="1" dirty="0">
                <a:solidFill>
                  <a:srgbClr val="4F46E5"/>
                </a:solidFill>
                <a:latin typeface="Arial"/>
                <a:cs typeface="Arial"/>
              </a:rPr>
              <a:t>03</a:t>
            </a:r>
            <a:endParaRPr lang="en-US" sz="1500" dirty="0"/>
          </a:p>
        </p:txBody>
      </p:sp>
      <p:sp>
        <p:nvSpPr>
          <p:cNvPr id="15" name="Text 15"/>
          <p:cNvSpPr txBox="1"/>
          <p:nvPr/>
        </p:nvSpPr>
        <p:spPr>
          <a:xfrm>
            <a:off x="1320800" y="3173984"/>
            <a:ext cx="4521200" cy="609600"/>
          </a:xfrm>
          <a:prstGeom prst="rect">
            <a:avLst/>
          </a:prstGeom>
          <a:noFill/>
          <a:ln>
            <a:noFill/>
          </a:ln>
        </p:spPr>
        <p:txBody>
          <a:bodyPr wrap="square" lIns="0" tIns="0" rIns="0" bIns="0" anchor="ctr">
            <a:noAutofit/>
          </a:bodyPr>
          <a:lstStyle/>
          <a:p>
            <a:pPr algn="l">
              <a:lnSpc>
                <a:spcPct val="108000"/>
              </a:lnSpc>
              <a:spcBef>
                <a:spcPts val="0"/>
              </a:spcBef>
              <a:spcAft>
                <a:spcPts val="0"/>
              </a:spcAft>
              <a:buNone/>
            </a:pPr>
            <a:r>
              <a:rPr lang="en-US" sz="1500" b="1" dirty="0">
                <a:solidFill>
                  <a:srgbClr val="0F172A"/>
                </a:solidFill>
                <a:latin typeface="Arial"/>
                <a:cs typeface="Arial"/>
              </a:rPr>
              <a:t>Training on Kubernetes: gang scheduling, operators and Slurm</a:t>
            </a:r>
            <a:endParaRPr lang="en-US" sz="1500" dirty="0"/>
          </a:p>
        </p:txBody>
      </p:sp>
      <p:sp>
        <p:nvSpPr>
          <p:cNvPr id="16" name="Shape 16"/>
          <p:cNvSpPr/>
          <p:nvPr/>
        </p:nvSpPr>
        <p:spPr>
          <a:xfrm>
            <a:off x="711200" y="3834384"/>
            <a:ext cx="5130800" cy="9525"/>
          </a:xfrm>
          <a:prstGeom prst="rect">
            <a:avLst/>
          </a:prstGeom>
          <a:solidFill>
            <a:srgbClr val="E2E8F0"/>
          </a:solidFill>
          <a:ln>
            <a:noFill/>
          </a:ln>
        </p:spPr>
      </p:sp>
      <p:sp>
        <p:nvSpPr>
          <p:cNvPr id="17" name="Text 17"/>
          <p:cNvSpPr txBox="1"/>
          <p:nvPr/>
        </p:nvSpPr>
        <p:spPr>
          <a:xfrm>
            <a:off x="711200" y="3910584"/>
            <a:ext cx="558800" cy="609600"/>
          </a:xfrm>
          <a:prstGeom prst="rect">
            <a:avLst/>
          </a:prstGeom>
          <a:noFill/>
          <a:ln>
            <a:noFill/>
          </a:ln>
        </p:spPr>
        <p:txBody>
          <a:bodyPr wrap="square" lIns="0" tIns="0" rIns="0" bIns="0" anchor="ctr">
            <a:noAutofit/>
          </a:bodyPr>
          <a:lstStyle/>
          <a:p>
            <a:pPr algn="l">
              <a:lnSpc>
                <a:spcPct val="108000"/>
              </a:lnSpc>
              <a:spcBef>
                <a:spcPts val="0"/>
              </a:spcBef>
              <a:spcAft>
                <a:spcPts val="0"/>
              </a:spcAft>
              <a:buNone/>
            </a:pPr>
            <a:r>
              <a:rPr lang="en-US" sz="1500" b="1" dirty="0">
                <a:solidFill>
                  <a:srgbClr val="4F46E5"/>
                </a:solidFill>
                <a:latin typeface="Arial"/>
                <a:cs typeface="Arial"/>
              </a:rPr>
              <a:t>04</a:t>
            </a:r>
            <a:endParaRPr lang="en-US" sz="1500" dirty="0"/>
          </a:p>
        </p:txBody>
      </p:sp>
      <p:sp>
        <p:nvSpPr>
          <p:cNvPr id="18" name="Text 18"/>
          <p:cNvSpPr txBox="1"/>
          <p:nvPr/>
        </p:nvSpPr>
        <p:spPr>
          <a:xfrm>
            <a:off x="1320800" y="3910584"/>
            <a:ext cx="4521200" cy="609600"/>
          </a:xfrm>
          <a:prstGeom prst="rect">
            <a:avLst/>
          </a:prstGeom>
          <a:noFill/>
          <a:ln>
            <a:noFill/>
          </a:ln>
        </p:spPr>
        <p:txBody>
          <a:bodyPr wrap="square" lIns="0" tIns="0" rIns="0" bIns="0" anchor="ctr">
            <a:noAutofit/>
          </a:bodyPr>
          <a:lstStyle/>
          <a:p>
            <a:pPr algn="l">
              <a:lnSpc>
                <a:spcPct val="108000"/>
              </a:lnSpc>
              <a:spcBef>
                <a:spcPts val="0"/>
              </a:spcBef>
              <a:spcAft>
                <a:spcPts val="0"/>
              </a:spcAft>
              <a:buNone/>
            </a:pPr>
            <a:r>
              <a:rPr lang="en-US" sz="1500" b="1" dirty="0">
                <a:solidFill>
                  <a:srgbClr val="0F172A"/>
                </a:solidFill>
                <a:latin typeface="Arial"/>
                <a:cs typeface="Arial"/>
              </a:rPr>
              <a:t>Inference on Kubernetes: model-aware routing, disaggregated serving a…</a:t>
            </a:r>
            <a:endParaRPr lang="en-US" sz="1500" dirty="0"/>
          </a:p>
        </p:txBody>
      </p:sp>
      <p:sp>
        <p:nvSpPr>
          <p:cNvPr id="19" name="Shape 19"/>
          <p:cNvSpPr/>
          <p:nvPr/>
        </p:nvSpPr>
        <p:spPr>
          <a:xfrm>
            <a:off x="711200" y="4570984"/>
            <a:ext cx="5130800" cy="9525"/>
          </a:xfrm>
          <a:prstGeom prst="rect">
            <a:avLst/>
          </a:prstGeom>
          <a:solidFill>
            <a:srgbClr val="E2E8F0"/>
          </a:solidFill>
          <a:ln>
            <a:noFill/>
          </a:ln>
        </p:spPr>
      </p:sp>
      <p:sp>
        <p:nvSpPr>
          <p:cNvPr id="20" name="Text 20"/>
          <p:cNvSpPr txBox="1"/>
          <p:nvPr/>
        </p:nvSpPr>
        <p:spPr>
          <a:xfrm>
            <a:off x="711200" y="4647184"/>
            <a:ext cx="558800" cy="609600"/>
          </a:xfrm>
          <a:prstGeom prst="rect">
            <a:avLst/>
          </a:prstGeom>
          <a:noFill/>
          <a:ln>
            <a:noFill/>
          </a:ln>
        </p:spPr>
        <p:txBody>
          <a:bodyPr wrap="square" lIns="0" tIns="0" rIns="0" bIns="0" anchor="ctr">
            <a:noAutofit/>
          </a:bodyPr>
          <a:lstStyle/>
          <a:p>
            <a:pPr algn="l">
              <a:lnSpc>
                <a:spcPct val="108000"/>
              </a:lnSpc>
              <a:spcBef>
                <a:spcPts val="0"/>
              </a:spcBef>
              <a:spcAft>
                <a:spcPts val="0"/>
              </a:spcAft>
              <a:buNone/>
            </a:pPr>
            <a:r>
              <a:rPr lang="en-US" sz="1500" b="1" dirty="0">
                <a:solidFill>
                  <a:srgbClr val="4F46E5"/>
                </a:solidFill>
                <a:latin typeface="Arial"/>
                <a:cs typeface="Arial"/>
              </a:rPr>
              <a:t>05</a:t>
            </a:r>
            <a:endParaRPr lang="en-US" sz="1500" dirty="0"/>
          </a:p>
        </p:txBody>
      </p:sp>
      <p:sp>
        <p:nvSpPr>
          <p:cNvPr id="21" name="Text 21"/>
          <p:cNvSpPr txBox="1"/>
          <p:nvPr/>
        </p:nvSpPr>
        <p:spPr>
          <a:xfrm>
            <a:off x="1320800" y="4647184"/>
            <a:ext cx="4521200" cy="609600"/>
          </a:xfrm>
          <a:prstGeom prst="rect">
            <a:avLst/>
          </a:prstGeom>
          <a:noFill/>
          <a:ln>
            <a:noFill/>
          </a:ln>
        </p:spPr>
        <p:txBody>
          <a:bodyPr wrap="square" lIns="0" tIns="0" rIns="0" bIns="0" anchor="ctr">
            <a:noAutofit/>
          </a:bodyPr>
          <a:lstStyle/>
          <a:p>
            <a:pPr algn="l">
              <a:lnSpc>
                <a:spcPct val="108000"/>
              </a:lnSpc>
              <a:spcBef>
                <a:spcPts val="0"/>
              </a:spcBef>
              <a:spcAft>
                <a:spcPts val="0"/>
              </a:spcAft>
              <a:buNone/>
            </a:pPr>
            <a:r>
              <a:rPr lang="en-US" sz="1500" b="1" dirty="0">
                <a:solidFill>
                  <a:srgbClr val="0F172A"/>
                </a:solidFill>
                <a:latin typeface="Arial"/>
                <a:cs typeface="Arial"/>
              </a:rPr>
              <a:t>Vendor and managed platform landscape</a:t>
            </a:r>
            <a:endParaRPr lang="en-US" sz="1500" dirty="0"/>
          </a:p>
        </p:txBody>
      </p:sp>
      <p:sp>
        <p:nvSpPr>
          <p:cNvPr id="22" name="Shape 22"/>
          <p:cNvSpPr/>
          <p:nvPr/>
        </p:nvSpPr>
        <p:spPr>
          <a:xfrm>
            <a:off x="711200" y="5307584"/>
            <a:ext cx="5130800" cy="9525"/>
          </a:xfrm>
          <a:prstGeom prst="rect">
            <a:avLst/>
          </a:prstGeom>
          <a:solidFill>
            <a:srgbClr val="E2E8F0"/>
          </a:solidFill>
          <a:ln>
            <a:noFill/>
          </a:ln>
        </p:spPr>
      </p:sp>
      <p:sp>
        <p:nvSpPr>
          <p:cNvPr id="23" name="Text 23"/>
          <p:cNvSpPr txBox="1"/>
          <p:nvPr/>
        </p:nvSpPr>
        <p:spPr>
          <a:xfrm>
            <a:off x="6350000" y="1700784"/>
            <a:ext cx="558800" cy="609600"/>
          </a:xfrm>
          <a:prstGeom prst="rect">
            <a:avLst/>
          </a:prstGeom>
          <a:noFill/>
          <a:ln>
            <a:noFill/>
          </a:ln>
        </p:spPr>
        <p:txBody>
          <a:bodyPr wrap="square" lIns="0" tIns="0" rIns="0" bIns="0" anchor="ctr">
            <a:noAutofit/>
          </a:bodyPr>
          <a:lstStyle/>
          <a:p>
            <a:pPr algn="l">
              <a:lnSpc>
                <a:spcPct val="108000"/>
              </a:lnSpc>
              <a:spcBef>
                <a:spcPts val="0"/>
              </a:spcBef>
              <a:spcAft>
                <a:spcPts val="0"/>
              </a:spcAft>
              <a:buNone/>
            </a:pPr>
            <a:r>
              <a:rPr lang="en-US" sz="1500" b="1" dirty="0">
                <a:solidFill>
                  <a:srgbClr val="4F46E5"/>
                </a:solidFill>
                <a:latin typeface="Arial"/>
                <a:cs typeface="Arial"/>
              </a:rPr>
              <a:t>06</a:t>
            </a:r>
            <a:endParaRPr lang="en-US" sz="1500" dirty="0"/>
          </a:p>
        </p:txBody>
      </p:sp>
      <p:sp>
        <p:nvSpPr>
          <p:cNvPr id="24" name="Text 24"/>
          <p:cNvSpPr txBox="1"/>
          <p:nvPr/>
        </p:nvSpPr>
        <p:spPr>
          <a:xfrm>
            <a:off x="6959600" y="1700784"/>
            <a:ext cx="4521200" cy="609600"/>
          </a:xfrm>
          <a:prstGeom prst="rect">
            <a:avLst/>
          </a:prstGeom>
          <a:noFill/>
          <a:ln>
            <a:noFill/>
          </a:ln>
        </p:spPr>
        <p:txBody>
          <a:bodyPr wrap="square" lIns="0" tIns="0" rIns="0" bIns="0" anchor="ctr">
            <a:noAutofit/>
          </a:bodyPr>
          <a:lstStyle/>
          <a:p>
            <a:pPr algn="l">
              <a:lnSpc>
                <a:spcPct val="108000"/>
              </a:lnSpc>
              <a:spcBef>
                <a:spcPts val="0"/>
              </a:spcBef>
              <a:spcAft>
                <a:spcPts val="0"/>
              </a:spcAft>
              <a:buNone/>
            </a:pPr>
            <a:r>
              <a:rPr lang="en-US" sz="1500" b="1" dirty="0">
                <a:solidFill>
                  <a:srgbClr val="0F172A"/>
                </a:solidFill>
                <a:latin typeface="Arial"/>
                <a:cs typeface="Arial"/>
              </a:rPr>
              <a:t>Production case studies</a:t>
            </a:r>
            <a:endParaRPr lang="en-US" sz="1500" dirty="0"/>
          </a:p>
        </p:txBody>
      </p:sp>
      <p:sp>
        <p:nvSpPr>
          <p:cNvPr id="25" name="Shape 25"/>
          <p:cNvSpPr/>
          <p:nvPr/>
        </p:nvSpPr>
        <p:spPr>
          <a:xfrm>
            <a:off x="6350000" y="2361184"/>
            <a:ext cx="5130800" cy="9525"/>
          </a:xfrm>
          <a:prstGeom prst="rect">
            <a:avLst/>
          </a:prstGeom>
          <a:solidFill>
            <a:srgbClr val="E2E8F0"/>
          </a:solidFill>
          <a:ln>
            <a:noFill/>
          </a:ln>
        </p:spPr>
      </p:sp>
      <p:sp>
        <p:nvSpPr>
          <p:cNvPr id="26" name="Text 26"/>
          <p:cNvSpPr txBox="1"/>
          <p:nvPr/>
        </p:nvSpPr>
        <p:spPr>
          <a:xfrm>
            <a:off x="6350000" y="2437384"/>
            <a:ext cx="558800" cy="609600"/>
          </a:xfrm>
          <a:prstGeom prst="rect">
            <a:avLst/>
          </a:prstGeom>
          <a:noFill/>
          <a:ln>
            <a:noFill/>
          </a:ln>
        </p:spPr>
        <p:txBody>
          <a:bodyPr wrap="square" lIns="0" tIns="0" rIns="0" bIns="0" anchor="ctr">
            <a:noAutofit/>
          </a:bodyPr>
          <a:lstStyle/>
          <a:p>
            <a:pPr algn="l">
              <a:lnSpc>
                <a:spcPct val="108000"/>
              </a:lnSpc>
              <a:spcBef>
                <a:spcPts val="0"/>
              </a:spcBef>
              <a:spcAft>
                <a:spcPts val="0"/>
              </a:spcAft>
              <a:buNone/>
            </a:pPr>
            <a:r>
              <a:rPr lang="en-US" sz="1500" b="1" dirty="0">
                <a:solidFill>
                  <a:srgbClr val="4F46E5"/>
                </a:solidFill>
                <a:latin typeface="Arial"/>
                <a:cs typeface="Arial"/>
              </a:rPr>
              <a:t>07</a:t>
            </a:r>
            <a:endParaRPr lang="en-US" sz="1500" dirty="0"/>
          </a:p>
        </p:txBody>
      </p:sp>
      <p:sp>
        <p:nvSpPr>
          <p:cNvPr id="27" name="Text 27"/>
          <p:cNvSpPr txBox="1"/>
          <p:nvPr/>
        </p:nvSpPr>
        <p:spPr>
          <a:xfrm>
            <a:off x="6959600" y="2437384"/>
            <a:ext cx="4521200" cy="609600"/>
          </a:xfrm>
          <a:prstGeom prst="rect">
            <a:avLst/>
          </a:prstGeom>
          <a:noFill/>
          <a:ln>
            <a:noFill/>
          </a:ln>
        </p:spPr>
        <p:txBody>
          <a:bodyPr wrap="square" lIns="0" tIns="0" rIns="0" bIns="0" anchor="ctr">
            <a:noAutofit/>
          </a:bodyPr>
          <a:lstStyle/>
          <a:p>
            <a:pPr algn="l">
              <a:lnSpc>
                <a:spcPct val="108000"/>
              </a:lnSpc>
              <a:spcBef>
                <a:spcPts val="0"/>
              </a:spcBef>
              <a:spcAft>
                <a:spcPts val="0"/>
              </a:spcAft>
              <a:buNone/>
            </a:pPr>
            <a:r>
              <a:rPr lang="en-US" sz="1500" b="1" dirty="0">
                <a:solidFill>
                  <a:srgbClr val="0F172A"/>
                </a:solidFill>
                <a:latin typeface="Arial"/>
                <a:cs typeface="Arial"/>
              </a:rPr>
              <a:t>Limitations, operational challenges and open problems</a:t>
            </a:r>
            <a:endParaRPr lang="en-US" sz="1500" dirty="0"/>
          </a:p>
        </p:txBody>
      </p:sp>
      <p:sp>
        <p:nvSpPr>
          <p:cNvPr id="28" name="Shape 28"/>
          <p:cNvSpPr/>
          <p:nvPr/>
        </p:nvSpPr>
        <p:spPr>
          <a:xfrm>
            <a:off x="6350000" y="3097784"/>
            <a:ext cx="5130800" cy="9525"/>
          </a:xfrm>
          <a:prstGeom prst="rect">
            <a:avLst/>
          </a:prstGeom>
          <a:solidFill>
            <a:srgbClr val="E2E8F0"/>
          </a:solidFill>
          <a:ln>
            <a:noFill/>
          </a:ln>
        </p:spPr>
      </p:sp>
      <p:sp>
        <p:nvSpPr>
          <p:cNvPr id="29" name="Text 29"/>
          <p:cNvSpPr txBox="1"/>
          <p:nvPr/>
        </p:nvSpPr>
        <p:spPr>
          <a:xfrm>
            <a:off x="6350000" y="3173984"/>
            <a:ext cx="558800" cy="609600"/>
          </a:xfrm>
          <a:prstGeom prst="rect">
            <a:avLst/>
          </a:prstGeom>
          <a:noFill/>
          <a:ln>
            <a:noFill/>
          </a:ln>
        </p:spPr>
        <p:txBody>
          <a:bodyPr wrap="square" lIns="0" tIns="0" rIns="0" bIns="0" anchor="ctr">
            <a:noAutofit/>
          </a:bodyPr>
          <a:lstStyle/>
          <a:p>
            <a:pPr algn="l">
              <a:lnSpc>
                <a:spcPct val="108000"/>
              </a:lnSpc>
              <a:spcBef>
                <a:spcPts val="0"/>
              </a:spcBef>
              <a:spcAft>
                <a:spcPts val="0"/>
              </a:spcAft>
              <a:buNone/>
            </a:pPr>
            <a:r>
              <a:rPr lang="en-US" sz="1500" b="1" dirty="0">
                <a:solidFill>
                  <a:srgbClr val="4F46E5"/>
                </a:solidFill>
                <a:latin typeface="Arial"/>
                <a:cs typeface="Arial"/>
              </a:rPr>
              <a:t>08</a:t>
            </a:r>
            <a:endParaRPr lang="en-US" sz="1500" dirty="0"/>
          </a:p>
        </p:txBody>
      </p:sp>
      <p:sp>
        <p:nvSpPr>
          <p:cNvPr id="30" name="Text 30"/>
          <p:cNvSpPr txBox="1"/>
          <p:nvPr/>
        </p:nvSpPr>
        <p:spPr>
          <a:xfrm>
            <a:off x="6959600" y="3173984"/>
            <a:ext cx="4521200" cy="609600"/>
          </a:xfrm>
          <a:prstGeom prst="rect">
            <a:avLst/>
          </a:prstGeom>
          <a:noFill/>
          <a:ln>
            <a:noFill/>
          </a:ln>
        </p:spPr>
        <p:txBody>
          <a:bodyPr wrap="square" lIns="0" tIns="0" rIns="0" bIns="0" anchor="ctr">
            <a:noAutofit/>
          </a:bodyPr>
          <a:lstStyle/>
          <a:p>
            <a:pPr algn="l">
              <a:lnSpc>
                <a:spcPct val="108000"/>
              </a:lnSpc>
              <a:spcBef>
                <a:spcPts val="0"/>
              </a:spcBef>
              <a:spcAft>
                <a:spcPts val="0"/>
              </a:spcAft>
              <a:buNone/>
            </a:pPr>
            <a:r>
              <a:rPr lang="en-US" sz="1500" b="1" dirty="0">
                <a:solidFill>
                  <a:srgbClr val="0F172A"/>
                </a:solidFill>
                <a:latin typeface="Arial"/>
                <a:cs typeface="Arial"/>
              </a:rPr>
              <a:t>Standards and community direction</a:t>
            </a:r>
            <a:endParaRPr lang="en-US" sz="1500" dirty="0"/>
          </a:p>
        </p:txBody>
      </p:sp>
      <p:sp>
        <p:nvSpPr>
          <p:cNvPr id="31" name="Shape 31"/>
          <p:cNvSpPr/>
          <p:nvPr/>
        </p:nvSpPr>
        <p:spPr>
          <a:xfrm>
            <a:off x="6350000" y="3834384"/>
            <a:ext cx="5130800" cy="9525"/>
          </a:xfrm>
          <a:prstGeom prst="rect">
            <a:avLst/>
          </a:prstGeom>
          <a:solidFill>
            <a:srgbClr val="E2E8F0"/>
          </a:solidFill>
          <a:ln>
            <a:noFill/>
          </a:ln>
        </p:spPr>
      </p:sp>
      <p:sp>
        <p:nvSpPr>
          <p:cNvPr id="32" name="Text 32"/>
          <p:cNvSpPr txBox="1"/>
          <p:nvPr/>
        </p:nvSpPr>
        <p:spPr>
          <a:xfrm>
            <a:off x="6350000" y="3910584"/>
            <a:ext cx="558800" cy="609600"/>
          </a:xfrm>
          <a:prstGeom prst="rect">
            <a:avLst/>
          </a:prstGeom>
          <a:noFill/>
          <a:ln>
            <a:noFill/>
          </a:ln>
        </p:spPr>
        <p:txBody>
          <a:bodyPr wrap="square" lIns="0" tIns="0" rIns="0" bIns="0" anchor="ctr">
            <a:noAutofit/>
          </a:bodyPr>
          <a:lstStyle/>
          <a:p>
            <a:pPr algn="l">
              <a:lnSpc>
                <a:spcPct val="108000"/>
              </a:lnSpc>
              <a:spcBef>
                <a:spcPts val="0"/>
              </a:spcBef>
              <a:spcAft>
                <a:spcPts val="0"/>
              </a:spcAft>
              <a:buNone/>
            </a:pPr>
            <a:r>
              <a:rPr lang="en-US" sz="1500" b="1" dirty="0">
                <a:solidFill>
                  <a:srgbClr val="4F46E5"/>
                </a:solidFill>
                <a:latin typeface="Arial"/>
                <a:cs typeface="Arial"/>
              </a:rPr>
              <a:t>09</a:t>
            </a:r>
            <a:endParaRPr lang="en-US" sz="1500" dirty="0"/>
          </a:p>
        </p:txBody>
      </p:sp>
      <p:sp>
        <p:nvSpPr>
          <p:cNvPr id="33" name="Text 33"/>
          <p:cNvSpPr txBox="1"/>
          <p:nvPr/>
        </p:nvSpPr>
        <p:spPr>
          <a:xfrm>
            <a:off x="6959600" y="3910584"/>
            <a:ext cx="4521200" cy="609600"/>
          </a:xfrm>
          <a:prstGeom prst="rect">
            <a:avLst/>
          </a:prstGeom>
          <a:noFill/>
          <a:ln>
            <a:noFill/>
          </a:ln>
        </p:spPr>
        <p:txBody>
          <a:bodyPr wrap="square" lIns="0" tIns="0" rIns="0" bIns="0" anchor="ctr">
            <a:noAutofit/>
          </a:bodyPr>
          <a:lstStyle/>
          <a:p>
            <a:pPr algn="l">
              <a:lnSpc>
                <a:spcPct val="108000"/>
              </a:lnSpc>
              <a:spcBef>
                <a:spcPts val="0"/>
              </a:spcBef>
              <a:spcAft>
                <a:spcPts val="0"/>
              </a:spcAft>
              <a:buNone/>
            </a:pPr>
            <a:r>
              <a:rPr lang="en-US" sz="1500" b="1" dirty="0">
                <a:solidFill>
                  <a:srgbClr val="0F172A"/>
                </a:solidFill>
                <a:latin typeface="Arial"/>
                <a:cs typeface="Arial"/>
              </a:rPr>
              <a:t>Outlook and recommendations for platform teams</a:t>
            </a:r>
            <a:endParaRPr lang="en-US" sz="1500" dirty="0"/>
          </a:p>
        </p:txBody>
      </p:sp>
      <p:sp>
        <p:nvSpPr>
          <p:cNvPr id="34" name="Shape 34"/>
          <p:cNvSpPr/>
          <p:nvPr/>
        </p:nvSpPr>
        <p:spPr>
          <a:xfrm>
            <a:off x="6350000" y="4570984"/>
            <a:ext cx="5130800" cy="9525"/>
          </a:xfrm>
          <a:prstGeom prst="rect">
            <a:avLst/>
          </a:prstGeom>
          <a:solidFill>
            <a:srgbClr val="E2E8F0"/>
          </a:solidFill>
          <a:ln>
            <a:noFill/>
          </a:ln>
        </p:spPr>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p:nvPr/>
        </p:nvSpPr>
        <p:spPr>
          <a:xfrm>
            <a:off x="711200" y="508000"/>
            <a:ext cx="558800" cy="63500"/>
          </a:xfrm>
          <a:prstGeom prst="roundRect">
            <a:avLst>
              <a:gd name="adj" fmla="val 50000"/>
            </a:avLst>
          </a:prstGeom>
          <a:gradFill rotWithShape="1">
            <a:gsLst>
              <a:gs pos="0">
                <a:srgbClr val="4F46E5"/>
              </a:gs>
              <a:gs pos="50000">
                <a:srgbClr val="7C3AED"/>
              </a:gs>
              <a:gs pos="100000">
                <a:srgbClr val="06B6D4"/>
              </a:gs>
            </a:gsLst>
            <a:lin ang="0" scaled="0"/>
          </a:gradFill>
          <a:ln>
            <a:noFill/>
          </a:ln>
        </p:spPr>
      </p:sp>
      <p:sp>
        <p:nvSpPr>
          <p:cNvPr id="3" name="Text 3"/>
          <p:cNvSpPr txBox="1"/>
          <p:nvPr/>
        </p:nvSpPr>
        <p:spPr>
          <a:xfrm>
            <a:off x="711200" y="685800"/>
            <a:ext cx="10769600" cy="203200"/>
          </a:xfrm>
          <a:prstGeom prst="rect">
            <a:avLst/>
          </a:prstGeom>
          <a:noFill/>
          <a:ln>
            <a:noFill/>
          </a:ln>
        </p:spPr>
        <p:txBody>
          <a:bodyPr wrap="square" lIns="0" tIns="0" rIns="0" bIns="0" anchor="t">
            <a:noAutofit/>
          </a:bodyPr>
          <a:lstStyle/>
          <a:p>
            <a:pPr algn="l">
              <a:lnSpc>
                <a:spcPct val="108000"/>
              </a:lnSpc>
              <a:spcBef>
                <a:spcPts val="0"/>
              </a:spcBef>
              <a:spcAft>
                <a:spcPts val="0"/>
              </a:spcAft>
              <a:buNone/>
            </a:pPr>
            <a:r>
              <a:rPr lang="en-US" sz="950" b="1" spc="140" dirty="0">
                <a:solidFill>
                  <a:srgbClr val="4F46E5"/>
                </a:solidFill>
                <a:latin typeface="Arial"/>
                <a:cs typeface="Arial"/>
              </a:rPr>
              <a:t>EXECUTIVE SUMMARY</a:t>
            </a:r>
            <a:endParaRPr lang="en-US" sz="950" dirty="0"/>
          </a:p>
        </p:txBody>
      </p:sp>
      <p:sp>
        <p:nvSpPr>
          <p:cNvPr id="4" name="Text 4"/>
          <p:cNvSpPr txBox="1"/>
          <p:nvPr/>
        </p:nvSpPr>
        <p:spPr>
          <a:xfrm>
            <a:off x="711200" y="965200"/>
            <a:ext cx="10515600" cy="481584"/>
          </a:xfrm>
          <a:prstGeom prst="rect">
            <a:avLst/>
          </a:prstGeom>
          <a:noFill/>
          <a:ln>
            <a:noFill/>
          </a:ln>
        </p:spPr>
        <p:txBody>
          <a:bodyPr wrap="square" lIns="0" tIns="0" rIns="0" bIns="0" anchor="t">
            <a:noAutofit/>
          </a:bodyPr>
          <a:lstStyle/>
          <a:p>
            <a:pPr algn="l">
              <a:lnSpc>
                <a:spcPct val="96000"/>
              </a:lnSpc>
              <a:spcBef>
                <a:spcPts val="0"/>
              </a:spcBef>
              <a:spcAft>
                <a:spcPts val="0"/>
              </a:spcAft>
              <a:buNone/>
            </a:pPr>
            <a:r>
              <a:rPr lang="en-US" sz="2800" b="1" spc="-30" dirty="0">
                <a:solidFill>
                  <a:srgbClr val="0F172A"/>
                </a:solidFill>
                <a:latin typeface="Arial"/>
                <a:cs typeface="Arial"/>
              </a:rPr>
              <a:t>Kubernetes as the Platform for AI Infrastructure</a:t>
            </a:r>
            <a:endParaRPr lang="en-US" sz="2800" dirty="0"/>
          </a:p>
        </p:txBody>
      </p:sp>
      <p:sp>
        <p:nvSpPr>
          <p:cNvPr id="5" name="Shape 5"/>
          <p:cNvSpPr/>
          <p:nvPr/>
        </p:nvSpPr>
        <p:spPr>
          <a:xfrm>
            <a:off x="711200" y="6451600"/>
            <a:ext cx="10769600" cy="9525"/>
          </a:xfrm>
          <a:prstGeom prst="rect">
            <a:avLst/>
          </a:prstGeom>
          <a:solidFill>
            <a:srgbClr val="E2E8F0"/>
          </a:solidFill>
          <a:ln>
            <a:noFill/>
          </a:ln>
        </p:spPr>
      </p:sp>
      <p:sp>
        <p:nvSpPr>
          <p:cNvPr id="6" name="Text 6"/>
          <p:cNvSpPr txBox="1"/>
          <p:nvPr/>
        </p:nvSpPr>
        <p:spPr>
          <a:xfrm>
            <a:off x="711200" y="6527800"/>
            <a:ext cx="9753600" cy="177800"/>
          </a:xfrm>
          <a:prstGeom prst="rect">
            <a:avLst/>
          </a:prstGeom>
          <a:noFill/>
          <a:ln>
            <a:noFill/>
          </a:ln>
        </p:spPr>
        <p:txBody>
          <a:bodyPr wrap="square" lIns="0" tIns="0" rIns="0" bIns="0" anchor="t">
            <a:noAutofit/>
          </a:bodyPr>
          <a:lstStyle/>
          <a:p>
            <a:pPr algn="l">
              <a:lnSpc>
                <a:spcPct val="108000"/>
              </a:lnSpc>
              <a:spcBef>
                <a:spcPts val="0"/>
              </a:spcBef>
              <a:spcAft>
                <a:spcPts val="0"/>
              </a:spcAft>
              <a:buNone/>
            </a:pPr>
            <a:r>
              <a:rPr lang="en-US" sz="800" dirty="0">
                <a:solidFill>
                  <a:srgbClr val="94A3B8"/>
                </a:solidFill>
                <a:latin typeface="Arial"/>
                <a:cs typeface="Arial"/>
              </a:rPr>
              <a:t>Kubernetes as the Platform for AI Infrastructure</a:t>
            </a:r>
            <a:endParaRPr lang="en-US" sz="800" dirty="0"/>
          </a:p>
        </p:txBody>
      </p:sp>
      <p:sp>
        <p:nvSpPr>
          <p:cNvPr id="7" name="Text 7"/>
          <p:cNvSpPr txBox="1"/>
          <p:nvPr/>
        </p:nvSpPr>
        <p:spPr>
          <a:xfrm>
            <a:off x="10718800" y="6527800"/>
            <a:ext cx="762000" cy="177800"/>
          </a:xfrm>
          <a:prstGeom prst="rect">
            <a:avLst/>
          </a:prstGeom>
          <a:noFill/>
          <a:ln>
            <a:noFill/>
          </a:ln>
        </p:spPr>
        <p:txBody>
          <a:bodyPr wrap="square" lIns="0" tIns="0" rIns="0" bIns="0" anchor="t">
            <a:noAutofit/>
          </a:bodyPr>
          <a:lstStyle/>
          <a:p>
            <a:pPr algn="r">
              <a:lnSpc>
                <a:spcPct val="108000"/>
              </a:lnSpc>
              <a:spcBef>
                <a:spcPts val="0"/>
              </a:spcBef>
              <a:spcAft>
                <a:spcPts val="0"/>
              </a:spcAft>
              <a:buNone/>
            </a:pPr>
            <a:r>
              <a:rPr lang="en-US" sz="850" b="1" dirty="0">
                <a:solidFill>
                  <a:srgbClr val="0F172A"/>
                </a:solidFill>
                <a:latin typeface="Arial"/>
                <a:cs typeface="Arial"/>
              </a:rPr>
              <a:t>3</a:t>
            </a:r>
            <a:endParaRPr lang="en-US" sz="850" dirty="0"/>
          </a:p>
        </p:txBody>
      </p:sp>
      <p:sp>
        <p:nvSpPr>
          <p:cNvPr id="8" name="Text 8"/>
          <p:cNvSpPr txBox="1"/>
          <p:nvPr/>
        </p:nvSpPr>
        <p:spPr>
          <a:xfrm>
            <a:off x="711200" y="1700784"/>
            <a:ext cx="8831072" cy="4547616"/>
          </a:xfrm>
          <a:prstGeom prst="rect">
            <a:avLst/>
          </a:prstGeom>
          <a:noFill/>
          <a:ln>
            <a:noFill/>
          </a:ln>
        </p:spPr>
        <p:txBody>
          <a:bodyPr wrap="square" lIns="0" tIns="0" rIns="0" bIns="0" anchor="t">
            <a:noAutofit/>
          </a:bodyPr>
          <a:lstStyle/>
          <a:p>
            <a:pPr marL="248285" indent="-248285" algn="l">
              <a:lnSpc>
                <a:spcPct val="118000"/>
              </a:lnSpc>
              <a:spcBef>
                <a:spcPts val="0"/>
              </a:spcBef>
              <a:spcAft>
                <a:spcPts val="1275"/>
              </a:spcAft>
              <a:buClr>
                <a:srgbClr val="4F46E5"/>
              </a:buClr>
              <a:buFont typeface="Arial"/>
              <a:buChar char="•"/>
            </a:pPr>
            <a:r>
              <a:rPr lang="en-US" sz="1700" dirty="0">
                <a:solidFill>
                  <a:srgbClr val="334155"/>
                </a:solidFill>
                <a:latin typeface="Arial"/>
                <a:cs typeface="Arial"/>
              </a:rPr>
              <a:t>As of September 2026, Kubernetes is the default control plane for AI inference.</a:t>
            </a:r>
            <a:endParaRPr lang="en-US" sz="1700" dirty="0"/>
          </a:p>
          <a:p>
            <a:pPr marL="248285" indent="-248285" algn="l">
              <a:lnSpc>
                <a:spcPct val="118000"/>
              </a:lnSpc>
              <a:spcBef>
                <a:spcPts val="0"/>
              </a:spcBef>
              <a:spcAft>
                <a:spcPts val="1275"/>
              </a:spcAft>
              <a:buClr>
                <a:srgbClr val="4F46E5"/>
              </a:buClr>
              <a:buFont typeface="Arial"/>
              <a:buChar char="•"/>
            </a:pPr>
            <a:r>
              <a:rPr lang="en-US" sz="1700" dirty="0">
                <a:solidFill>
                  <a:srgbClr val="334155"/>
                </a:solidFill>
                <a:latin typeface="Arial"/>
                <a:cs typeface="Arial"/>
              </a:rPr>
              <a:t>Adoption is broad but shallow. In the same survey, 44% of organisations do not yet run AI/ML workloads on Kubernetes, and only 7% deploy models daily</a:t>
            </a:r>
            <a:r>
              <a:rPr lang="en-US" sz="1700" baseline="30000" dirty="0">
                <a:solidFill>
                  <a:srgbClr val="64748B"/>
                </a:solidFill>
                <a:latin typeface="Arial"/>
                <a:cs typeface="Arial"/>
              </a:rPr>
              <a:t> 1,3</a:t>
            </a:r>
            <a:r>
              <a:rPr lang="en-US" sz="1700" dirty="0">
                <a:solidFill>
                  <a:srgbClr val="334155"/>
                </a:solidFill>
                <a:latin typeface="Arial"/>
                <a:cs typeface="Arial"/>
              </a:rPr>
              <a:t>.</a:t>
            </a:r>
            <a:endParaRPr lang="en-US" sz="1700" dirty="0"/>
          </a:p>
          <a:p>
            <a:pPr marL="248285" indent="-248285" algn="l">
              <a:lnSpc>
                <a:spcPct val="118000"/>
              </a:lnSpc>
              <a:spcBef>
                <a:spcPts val="0"/>
              </a:spcBef>
              <a:spcAft>
                <a:spcPts val="1275"/>
              </a:spcAft>
              <a:buClr>
                <a:srgbClr val="4F46E5"/>
              </a:buClr>
              <a:buFont typeface="Arial"/>
              <a:buChar char="•"/>
            </a:pPr>
            <a:r>
              <a:rPr lang="en-US" sz="1700" dirty="0">
                <a:solidFill>
                  <a:srgbClr val="334155"/>
                </a:solidFill>
                <a:latin typeface="Arial"/>
                <a:cs typeface="Arial"/>
              </a:rPr>
              <a:t>The inference stack has converged on shared upstream parts. These are the stable v1 InferencePool API with a model-aware Endpoint Picker</a:t>
            </a:r>
            <a:r>
              <a:rPr lang="en-US" sz="1700" baseline="30000" dirty="0">
                <a:solidFill>
                  <a:srgbClr val="64748B"/>
                </a:solidFill>
                <a:latin typeface="Arial"/>
                <a:cs typeface="Arial"/>
              </a:rPr>
              <a:t> 6,7,8</a:t>
            </a:r>
            <a:r>
              <a:rPr lang="en-US" sz="1700" dirty="0">
                <a:solidFill>
                  <a:srgbClr val="334155"/>
                </a:solidFill>
                <a:latin typeface="Arial"/>
                <a:cs typeface="Arial"/>
              </a:rPr>
              <a:t>, llm-d (a CNCF Sandbox project since March 2026)</a:t>
            </a:r>
            <a:r>
              <a:rPr lang="en-US" sz="1700" baseline="30000" dirty="0">
                <a:solidFill>
                  <a:srgbClr val="64748B"/>
                </a:solidFill>
                <a:latin typeface="Arial"/>
                <a:cs typeface="Arial"/>
              </a:rPr>
              <a:t> 9,10,11,12</a:t>
            </a:r>
            <a:r>
              <a:rPr lang="en-US" sz="1700" dirty="0">
                <a:solidFill>
                  <a:srgbClr val="334155"/>
                </a:solidFill>
                <a:latin typeface="Arial"/>
                <a:cs typeface="Arial"/>
              </a:rPr>
              <a:t>, and KServe's LLMInferenceService built on llm-d</a:t>
            </a:r>
            <a:r>
              <a:rPr lang="en-US" sz="1700" baseline="30000" dirty="0">
                <a:solidFill>
                  <a:srgbClr val="64748B"/>
                </a:solidFill>
                <a:latin typeface="Arial"/>
                <a:cs typeface="Arial"/>
              </a:rPr>
              <a:t> 13</a:t>
            </a:r>
            <a:r>
              <a:rPr lang="en-US" sz="1700" dirty="0">
                <a:solidFill>
                  <a:srgbClr val="334155"/>
                </a:solidFill>
                <a:latin typeface="Arial"/>
                <a:cs typeface="Arial"/>
              </a:rPr>
              <a:t>.</a:t>
            </a:r>
            <a:endParaRPr lang="en-US" sz="1700" dirty="0"/>
          </a:p>
          <a:p>
            <a:pPr marL="248285" indent="-248285" algn="l">
              <a:lnSpc>
                <a:spcPct val="118000"/>
              </a:lnSpc>
              <a:spcBef>
                <a:spcPts val="0"/>
              </a:spcBef>
              <a:spcAft>
                <a:spcPts val="1275"/>
              </a:spcAft>
              <a:buClr>
                <a:srgbClr val="4F46E5"/>
              </a:buClr>
              <a:buFont typeface="Arial"/>
              <a:buChar char="•"/>
            </a:pPr>
            <a:r>
              <a:rPr lang="en-US" sz="1700" dirty="0">
                <a:solidFill>
                  <a:srgbClr val="334155"/>
                </a:solidFill>
                <a:latin typeface="Arial"/>
                <a:cs typeface="Arial"/>
              </a:rPr>
              <a:t>Accelerator management now rests on Dynamic Resource Allocation (DRA).</a:t>
            </a:r>
            <a:endParaRPr lang="en-US" sz="17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p:nvPr/>
        </p:nvSpPr>
        <p:spPr>
          <a:xfrm>
            <a:off x="711200" y="508000"/>
            <a:ext cx="558800" cy="63500"/>
          </a:xfrm>
          <a:prstGeom prst="roundRect">
            <a:avLst>
              <a:gd name="adj" fmla="val 50000"/>
            </a:avLst>
          </a:prstGeom>
          <a:gradFill rotWithShape="1">
            <a:gsLst>
              <a:gs pos="0">
                <a:srgbClr val="4F46E5"/>
              </a:gs>
              <a:gs pos="50000">
                <a:srgbClr val="7C3AED"/>
              </a:gs>
              <a:gs pos="100000">
                <a:srgbClr val="06B6D4"/>
              </a:gs>
            </a:gsLst>
            <a:lin ang="0" scaled="0"/>
          </a:gradFill>
          <a:ln>
            <a:noFill/>
          </a:ln>
        </p:spPr>
      </p:sp>
      <p:sp>
        <p:nvSpPr>
          <p:cNvPr id="3" name="Text 3"/>
          <p:cNvSpPr txBox="1"/>
          <p:nvPr/>
        </p:nvSpPr>
        <p:spPr>
          <a:xfrm>
            <a:off x="711200" y="685800"/>
            <a:ext cx="10769600" cy="203200"/>
          </a:xfrm>
          <a:prstGeom prst="rect">
            <a:avLst/>
          </a:prstGeom>
          <a:noFill/>
          <a:ln>
            <a:noFill/>
          </a:ln>
        </p:spPr>
        <p:txBody>
          <a:bodyPr wrap="square" lIns="0" tIns="0" rIns="0" bIns="0" anchor="t">
            <a:noAutofit/>
          </a:bodyPr>
          <a:lstStyle/>
          <a:p>
            <a:pPr algn="l">
              <a:lnSpc>
                <a:spcPct val="108000"/>
              </a:lnSpc>
              <a:spcBef>
                <a:spcPts val="0"/>
              </a:spcBef>
              <a:spcAft>
                <a:spcPts val="0"/>
              </a:spcAft>
              <a:buNone/>
            </a:pPr>
            <a:r>
              <a:rPr lang="en-US" sz="950" b="1" spc="140" dirty="0">
                <a:solidFill>
                  <a:srgbClr val="4F46E5"/>
                </a:solidFill>
                <a:latin typeface="Arial"/>
                <a:cs typeface="Arial"/>
              </a:rPr>
              <a:t>KEY FINDINGS</a:t>
            </a:r>
            <a:endParaRPr lang="en-US" sz="950" dirty="0"/>
          </a:p>
        </p:txBody>
      </p:sp>
      <p:sp>
        <p:nvSpPr>
          <p:cNvPr id="4" name="Text 4"/>
          <p:cNvSpPr txBox="1"/>
          <p:nvPr/>
        </p:nvSpPr>
        <p:spPr>
          <a:xfrm>
            <a:off x="711200" y="965200"/>
            <a:ext cx="10515600" cy="481584"/>
          </a:xfrm>
          <a:prstGeom prst="rect">
            <a:avLst/>
          </a:prstGeom>
          <a:noFill/>
          <a:ln>
            <a:noFill/>
          </a:ln>
        </p:spPr>
        <p:txBody>
          <a:bodyPr wrap="square" lIns="0" tIns="0" rIns="0" bIns="0" anchor="t">
            <a:noAutofit/>
          </a:bodyPr>
          <a:lstStyle/>
          <a:p>
            <a:pPr algn="l">
              <a:lnSpc>
                <a:spcPct val="96000"/>
              </a:lnSpc>
              <a:spcBef>
                <a:spcPts val="0"/>
              </a:spcBef>
              <a:spcAft>
                <a:spcPts val="0"/>
              </a:spcAft>
              <a:buNone/>
            </a:pPr>
            <a:r>
              <a:rPr lang="en-US" sz="2800" b="1" spc="-30" dirty="0">
                <a:solidFill>
                  <a:srgbClr val="0F172A"/>
                </a:solidFill>
                <a:latin typeface="Arial"/>
                <a:cs typeface="Arial"/>
              </a:rPr>
              <a:t>What the evidence shows</a:t>
            </a:r>
            <a:endParaRPr lang="en-US" sz="2800" dirty="0"/>
          </a:p>
        </p:txBody>
      </p:sp>
      <p:sp>
        <p:nvSpPr>
          <p:cNvPr id="5" name="Shape 5"/>
          <p:cNvSpPr/>
          <p:nvPr/>
        </p:nvSpPr>
        <p:spPr>
          <a:xfrm>
            <a:off x="711200" y="6451600"/>
            <a:ext cx="10769600" cy="9525"/>
          </a:xfrm>
          <a:prstGeom prst="rect">
            <a:avLst/>
          </a:prstGeom>
          <a:solidFill>
            <a:srgbClr val="E2E8F0"/>
          </a:solidFill>
          <a:ln>
            <a:noFill/>
          </a:ln>
        </p:spPr>
      </p:sp>
      <p:sp>
        <p:nvSpPr>
          <p:cNvPr id="6" name="Text 6"/>
          <p:cNvSpPr txBox="1"/>
          <p:nvPr/>
        </p:nvSpPr>
        <p:spPr>
          <a:xfrm>
            <a:off x="711200" y="6527800"/>
            <a:ext cx="9753600" cy="177800"/>
          </a:xfrm>
          <a:prstGeom prst="rect">
            <a:avLst/>
          </a:prstGeom>
          <a:noFill/>
          <a:ln>
            <a:noFill/>
          </a:ln>
        </p:spPr>
        <p:txBody>
          <a:bodyPr wrap="square" lIns="0" tIns="0" rIns="0" bIns="0" anchor="t">
            <a:noAutofit/>
          </a:bodyPr>
          <a:lstStyle/>
          <a:p>
            <a:pPr algn="l">
              <a:lnSpc>
                <a:spcPct val="108000"/>
              </a:lnSpc>
              <a:spcBef>
                <a:spcPts val="0"/>
              </a:spcBef>
              <a:spcAft>
                <a:spcPts val="0"/>
              </a:spcAft>
              <a:buNone/>
            </a:pPr>
            <a:r>
              <a:rPr lang="en-US" sz="800" dirty="0">
                <a:solidFill>
                  <a:srgbClr val="94A3B8"/>
                </a:solidFill>
                <a:latin typeface="Arial"/>
                <a:cs typeface="Arial"/>
              </a:rPr>
              <a:t>Kubernetes as the Platform for AI Infrastructure</a:t>
            </a:r>
            <a:endParaRPr lang="en-US" sz="800" dirty="0"/>
          </a:p>
        </p:txBody>
      </p:sp>
      <p:sp>
        <p:nvSpPr>
          <p:cNvPr id="7" name="Text 7"/>
          <p:cNvSpPr txBox="1"/>
          <p:nvPr/>
        </p:nvSpPr>
        <p:spPr>
          <a:xfrm>
            <a:off x="10718800" y="6527800"/>
            <a:ext cx="762000" cy="177800"/>
          </a:xfrm>
          <a:prstGeom prst="rect">
            <a:avLst/>
          </a:prstGeom>
          <a:noFill/>
          <a:ln>
            <a:noFill/>
          </a:ln>
        </p:spPr>
        <p:txBody>
          <a:bodyPr wrap="square" lIns="0" tIns="0" rIns="0" bIns="0" anchor="t">
            <a:noAutofit/>
          </a:bodyPr>
          <a:lstStyle/>
          <a:p>
            <a:pPr algn="r">
              <a:lnSpc>
                <a:spcPct val="108000"/>
              </a:lnSpc>
              <a:spcBef>
                <a:spcPts val="0"/>
              </a:spcBef>
              <a:spcAft>
                <a:spcPts val="0"/>
              </a:spcAft>
              <a:buNone/>
            </a:pPr>
            <a:r>
              <a:rPr lang="en-US" sz="850" b="1" dirty="0">
                <a:solidFill>
                  <a:srgbClr val="0F172A"/>
                </a:solidFill>
                <a:latin typeface="Arial"/>
                <a:cs typeface="Arial"/>
              </a:rPr>
              <a:t>4</a:t>
            </a:r>
            <a:endParaRPr lang="en-US" sz="850" dirty="0"/>
          </a:p>
        </p:txBody>
      </p:sp>
      <p:sp>
        <p:nvSpPr>
          <p:cNvPr id="8" name="Shape 8"/>
          <p:cNvSpPr/>
          <p:nvPr/>
        </p:nvSpPr>
        <p:spPr>
          <a:xfrm>
            <a:off x="711200" y="1700784"/>
            <a:ext cx="3454400" cy="2172208"/>
          </a:xfrm>
          <a:prstGeom prst="roundRect">
            <a:avLst>
              <a:gd name="adj" fmla="val 7015"/>
            </a:avLst>
          </a:prstGeom>
          <a:solidFill>
            <a:srgbClr val="FFFFFF"/>
          </a:solidFill>
          <a:ln w="9525" cap="rnd">
            <a:solidFill>
              <a:srgbClr val="E2E8F0"/>
            </a:solidFill>
            <a:round/>
          </a:ln>
        </p:spPr>
      </p:sp>
      <p:sp>
        <p:nvSpPr>
          <p:cNvPr id="9" name="Text 9"/>
          <p:cNvSpPr txBox="1"/>
          <p:nvPr/>
        </p:nvSpPr>
        <p:spPr>
          <a:xfrm>
            <a:off x="914400" y="1903984"/>
            <a:ext cx="381000" cy="304800"/>
          </a:xfrm>
          <a:prstGeom prst="roundRect">
            <a:avLst>
              <a:gd name="adj" fmla="val 29166"/>
            </a:avLst>
          </a:prstGeom>
          <a:solidFill>
            <a:srgbClr val="EDEDFC"/>
          </a:solidFill>
          <a:ln>
            <a:noFill/>
          </a:ln>
        </p:spPr>
        <p:txBody>
          <a:bodyPr wrap="square" lIns="0" tIns="0" rIns="0" bIns="0" anchor="ctr">
            <a:noAutofit/>
          </a:bodyPr>
          <a:lstStyle/>
          <a:p>
            <a:pPr algn="ctr">
              <a:lnSpc>
                <a:spcPct val="108000"/>
              </a:lnSpc>
              <a:spcBef>
                <a:spcPts val="0"/>
              </a:spcBef>
              <a:spcAft>
                <a:spcPts val="0"/>
              </a:spcAft>
              <a:buNone/>
            </a:pPr>
            <a:r>
              <a:rPr lang="en-US" sz="1050" b="1" dirty="0">
                <a:solidFill>
                  <a:srgbClr val="4F46E5"/>
                </a:solidFill>
                <a:latin typeface="Arial"/>
                <a:cs typeface="Arial"/>
              </a:rPr>
              <a:t>01</a:t>
            </a:r>
            <a:endParaRPr lang="en-US" sz="1050" dirty="0"/>
          </a:p>
        </p:txBody>
      </p:sp>
      <p:sp>
        <p:nvSpPr>
          <p:cNvPr id="10" name="Text 10"/>
          <p:cNvSpPr txBox="1"/>
          <p:nvPr/>
        </p:nvSpPr>
        <p:spPr>
          <a:xfrm>
            <a:off x="914400" y="2335784"/>
            <a:ext cx="3048000" cy="1435608"/>
          </a:xfrm>
          <a:prstGeom prst="rect">
            <a:avLst/>
          </a:prstGeom>
          <a:noFill/>
          <a:ln>
            <a:noFill/>
          </a:ln>
        </p:spPr>
        <p:txBody>
          <a:bodyPr wrap="square" lIns="0" tIns="0" rIns="0" bIns="0" anchor="t">
            <a:noAutofit/>
          </a:bodyPr>
          <a:lstStyle/>
          <a:p>
            <a:pPr algn="l">
              <a:lnSpc>
                <a:spcPct val="108000"/>
              </a:lnSpc>
              <a:spcBef>
                <a:spcPts val="0"/>
              </a:spcBef>
              <a:spcAft>
                <a:spcPts val="600"/>
              </a:spcAft>
              <a:buNone/>
            </a:pPr>
            <a:r>
              <a:rPr lang="en-US" sz="1300" b="1" dirty="0">
                <a:solidFill>
                  <a:srgbClr val="0F172A"/>
                </a:solidFill>
                <a:latin typeface="Arial"/>
                <a:cs typeface="Arial"/>
              </a:rPr>
              <a:t>Kubernetes is mainly an inference platform for AI today.</a:t>
            </a:r>
            <a:endParaRPr lang="en-US" sz="1300" dirty="0"/>
          </a:p>
          <a:p>
            <a:pPr algn="l">
              <a:lnSpc>
                <a:spcPct val="116000"/>
              </a:lnSpc>
              <a:spcBef>
                <a:spcPts val="0"/>
              </a:spcBef>
              <a:spcAft>
                <a:spcPts val="0"/>
              </a:spcAft>
              <a:buNone/>
            </a:pPr>
            <a:r>
              <a:rPr lang="en-US" sz="1050" dirty="0">
                <a:solidFill>
                  <a:srgbClr val="64748B"/>
                </a:solidFill>
                <a:latin typeface="Arial"/>
                <a:cs typeface="Arial"/>
              </a:rPr>
              <a:t>In the CNCF 2025 survey (released 20 January 2026), 66% of organisations hosting generative AI models run some or all inference on Kubernetes</a:t>
            </a:r>
            <a:r>
              <a:rPr lang="en-US" sz="1050" baseline="30000" dirty="0">
                <a:solidFill>
                  <a:srgbClr val="64748B"/>
                </a:solidFill>
                <a:latin typeface="Arial"/>
                <a:cs typeface="Arial"/>
              </a:rPr>
              <a:t> 1,2</a:t>
            </a:r>
            <a:r>
              <a:rPr lang="en-US" sz="1050" dirty="0">
                <a:solidFill>
                  <a:srgbClr val="64748B"/>
                </a:solidFill>
                <a:latin typeface="Arial"/>
                <a:cs typeface="Arial"/>
              </a:rPr>
              <a:t>.</a:t>
            </a:r>
            <a:endParaRPr lang="en-US" sz="1050" dirty="0"/>
          </a:p>
        </p:txBody>
      </p:sp>
      <p:sp>
        <p:nvSpPr>
          <p:cNvPr id="11" name="Shape 11"/>
          <p:cNvSpPr/>
          <p:nvPr/>
        </p:nvSpPr>
        <p:spPr>
          <a:xfrm>
            <a:off x="4368800" y="1700784"/>
            <a:ext cx="3454400" cy="2172208"/>
          </a:xfrm>
          <a:prstGeom prst="roundRect">
            <a:avLst>
              <a:gd name="adj" fmla="val 7015"/>
            </a:avLst>
          </a:prstGeom>
          <a:solidFill>
            <a:srgbClr val="FFFFFF"/>
          </a:solidFill>
          <a:ln w="9525" cap="rnd">
            <a:solidFill>
              <a:srgbClr val="E2E8F0"/>
            </a:solidFill>
            <a:round/>
          </a:ln>
        </p:spPr>
      </p:sp>
      <p:sp>
        <p:nvSpPr>
          <p:cNvPr id="12" name="Text 12"/>
          <p:cNvSpPr txBox="1"/>
          <p:nvPr/>
        </p:nvSpPr>
        <p:spPr>
          <a:xfrm>
            <a:off x="4572000" y="1903984"/>
            <a:ext cx="381000" cy="304800"/>
          </a:xfrm>
          <a:prstGeom prst="roundRect">
            <a:avLst>
              <a:gd name="adj" fmla="val 29166"/>
            </a:avLst>
          </a:prstGeom>
          <a:solidFill>
            <a:srgbClr val="EDEDFC"/>
          </a:solidFill>
          <a:ln>
            <a:noFill/>
          </a:ln>
        </p:spPr>
        <p:txBody>
          <a:bodyPr wrap="square" lIns="0" tIns="0" rIns="0" bIns="0" anchor="ctr">
            <a:noAutofit/>
          </a:bodyPr>
          <a:lstStyle/>
          <a:p>
            <a:pPr algn="ctr">
              <a:lnSpc>
                <a:spcPct val="108000"/>
              </a:lnSpc>
              <a:spcBef>
                <a:spcPts val="0"/>
              </a:spcBef>
              <a:spcAft>
                <a:spcPts val="0"/>
              </a:spcAft>
              <a:buNone/>
            </a:pPr>
            <a:r>
              <a:rPr lang="en-US" sz="1050" b="1" dirty="0">
                <a:solidFill>
                  <a:srgbClr val="4F46E5"/>
                </a:solidFill>
                <a:latin typeface="Arial"/>
                <a:cs typeface="Arial"/>
              </a:rPr>
              <a:t>02</a:t>
            </a:r>
            <a:endParaRPr lang="en-US" sz="1050" dirty="0"/>
          </a:p>
        </p:txBody>
      </p:sp>
      <p:sp>
        <p:nvSpPr>
          <p:cNvPr id="13" name="Text 13"/>
          <p:cNvSpPr txBox="1"/>
          <p:nvPr/>
        </p:nvSpPr>
        <p:spPr>
          <a:xfrm>
            <a:off x="4572000" y="2335784"/>
            <a:ext cx="3048000" cy="1435608"/>
          </a:xfrm>
          <a:prstGeom prst="rect">
            <a:avLst/>
          </a:prstGeom>
          <a:noFill/>
          <a:ln>
            <a:noFill/>
          </a:ln>
        </p:spPr>
        <p:txBody>
          <a:bodyPr wrap="square" lIns="0" tIns="0" rIns="0" bIns="0" anchor="t">
            <a:noAutofit/>
          </a:bodyPr>
          <a:lstStyle/>
          <a:p>
            <a:pPr algn="l">
              <a:lnSpc>
                <a:spcPct val="108000"/>
              </a:lnSpc>
              <a:spcBef>
                <a:spcPts val="0"/>
              </a:spcBef>
              <a:spcAft>
                <a:spcPts val="600"/>
              </a:spcAft>
              <a:buNone/>
            </a:pPr>
            <a:r>
              <a:rPr lang="en-US" sz="1300" b="1" dirty="0">
                <a:solidFill>
                  <a:srgbClr val="0F172A"/>
                </a:solidFill>
                <a:latin typeface="Arial"/>
                <a:cs typeface="Arial"/>
              </a:rPr>
              <a:t>Adoption is wide but operationally immature.</a:t>
            </a:r>
            <a:endParaRPr lang="en-US" sz="1300" dirty="0"/>
          </a:p>
          <a:p>
            <a:pPr algn="l">
              <a:lnSpc>
                <a:spcPct val="116000"/>
              </a:lnSpc>
              <a:spcBef>
                <a:spcPts val="0"/>
              </a:spcBef>
              <a:spcAft>
                <a:spcPts val="0"/>
              </a:spcAft>
              <a:buNone/>
            </a:pPr>
            <a:r>
              <a:rPr lang="en-US" sz="1050" dirty="0">
                <a:solidFill>
                  <a:srgbClr val="64748B"/>
                </a:solidFill>
                <a:latin typeface="Arial"/>
                <a:cs typeface="Arial"/>
              </a:rPr>
              <a:t>44% of organisations do not yet run AI/ML on Kubernetes and only 7% deploy models daily</a:t>
            </a:r>
            <a:r>
              <a:rPr lang="en-US" sz="1050" baseline="30000" dirty="0">
                <a:solidFill>
                  <a:srgbClr val="64748B"/>
                </a:solidFill>
                <a:latin typeface="Arial"/>
                <a:cs typeface="Arial"/>
              </a:rPr>
              <a:t> 1,3</a:t>
            </a:r>
            <a:r>
              <a:rPr lang="en-US" sz="1050" dirty="0">
                <a:solidFill>
                  <a:srgbClr val="64748B"/>
                </a:solidFill>
                <a:latin typeface="Arial"/>
                <a:cs typeface="Arial"/>
              </a:rPr>
              <a:t>.</a:t>
            </a:r>
            <a:endParaRPr lang="en-US" sz="1050" dirty="0"/>
          </a:p>
        </p:txBody>
      </p:sp>
      <p:sp>
        <p:nvSpPr>
          <p:cNvPr id="14" name="Shape 14"/>
          <p:cNvSpPr/>
          <p:nvPr/>
        </p:nvSpPr>
        <p:spPr>
          <a:xfrm>
            <a:off x="8026400" y="1700784"/>
            <a:ext cx="3454400" cy="2172208"/>
          </a:xfrm>
          <a:prstGeom prst="roundRect">
            <a:avLst>
              <a:gd name="adj" fmla="val 7015"/>
            </a:avLst>
          </a:prstGeom>
          <a:solidFill>
            <a:srgbClr val="FFFFFF"/>
          </a:solidFill>
          <a:ln w="9525" cap="rnd">
            <a:solidFill>
              <a:srgbClr val="E2E8F0"/>
            </a:solidFill>
            <a:round/>
          </a:ln>
        </p:spPr>
      </p:sp>
      <p:sp>
        <p:nvSpPr>
          <p:cNvPr id="15" name="Text 15"/>
          <p:cNvSpPr txBox="1"/>
          <p:nvPr/>
        </p:nvSpPr>
        <p:spPr>
          <a:xfrm>
            <a:off x="8229600" y="1903984"/>
            <a:ext cx="381000" cy="304800"/>
          </a:xfrm>
          <a:prstGeom prst="roundRect">
            <a:avLst>
              <a:gd name="adj" fmla="val 29166"/>
            </a:avLst>
          </a:prstGeom>
          <a:solidFill>
            <a:srgbClr val="EDEDFC"/>
          </a:solidFill>
          <a:ln>
            <a:noFill/>
          </a:ln>
        </p:spPr>
        <p:txBody>
          <a:bodyPr wrap="square" lIns="0" tIns="0" rIns="0" bIns="0" anchor="ctr">
            <a:noAutofit/>
          </a:bodyPr>
          <a:lstStyle/>
          <a:p>
            <a:pPr algn="ctr">
              <a:lnSpc>
                <a:spcPct val="108000"/>
              </a:lnSpc>
              <a:spcBef>
                <a:spcPts val="0"/>
              </a:spcBef>
              <a:spcAft>
                <a:spcPts val="0"/>
              </a:spcAft>
              <a:buNone/>
            </a:pPr>
            <a:r>
              <a:rPr lang="en-US" sz="1050" b="1" dirty="0">
                <a:solidFill>
                  <a:srgbClr val="4F46E5"/>
                </a:solidFill>
                <a:latin typeface="Arial"/>
                <a:cs typeface="Arial"/>
              </a:rPr>
              <a:t>03</a:t>
            </a:r>
            <a:endParaRPr lang="en-US" sz="1050" dirty="0"/>
          </a:p>
        </p:txBody>
      </p:sp>
      <p:sp>
        <p:nvSpPr>
          <p:cNvPr id="16" name="Text 16"/>
          <p:cNvSpPr txBox="1"/>
          <p:nvPr/>
        </p:nvSpPr>
        <p:spPr>
          <a:xfrm>
            <a:off x="8229600" y="2335784"/>
            <a:ext cx="3048000" cy="1435608"/>
          </a:xfrm>
          <a:prstGeom prst="rect">
            <a:avLst/>
          </a:prstGeom>
          <a:noFill/>
          <a:ln>
            <a:noFill/>
          </a:ln>
        </p:spPr>
        <p:txBody>
          <a:bodyPr wrap="square" lIns="0" tIns="0" rIns="0" bIns="0" anchor="t">
            <a:noAutofit/>
          </a:bodyPr>
          <a:lstStyle/>
          <a:p>
            <a:pPr algn="l">
              <a:lnSpc>
                <a:spcPct val="108000"/>
              </a:lnSpc>
              <a:spcBef>
                <a:spcPts val="0"/>
              </a:spcBef>
              <a:spcAft>
                <a:spcPts val="600"/>
              </a:spcAft>
              <a:buNone/>
            </a:pPr>
            <a:r>
              <a:rPr lang="en-US" sz="1300" b="1" dirty="0">
                <a:solidFill>
                  <a:srgbClr val="0F172A"/>
                </a:solidFill>
                <a:latin typeface="Arial"/>
                <a:cs typeface="Arial"/>
              </a:rPr>
              <a:t>DRA is the accelerator foundation, but gang scheduling for training is still alpha upstream.</a:t>
            </a:r>
            <a:endParaRPr lang="en-US" sz="1300" dirty="0"/>
          </a:p>
          <a:p>
            <a:pPr algn="l">
              <a:lnSpc>
                <a:spcPct val="116000"/>
              </a:lnSpc>
              <a:spcBef>
                <a:spcPts val="0"/>
              </a:spcBef>
              <a:spcAft>
                <a:spcPts val="0"/>
              </a:spcAft>
              <a:buNone/>
            </a:pPr>
            <a:r>
              <a:rPr lang="en-US" sz="1050" dirty="0">
                <a:solidFill>
                  <a:srgbClr val="64748B"/>
                </a:solidFill>
                <a:latin typeface="Arial"/>
                <a:cs typeface="Arial"/>
              </a:rPr>
              <a:t>Core DRA went GA in v1.34, and partitionable devices and device health went beta in v1.36</a:t>
            </a:r>
            <a:r>
              <a:rPr lang="en-US" sz="1050" baseline="30000" dirty="0">
                <a:solidFill>
                  <a:srgbClr val="64748B"/>
                </a:solidFill>
                <a:latin typeface="Arial"/>
                <a:cs typeface="Arial"/>
              </a:rPr>
              <a:t> 17,18,19</a:t>
            </a:r>
            <a:r>
              <a:rPr lang="en-US" sz="1050" dirty="0">
                <a:solidFill>
                  <a:srgbClr val="64748B"/>
                </a:solidFill>
                <a:latin typeface="Arial"/>
                <a:cs typeface="Arial"/>
              </a:rPr>
              <a:t>.</a:t>
            </a:r>
            <a:endParaRPr lang="en-US" sz="1050" dirty="0"/>
          </a:p>
        </p:txBody>
      </p:sp>
      <p:sp>
        <p:nvSpPr>
          <p:cNvPr id="17" name="Shape 17"/>
          <p:cNvSpPr/>
          <p:nvPr/>
        </p:nvSpPr>
        <p:spPr>
          <a:xfrm>
            <a:off x="711200" y="4076192"/>
            <a:ext cx="3454400" cy="2172208"/>
          </a:xfrm>
          <a:prstGeom prst="roundRect">
            <a:avLst>
              <a:gd name="adj" fmla="val 7015"/>
            </a:avLst>
          </a:prstGeom>
          <a:solidFill>
            <a:srgbClr val="FFFFFF"/>
          </a:solidFill>
          <a:ln w="9525" cap="rnd">
            <a:solidFill>
              <a:srgbClr val="E2E8F0"/>
            </a:solidFill>
            <a:round/>
          </a:ln>
        </p:spPr>
      </p:sp>
      <p:sp>
        <p:nvSpPr>
          <p:cNvPr id="18" name="Text 18"/>
          <p:cNvSpPr txBox="1"/>
          <p:nvPr/>
        </p:nvSpPr>
        <p:spPr>
          <a:xfrm>
            <a:off x="914400" y="4279392"/>
            <a:ext cx="381000" cy="304800"/>
          </a:xfrm>
          <a:prstGeom prst="roundRect">
            <a:avLst>
              <a:gd name="adj" fmla="val 29166"/>
            </a:avLst>
          </a:prstGeom>
          <a:solidFill>
            <a:srgbClr val="EDEDFC"/>
          </a:solidFill>
          <a:ln>
            <a:noFill/>
          </a:ln>
        </p:spPr>
        <p:txBody>
          <a:bodyPr wrap="square" lIns="0" tIns="0" rIns="0" bIns="0" anchor="ctr">
            <a:noAutofit/>
          </a:bodyPr>
          <a:lstStyle/>
          <a:p>
            <a:pPr algn="ctr">
              <a:lnSpc>
                <a:spcPct val="108000"/>
              </a:lnSpc>
              <a:spcBef>
                <a:spcPts val="0"/>
              </a:spcBef>
              <a:spcAft>
                <a:spcPts val="0"/>
              </a:spcAft>
              <a:buNone/>
            </a:pPr>
            <a:r>
              <a:rPr lang="en-US" sz="1050" b="1" dirty="0">
                <a:solidFill>
                  <a:srgbClr val="4F46E5"/>
                </a:solidFill>
                <a:latin typeface="Arial"/>
                <a:cs typeface="Arial"/>
              </a:rPr>
              <a:t>04</a:t>
            </a:r>
            <a:endParaRPr lang="en-US" sz="1050" dirty="0"/>
          </a:p>
        </p:txBody>
      </p:sp>
      <p:sp>
        <p:nvSpPr>
          <p:cNvPr id="19" name="Text 19"/>
          <p:cNvSpPr txBox="1"/>
          <p:nvPr/>
        </p:nvSpPr>
        <p:spPr>
          <a:xfrm>
            <a:off x="914400" y="4711192"/>
            <a:ext cx="3048000" cy="1435608"/>
          </a:xfrm>
          <a:prstGeom prst="rect">
            <a:avLst/>
          </a:prstGeom>
          <a:noFill/>
          <a:ln>
            <a:noFill/>
          </a:ln>
        </p:spPr>
        <p:txBody>
          <a:bodyPr wrap="square" lIns="0" tIns="0" rIns="0" bIns="0" anchor="t">
            <a:noAutofit/>
          </a:bodyPr>
          <a:lstStyle/>
          <a:p>
            <a:pPr algn="l">
              <a:lnSpc>
                <a:spcPct val="108000"/>
              </a:lnSpc>
              <a:spcBef>
                <a:spcPts val="0"/>
              </a:spcBef>
              <a:spcAft>
                <a:spcPts val="600"/>
              </a:spcAft>
              <a:buNone/>
            </a:pPr>
            <a:r>
              <a:rPr lang="en-US" sz="1300" b="1" dirty="0">
                <a:solidFill>
                  <a:srgbClr val="0F172A"/>
                </a:solidFill>
                <a:latin typeface="Arial"/>
                <a:cs typeface="Arial"/>
              </a:rPr>
              <a:t>The Kubernetes inference stack has converged on InferencePool, llm-d and LeaderWorkerSet, with NVIDIA Dynamo as the main alternative.</a:t>
            </a:r>
            <a:endParaRPr lang="en-US" sz="1300" dirty="0"/>
          </a:p>
          <a:p>
            <a:pPr algn="l">
              <a:lnSpc>
                <a:spcPct val="116000"/>
              </a:lnSpc>
              <a:spcBef>
                <a:spcPts val="0"/>
              </a:spcBef>
              <a:spcAft>
                <a:spcPts val="0"/>
              </a:spcAft>
              <a:buNone/>
            </a:pPr>
            <a:r>
              <a:rPr lang="en-US" sz="1050" dirty="0">
                <a:solidFill>
                  <a:srgbClr val="64748B"/>
                </a:solidFill>
                <a:latin typeface="Arial"/>
                <a:cs typeface="Arial"/>
              </a:rPr>
              <a:t>InferencePool is stable at v1 and its production Endpoint Picker now lives in llm-d</a:t>
            </a:r>
            <a:r>
              <a:rPr lang="en-US" sz="1050" baseline="30000" dirty="0">
                <a:solidFill>
                  <a:srgbClr val="64748B"/>
                </a:solidFill>
                <a:latin typeface="Arial"/>
                <a:cs typeface="Arial"/>
              </a:rPr>
              <a:t> 6,7,8</a:t>
            </a:r>
            <a:r>
              <a:rPr lang="en-US" sz="1050" dirty="0">
                <a:solidFill>
                  <a:srgbClr val="64748B"/>
                </a:solidFill>
                <a:latin typeface="Arial"/>
                <a:cs typeface="Arial"/>
              </a:rPr>
              <a:t>.</a:t>
            </a:r>
            <a:endParaRPr lang="en-US" sz="1050" dirty="0"/>
          </a:p>
        </p:txBody>
      </p:sp>
      <p:sp>
        <p:nvSpPr>
          <p:cNvPr id="20" name="Shape 20"/>
          <p:cNvSpPr/>
          <p:nvPr/>
        </p:nvSpPr>
        <p:spPr>
          <a:xfrm>
            <a:off x="4368800" y="4076192"/>
            <a:ext cx="3454400" cy="2172208"/>
          </a:xfrm>
          <a:prstGeom prst="roundRect">
            <a:avLst>
              <a:gd name="adj" fmla="val 7015"/>
            </a:avLst>
          </a:prstGeom>
          <a:solidFill>
            <a:srgbClr val="FFFFFF"/>
          </a:solidFill>
          <a:ln w="9525" cap="rnd">
            <a:solidFill>
              <a:srgbClr val="E2E8F0"/>
            </a:solidFill>
            <a:round/>
          </a:ln>
        </p:spPr>
      </p:sp>
      <p:sp>
        <p:nvSpPr>
          <p:cNvPr id="21" name="Text 21"/>
          <p:cNvSpPr txBox="1"/>
          <p:nvPr/>
        </p:nvSpPr>
        <p:spPr>
          <a:xfrm>
            <a:off x="4572000" y="4279392"/>
            <a:ext cx="381000" cy="304800"/>
          </a:xfrm>
          <a:prstGeom prst="roundRect">
            <a:avLst>
              <a:gd name="adj" fmla="val 29166"/>
            </a:avLst>
          </a:prstGeom>
          <a:solidFill>
            <a:srgbClr val="EDEDFC"/>
          </a:solidFill>
          <a:ln>
            <a:noFill/>
          </a:ln>
        </p:spPr>
        <p:txBody>
          <a:bodyPr wrap="square" lIns="0" tIns="0" rIns="0" bIns="0" anchor="ctr">
            <a:noAutofit/>
          </a:bodyPr>
          <a:lstStyle/>
          <a:p>
            <a:pPr algn="ctr">
              <a:lnSpc>
                <a:spcPct val="108000"/>
              </a:lnSpc>
              <a:spcBef>
                <a:spcPts val="0"/>
              </a:spcBef>
              <a:spcAft>
                <a:spcPts val="0"/>
              </a:spcAft>
              <a:buNone/>
            </a:pPr>
            <a:r>
              <a:rPr lang="en-US" sz="1050" b="1" dirty="0">
                <a:solidFill>
                  <a:srgbClr val="4F46E5"/>
                </a:solidFill>
                <a:latin typeface="Arial"/>
                <a:cs typeface="Arial"/>
              </a:rPr>
              <a:t>05</a:t>
            </a:r>
            <a:endParaRPr lang="en-US" sz="1050" dirty="0"/>
          </a:p>
        </p:txBody>
      </p:sp>
      <p:sp>
        <p:nvSpPr>
          <p:cNvPr id="22" name="Text 22"/>
          <p:cNvSpPr txBox="1"/>
          <p:nvPr/>
        </p:nvSpPr>
        <p:spPr>
          <a:xfrm>
            <a:off x="4572000" y="4711192"/>
            <a:ext cx="3048000" cy="1435608"/>
          </a:xfrm>
          <a:prstGeom prst="rect">
            <a:avLst/>
          </a:prstGeom>
          <a:noFill/>
          <a:ln>
            <a:noFill/>
          </a:ln>
        </p:spPr>
        <p:txBody>
          <a:bodyPr wrap="square" lIns="0" tIns="0" rIns="0" bIns="0" anchor="t">
            <a:noAutofit/>
          </a:bodyPr>
          <a:lstStyle/>
          <a:p>
            <a:pPr algn="l">
              <a:lnSpc>
                <a:spcPct val="108000"/>
              </a:lnSpc>
              <a:spcBef>
                <a:spcPts val="0"/>
              </a:spcBef>
              <a:spcAft>
                <a:spcPts val="600"/>
              </a:spcAft>
              <a:buNone/>
            </a:pPr>
            <a:r>
              <a:rPr lang="en-US" sz="1300" b="1" dirty="0">
                <a:solidFill>
                  <a:srgbClr val="0F172A"/>
                </a:solidFill>
                <a:latin typeface="Arial"/>
                <a:cs typeface="Arial"/>
              </a:rPr>
              <a:t>KV-cache-aware routing delivers the best-documented gains, all of them self-reported.</a:t>
            </a:r>
            <a:endParaRPr lang="en-US" sz="1300" dirty="0"/>
          </a:p>
          <a:p>
            <a:pPr algn="l">
              <a:lnSpc>
                <a:spcPct val="116000"/>
              </a:lnSpc>
              <a:spcBef>
                <a:spcPts val="0"/>
              </a:spcBef>
              <a:spcAft>
                <a:spcPts val="0"/>
              </a:spcAft>
              <a:buNone/>
            </a:pPr>
            <a:r>
              <a:rPr lang="en-US" sz="1050" dirty="0">
                <a:solidFill>
                  <a:srgbClr val="64748B"/>
                </a:solidFill>
                <a:latin typeface="Arial"/>
                <a:cs typeface="Arial"/>
              </a:rPr>
              <a:t>Google reports up to 40% lower TTFT and inter-token latency (ITL) from llm-d predicted-latency scheduling in Vertex AI</a:t>
            </a:r>
            <a:r>
              <a:rPr lang="en-US" sz="1050" baseline="30000" dirty="0">
                <a:solidFill>
                  <a:srgbClr val="64748B"/>
                </a:solidFill>
                <a:latin typeface="Arial"/>
                <a:cs typeface="Arial"/>
              </a:rPr>
              <a:t> 40</a:t>
            </a:r>
            <a:r>
              <a:rPr lang="en-US" sz="1050" dirty="0">
                <a:solidFill>
                  <a:srgbClr val="64748B"/>
                </a:solidFill>
                <a:latin typeface="Arial"/>
                <a:cs typeface="Arial"/>
              </a:rPr>
              <a:t>.</a:t>
            </a:r>
            <a:endParaRPr lang="en-US" sz="1050" dirty="0"/>
          </a:p>
        </p:txBody>
      </p:sp>
      <p:sp>
        <p:nvSpPr>
          <p:cNvPr id="23" name="Shape 23"/>
          <p:cNvSpPr/>
          <p:nvPr/>
        </p:nvSpPr>
        <p:spPr>
          <a:xfrm>
            <a:off x="8026400" y="4076192"/>
            <a:ext cx="3454400" cy="2172208"/>
          </a:xfrm>
          <a:prstGeom prst="roundRect">
            <a:avLst>
              <a:gd name="adj" fmla="val 7015"/>
            </a:avLst>
          </a:prstGeom>
          <a:solidFill>
            <a:srgbClr val="FFFFFF"/>
          </a:solidFill>
          <a:ln w="9525" cap="rnd">
            <a:solidFill>
              <a:srgbClr val="E2E8F0"/>
            </a:solidFill>
            <a:round/>
          </a:ln>
        </p:spPr>
      </p:sp>
      <p:sp>
        <p:nvSpPr>
          <p:cNvPr id="24" name="Text 24"/>
          <p:cNvSpPr txBox="1"/>
          <p:nvPr/>
        </p:nvSpPr>
        <p:spPr>
          <a:xfrm>
            <a:off x="8229600" y="4279392"/>
            <a:ext cx="381000" cy="304800"/>
          </a:xfrm>
          <a:prstGeom prst="roundRect">
            <a:avLst>
              <a:gd name="adj" fmla="val 29166"/>
            </a:avLst>
          </a:prstGeom>
          <a:solidFill>
            <a:srgbClr val="EDEDFC"/>
          </a:solidFill>
          <a:ln>
            <a:noFill/>
          </a:ln>
        </p:spPr>
        <p:txBody>
          <a:bodyPr wrap="square" lIns="0" tIns="0" rIns="0" bIns="0" anchor="ctr">
            <a:noAutofit/>
          </a:bodyPr>
          <a:lstStyle/>
          <a:p>
            <a:pPr algn="ctr">
              <a:lnSpc>
                <a:spcPct val="108000"/>
              </a:lnSpc>
              <a:spcBef>
                <a:spcPts val="0"/>
              </a:spcBef>
              <a:spcAft>
                <a:spcPts val="0"/>
              </a:spcAft>
              <a:buNone/>
            </a:pPr>
            <a:r>
              <a:rPr lang="en-US" sz="1050" b="1" dirty="0">
                <a:solidFill>
                  <a:srgbClr val="4F46E5"/>
                </a:solidFill>
                <a:latin typeface="Arial"/>
                <a:cs typeface="Arial"/>
              </a:rPr>
              <a:t>06</a:t>
            </a:r>
            <a:endParaRPr lang="en-US" sz="1050" dirty="0"/>
          </a:p>
        </p:txBody>
      </p:sp>
      <p:sp>
        <p:nvSpPr>
          <p:cNvPr id="25" name="Text 25"/>
          <p:cNvSpPr txBox="1"/>
          <p:nvPr/>
        </p:nvSpPr>
        <p:spPr>
          <a:xfrm>
            <a:off x="8229600" y="4711192"/>
            <a:ext cx="3048000" cy="1435608"/>
          </a:xfrm>
          <a:prstGeom prst="rect">
            <a:avLst/>
          </a:prstGeom>
          <a:noFill/>
          <a:ln>
            <a:noFill/>
          </a:ln>
        </p:spPr>
        <p:txBody>
          <a:bodyPr wrap="square" lIns="0" tIns="0" rIns="0" bIns="0" anchor="t">
            <a:noAutofit/>
          </a:bodyPr>
          <a:lstStyle/>
          <a:p>
            <a:pPr algn="l">
              <a:lnSpc>
                <a:spcPct val="108000"/>
              </a:lnSpc>
              <a:spcBef>
                <a:spcPts val="0"/>
              </a:spcBef>
              <a:spcAft>
                <a:spcPts val="600"/>
              </a:spcAft>
              <a:buNone/>
            </a:pPr>
            <a:r>
              <a:rPr lang="en-US" sz="1300" b="1" dirty="0">
                <a:solidFill>
                  <a:srgbClr val="0F172A"/>
                </a:solidFill>
                <a:latin typeface="Arial"/>
                <a:cs typeface="Arial"/>
              </a:rPr>
              <a:t>Utilisation and cost gains come from scheduling and sharing more than from hardware.</a:t>
            </a:r>
            <a:endParaRPr lang="en-US" sz="1300" dirty="0"/>
          </a:p>
          <a:p>
            <a:pPr algn="l">
              <a:lnSpc>
                <a:spcPct val="116000"/>
              </a:lnSpc>
              <a:spcBef>
                <a:spcPts val="0"/>
              </a:spcBef>
              <a:spcAft>
                <a:spcPts val="0"/>
              </a:spcAft>
              <a:buNone/>
            </a:pPr>
            <a:r>
              <a:rPr lang="en-US" sz="1050" dirty="0">
                <a:solidFill>
                  <a:srgbClr val="64748B"/>
                </a:solidFill>
                <a:latin typeface="Arial"/>
                <a:cs typeface="Arial"/>
              </a:rPr>
              <a:t>China Merchants Bank pooled nearly 10,000 accelerators under Kueue, KEDA, HAMi and Fluid</a:t>
            </a:r>
            <a:r>
              <a:rPr lang="en-US" sz="1050" baseline="30000" dirty="0">
                <a:solidFill>
                  <a:srgbClr val="64748B"/>
                </a:solidFill>
                <a:latin typeface="Arial"/>
                <a:cs typeface="Arial"/>
              </a:rPr>
              <a:t> 33</a:t>
            </a:r>
            <a:r>
              <a:rPr lang="en-US" sz="1050" dirty="0">
                <a:solidFill>
                  <a:srgbClr val="64748B"/>
                </a:solidFill>
                <a:latin typeface="Arial"/>
                <a:cs typeface="Arial"/>
              </a:rPr>
              <a:t>.</a:t>
            </a: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p:nvPr/>
        </p:nvSpPr>
        <p:spPr>
          <a:xfrm>
            <a:off x="711200" y="508000"/>
            <a:ext cx="558800" cy="63500"/>
          </a:xfrm>
          <a:prstGeom prst="roundRect">
            <a:avLst>
              <a:gd name="adj" fmla="val 50000"/>
            </a:avLst>
          </a:prstGeom>
          <a:gradFill rotWithShape="1">
            <a:gsLst>
              <a:gs pos="0">
                <a:srgbClr val="4F46E5"/>
              </a:gs>
              <a:gs pos="50000">
                <a:srgbClr val="7C3AED"/>
              </a:gs>
              <a:gs pos="100000">
                <a:srgbClr val="06B6D4"/>
              </a:gs>
            </a:gsLst>
            <a:lin ang="0" scaled="0"/>
          </a:gradFill>
          <a:ln>
            <a:noFill/>
          </a:ln>
        </p:spPr>
      </p:sp>
      <p:sp>
        <p:nvSpPr>
          <p:cNvPr id="3" name="Text 3"/>
          <p:cNvSpPr txBox="1"/>
          <p:nvPr/>
        </p:nvSpPr>
        <p:spPr>
          <a:xfrm>
            <a:off x="711200" y="685800"/>
            <a:ext cx="10769600" cy="203200"/>
          </a:xfrm>
          <a:prstGeom prst="rect">
            <a:avLst/>
          </a:prstGeom>
          <a:noFill/>
          <a:ln>
            <a:noFill/>
          </a:ln>
        </p:spPr>
        <p:txBody>
          <a:bodyPr wrap="square" lIns="0" tIns="0" rIns="0" bIns="0" anchor="t">
            <a:noAutofit/>
          </a:bodyPr>
          <a:lstStyle/>
          <a:p>
            <a:pPr algn="l">
              <a:lnSpc>
                <a:spcPct val="108000"/>
              </a:lnSpc>
              <a:spcBef>
                <a:spcPts val="0"/>
              </a:spcBef>
              <a:spcAft>
                <a:spcPts val="0"/>
              </a:spcAft>
              <a:buNone/>
            </a:pPr>
            <a:r>
              <a:rPr lang="en-US" sz="950" b="1" spc="140" dirty="0">
                <a:solidFill>
                  <a:srgbClr val="4F46E5"/>
                </a:solidFill>
                <a:latin typeface="Arial"/>
                <a:cs typeface="Arial"/>
              </a:rPr>
              <a:t>KEY FINDINGS</a:t>
            </a:r>
            <a:endParaRPr lang="en-US" sz="950" dirty="0"/>
          </a:p>
        </p:txBody>
      </p:sp>
      <p:sp>
        <p:nvSpPr>
          <p:cNvPr id="4" name="Text 4"/>
          <p:cNvSpPr txBox="1"/>
          <p:nvPr/>
        </p:nvSpPr>
        <p:spPr>
          <a:xfrm>
            <a:off x="711200" y="965200"/>
            <a:ext cx="10515600" cy="481584"/>
          </a:xfrm>
          <a:prstGeom prst="rect">
            <a:avLst/>
          </a:prstGeom>
          <a:noFill/>
          <a:ln>
            <a:noFill/>
          </a:ln>
        </p:spPr>
        <p:txBody>
          <a:bodyPr wrap="square" lIns="0" tIns="0" rIns="0" bIns="0" anchor="t">
            <a:noAutofit/>
          </a:bodyPr>
          <a:lstStyle/>
          <a:p>
            <a:pPr algn="l">
              <a:lnSpc>
                <a:spcPct val="96000"/>
              </a:lnSpc>
              <a:spcBef>
                <a:spcPts val="0"/>
              </a:spcBef>
              <a:spcAft>
                <a:spcPts val="0"/>
              </a:spcAft>
              <a:buNone/>
            </a:pPr>
            <a:r>
              <a:rPr lang="en-US" sz="2800" b="1" spc="-30" dirty="0">
                <a:solidFill>
                  <a:srgbClr val="0F172A"/>
                </a:solidFill>
                <a:latin typeface="Arial"/>
                <a:cs typeface="Arial"/>
              </a:rPr>
              <a:t>What the evidence shows (continued)</a:t>
            </a:r>
            <a:endParaRPr lang="en-US" sz="2800" dirty="0"/>
          </a:p>
        </p:txBody>
      </p:sp>
      <p:sp>
        <p:nvSpPr>
          <p:cNvPr id="5" name="Shape 5"/>
          <p:cNvSpPr/>
          <p:nvPr/>
        </p:nvSpPr>
        <p:spPr>
          <a:xfrm>
            <a:off x="711200" y="6451600"/>
            <a:ext cx="10769600" cy="9525"/>
          </a:xfrm>
          <a:prstGeom prst="rect">
            <a:avLst/>
          </a:prstGeom>
          <a:solidFill>
            <a:srgbClr val="E2E8F0"/>
          </a:solidFill>
          <a:ln>
            <a:noFill/>
          </a:ln>
        </p:spPr>
      </p:sp>
      <p:sp>
        <p:nvSpPr>
          <p:cNvPr id="6" name="Text 6"/>
          <p:cNvSpPr txBox="1"/>
          <p:nvPr/>
        </p:nvSpPr>
        <p:spPr>
          <a:xfrm>
            <a:off x="711200" y="6527800"/>
            <a:ext cx="9753600" cy="177800"/>
          </a:xfrm>
          <a:prstGeom prst="rect">
            <a:avLst/>
          </a:prstGeom>
          <a:noFill/>
          <a:ln>
            <a:noFill/>
          </a:ln>
        </p:spPr>
        <p:txBody>
          <a:bodyPr wrap="square" lIns="0" tIns="0" rIns="0" bIns="0" anchor="t">
            <a:noAutofit/>
          </a:bodyPr>
          <a:lstStyle/>
          <a:p>
            <a:pPr algn="l">
              <a:lnSpc>
                <a:spcPct val="108000"/>
              </a:lnSpc>
              <a:spcBef>
                <a:spcPts val="0"/>
              </a:spcBef>
              <a:spcAft>
                <a:spcPts val="0"/>
              </a:spcAft>
              <a:buNone/>
            </a:pPr>
            <a:r>
              <a:rPr lang="en-US" sz="800" dirty="0">
                <a:solidFill>
                  <a:srgbClr val="94A3B8"/>
                </a:solidFill>
                <a:latin typeface="Arial"/>
                <a:cs typeface="Arial"/>
              </a:rPr>
              <a:t>Kubernetes as the Platform for AI Infrastructure</a:t>
            </a:r>
            <a:endParaRPr lang="en-US" sz="800" dirty="0"/>
          </a:p>
        </p:txBody>
      </p:sp>
      <p:sp>
        <p:nvSpPr>
          <p:cNvPr id="7" name="Text 7"/>
          <p:cNvSpPr txBox="1"/>
          <p:nvPr/>
        </p:nvSpPr>
        <p:spPr>
          <a:xfrm>
            <a:off x="10718800" y="6527800"/>
            <a:ext cx="762000" cy="177800"/>
          </a:xfrm>
          <a:prstGeom prst="rect">
            <a:avLst/>
          </a:prstGeom>
          <a:noFill/>
          <a:ln>
            <a:noFill/>
          </a:ln>
        </p:spPr>
        <p:txBody>
          <a:bodyPr wrap="square" lIns="0" tIns="0" rIns="0" bIns="0" anchor="t">
            <a:noAutofit/>
          </a:bodyPr>
          <a:lstStyle/>
          <a:p>
            <a:pPr algn="r">
              <a:lnSpc>
                <a:spcPct val="108000"/>
              </a:lnSpc>
              <a:spcBef>
                <a:spcPts val="0"/>
              </a:spcBef>
              <a:spcAft>
                <a:spcPts val="0"/>
              </a:spcAft>
              <a:buNone/>
            </a:pPr>
            <a:r>
              <a:rPr lang="en-US" sz="850" b="1" dirty="0">
                <a:solidFill>
                  <a:srgbClr val="0F172A"/>
                </a:solidFill>
                <a:latin typeface="Arial"/>
                <a:cs typeface="Arial"/>
              </a:rPr>
              <a:t>5</a:t>
            </a:r>
            <a:endParaRPr lang="en-US" sz="850" dirty="0"/>
          </a:p>
        </p:txBody>
      </p:sp>
      <p:sp>
        <p:nvSpPr>
          <p:cNvPr id="8" name="Shape 8"/>
          <p:cNvSpPr/>
          <p:nvPr/>
        </p:nvSpPr>
        <p:spPr>
          <a:xfrm>
            <a:off x="711200" y="1700784"/>
            <a:ext cx="10769600" cy="2921000"/>
          </a:xfrm>
          <a:prstGeom prst="roundRect">
            <a:avLst>
              <a:gd name="adj" fmla="val 5217"/>
            </a:avLst>
          </a:prstGeom>
          <a:solidFill>
            <a:srgbClr val="FFFFFF"/>
          </a:solidFill>
          <a:ln w="9525" cap="rnd">
            <a:solidFill>
              <a:srgbClr val="E2E8F0"/>
            </a:solidFill>
            <a:round/>
          </a:ln>
        </p:spPr>
      </p:sp>
      <p:sp>
        <p:nvSpPr>
          <p:cNvPr id="9" name="Text 9"/>
          <p:cNvSpPr txBox="1"/>
          <p:nvPr/>
        </p:nvSpPr>
        <p:spPr>
          <a:xfrm>
            <a:off x="914400" y="1903984"/>
            <a:ext cx="381000" cy="304800"/>
          </a:xfrm>
          <a:prstGeom prst="roundRect">
            <a:avLst>
              <a:gd name="adj" fmla="val 29166"/>
            </a:avLst>
          </a:prstGeom>
          <a:solidFill>
            <a:srgbClr val="EDEDFC"/>
          </a:solidFill>
          <a:ln>
            <a:noFill/>
          </a:ln>
        </p:spPr>
        <p:txBody>
          <a:bodyPr wrap="square" lIns="0" tIns="0" rIns="0" bIns="0" anchor="ctr">
            <a:noAutofit/>
          </a:bodyPr>
          <a:lstStyle/>
          <a:p>
            <a:pPr algn="ctr">
              <a:lnSpc>
                <a:spcPct val="108000"/>
              </a:lnSpc>
              <a:spcBef>
                <a:spcPts val="0"/>
              </a:spcBef>
              <a:spcAft>
                <a:spcPts val="0"/>
              </a:spcAft>
              <a:buNone/>
            </a:pPr>
            <a:r>
              <a:rPr lang="en-US" sz="1050" b="1" dirty="0">
                <a:solidFill>
                  <a:srgbClr val="4F46E5"/>
                </a:solidFill>
                <a:latin typeface="Arial"/>
                <a:cs typeface="Arial"/>
              </a:rPr>
              <a:t>07</a:t>
            </a:r>
            <a:endParaRPr lang="en-US" sz="1050" dirty="0"/>
          </a:p>
        </p:txBody>
      </p:sp>
      <p:sp>
        <p:nvSpPr>
          <p:cNvPr id="10" name="Text 10"/>
          <p:cNvSpPr txBox="1"/>
          <p:nvPr/>
        </p:nvSpPr>
        <p:spPr>
          <a:xfrm>
            <a:off x="914400" y="2335784"/>
            <a:ext cx="10363200" cy="2184400"/>
          </a:xfrm>
          <a:prstGeom prst="rect">
            <a:avLst/>
          </a:prstGeom>
          <a:noFill/>
          <a:ln>
            <a:noFill/>
          </a:ln>
        </p:spPr>
        <p:txBody>
          <a:bodyPr wrap="square" lIns="0" tIns="0" rIns="0" bIns="0" anchor="t">
            <a:noAutofit/>
          </a:bodyPr>
          <a:lstStyle/>
          <a:p>
            <a:pPr algn="l">
              <a:lnSpc>
                <a:spcPct val="108000"/>
              </a:lnSpc>
              <a:spcBef>
                <a:spcPts val="0"/>
              </a:spcBef>
              <a:spcAft>
                <a:spcPts val="600"/>
              </a:spcAft>
              <a:buNone/>
            </a:pPr>
            <a:r>
              <a:rPr lang="en-US" sz="1400" b="1" dirty="0">
                <a:solidFill>
                  <a:srgbClr val="0F172A"/>
                </a:solidFill>
                <a:latin typeface="Arial"/>
                <a:cs typeface="Arial"/>
              </a:rPr>
              <a:t>At the frontier, power and networking limit scale more than Kubernetes does.</a:t>
            </a:r>
            <a:endParaRPr lang="en-US" sz="1400" dirty="0"/>
          </a:p>
          <a:p>
            <a:pPr algn="l">
              <a:lnSpc>
                <a:spcPct val="116000"/>
              </a:lnSpc>
              <a:spcBef>
                <a:spcPts val="0"/>
              </a:spcBef>
              <a:spcAft>
                <a:spcPts val="0"/>
              </a:spcAft>
              <a:buNone/>
            </a:pPr>
            <a:r>
              <a:rPr lang="en-US" sz="1050" dirty="0">
                <a:solidFill>
                  <a:srgbClr val="64748B"/>
                </a:solidFill>
                <a:latin typeface="Arial"/>
                <a:cs typeface="Arial"/>
              </a:rPr>
              <a:t>Google ran a 130,000-node experimental GKE cluster and named electrical power as the main constraint (about 2,700 W per GB200 GPU)</a:t>
            </a:r>
            <a:r>
              <a:rPr lang="en-US" sz="1050" baseline="30000" dirty="0">
                <a:solidFill>
                  <a:srgbClr val="64748B"/>
                </a:solidFill>
                <a:latin typeface="Arial"/>
                <a:cs typeface="Arial"/>
              </a:rPr>
              <a:t> 28</a:t>
            </a:r>
            <a:r>
              <a:rPr lang="en-US" sz="1050" dirty="0">
                <a:solidFill>
                  <a:srgbClr val="64748B"/>
                </a:solidFill>
                <a:latin typeface="Arial"/>
                <a:cs typeface="Arial"/>
              </a:rPr>
              <a:t>.</a:t>
            </a:r>
            <a:endParaRPr lang="en-US" sz="10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p:nvPr/>
        </p:nvSpPr>
        <p:spPr>
          <a:xfrm>
            <a:off x="711200" y="508000"/>
            <a:ext cx="558800" cy="63500"/>
          </a:xfrm>
          <a:prstGeom prst="roundRect">
            <a:avLst>
              <a:gd name="adj" fmla="val 50000"/>
            </a:avLst>
          </a:prstGeom>
          <a:gradFill rotWithShape="1">
            <a:gsLst>
              <a:gs pos="0">
                <a:srgbClr val="4F46E5"/>
              </a:gs>
              <a:gs pos="50000">
                <a:srgbClr val="7C3AED"/>
              </a:gs>
              <a:gs pos="100000">
                <a:srgbClr val="06B6D4"/>
              </a:gs>
            </a:gsLst>
            <a:lin ang="0" scaled="0"/>
          </a:gradFill>
          <a:ln>
            <a:noFill/>
          </a:ln>
        </p:spPr>
      </p:sp>
      <p:sp>
        <p:nvSpPr>
          <p:cNvPr id="3" name="Text 3"/>
          <p:cNvSpPr txBox="1"/>
          <p:nvPr/>
        </p:nvSpPr>
        <p:spPr>
          <a:xfrm>
            <a:off x="711200" y="685800"/>
            <a:ext cx="10769600" cy="203200"/>
          </a:xfrm>
          <a:prstGeom prst="rect">
            <a:avLst/>
          </a:prstGeom>
          <a:noFill/>
          <a:ln>
            <a:noFill/>
          </a:ln>
        </p:spPr>
        <p:txBody>
          <a:bodyPr wrap="square" lIns="0" tIns="0" rIns="0" bIns="0" anchor="t">
            <a:noAutofit/>
          </a:bodyPr>
          <a:lstStyle/>
          <a:p>
            <a:pPr algn="l">
              <a:lnSpc>
                <a:spcPct val="108000"/>
              </a:lnSpc>
              <a:spcBef>
                <a:spcPts val="0"/>
              </a:spcBef>
              <a:spcAft>
                <a:spcPts val="0"/>
              </a:spcAft>
              <a:buNone/>
            </a:pPr>
            <a:r>
              <a:rPr lang="en-US" sz="950" b="1" spc="140" dirty="0">
                <a:solidFill>
                  <a:srgbClr val="4F46E5"/>
                </a:solidFill>
                <a:latin typeface="Arial"/>
                <a:cs typeface="Arial"/>
              </a:rPr>
              <a:t>SECTION 01 · WHY AI WORKLOADS ARE MOVING ONTO KUBERNETES</a:t>
            </a:r>
            <a:endParaRPr lang="en-US" sz="950" dirty="0"/>
          </a:p>
        </p:txBody>
      </p:sp>
      <p:sp>
        <p:nvSpPr>
          <p:cNvPr id="4" name="Text 4"/>
          <p:cNvSpPr txBox="1"/>
          <p:nvPr/>
        </p:nvSpPr>
        <p:spPr>
          <a:xfrm>
            <a:off x="711200" y="965200"/>
            <a:ext cx="10515600" cy="481584"/>
          </a:xfrm>
          <a:prstGeom prst="rect">
            <a:avLst/>
          </a:prstGeom>
          <a:noFill/>
          <a:ln>
            <a:noFill/>
          </a:ln>
        </p:spPr>
        <p:txBody>
          <a:bodyPr wrap="square" lIns="0" tIns="0" rIns="0" bIns="0" anchor="t">
            <a:noAutofit/>
          </a:bodyPr>
          <a:lstStyle/>
          <a:p>
            <a:pPr algn="l">
              <a:lnSpc>
                <a:spcPct val="96000"/>
              </a:lnSpc>
              <a:spcBef>
                <a:spcPts val="0"/>
              </a:spcBef>
              <a:spcAft>
                <a:spcPts val="0"/>
              </a:spcAft>
              <a:buNone/>
            </a:pPr>
            <a:r>
              <a:rPr lang="en-US" sz="2800" b="1" spc="-30" dirty="0">
                <a:solidFill>
                  <a:srgbClr val="0F172A"/>
                </a:solidFill>
                <a:latin typeface="Arial"/>
                <a:cs typeface="Arial"/>
              </a:rPr>
              <a:t>Why AI workloads are moving onto Kubernetes</a:t>
            </a:r>
            <a:endParaRPr lang="en-US" sz="2800" dirty="0"/>
          </a:p>
        </p:txBody>
      </p:sp>
      <p:sp>
        <p:nvSpPr>
          <p:cNvPr id="5" name="Shape 5"/>
          <p:cNvSpPr/>
          <p:nvPr/>
        </p:nvSpPr>
        <p:spPr>
          <a:xfrm>
            <a:off x="711200" y="6451600"/>
            <a:ext cx="10769600" cy="9525"/>
          </a:xfrm>
          <a:prstGeom prst="rect">
            <a:avLst/>
          </a:prstGeom>
          <a:solidFill>
            <a:srgbClr val="E2E8F0"/>
          </a:solidFill>
          <a:ln>
            <a:noFill/>
          </a:ln>
        </p:spPr>
      </p:sp>
      <p:sp>
        <p:nvSpPr>
          <p:cNvPr id="6" name="Text 6"/>
          <p:cNvSpPr txBox="1"/>
          <p:nvPr/>
        </p:nvSpPr>
        <p:spPr>
          <a:xfrm>
            <a:off x="711200" y="6527800"/>
            <a:ext cx="9753600" cy="177800"/>
          </a:xfrm>
          <a:prstGeom prst="rect">
            <a:avLst/>
          </a:prstGeom>
          <a:noFill/>
          <a:ln>
            <a:noFill/>
          </a:ln>
        </p:spPr>
        <p:txBody>
          <a:bodyPr wrap="square" lIns="0" tIns="0" rIns="0" bIns="0" anchor="t">
            <a:noAutofit/>
          </a:bodyPr>
          <a:lstStyle/>
          <a:p>
            <a:pPr algn="l">
              <a:lnSpc>
                <a:spcPct val="108000"/>
              </a:lnSpc>
              <a:spcBef>
                <a:spcPts val="0"/>
              </a:spcBef>
              <a:spcAft>
                <a:spcPts val="0"/>
              </a:spcAft>
              <a:buNone/>
            </a:pPr>
            <a:r>
              <a:rPr lang="en-US" sz="800" dirty="0">
                <a:solidFill>
                  <a:srgbClr val="94A3B8"/>
                </a:solidFill>
                <a:latin typeface="Arial"/>
                <a:cs typeface="Arial"/>
              </a:rPr>
              <a:t>Kubernetes as the Platform for AI Infrastructure</a:t>
            </a:r>
            <a:endParaRPr lang="en-US" sz="800" dirty="0"/>
          </a:p>
        </p:txBody>
      </p:sp>
      <p:sp>
        <p:nvSpPr>
          <p:cNvPr id="7" name="Text 7"/>
          <p:cNvSpPr txBox="1"/>
          <p:nvPr/>
        </p:nvSpPr>
        <p:spPr>
          <a:xfrm>
            <a:off x="10718800" y="6527800"/>
            <a:ext cx="762000" cy="177800"/>
          </a:xfrm>
          <a:prstGeom prst="rect">
            <a:avLst/>
          </a:prstGeom>
          <a:noFill/>
          <a:ln>
            <a:noFill/>
          </a:ln>
        </p:spPr>
        <p:txBody>
          <a:bodyPr wrap="square" lIns="0" tIns="0" rIns="0" bIns="0" anchor="t">
            <a:noAutofit/>
          </a:bodyPr>
          <a:lstStyle/>
          <a:p>
            <a:pPr algn="r">
              <a:lnSpc>
                <a:spcPct val="108000"/>
              </a:lnSpc>
              <a:spcBef>
                <a:spcPts val="0"/>
              </a:spcBef>
              <a:spcAft>
                <a:spcPts val="0"/>
              </a:spcAft>
              <a:buNone/>
            </a:pPr>
            <a:r>
              <a:rPr lang="en-US" sz="850" b="1" dirty="0">
                <a:solidFill>
                  <a:srgbClr val="0F172A"/>
                </a:solidFill>
                <a:latin typeface="Arial"/>
                <a:cs typeface="Arial"/>
              </a:rPr>
              <a:t>6</a:t>
            </a:r>
            <a:endParaRPr lang="en-US" sz="850" dirty="0"/>
          </a:p>
        </p:txBody>
      </p:sp>
      <p:sp>
        <p:nvSpPr>
          <p:cNvPr id="8" name="Text 8"/>
          <p:cNvSpPr txBox="1"/>
          <p:nvPr/>
        </p:nvSpPr>
        <p:spPr>
          <a:xfrm>
            <a:off x="711200" y="1700784"/>
            <a:ext cx="9261856" cy="4547616"/>
          </a:xfrm>
          <a:prstGeom prst="rect">
            <a:avLst/>
          </a:prstGeom>
          <a:noFill/>
          <a:ln>
            <a:noFill/>
          </a:ln>
        </p:spPr>
        <p:txBody>
          <a:bodyPr wrap="square" lIns="0" tIns="0" rIns="0" bIns="0" anchor="t">
            <a:noAutofit/>
          </a:bodyPr>
          <a:lstStyle/>
          <a:p>
            <a:pPr marL="248285" indent="-248285" algn="l">
              <a:lnSpc>
                <a:spcPct val="118000"/>
              </a:lnSpc>
              <a:spcBef>
                <a:spcPts val="0"/>
              </a:spcBef>
              <a:spcAft>
                <a:spcPts val="1275"/>
              </a:spcAft>
              <a:buClr>
                <a:srgbClr val="4F46E5"/>
              </a:buClr>
              <a:buFont typeface="Arial"/>
              <a:buChar char="•"/>
            </a:pPr>
            <a:r>
              <a:rPr lang="en-US" sz="1700" dirty="0">
                <a:solidFill>
                  <a:srgbClr val="334155"/>
                </a:solidFill>
                <a:latin typeface="Arial"/>
                <a:cs typeface="Arial"/>
              </a:rPr>
              <a:t>The strongest adoption signal is about inference. The CNCF 2025 Annual Cloud Native Survey was released on 20 January 2026.</a:t>
            </a:r>
            <a:endParaRPr lang="en-US" sz="17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p:nvPr/>
        </p:nvSpPr>
        <p:spPr>
          <a:xfrm>
            <a:off x="711200" y="508000"/>
            <a:ext cx="558800" cy="63500"/>
          </a:xfrm>
          <a:prstGeom prst="roundRect">
            <a:avLst>
              <a:gd name="adj" fmla="val 50000"/>
            </a:avLst>
          </a:prstGeom>
          <a:gradFill rotWithShape="1">
            <a:gsLst>
              <a:gs pos="0">
                <a:srgbClr val="4F46E5"/>
              </a:gs>
              <a:gs pos="50000">
                <a:srgbClr val="7C3AED"/>
              </a:gs>
              <a:gs pos="100000">
                <a:srgbClr val="06B6D4"/>
              </a:gs>
            </a:gsLst>
            <a:lin ang="0" scaled="0"/>
          </a:gradFill>
          <a:ln>
            <a:noFill/>
          </a:ln>
        </p:spPr>
      </p:sp>
      <p:sp>
        <p:nvSpPr>
          <p:cNvPr id="3" name="Text 3"/>
          <p:cNvSpPr txBox="1"/>
          <p:nvPr/>
        </p:nvSpPr>
        <p:spPr>
          <a:xfrm>
            <a:off x="711200" y="685800"/>
            <a:ext cx="10769600" cy="203200"/>
          </a:xfrm>
          <a:prstGeom prst="rect">
            <a:avLst/>
          </a:prstGeom>
          <a:noFill/>
          <a:ln>
            <a:noFill/>
          </a:ln>
        </p:spPr>
        <p:txBody>
          <a:bodyPr wrap="square" lIns="0" tIns="0" rIns="0" bIns="0" anchor="t">
            <a:noAutofit/>
          </a:bodyPr>
          <a:lstStyle/>
          <a:p>
            <a:pPr algn="l">
              <a:lnSpc>
                <a:spcPct val="108000"/>
              </a:lnSpc>
              <a:spcBef>
                <a:spcPts val="0"/>
              </a:spcBef>
              <a:spcAft>
                <a:spcPts val="0"/>
              </a:spcAft>
              <a:buNone/>
            </a:pPr>
            <a:r>
              <a:rPr lang="en-US" sz="950" b="1" spc="140" dirty="0">
                <a:solidFill>
                  <a:srgbClr val="4F46E5"/>
                </a:solidFill>
                <a:latin typeface="Arial"/>
                <a:cs typeface="Arial"/>
              </a:rPr>
              <a:t>SECTION 01 · WHY AI WORKLOADS ARE MOVING ONTO KUBERNETES · TABLE 1</a:t>
            </a:r>
            <a:endParaRPr lang="en-US" sz="950" dirty="0"/>
          </a:p>
        </p:txBody>
      </p:sp>
      <p:sp>
        <p:nvSpPr>
          <p:cNvPr id="4" name="Text 4"/>
          <p:cNvSpPr txBox="1"/>
          <p:nvPr/>
        </p:nvSpPr>
        <p:spPr>
          <a:xfrm>
            <a:off x="711200" y="965200"/>
            <a:ext cx="10515600" cy="886968"/>
          </a:xfrm>
          <a:prstGeom prst="rect">
            <a:avLst/>
          </a:prstGeom>
          <a:noFill/>
          <a:ln>
            <a:noFill/>
          </a:ln>
        </p:spPr>
        <p:txBody>
          <a:bodyPr wrap="square" lIns="0" tIns="0" rIns="0" bIns="0" anchor="t">
            <a:noAutofit/>
          </a:bodyPr>
          <a:lstStyle/>
          <a:p>
            <a:pPr algn="l">
              <a:lnSpc>
                <a:spcPct val="96000"/>
              </a:lnSpc>
              <a:spcBef>
                <a:spcPts val="0"/>
              </a:spcBef>
              <a:spcAft>
                <a:spcPts val="0"/>
              </a:spcAft>
              <a:buNone/>
            </a:pPr>
            <a:r>
              <a:rPr lang="en-US" sz="2800" b="1" spc="-30" dirty="0">
                <a:solidFill>
                  <a:srgbClr val="0F172A"/>
                </a:solidFill>
                <a:latin typeface="Arial"/>
                <a:cs typeface="Arial"/>
              </a:rPr>
              <a:t>Key figures from the CNCF 2025 Annual Cloud Native Survey</a:t>
            </a:r>
            <a:endParaRPr lang="en-US" sz="2800" dirty="0"/>
          </a:p>
        </p:txBody>
      </p:sp>
      <p:sp>
        <p:nvSpPr>
          <p:cNvPr id="5" name="Shape 5"/>
          <p:cNvSpPr/>
          <p:nvPr/>
        </p:nvSpPr>
        <p:spPr>
          <a:xfrm>
            <a:off x="711200" y="6451600"/>
            <a:ext cx="10769600" cy="9525"/>
          </a:xfrm>
          <a:prstGeom prst="rect">
            <a:avLst/>
          </a:prstGeom>
          <a:solidFill>
            <a:srgbClr val="E2E8F0"/>
          </a:solidFill>
          <a:ln>
            <a:noFill/>
          </a:ln>
        </p:spPr>
      </p:sp>
      <p:sp>
        <p:nvSpPr>
          <p:cNvPr id="6" name="Text 6"/>
          <p:cNvSpPr txBox="1"/>
          <p:nvPr/>
        </p:nvSpPr>
        <p:spPr>
          <a:xfrm>
            <a:off x="711200" y="6527800"/>
            <a:ext cx="9753600" cy="177800"/>
          </a:xfrm>
          <a:prstGeom prst="rect">
            <a:avLst/>
          </a:prstGeom>
          <a:noFill/>
          <a:ln>
            <a:noFill/>
          </a:ln>
        </p:spPr>
        <p:txBody>
          <a:bodyPr wrap="square" lIns="0" tIns="0" rIns="0" bIns="0" anchor="t">
            <a:noAutofit/>
          </a:bodyPr>
          <a:lstStyle/>
          <a:p>
            <a:pPr algn="l">
              <a:lnSpc>
                <a:spcPct val="108000"/>
              </a:lnSpc>
              <a:spcBef>
                <a:spcPts val="0"/>
              </a:spcBef>
              <a:spcAft>
                <a:spcPts val="0"/>
              </a:spcAft>
              <a:buNone/>
            </a:pPr>
            <a:r>
              <a:rPr lang="en-US" sz="800" dirty="0">
                <a:solidFill>
                  <a:srgbClr val="94A3B8"/>
                </a:solidFill>
                <a:latin typeface="Arial"/>
                <a:cs typeface="Arial"/>
              </a:rPr>
              <a:t>Kubernetes as the Platform for AI Infrastructure</a:t>
            </a:r>
            <a:endParaRPr lang="en-US" sz="800" dirty="0"/>
          </a:p>
        </p:txBody>
      </p:sp>
      <p:sp>
        <p:nvSpPr>
          <p:cNvPr id="7" name="Text 7"/>
          <p:cNvSpPr txBox="1"/>
          <p:nvPr/>
        </p:nvSpPr>
        <p:spPr>
          <a:xfrm>
            <a:off x="10718800" y="6527800"/>
            <a:ext cx="762000" cy="177800"/>
          </a:xfrm>
          <a:prstGeom prst="rect">
            <a:avLst/>
          </a:prstGeom>
          <a:noFill/>
          <a:ln>
            <a:noFill/>
          </a:ln>
        </p:spPr>
        <p:txBody>
          <a:bodyPr wrap="square" lIns="0" tIns="0" rIns="0" bIns="0" anchor="t">
            <a:noAutofit/>
          </a:bodyPr>
          <a:lstStyle/>
          <a:p>
            <a:pPr algn="r">
              <a:lnSpc>
                <a:spcPct val="108000"/>
              </a:lnSpc>
              <a:spcBef>
                <a:spcPts val="0"/>
              </a:spcBef>
              <a:spcAft>
                <a:spcPts val="0"/>
              </a:spcAft>
              <a:buNone/>
            </a:pPr>
            <a:r>
              <a:rPr lang="en-US" sz="850" b="1" dirty="0">
                <a:solidFill>
                  <a:srgbClr val="0F172A"/>
                </a:solidFill>
                <a:latin typeface="Arial"/>
                <a:cs typeface="Arial"/>
              </a:rPr>
              <a:t>7</a:t>
            </a:r>
            <a:endParaRPr lang="en-US" sz="850" dirty="0"/>
          </a:p>
        </p:txBody>
      </p:sp>
      <p:graphicFrame>
        <p:nvGraphicFramePr>
          <p:cNvPr id="8" name="Table 8"/>
          <p:cNvGraphicFramePr>
            <a:graphicFrameLocks noGrp="1"/>
          </p:cNvGraphicFramePr>
          <p:nvPr/>
        </p:nvGraphicFramePr>
        <p:xfrm>
          <a:off x="711200" y="2106168"/>
          <a:ext cx="10769600" cy="2011680"/>
        </p:xfrm>
        <a:graphic>
          <a:graphicData uri="http://schemas.openxmlformats.org/drawingml/2006/table">
            <a:tbl>
              <a:tblPr firstRow="1"/>
              <a:tblGrid>
                <a:gridCol w="6116069"/>
                <a:gridCol w="1196622"/>
                <a:gridCol w="3456909"/>
              </a:tblGrid>
              <a:tr h="307340">
                <a:tc>
                  <a:txBody>
                    <a:bodyPr/>
                    <a:lstStyle/>
                    <a:p>
                      <a:pPr algn="l">
                        <a:lnSpc>
                          <a:spcPct val="108000"/>
                        </a:lnSpc>
                        <a:spcBef>
                          <a:spcPts val="0"/>
                        </a:spcBef>
                        <a:spcAft>
                          <a:spcPts val="0"/>
                        </a:spcAft>
                        <a:buNone/>
                      </a:pPr>
                      <a:r>
                        <a:rPr lang="en-US" sz="858" b="1" spc="60" dirty="0">
                          <a:solidFill>
                            <a:srgbClr val="64748B"/>
                          </a:solidFill>
                          <a:latin typeface="Arial"/>
                          <a:cs typeface="Arial"/>
                        </a:rPr>
                        <a:t>METRIC</a:t>
                      </a:r>
                      <a:endParaRPr lang="en-US" sz="858" dirty="0"/>
                    </a:p>
                  </a:txBody>
                  <a:tcPr marL="101600" marR="101600" marT="69850" marB="69850" anchor="ctr">
                    <a:lnL w="0">
                      <a:noFill/>
                    </a:lnL>
                    <a:lnR w="0">
                      <a:noFill/>
                    </a:lnR>
                    <a:lnT w="0">
                      <a:noFill/>
                    </a:lnT>
                    <a:lnB w="9525">
                      <a:solidFill>
                        <a:srgbClr val="E2E8F0"/>
                      </a:solidFill>
                    </a:lnB>
                    <a:solidFill>
                      <a:srgbClr val="F8FAFC"/>
                    </a:solidFill>
                  </a:tcPr>
                </a:tc>
                <a:tc>
                  <a:txBody>
                    <a:bodyPr/>
                    <a:lstStyle/>
                    <a:p>
                      <a:pPr algn="l">
                        <a:lnSpc>
                          <a:spcPct val="108000"/>
                        </a:lnSpc>
                        <a:spcBef>
                          <a:spcPts val="0"/>
                        </a:spcBef>
                        <a:spcAft>
                          <a:spcPts val="0"/>
                        </a:spcAft>
                        <a:buNone/>
                      </a:pPr>
                      <a:r>
                        <a:rPr lang="en-US" sz="858" b="1" spc="60" dirty="0">
                          <a:solidFill>
                            <a:srgbClr val="64748B"/>
                          </a:solidFill>
                          <a:latin typeface="Arial"/>
                          <a:cs typeface="Arial"/>
                        </a:rPr>
                        <a:t>VALUE</a:t>
                      </a:r>
                      <a:endParaRPr lang="en-US" sz="858" dirty="0"/>
                    </a:p>
                  </a:txBody>
                  <a:tcPr marL="101600" marR="101600" marT="69850" marB="69850" anchor="ctr">
                    <a:lnL w="0">
                      <a:noFill/>
                    </a:lnL>
                    <a:lnR w="0">
                      <a:noFill/>
                    </a:lnR>
                    <a:lnT w="0">
                      <a:noFill/>
                    </a:lnT>
                    <a:lnB w="9525">
                      <a:solidFill>
                        <a:srgbClr val="E2E8F0"/>
                      </a:solidFill>
                    </a:lnB>
                    <a:solidFill>
                      <a:srgbClr val="F8FAFC"/>
                    </a:solidFill>
                  </a:tcPr>
                </a:tc>
                <a:tc>
                  <a:txBody>
                    <a:bodyPr/>
                    <a:lstStyle/>
                    <a:p>
                      <a:pPr algn="l">
                        <a:lnSpc>
                          <a:spcPct val="108000"/>
                        </a:lnSpc>
                        <a:spcBef>
                          <a:spcPts val="0"/>
                        </a:spcBef>
                        <a:spcAft>
                          <a:spcPts val="0"/>
                        </a:spcAft>
                        <a:buNone/>
                      </a:pPr>
                      <a:r>
                        <a:rPr lang="en-US" sz="858" b="1" spc="60" dirty="0">
                          <a:solidFill>
                            <a:srgbClr val="64748B"/>
                          </a:solidFill>
                          <a:latin typeface="Arial"/>
                          <a:cs typeface="Arial"/>
                        </a:rPr>
                        <a:t>NOTE</a:t>
                      </a:r>
                      <a:endParaRPr lang="en-US" sz="858" dirty="0"/>
                    </a:p>
                  </a:txBody>
                  <a:tcPr marL="101600" marR="101600" marT="69850" marB="69850" anchor="ctr">
                    <a:lnL w="0">
                      <a:noFill/>
                    </a:lnL>
                    <a:lnR w="0">
                      <a:noFill/>
                    </a:lnR>
                    <a:lnT w="0">
                      <a:noFill/>
                    </a:lnT>
                    <a:lnB w="9525">
                      <a:solidFill>
                        <a:srgbClr val="E2E8F0"/>
                      </a:solidFill>
                    </a:lnB>
                    <a:solidFill>
                      <a:srgbClr val="F8FAFC"/>
                    </a:solidFill>
                  </a:tcPr>
                </a:tc>
              </a:tr>
              <a:tr h="307340">
                <a:tc>
                  <a:txBody>
                    <a:bodyPr/>
                    <a:lstStyle/>
                    <a:p>
                      <a:pPr algn="l">
                        <a:lnSpc>
                          <a:spcPct val="108000"/>
                        </a:lnSpc>
                        <a:spcBef>
                          <a:spcPts val="0"/>
                        </a:spcBef>
                        <a:spcAft>
                          <a:spcPts val="0"/>
                        </a:spcAft>
                        <a:buNone/>
                      </a:pPr>
                      <a:r>
                        <a:rPr lang="en-US" sz="1100" b="1" dirty="0">
                          <a:solidFill>
                            <a:srgbClr val="0F172A"/>
                          </a:solidFill>
                          <a:latin typeface="Arial"/>
                          <a:cs typeface="Arial"/>
                        </a:rPr>
                        <a:t>Container users running Kubernetes in production</a:t>
                      </a:r>
                      <a:endParaRPr lang="en-US" sz="1100" dirty="0"/>
                    </a:p>
                  </a:txBody>
                  <a:tcPr marL="101600" marR="101600" marT="69850" marB="69850" anchor="ctr">
                    <a:lnL w="0">
                      <a:noFill/>
                    </a:lnL>
                    <a:lnR w="0">
                      <a:noFill/>
                    </a:lnR>
                    <a:lnT w="0">
                      <a:noFill/>
                    </a:lnT>
                    <a:lnB w="9525">
                      <a:solidFill>
                        <a:srgbClr val="E2E8F0"/>
                      </a:solidFill>
                    </a:lnB>
                    <a:solidFill>
                      <a:srgbClr val="FFFFFF"/>
                    </a:solidFill>
                  </a:tcPr>
                </a:tc>
                <a:tc>
                  <a:txBody>
                    <a:bodyPr/>
                    <a:lstStyle/>
                    <a:p>
                      <a:pPr algn="l">
                        <a:lnSpc>
                          <a:spcPct val="108000"/>
                        </a:lnSpc>
                        <a:spcBef>
                          <a:spcPts val="0"/>
                        </a:spcBef>
                        <a:spcAft>
                          <a:spcPts val="0"/>
                        </a:spcAft>
                        <a:buNone/>
                      </a:pPr>
                      <a:r>
                        <a:rPr lang="en-US" sz="1100" dirty="0">
                          <a:solidFill>
                            <a:srgbClr val="334155"/>
                          </a:solidFill>
                          <a:latin typeface="Arial"/>
                          <a:cs typeface="Arial"/>
                        </a:rPr>
                        <a:t>82%</a:t>
                      </a:r>
                      <a:endParaRPr lang="en-US" sz="1100" dirty="0"/>
                    </a:p>
                  </a:txBody>
                  <a:tcPr marL="101600" marR="101600" marT="69850" marB="69850" anchor="ctr">
                    <a:lnL w="0">
                      <a:noFill/>
                    </a:lnL>
                    <a:lnR w="0">
                      <a:noFill/>
                    </a:lnR>
                    <a:lnT w="0">
                      <a:noFill/>
                    </a:lnT>
                    <a:lnB w="9525">
                      <a:solidFill>
                        <a:srgbClr val="E2E8F0"/>
                      </a:solidFill>
                    </a:lnB>
                    <a:solidFill>
                      <a:srgbClr val="FFFFFF"/>
                    </a:solidFill>
                  </a:tcPr>
                </a:tc>
                <a:tc>
                  <a:txBody>
                    <a:bodyPr/>
                    <a:lstStyle/>
                    <a:p>
                      <a:pPr algn="l">
                        <a:lnSpc>
                          <a:spcPct val="108000"/>
                        </a:lnSpc>
                        <a:spcBef>
                          <a:spcPts val="0"/>
                        </a:spcBef>
                        <a:spcAft>
                          <a:spcPts val="0"/>
                        </a:spcAft>
                        <a:buNone/>
                      </a:pPr>
                      <a:r>
                        <a:rPr lang="en-US" sz="1100" dirty="0">
                          <a:solidFill>
                            <a:srgbClr val="334155"/>
                          </a:solidFill>
                          <a:latin typeface="Arial"/>
                          <a:cs typeface="Arial"/>
                        </a:rPr>
                        <a:t>Up from 66% in 2023</a:t>
                      </a:r>
                      <a:endParaRPr lang="en-US" sz="1100" dirty="0"/>
                    </a:p>
                  </a:txBody>
                  <a:tcPr marL="101600" marR="101600" marT="69850" marB="69850" anchor="ctr">
                    <a:lnL w="0">
                      <a:noFill/>
                    </a:lnL>
                    <a:lnR w="0">
                      <a:noFill/>
                    </a:lnR>
                    <a:lnT w="0">
                      <a:noFill/>
                    </a:lnT>
                    <a:lnB w="9525">
                      <a:solidFill>
                        <a:srgbClr val="E2E8F0"/>
                      </a:solidFill>
                    </a:lnB>
                    <a:solidFill>
                      <a:srgbClr val="FFFFFF"/>
                    </a:solidFill>
                  </a:tcPr>
                </a:tc>
              </a:tr>
              <a:tr h="307340">
                <a:tc>
                  <a:txBody>
                    <a:bodyPr/>
                    <a:lstStyle/>
                    <a:p>
                      <a:pPr algn="l">
                        <a:lnSpc>
                          <a:spcPct val="108000"/>
                        </a:lnSpc>
                        <a:spcBef>
                          <a:spcPts val="0"/>
                        </a:spcBef>
                        <a:spcAft>
                          <a:spcPts val="0"/>
                        </a:spcAft>
                        <a:buNone/>
                      </a:pPr>
                      <a:r>
                        <a:rPr lang="en-US" sz="1100" b="1" dirty="0">
                          <a:solidFill>
                            <a:srgbClr val="0F172A"/>
                          </a:solidFill>
                          <a:latin typeface="Arial"/>
                          <a:cs typeface="Arial"/>
                        </a:rPr>
                        <a:t>GenAI-hosting organisations using Kubernetes for some or all inference</a:t>
                      </a:r>
                      <a:endParaRPr lang="en-US" sz="1100" dirty="0"/>
                    </a:p>
                  </a:txBody>
                  <a:tcPr marL="101600" marR="101600" marT="69850" marB="69850" anchor="ctr">
                    <a:lnL w="0">
                      <a:noFill/>
                    </a:lnL>
                    <a:lnR w="0">
                      <a:noFill/>
                    </a:lnR>
                    <a:lnT w="0">
                      <a:noFill/>
                    </a:lnT>
                    <a:lnB w="9525">
                      <a:solidFill>
                        <a:srgbClr val="E2E8F0"/>
                      </a:solidFill>
                    </a:lnB>
                    <a:solidFill>
                      <a:srgbClr val="FFFFFF"/>
                    </a:solidFill>
                  </a:tcPr>
                </a:tc>
                <a:tc>
                  <a:txBody>
                    <a:bodyPr/>
                    <a:lstStyle/>
                    <a:p>
                      <a:pPr algn="l">
                        <a:lnSpc>
                          <a:spcPct val="108000"/>
                        </a:lnSpc>
                        <a:spcBef>
                          <a:spcPts val="0"/>
                        </a:spcBef>
                        <a:spcAft>
                          <a:spcPts val="0"/>
                        </a:spcAft>
                        <a:buNone/>
                      </a:pPr>
                      <a:r>
                        <a:rPr lang="en-US" sz="1100" dirty="0">
                          <a:solidFill>
                            <a:srgbClr val="334155"/>
                          </a:solidFill>
                          <a:latin typeface="Arial"/>
                          <a:cs typeface="Arial"/>
                        </a:rPr>
                        <a:t>66%</a:t>
                      </a:r>
                      <a:endParaRPr lang="en-US" sz="1100" dirty="0"/>
                    </a:p>
                  </a:txBody>
                  <a:tcPr marL="101600" marR="101600" marT="69850" marB="69850" anchor="ctr">
                    <a:lnL w="0">
                      <a:noFill/>
                    </a:lnL>
                    <a:lnR w="0">
                      <a:noFill/>
                    </a:lnR>
                    <a:lnT w="0">
                      <a:noFill/>
                    </a:lnT>
                    <a:lnB w="9525">
                      <a:solidFill>
                        <a:srgbClr val="E2E8F0"/>
                      </a:solidFill>
                    </a:lnB>
                    <a:solidFill>
                      <a:srgbClr val="FFFFFF"/>
                    </a:solidFill>
                  </a:tcPr>
                </a:tc>
                <a:tc>
                  <a:txBody>
                    <a:bodyPr/>
                    <a:lstStyle/>
                    <a:p>
                      <a:pPr algn="l">
                        <a:lnSpc>
                          <a:spcPct val="108000"/>
                        </a:lnSpc>
                        <a:spcBef>
                          <a:spcPts val="0"/>
                        </a:spcBef>
                        <a:spcAft>
                          <a:spcPts val="0"/>
                        </a:spcAft>
                        <a:buNone/>
                      </a:pPr>
                      <a:r>
                        <a:rPr lang="en-US" sz="1100" dirty="0">
                          <a:solidFill>
                            <a:srgbClr val="334155"/>
                          </a:solidFill>
                          <a:latin typeface="Arial"/>
                          <a:cs typeface="Arial"/>
                        </a:rPr>
                        <a:t>No official all/some split</a:t>
                      </a:r>
                      <a:endParaRPr lang="en-US" sz="1100" dirty="0"/>
                    </a:p>
                  </a:txBody>
                  <a:tcPr marL="101600" marR="101600" marT="69850" marB="69850" anchor="ctr">
                    <a:lnL w="0">
                      <a:noFill/>
                    </a:lnL>
                    <a:lnR w="0">
                      <a:noFill/>
                    </a:lnR>
                    <a:lnT w="0">
                      <a:noFill/>
                    </a:lnT>
                    <a:lnB w="9525">
                      <a:solidFill>
                        <a:srgbClr val="E2E8F0"/>
                      </a:solidFill>
                    </a:lnB>
                    <a:solidFill>
                      <a:srgbClr val="FFFFFF"/>
                    </a:solidFill>
                  </a:tcPr>
                </a:tc>
              </a:tr>
              <a:tr h="307340">
                <a:tc>
                  <a:txBody>
                    <a:bodyPr/>
                    <a:lstStyle/>
                    <a:p>
                      <a:pPr algn="l">
                        <a:lnSpc>
                          <a:spcPct val="108000"/>
                        </a:lnSpc>
                        <a:spcBef>
                          <a:spcPts val="0"/>
                        </a:spcBef>
                        <a:spcAft>
                          <a:spcPts val="0"/>
                        </a:spcAft>
                        <a:buNone/>
                      </a:pPr>
                      <a:r>
                        <a:rPr lang="en-US" sz="1100" b="1" dirty="0">
                          <a:solidFill>
                            <a:srgbClr val="0F172A"/>
                          </a:solidFill>
                          <a:latin typeface="Arial"/>
                          <a:cs typeface="Arial"/>
                        </a:rPr>
                        <a:t>Organisations not yet running AI/ML on Kubernetes</a:t>
                      </a:r>
                      <a:endParaRPr lang="en-US" sz="1100" dirty="0"/>
                    </a:p>
                  </a:txBody>
                  <a:tcPr marL="101600" marR="101600" marT="69850" marB="69850" anchor="ctr">
                    <a:lnL w="0">
                      <a:noFill/>
                    </a:lnL>
                    <a:lnR w="0">
                      <a:noFill/>
                    </a:lnR>
                    <a:lnT w="0">
                      <a:noFill/>
                    </a:lnT>
                    <a:lnB w="9525">
                      <a:solidFill>
                        <a:srgbClr val="E2E8F0"/>
                      </a:solidFill>
                    </a:lnB>
                    <a:solidFill>
                      <a:srgbClr val="FFFFFF"/>
                    </a:solidFill>
                  </a:tcPr>
                </a:tc>
                <a:tc>
                  <a:txBody>
                    <a:bodyPr/>
                    <a:lstStyle/>
                    <a:p>
                      <a:pPr algn="l">
                        <a:lnSpc>
                          <a:spcPct val="108000"/>
                        </a:lnSpc>
                        <a:spcBef>
                          <a:spcPts val="0"/>
                        </a:spcBef>
                        <a:spcAft>
                          <a:spcPts val="0"/>
                        </a:spcAft>
                        <a:buNone/>
                      </a:pPr>
                      <a:r>
                        <a:rPr lang="en-US" sz="1100" dirty="0">
                          <a:solidFill>
                            <a:srgbClr val="334155"/>
                          </a:solidFill>
                          <a:latin typeface="Arial"/>
                          <a:cs typeface="Arial"/>
                        </a:rPr>
                        <a:t>44%</a:t>
                      </a:r>
                      <a:endParaRPr lang="en-US" sz="1100" dirty="0"/>
                    </a:p>
                  </a:txBody>
                  <a:tcPr marL="101600" marR="101600" marT="69850" marB="69850" anchor="ctr">
                    <a:lnL w="0">
                      <a:noFill/>
                    </a:lnL>
                    <a:lnR w="0">
                      <a:noFill/>
                    </a:lnR>
                    <a:lnT w="0">
                      <a:noFill/>
                    </a:lnT>
                    <a:lnB w="9525">
                      <a:solidFill>
                        <a:srgbClr val="E2E8F0"/>
                      </a:solidFill>
                    </a:lnB>
                    <a:solidFill>
                      <a:srgbClr val="FFFFFF"/>
                    </a:solidFill>
                  </a:tcPr>
                </a:tc>
                <a:tc>
                  <a:txBody>
                    <a:bodyPr/>
                    <a:lstStyle/>
                    <a:p>
                      <a:pPr algn="l">
                        <a:lnSpc>
                          <a:spcPct val="108000"/>
                        </a:lnSpc>
                        <a:spcBef>
                          <a:spcPts val="0"/>
                        </a:spcBef>
                        <a:spcAft>
                          <a:spcPts val="0"/>
                        </a:spcAft>
                        <a:buNone/>
                      </a:pPr>
                      <a:r>
                        <a:rPr lang="en-US" sz="1100" dirty="0">
                          <a:solidFill>
                            <a:srgbClr val="334155"/>
                          </a:solidFill>
                          <a:latin typeface="Arial"/>
                          <a:cs typeface="Arial"/>
                        </a:rPr>
                        <a:t>Official announcement</a:t>
                      </a:r>
                      <a:endParaRPr lang="en-US" sz="1100" dirty="0"/>
                    </a:p>
                  </a:txBody>
                  <a:tcPr marL="101600" marR="101600" marT="69850" marB="69850" anchor="ctr">
                    <a:lnL w="0">
                      <a:noFill/>
                    </a:lnL>
                    <a:lnR w="0">
                      <a:noFill/>
                    </a:lnR>
                    <a:lnT w="0">
                      <a:noFill/>
                    </a:lnT>
                    <a:lnB w="9525">
                      <a:solidFill>
                        <a:srgbClr val="E2E8F0"/>
                      </a:solidFill>
                    </a:lnB>
                    <a:solidFill>
                      <a:srgbClr val="FFFFFF"/>
                    </a:solidFill>
                  </a:tcPr>
                </a:tc>
              </a:tr>
              <a:tr h="307340">
                <a:tc>
                  <a:txBody>
                    <a:bodyPr/>
                    <a:lstStyle/>
                    <a:p>
                      <a:pPr algn="l">
                        <a:lnSpc>
                          <a:spcPct val="108000"/>
                        </a:lnSpc>
                        <a:spcBef>
                          <a:spcPts val="0"/>
                        </a:spcBef>
                        <a:spcAft>
                          <a:spcPts val="0"/>
                        </a:spcAft>
                        <a:buNone/>
                      </a:pPr>
                      <a:r>
                        <a:rPr lang="en-US" sz="1100" b="1" dirty="0">
                          <a:solidFill>
                            <a:srgbClr val="0F172A"/>
                          </a:solidFill>
                          <a:latin typeface="Arial"/>
                          <a:cs typeface="Arial"/>
                        </a:rPr>
                        <a:t>Organisations deploying AI models daily</a:t>
                      </a:r>
                      <a:endParaRPr lang="en-US" sz="1100" dirty="0"/>
                    </a:p>
                  </a:txBody>
                  <a:tcPr marL="101600" marR="101600" marT="69850" marB="69850" anchor="ctr">
                    <a:lnL w="0">
                      <a:noFill/>
                    </a:lnL>
                    <a:lnR w="0">
                      <a:noFill/>
                    </a:lnR>
                    <a:lnT w="0">
                      <a:noFill/>
                    </a:lnT>
                    <a:lnB w="9525">
                      <a:solidFill>
                        <a:srgbClr val="E2E8F0"/>
                      </a:solidFill>
                    </a:lnB>
                    <a:solidFill>
                      <a:srgbClr val="FFFFFF"/>
                    </a:solidFill>
                  </a:tcPr>
                </a:tc>
                <a:tc>
                  <a:txBody>
                    <a:bodyPr/>
                    <a:lstStyle/>
                    <a:p>
                      <a:pPr algn="l">
                        <a:lnSpc>
                          <a:spcPct val="108000"/>
                        </a:lnSpc>
                        <a:spcBef>
                          <a:spcPts val="0"/>
                        </a:spcBef>
                        <a:spcAft>
                          <a:spcPts val="0"/>
                        </a:spcAft>
                        <a:buNone/>
                      </a:pPr>
                      <a:r>
                        <a:rPr lang="en-US" sz="1100" dirty="0">
                          <a:solidFill>
                            <a:srgbClr val="334155"/>
                          </a:solidFill>
                          <a:latin typeface="Arial"/>
                          <a:cs typeface="Arial"/>
                        </a:rPr>
                        <a:t>7%</a:t>
                      </a:r>
                      <a:endParaRPr lang="en-US" sz="1100" dirty="0"/>
                    </a:p>
                  </a:txBody>
                  <a:tcPr marL="101600" marR="101600" marT="69850" marB="69850" anchor="ctr">
                    <a:lnL w="0">
                      <a:noFill/>
                    </a:lnL>
                    <a:lnR w="0">
                      <a:noFill/>
                    </a:lnR>
                    <a:lnT w="0">
                      <a:noFill/>
                    </a:lnT>
                    <a:lnB w="9525">
                      <a:solidFill>
                        <a:srgbClr val="E2E8F0"/>
                      </a:solidFill>
                    </a:lnB>
                    <a:solidFill>
                      <a:srgbClr val="FFFFFF"/>
                    </a:solidFill>
                  </a:tcPr>
                </a:tc>
                <a:tc>
                  <a:txBody>
                    <a:bodyPr/>
                    <a:lstStyle/>
                    <a:p>
                      <a:pPr algn="l">
                        <a:lnSpc>
                          <a:spcPct val="108000"/>
                        </a:lnSpc>
                        <a:spcBef>
                          <a:spcPts val="0"/>
                        </a:spcBef>
                        <a:spcAft>
                          <a:spcPts val="0"/>
                        </a:spcAft>
                        <a:buNone/>
                      </a:pPr>
                      <a:r>
                        <a:rPr lang="en-US" sz="1100" dirty="0">
                          <a:solidFill>
                            <a:srgbClr val="334155"/>
                          </a:solidFill>
                          <a:latin typeface="Arial"/>
                          <a:cs typeface="Arial"/>
                        </a:rPr>
                        <a:t>47% deploy occasionally</a:t>
                      </a:r>
                      <a:endParaRPr lang="en-US" sz="1100" dirty="0"/>
                    </a:p>
                  </a:txBody>
                  <a:tcPr marL="101600" marR="101600" marT="69850" marB="69850" anchor="ctr">
                    <a:lnL w="0">
                      <a:noFill/>
                    </a:lnL>
                    <a:lnR w="0">
                      <a:noFill/>
                    </a:lnR>
                    <a:lnT w="0">
                      <a:noFill/>
                    </a:lnT>
                    <a:lnB w="9525">
                      <a:solidFill>
                        <a:srgbClr val="E2E8F0"/>
                      </a:solidFill>
                    </a:lnB>
                    <a:solidFill>
                      <a:srgbClr val="FFFFFF"/>
                    </a:solidFill>
                  </a:tcPr>
                </a:tc>
              </a:tr>
              <a:tr h="307340">
                <a:tc>
                  <a:txBody>
                    <a:bodyPr/>
                    <a:lstStyle/>
                    <a:p>
                      <a:pPr algn="l">
                        <a:lnSpc>
                          <a:spcPct val="108000"/>
                        </a:lnSpc>
                        <a:spcBef>
                          <a:spcPts val="0"/>
                        </a:spcBef>
                        <a:spcAft>
                          <a:spcPts val="0"/>
                        </a:spcAft>
                        <a:buNone/>
                      </a:pPr>
                      <a:r>
                        <a:rPr lang="en-US" sz="1100" b="1" dirty="0">
                          <a:solidFill>
                            <a:srgbClr val="0F172A"/>
                          </a:solidFill>
                          <a:latin typeface="Arial"/>
                          <a:cs typeface="Arial"/>
                        </a:rPr>
                        <a:t>Organisations that do not train models</a:t>
                      </a:r>
                      <a:endParaRPr lang="en-US" sz="1100" dirty="0"/>
                    </a:p>
                  </a:txBody>
                  <a:tcPr marL="101600" marR="101600" marT="69850" marB="69850" anchor="ctr">
                    <a:lnL w="0">
                      <a:noFill/>
                    </a:lnL>
                    <a:lnR w="0">
                      <a:noFill/>
                    </a:lnR>
                    <a:lnT w="0">
                      <a:noFill/>
                    </a:lnT>
                    <a:lnB w="9525">
                      <a:solidFill>
                        <a:srgbClr val="E2E8F0"/>
                      </a:solidFill>
                    </a:lnB>
                    <a:solidFill>
                      <a:srgbClr val="FFFFFF"/>
                    </a:solidFill>
                  </a:tcPr>
                </a:tc>
                <a:tc>
                  <a:txBody>
                    <a:bodyPr/>
                    <a:lstStyle/>
                    <a:p>
                      <a:pPr algn="l">
                        <a:lnSpc>
                          <a:spcPct val="108000"/>
                        </a:lnSpc>
                        <a:spcBef>
                          <a:spcPts val="0"/>
                        </a:spcBef>
                        <a:spcAft>
                          <a:spcPts val="0"/>
                        </a:spcAft>
                        <a:buNone/>
                      </a:pPr>
                      <a:r>
                        <a:rPr lang="en-US" sz="1100" dirty="0">
                          <a:solidFill>
                            <a:srgbClr val="334155"/>
                          </a:solidFill>
                          <a:latin typeface="Arial"/>
                          <a:cs typeface="Arial"/>
                        </a:rPr>
                        <a:t>Over half</a:t>
                      </a:r>
                      <a:endParaRPr lang="en-US" sz="1100" dirty="0"/>
                    </a:p>
                  </a:txBody>
                  <a:tcPr marL="101600" marR="101600" marT="69850" marB="69850" anchor="ctr">
                    <a:lnL w="0">
                      <a:noFill/>
                    </a:lnL>
                    <a:lnR w="0">
                      <a:noFill/>
                    </a:lnR>
                    <a:lnT w="0">
                      <a:noFill/>
                    </a:lnT>
                    <a:lnB w="9525">
                      <a:solidFill>
                        <a:srgbClr val="E2E8F0"/>
                      </a:solidFill>
                    </a:lnB>
                    <a:solidFill>
                      <a:srgbClr val="FFFFFF"/>
                    </a:solidFill>
                  </a:tcPr>
                </a:tc>
                <a:tc>
                  <a:txBody>
                    <a:bodyPr/>
                    <a:lstStyle/>
                    <a:p>
                      <a:pPr algn="l">
                        <a:lnSpc>
                          <a:spcPct val="108000"/>
                        </a:lnSpc>
                        <a:spcBef>
                          <a:spcPts val="0"/>
                        </a:spcBef>
                        <a:spcAft>
                          <a:spcPts val="0"/>
                        </a:spcAft>
                        <a:buNone/>
                      </a:pPr>
                      <a:r>
                        <a:rPr lang="en-US" sz="1100" dirty="0">
                          <a:solidFill>
                            <a:srgbClr val="334155"/>
                          </a:solidFill>
                          <a:latin typeface="Arial"/>
                          <a:cs typeface="Arial"/>
                        </a:rPr>
                        <a:t>Linux Foundation blog</a:t>
                      </a:r>
                      <a:endParaRPr lang="en-US" sz="1100" dirty="0"/>
                    </a:p>
                  </a:txBody>
                  <a:tcPr marL="101600" marR="101600" marT="69850" marB="69850" anchor="ctr">
                    <a:lnL w="0">
                      <a:noFill/>
                    </a:lnL>
                    <a:lnR w="0">
                      <a:noFill/>
                    </a:lnR>
                    <a:lnT w="0">
                      <a:noFill/>
                    </a:lnT>
                    <a:lnB w="9525">
                      <a:solidFill>
                        <a:srgbClr val="E2E8F0"/>
                      </a:solidFill>
                    </a:lnB>
                    <a:solidFill>
                      <a:srgbClr val="FFFFFF"/>
                    </a:solidFill>
                  </a:tcPr>
                </a:tc>
              </a:tr>
            </a:tbl>
          </a:graphicData>
        </a:graphic>
      </p:graphicFrame>
      <p:sp>
        <p:nvSpPr>
          <p:cNvPr id="9" name="Text 9"/>
          <p:cNvSpPr txBox="1"/>
          <p:nvPr/>
        </p:nvSpPr>
        <p:spPr>
          <a:xfrm>
            <a:off x="711200" y="5359400"/>
            <a:ext cx="10769600" cy="635000"/>
          </a:xfrm>
          <a:prstGeom prst="rect">
            <a:avLst/>
          </a:prstGeom>
          <a:noFill/>
          <a:ln>
            <a:noFill/>
          </a:ln>
        </p:spPr>
        <p:txBody>
          <a:bodyPr wrap="square" lIns="0" tIns="0" rIns="0" bIns="0" anchor="b">
            <a:noAutofit/>
          </a:bodyPr>
          <a:lstStyle/>
          <a:p>
            <a:pPr algn="l">
              <a:lnSpc>
                <a:spcPct val="118000"/>
              </a:lnSpc>
              <a:spcBef>
                <a:spcPts val="0"/>
              </a:spcBef>
              <a:spcAft>
                <a:spcPts val="0"/>
              </a:spcAft>
              <a:buNone/>
            </a:pPr>
            <a:r>
              <a:rPr lang="en-US" sz="1250" dirty="0">
                <a:solidFill>
                  <a:srgbClr val="334155"/>
                </a:solidFill>
                <a:latin typeface="Arial"/>
                <a:cs typeface="Arial"/>
              </a:rPr>
              <a:t>Beneath that headline, adoption is shallow. Only 7% of organisations deploy AI models daily, 47% deploy them occasionally, and 44% do not yet run AI/ML workloads on Kubernetes at all</a:t>
            </a:r>
            <a:r>
              <a:rPr lang="en-US" sz="1250" baseline="30000" dirty="0">
                <a:solidFill>
                  <a:srgbClr val="64748B"/>
                </a:solidFill>
                <a:latin typeface="Arial"/>
                <a:cs typeface="Arial"/>
              </a:rPr>
              <a:t> 1,3</a:t>
            </a:r>
            <a:r>
              <a:rPr lang="en-US" sz="1250" dirty="0">
                <a:solidFill>
                  <a:srgbClr val="334155"/>
                </a:solidFill>
                <a:latin typeface="Arial"/>
                <a:cs typeface="Arial"/>
              </a:rPr>
              <a:t>.</a:t>
            </a:r>
            <a:endParaRPr lang="en-US" sz="1250" dirty="0"/>
          </a:p>
        </p:txBody>
      </p:sp>
      <p:sp>
        <p:nvSpPr>
          <p:cNvPr id="10" name="Text 10"/>
          <p:cNvSpPr txBox="1"/>
          <p:nvPr/>
        </p:nvSpPr>
        <p:spPr>
          <a:xfrm>
            <a:off x="711200" y="6096000"/>
            <a:ext cx="10769600" cy="177800"/>
          </a:xfrm>
          <a:prstGeom prst="rect">
            <a:avLst/>
          </a:prstGeom>
          <a:noFill/>
          <a:ln>
            <a:noFill/>
          </a:ln>
        </p:spPr>
        <p:txBody>
          <a:bodyPr wrap="square" lIns="0" tIns="0" rIns="0" bIns="0" anchor="t">
            <a:noAutofit/>
          </a:bodyPr>
          <a:lstStyle/>
          <a:p>
            <a:pPr algn="l">
              <a:lnSpc>
                <a:spcPct val="108000"/>
              </a:lnSpc>
              <a:spcBef>
                <a:spcPts val="0"/>
              </a:spcBef>
              <a:spcAft>
                <a:spcPts val="0"/>
              </a:spcAft>
              <a:buNone/>
            </a:pPr>
            <a:r>
              <a:rPr lang="en-US" sz="850" dirty="0">
                <a:solidFill>
                  <a:srgbClr val="64748B"/>
                </a:solidFill>
                <a:latin typeface="Arial"/>
                <a:cs typeface="Arial"/>
              </a:rPr>
              <a:t>Source: [1], [2], [3], [4], [44]. Data as of 2025 survey, published 2026-01-20. Secondary coverage reports a sample of 628 respondents. The official CNCF and Linux Foundation pages do not state the s…</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p:nvPr/>
        </p:nvSpPr>
        <p:spPr>
          <a:xfrm>
            <a:off x="711200" y="508000"/>
            <a:ext cx="558800" cy="63500"/>
          </a:xfrm>
          <a:prstGeom prst="roundRect">
            <a:avLst>
              <a:gd name="adj" fmla="val 50000"/>
            </a:avLst>
          </a:prstGeom>
          <a:gradFill rotWithShape="1">
            <a:gsLst>
              <a:gs pos="0">
                <a:srgbClr val="4F46E5"/>
              </a:gs>
              <a:gs pos="50000">
                <a:srgbClr val="7C3AED"/>
              </a:gs>
              <a:gs pos="100000">
                <a:srgbClr val="06B6D4"/>
              </a:gs>
            </a:gsLst>
            <a:lin ang="0" scaled="0"/>
          </a:gradFill>
          <a:ln>
            <a:noFill/>
          </a:ln>
        </p:spPr>
      </p:sp>
      <p:sp>
        <p:nvSpPr>
          <p:cNvPr id="3" name="Text 3"/>
          <p:cNvSpPr txBox="1"/>
          <p:nvPr/>
        </p:nvSpPr>
        <p:spPr>
          <a:xfrm>
            <a:off x="711200" y="685800"/>
            <a:ext cx="10769600" cy="203200"/>
          </a:xfrm>
          <a:prstGeom prst="rect">
            <a:avLst/>
          </a:prstGeom>
          <a:noFill/>
          <a:ln>
            <a:noFill/>
          </a:ln>
        </p:spPr>
        <p:txBody>
          <a:bodyPr wrap="square" lIns="0" tIns="0" rIns="0" bIns="0" anchor="t">
            <a:noAutofit/>
          </a:bodyPr>
          <a:lstStyle/>
          <a:p>
            <a:pPr algn="l">
              <a:lnSpc>
                <a:spcPct val="108000"/>
              </a:lnSpc>
              <a:spcBef>
                <a:spcPts val="0"/>
              </a:spcBef>
              <a:spcAft>
                <a:spcPts val="0"/>
              </a:spcAft>
              <a:buNone/>
            </a:pPr>
            <a:r>
              <a:rPr lang="en-US" sz="950" b="1" spc="140" dirty="0">
                <a:solidFill>
                  <a:srgbClr val="4F46E5"/>
                </a:solidFill>
                <a:latin typeface="Arial"/>
                <a:cs typeface="Arial"/>
              </a:rPr>
              <a:t>SECTION 01 · WHY AI WORKLOADS ARE MOVING ONTO KUBERNETES</a:t>
            </a:r>
            <a:endParaRPr lang="en-US" sz="950" dirty="0"/>
          </a:p>
        </p:txBody>
      </p:sp>
      <p:sp>
        <p:nvSpPr>
          <p:cNvPr id="4" name="Text 4"/>
          <p:cNvSpPr txBox="1"/>
          <p:nvPr/>
        </p:nvSpPr>
        <p:spPr>
          <a:xfrm>
            <a:off x="711200" y="965200"/>
            <a:ext cx="10515600" cy="481584"/>
          </a:xfrm>
          <a:prstGeom prst="rect">
            <a:avLst/>
          </a:prstGeom>
          <a:noFill/>
          <a:ln>
            <a:noFill/>
          </a:ln>
        </p:spPr>
        <p:txBody>
          <a:bodyPr wrap="square" lIns="0" tIns="0" rIns="0" bIns="0" anchor="t">
            <a:noAutofit/>
          </a:bodyPr>
          <a:lstStyle/>
          <a:p>
            <a:pPr algn="l">
              <a:lnSpc>
                <a:spcPct val="96000"/>
              </a:lnSpc>
              <a:spcBef>
                <a:spcPts val="0"/>
              </a:spcBef>
              <a:spcAft>
                <a:spcPts val="0"/>
              </a:spcAft>
              <a:buNone/>
            </a:pPr>
            <a:r>
              <a:rPr lang="en-US" sz="2800" b="1" spc="-30" dirty="0">
                <a:solidFill>
                  <a:srgbClr val="0F172A"/>
                </a:solidFill>
                <a:latin typeface="Arial"/>
                <a:cs typeface="Arial"/>
              </a:rPr>
              <a:t>Why AI workloads are moving onto Kubernetes</a:t>
            </a:r>
            <a:endParaRPr lang="en-US" sz="2800" dirty="0"/>
          </a:p>
        </p:txBody>
      </p:sp>
      <p:sp>
        <p:nvSpPr>
          <p:cNvPr id="5" name="Shape 5"/>
          <p:cNvSpPr/>
          <p:nvPr/>
        </p:nvSpPr>
        <p:spPr>
          <a:xfrm>
            <a:off x="711200" y="6451600"/>
            <a:ext cx="10769600" cy="9525"/>
          </a:xfrm>
          <a:prstGeom prst="rect">
            <a:avLst/>
          </a:prstGeom>
          <a:solidFill>
            <a:srgbClr val="E2E8F0"/>
          </a:solidFill>
          <a:ln>
            <a:noFill/>
          </a:ln>
        </p:spPr>
      </p:sp>
      <p:sp>
        <p:nvSpPr>
          <p:cNvPr id="6" name="Text 6"/>
          <p:cNvSpPr txBox="1"/>
          <p:nvPr/>
        </p:nvSpPr>
        <p:spPr>
          <a:xfrm>
            <a:off x="711200" y="6527800"/>
            <a:ext cx="9753600" cy="177800"/>
          </a:xfrm>
          <a:prstGeom prst="rect">
            <a:avLst/>
          </a:prstGeom>
          <a:noFill/>
          <a:ln>
            <a:noFill/>
          </a:ln>
        </p:spPr>
        <p:txBody>
          <a:bodyPr wrap="square" lIns="0" tIns="0" rIns="0" bIns="0" anchor="t">
            <a:noAutofit/>
          </a:bodyPr>
          <a:lstStyle/>
          <a:p>
            <a:pPr algn="l">
              <a:lnSpc>
                <a:spcPct val="108000"/>
              </a:lnSpc>
              <a:spcBef>
                <a:spcPts val="0"/>
              </a:spcBef>
              <a:spcAft>
                <a:spcPts val="0"/>
              </a:spcAft>
              <a:buNone/>
            </a:pPr>
            <a:r>
              <a:rPr lang="en-US" sz="800" dirty="0">
                <a:solidFill>
                  <a:srgbClr val="94A3B8"/>
                </a:solidFill>
                <a:latin typeface="Arial"/>
                <a:cs typeface="Arial"/>
              </a:rPr>
              <a:t>Kubernetes as the Platform for AI Infrastructure</a:t>
            </a:r>
            <a:endParaRPr lang="en-US" sz="800" dirty="0"/>
          </a:p>
        </p:txBody>
      </p:sp>
      <p:sp>
        <p:nvSpPr>
          <p:cNvPr id="7" name="Text 7"/>
          <p:cNvSpPr txBox="1"/>
          <p:nvPr/>
        </p:nvSpPr>
        <p:spPr>
          <a:xfrm>
            <a:off x="10718800" y="6527800"/>
            <a:ext cx="762000" cy="177800"/>
          </a:xfrm>
          <a:prstGeom prst="rect">
            <a:avLst/>
          </a:prstGeom>
          <a:noFill/>
          <a:ln>
            <a:noFill/>
          </a:ln>
        </p:spPr>
        <p:txBody>
          <a:bodyPr wrap="square" lIns="0" tIns="0" rIns="0" bIns="0" anchor="t">
            <a:noAutofit/>
          </a:bodyPr>
          <a:lstStyle/>
          <a:p>
            <a:pPr algn="r">
              <a:lnSpc>
                <a:spcPct val="108000"/>
              </a:lnSpc>
              <a:spcBef>
                <a:spcPts val="0"/>
              </a:spcBef>
              <a:spcAft>
                <a:spcPts val="0"/>
              </a:spcAft>
              <a:buNone/>
            </a:pPr>
            <a:r>
              <a:rPr lang="en-US" sz="850" b="1" dirty="0">
                <a:solidFill>
                  <a:srgbClr val="0F172A"/>
                </a:solidFill>
                <a:latin typeface="Arial"/>
                <a:cs typeface="Arial"/>
              </a:rPr>
              <a:t>8</a:t>
            </a:r>
            <a:endParaRPr lang="en-US" sz="850" dirty="0"/>
          </a:p>
        </p:txBody>
      </p:sp>
      <p:sp>
        <p:nvSpPr>
          <p:cNvPr id="8" name="Shape 8"/>
          <p:cNvSpPr/>
          <p:nvPr/>
        </p:nvSpPr>
        <p:spPr>
          <a:xfrm>
            <a:off x="711200" y="5457825"/>
            <a:ext cx="10769600" cy="790575"/>
          </a:xfrm>
          <a:prstGeom prst="roundRect">
            <a:avLst>
              <a:gd name="adj" fmla="val 16064"/>
            </a:avLst>
          </a:prstGeom>
          <a:solidFill>
            <a:srgbClr val="FFFBEB"/>
          </a:solidFill>
          <a:ln>
            <a:noFill/>
          </a:ln>
        </p:spPr>
      </p:sp>
      <p:sp>
        <p:nvSpPr>
          <p:cNvPr id="9" name="Shape 9"/>
          <p:cNvSpPr/>
          <p:nvPr/>
        </p:nvSpPr>
        <p:spPr>
          <a:xfrm>
            <a:off x="711200" y="5457825"/>
            <a:ext cx="50800" cy="790575"/>
          </a:xfrm>
          <a:prstGeom prst="roundRect">
            <a:avLst>
              <a:gd name="adj" fmla="val 50000"/>
            </a:avLst>
          </a:prstGeom>
          <a:solidFill>
            <a:srgbClr val="B45309"/>
          </a:solidFill>
          <a:ln>
            <a:noFill/>
          </a:ln>
        </p:spPr>
      </p:sp>
      <p:sp>
        <p:nvSpPr>
          <p:cNvPr id="10" name="Text 10"/>
          <p:cNvSpPr txBox="1"/>
          <p:nvPr/>
        </p:nvSpPr>
        <p:spPr>
          <a:xfrm>
            <a:off x="990600" y="5610225"/>
            <a:ext cx="10210800" cy="536575"/>
          </a:xfrm>
          <a:prstGeom prst="rect">
            <a:avLst/>
          </a:prstGeom>
          <a:noFill/>
          <a:ln>
            <a:noFill/>
          </a:ln>
        </p:spPr>
        <p:txBody>
          <a:bodyPr wrap="square" lIns="0" tIns="0" rIns="0" bIns="0" anchor="t">
            <a:noAutofit/>
          </a:bodyPr>
          <a:lstStyle/>
          <a:p>
            <a:pPr algn="l">
              <a:lnSpc>
                <a:spcPct val="108000"/>
              </a:lnSpc>
              <a:spcBef>
                <a:spcPts val="0"/>
              </a:spcBef>
              <a:spcAft>
                <a:spcPts val="400"/>
              </a:spcAft>
              <a:buNone/>
            </a:pPr>
            <a:r>
              <a:rPr lang="en-US" sz="850" b="1" spc="130" dirty="0">
                <a:solidFill>
                  <a:srgbClr val="B45309"/>
                </a:solidFill>
                <a:latin typeface="Arial"/>
                <a:cs typeface="Arial"/>
              </a:rPr>
              <a:t>NO TRAINING-ADOPTION FIGURE</a:t>
            </a:r>
            <a:endParaRPr lang="en-US" sz="850" dirty="0"/>
          </a:p>
          <a:p>
            <a:pPr algn="l">
              <a:lnSpc>
                <a:spcPct val="116000"/>
              </a:lnSpc>
              <a:spcBef>
                <a:spcPts val="0"/>
              </a:spcBef>
              <a:spcAft>
                <a:spcPts val="0"/>
              </a:spcAft>
              <a:buNone/>
            </a:pPr>
            <a:r>
              <a:rPr lang="en-US" sz="1250" dirty="0">
                <a:solidFill>
                  <a:srgbClr val="0F172A"/>
                </a:solidFill>
                <a:latin typeface="Arial"/>
                <a:cs typeface="Arial"/>
              </a:rPr>
              <a:t>No official CNCF or Linux Foundation page gives a share of organisations training models on Kubernetes.</a:t>
            </a:r>
            <a:endParaRPr lang="en-US" sz="1250" dirty="0"/>
          </a:p>
        </p:txBody>
      </p:sp>
      <p:sp>
        <p:nvSpPr>
          <p:cNvPr id="11" name="Text 11"/>
          <p:cNvSpPr txBox="1"/>
          <p:nvPr/>
        </p:nvSpPr>
        <p:spPr>
          <a:xfrm>
            <a:off x="711200" y="1700784"/>
            <a:ext cx="9261856" cy="3579241"/>
          </a:xfrm>
          <a:prstGeom prst="rect">
            <a:avLst/>
          </a:prstGeom>
          <a:noFill/>
          <a:ln>
            <a:noFill/>
          </a:ln>
        </p:spPr>
        <p:txBody>
          <a:bodyPr wrap="square" lIns="0" tIns="0" rIns="0" bIns="0" anchor="t">
            <a:noAutofit/>
          </a:bodyPr>
          <a:lstStyle/>
          <a:p>
            <a:pPr algn="l">
              <a:lnSpc>
                <a:spcPct val="112000"/>
              </a:lnSpc>
              <a:spcBef>
                <a:spcPts val="0"/>
              </a:spcBef>
              <a:spcAft>
                <a:spcPts val="594"/>
              </a:spcAft>
              <a:buNone/>
            </a:pPr>
            <a:r>
              <a:rPr lang="en-US" sz="1564" b="1" dirty="0">
                <a:solidFill>
                  <a:srgbClr val="4F46E5"/>
                </a:solidFill>
                <a:latin typeface="Arial"/>
                <a:cs typeface="Arial"/>
              </a:rPr>
              <a:t>Spending is shifting to inference</a:t>
            </a:r>
            <a:endParaRPr lang="en-US" sz="1564"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p:nvPr/>
        </p:nvSpPr>
        <p:spPr>
          <a:xfrm>
            <a:off x="711200" y="508000"/>
            <a:ext cx="558800" cy="63500"/>
          </a:xfrm>
          <a:prstGeom prst="roundRect">
            <a:avLst>
              <a:gd name="adj" fmla="val 50000"/>
            </a:avLst>
          </a:prstGeom>
          <a:gradFill rotWithShape="1">
            <a:gsLst>
              <a:gs pos="0">
                <a:srgbClr val="4F46E5"/>
              </a:gs>
              <a:gs pos="50000">
                <a:srgbClr val="7C3AED"/>
              </a:gs>
              <a:gs pos="100000">
                <a:srgbClr val="06B6D4"/>
              </a:gs>
            </a:gsLst>
            <a:lin ang="0" scaled="0"/>
          </a:gradFill>
          <a:ln>
            <a:noFill/>
          </a:ln>
        </p:spPr>
      </p:sp>
      <p:sp>
        <p:nvSpPr>
          <p:cNvPr id="3" name="Text 3"/>
          <p:cNvSpPr txBox="1"/>
          <p:nvPr/>
        </p:nvSpPr>
        <p:spPr>
          <a:xfrm>
            <a:off x="711200" y="685800"/>
            <a:ext cx="10769600" cy="203200"/>
          </a:xfrm>
          <a:prstGeom prst="rect">
            <a:avLst/>
          </a:prstGeom>
          <a:noFill/>
          <a:ln>
            <a:noFill/>
          </a:ln>
        </p:spPr>
        <p:txBody>
          <a:bodyPr wrap="square" lIns="0" tIns="0" rIns="0" bIns="0" anchor="t">
            <a:noAutofit/>
          </a:bodyPr>
          <a:lstStyle/>
          <a:p>
            <a:pPr algn="l">
              <a:lnSpc>
                <a:spcPct val="108000"/>
              </a:lnSpc>
              <a:spcBef>
                <a:spcPts val="0"/>
              </a:spcBef>
              <a:spcAft>
                <a:spcPts val="0"/>
              </a:spcAft>
              <a:buNone/>
            </a:pPr>
            <a:r>
              <a:rPr lang="en-US" sz="950" b="1" spc="140" dirty="0">
                <a:solidFill>
                  <a:srgbClr val="4F46E5"/>
                </a:solidFill>
                <a:latin typeface="Arial"/>
                <a:cs typeface="Arial"/>
              </a:rPr>
              <a:t>SECTION 01 · WHY AI WORKLOADS ARE MOVING ONTO KUBERNETES · FIGURE 1</a:t>
            </a:r>
            <a:endParaRPr lang="en-US" sz="950" dirty="0"/>
          </a:p>
        </p:txBody>
      </p:sp>
      <p:sp>
        <p:nvSpPr>
          <p:cNvPr id="4" name="Text 4"/>
          <p:cNvSpPr txBox="1"/>
          <p:nvPr/>
        </p:nvSpPr>
        <p:spPr>
          <a:xfrm>
            <a:off x="711200" y="965200"/>
            <a:ext cx="10515600" cy="886968"/>
          </a:xfrm>
          <a:prstGeom prst="rect">
            <a:avLst/>
          </a:prstGeom>
          <a:noFill/>
          <a:ln>
            <a:noFill/>
          </a:ln>
        </p:spPr>
        <p:txBody>
          <a:bodyPr wrap="square" lIns="0" tIns="0" rIns="0" bIns="0" anchor="t">
            <a:noAutofit/>
          </a:bodyPr>
          <a:lstStyle/>
          <a:p>
            <a:pPr algn="l">
              <a:lnSpc>
                <a:spcPct val="96000"/>
              </a:lnSpc>
              <a:spcBef>
                <a:spcPts val="0"/>
              </a:spcBef>
              <a:spcAft>
                <a:spcPts val="0"/>
              </a:spcAft>
              <a:buNone/>
            </a:pPr>
            <a:r>
              <a:rPr lang="en-US" sz="2800" b="1" spc="-30" dirty="0">
                <a:solidFill>
                  <a:srgbClr val="0F172A"/>
                </a:solidFill>
                <a:latin typeface="Arial"/>
                <a:cs typeface="Arial"/>
              </a:rPr>
              <a:t>Inference share of AI-optimised IaaS spending (Gartner forecast)</a:t>
            </a:r>
            <a:endParaRPr lang="en-US" sz="2800" dirty="0"/>
          </a:p>
        </p:txBody>
      </p:sp>
      <p:sp>
        <p:nvSpPr>
          <p:cNvPr id="5" name="Shape 5"/>
          <p:cNvSpPr/>
          <p:nvPr/>
        </p:nvSpPr>
        <p:spPr>
          <a:xfrm>
            <a:off x="711200" y="6451600"/>
            <a:ext cx="10769600" cy="9525"/>
          </a:xfrm>
          <a:prstGeom prst="rect">
            <a:avLst/>
          </a:prstGeom>
          <a:solidFill>
            <a:srgbClr val="E2E8F0"/>
          </a:solidFill>
          <a:ln>
            <a:noFill/>
          </a:ln>
        </p:spPr>
      </p:sp>
      <p:sp>
        <p:nvSpPr>
          <p:cNvPr id="6" name="Text 6"/>
          <p:cNvSpPr txBox="1"/>
          <p:nvPr/>
        </p:nvSpPr>
        <p:spPr>
          <a:xfrm>
            <a:off x="711200" y="6527800"/>
            <a:ext cx="9753600" cy="177800"/>
          </a:xfrm>
          <a:prstGeom prst="rect">
            <a:avLst/>
          </a:prstGeom>
          <a:noFill/>
          <a:ln>
            <a:noFill/>
          </a:ln>
        </p:spPr>
        <p:txBody>
          <a:bodyPr wrap="square" lIns="0" tIns="0" rIns="0" bIns="0" anchor="t">
            <a:noAutofit/>
          </a:bodyPr>
          <a:lstStyle/>
          <a:p>
            <a:pPr algn="l">
              <a:lnSpc>
                <a:spcPct val="108000"/>
              </a:lnSpc>
              <a:spcBef>
                <a:spcPts val="0"/>
              </a:spcBef>
              <a:spcAft>
                <a:spcPts val="0"/>
              </a:spcAft>
              <a:buNone/>
            </a:pPr>
            <a:r>
              <a:rPr lang="en-US" sz="800" dirty="0">
                <a:solidFill>
                  <a:srgbClr val="94A3B8"/>
                </a:solidFill>
                <a:latin typeface="Arial"/>
                <a:cs typeface="Arial"/>
              </a:rPr>
              <a:t>Kubernetes as the Platform for AI Infrastructure</a:t>
            </a:r>
            <a:endParaRPr lang="en-US" sz="800" dirty="0"/>
          </a:p>
        </p:txBody>
      </p:sp>
      <p:sp>
        <p:nvSpPr>
          <p:cNvPr id="7" name="Text 7"/>
          <p:cNvSpPr txBox="1"/>
          <p:nvPr/>
        </p:nvSpPr>
        <p:spPr>
          <a:xfrm>
            <a:off x="10718800" y="6527800"/>
            <a:ext cx="762000" cy="177800"/>
          </a:xfrm>
          <a:prstGeom prst="rect">
            <a:avLst/>
          </a:prstGeom>
          <a:noFill/>
          <a:ln>
            <a:noFill/>
          </a:ln>
        </p:spPr>
        <p:txBody>
          <a:bodyPr wrap="square" lIns="0" tIns="0" rIns="0" bIns="0" anchor="t">
            <a:noAutofit/>
          </a:bodyPr>
          <a:lstStyle/>
          <a:p>
            <a:pPr algn="r">
              <a:lnSpc>
                <a:spcPct val="108000"/>
              </a:lnSpc>
              <a:spcBef>
                <a:spcPts val="0"/>
              </a:spcBef>
              <a:spcAft>
                <a:spcPts val="0"/>
              </a:spcAft>
              <a:buNone/>
            </a:pPr>
            <a:r>
              <a:rPr lang="en-US" sz="850" b="1" dirty="0">
                <a:solidFill>
                  <a:srgbClr val="0F172A"/>
                </a:solidFill>
                <a:latin typeface="Arial"/>
                <a:cs typeface="Arial"/>
              </a:rPr>
              <a:t>9</a:t>
            </a:r>
            <a:endParaRPr lang="en-US" sz="850" dirty="0"/>
          </a:p>
        </p:txBody>
      </p:sp>
      <p:sp>
        <p:nvSpPr>
          <p:cNvPr id="8" name="Text 8"/>
          <p:cNvSpPr txBox="1"/>
          <p:nvPr/>
        </p:nvSpPr>
        <p:spPr>
          <a:xfrm>
            <a:off x="711200" y="1852168"/>
            <a:ext cx="10769600" cy="203200"/>
          </a:xfrm>
          <a:prstGeom prst="rect">
            <a:avLst/>
          </a:prstGeom>
          <a:noFill/>
          <a:ln>
            <a:noFill/>
          </a:ln>
        </p:spPr>
        <p:txBody>
          <a:bodyPr wrap="square" lIns="0" tIns="0" rIns="0" bIns="0" anchor="t">
            <a:noAutofit/>
          </a:bodyPr>
          <a:lstStyle/>
          <a:p>
            <a:pPr algn="l">
              <a:lnSpc>
                <a:spcPct val="108000"/>
              </a:lnSpc>
              <a:spcBef>
                <a:spcPts val="0"/>
              </a:spcBef>
              <a:spcAft>
                <a:spcPts val="0"/>
              </a:spcAft>
              <a:buNone/>
            </a:pPr>
            <a:r>
              <a:rPr lang="en-US" sz="1100" dirty="0">
                <a:solidFill>
                  <a:srgbClr val="64748B"/>
                </a:solidFill>
                <a:latin typeface="Arial"/>
                <a:cs typeface="Arial"/>
              </a:rPr>
              <a:t>% of spending</a:t>
            </a:r>
            <a:endParaRPr lang="en-US" sz="1100" dirty="0"/>
          </a:p>
        </p:txBody>
      </p:sp>
      <p:sp>
        <p:nvSpPr>
          <p:cNvPr id="9" name="Shape 9"/>
          <p:cNvSpPr/>
          <p:nvPr/>
        </p:nvSpPr>
        <p:spPr>
          <a:xfrm>
            <a:off x="8305800" y="2156968"/>
            <a:ext cx="3175000" cy="3786632"/>
          </a:xfrm>
          <a:prstGeom prst="roundRect">
            <a:avLst>
              <a:gd name="adj" fmla="val 4800"/>
            </a:avLst>
          </a:prstGeom>
          <a:solidFill>
            <a:srgbClr val="F6F6FE"/>
          </a:solidFill>
          <a:ln>
            <a:noFill/>
          </a:ln>
        </p:spPr>
      </p:sp>
      <p:sp>
        <p:nvSpPr>
          <p:cNvPr id="10" name="Text 10"/>
          <p:cNvSpPr txBox="1"/>
          <p:nvPr/>
        </p:nvSpPr>
        <p:spPr>
          <a:xfrm>
            <a:off x="8534400" y="2385568"/>
            <a:ext cx="2717800" cy="3329432"/>
          </a:xfrm>
          <a:prstGeom prst="rect">
            <a:avLst/>
          </a:prstGeom>
          <a:noFill/>
          <a:ln>
            <a:noFill/>
          </a:ln>
        </p:spPr>
        <p:txBody>
          <a:bodyPr wrap="square" lIns="0" tIns="0" rIns="0" bIns="0" anchor="t">
            <a:noAutofit/>
          </a:bodyPr>
          <a:lstStyle/>
          <a:p>
            <a:pPr algn="l">
              <a:lnSpc>
                <a:spcPct val="108000"/>
              </a:lnSpc>
              <a:spcBef>
                <a:spcPts val="0"/>
              </a:spcBef>
              <a:spcAft>
                <a:spcPts val="800"/>
              </a:spcAft>
              <a:buNone/>
            </a:pPr>
            <a:r>
              <a:rPr lang="en-US" sz="850" b="1" spc="130" dirty="0">
                <a:solidFill>
                  <a:srgbClr val="4F46E5"/>
                </a:solidFill>
                <a:latin typeface="Arial"/>
                <a:cs typeface="Arial"/>
              </a:rPr>
              <a:t>WHAT IT SHOWS</a:t>
            </a:r>
            <a:endParaRPr lang="en-US" sz="850" dirty="0"/>
          </a:p>
          <a:p>
            <a:pPr algn="l">
              <a:lnSpc>
                <a:spcPct val="122000"/>
              </a:lnSpc>
              <a:spcBef>
                <a:spcPts val="0"/>
              </a:spcBef>
              <a:spcAft>
                <a:spcPts val="0"/>
              </a:spcAft>
              <a:buNone/>
            </a:pPr>
            <a:r>
              <a:rPr lang="en-US" sz="1300" dirty="0">
                <a:solidFill>
                  <a:srgbClr val="0F172A"/>
                </a:solidFill>
                <a:latin typeface="Arial"/>
                <a:cs typeface="Arial"/>
              </a:rPr>
              <a:t>Gartner (August 2026) forecasts worldwide AI-optimised IaaS spending to grow 96% to about $42B in 2026.</a:t>
            </a:r>
            <a:endParaRPr lang="en-US" sz="1300" dirty="0"/>
          </a:p>
        </p:txBody>
      </p:sp>
      <p:grpSp>
        <p:nvGrpSpPr>
          <p:cNvPr id="11" name="Figure 11"/>
          <p:cNvGrpSpPr/>
          <p:nvPr/>
        </p:nvGrpSpPr>
        <p:grpSpPr>
          <a:xfrm>
            <a:off x="711200" y="2171279"/>
            <a:ext cx="7239000" cy="3732609"/>
            <a:chOff x="711200" y="2171279"/>
            <a:chExt cx="7239000" cy="3732609"/>
          </a:xfrm>
        </p:grpSpPr>
        <p:cxnSp>
          <p:nvCxnSpPr>
            <p:cNvPr id="12" name="Line 12"/>
            <p:cNvCxnSpPr/>
            <p:nvPr/>
          </p:nvCxnSpPr>
          <p:spPr>
            <a:xfrm>
              <a:off x="1276747" y="5247854"/>
              <a:ext cx="6560344" cy="0"/>
            </a:xfrm>
            <a:prstGeom prst="line">
              <a:avLst/>
            </a:prstGeom>
            <a:ln w="11311" cap="rnd">
              <a:solidFill>
                <a:srgbClr val="94A3B8"/>
              </a:solidFill>
              <a:round/>
            </a:ln>
          </p:spPr>
        </p:cxnSp>
        <p:sp>
          <p:nvSpPr>
            <p:cNvPr id="13" name="Text 13"/>
            <p:cNvSpPr txBox="1"/>
            <p:nvPr/>
          </p:nvSpPr>
          <p:spPr>
            <a:xfrm>
              <a:off x="1022055" y="5174559"/>
              <a:ext cx="164205" cy="148456"/>
            </a:xfrm>
            <a:prstGeom prst="rect">
              <a:avLst/>
            </a:prstGeom>
            <a:noFill/>
            <a:ln>
              <a:noFill/>
            </a:ln>
          </p:spPr>
          <p:txBody>
            <a:bodyPr wrap="none" lIns="0" tIns="0" rIns="0" bIns="0" anchor="t">
              <a:noAutofit/>
            </a:bodyPr>
            <a:lstStyle/>
            <a:p>
              <a:pPr algn="r">
                <a:lnSpc>
                  <a:spcPct val="100000"/>
                </a:lnSpc>
                <a:spcBef>
                  <a:spcPts val="0"/>
                </a:spcBef>
                <a:spcAft>
                  <a:spcPts val="0"/>
                </a:spcAft>
                <a:buNone/>
              </a:pPr>
              <a:r>
                <a:rPr lang="en-US" sz="935" dirty="0">
                  <a:solidFill>
                    <a:srgbClr val="64748B"/>
                  </a:solidFill>
                  <a:latin typeface="Arial"/>
                  <a:cs typeface="Arial"/>
                </a:rPr>
                <a:t>0</a:t>
              </a:r>
              <a:endParaRPr lang="en-US" sz="935" dirty="0"/>
            </a:p>
          </p:txBody>
        </p:sp>
        <p:cxnSp>
          <p:nvCxnSpPr>
            <p:cNvPr id="14" name="Line 14"/>
            <p:cNvCxnSpPr/>
            <p:nvPr/>
          </p:nvCxnSpPr>
          <p:spPr>
            <a:xfrm>
              <a:off x="1276747" y="4290195"/>
              <a:ext cx="6560344" cy="0"/>
            </a:xfrm>
            <a:prstGeom prst="line">
              <a:avLst/>
            </a:prstGeom>
            <a:ln w="9049" cap="rnd">
              <a:solidFill>
                <a:srgbClr val="E2E8F0"/>
              </a:solidFill>
              <a:round/>
            </a:ln>
          </p:spPr>
        </p:cxnSp>
        <p:sp>
          <p:nvSpPr>
            <p:cNvPr id="15" name="Text 15"/>
            <p:cNvSpPr txBox="1"/>
            <p:nvPr/>
          </p:nvSpPr>
          <p:spPr>
            <a:xfrm>
              <a:off x="934050" y="4216900"/>
              <a:ext cx="252209" cy="148456"/>
            </a:xfrm>
            <a:prstGeom prst="rect">
              <a:avLst/>
            </a:prstGeom>
            <a:noFill/>
            <a:ln>
              <a:noFill/>
            </a:ln>
          </p:spPr>
          <p:txBody>
            <a:bodyPr wrap="none" lIns="0" tIns="0" rIns="0" bIns="0" anchor="t">
              <a:noAutofit/>
            </a:bodyPr>
            <a:lstStyle/>
            <a:p>
              <a:pPr algn="r">
                <a:lnSpc>
                  <a:spcPct val="100000"/>
                </a:lnSpc>
                <a:spcBef>
                  <a:spcPts val="0"/>
                </a:spcBef>
                <a:spcAft>
                  <a:spcPts val="0"/>
                </a:spcAft>
                <a:buNone/>
              </a:pPr>
              <a:r>
                <a:rPr lang="en-US" sz="935" dirty="0">
                  <a:solidFill>
                    <a:srgbClr val="64748B"/>
                  </a:solidFill>
                  <a:latin typeface="Arial"/>
                  <a:cs typeface="Arial"/>
                </a:rPr>
                <a:t>20</a:t>
              </a:r>
              <a:endParaRPr lang="en-US" sz="935" dirty="0"/>
            </a:p>
          </p:txBody>
        </p:sp>
        <p:cxnSp>
          <p:nvCxnSpPr>
            <p:cNvPr id="16" name="Line 16"/>
            <p:cNvCxnSpPr/>
            <p:nvPr/>
          </p:nvCxnSpPr>
          <p:spPr>
            <a:xfrm>
              <a:off x="1276747" y="3332536"/>
              <a:ext cx="6560344" cy="0"/>
            </a:xfrm>
            <a:prstGeom prst="line">
              <a:avLst/>
            </a:prstGeom>
            <a:ln w="9049" cap="rnd">
              <a:solidFill>
                <a:srgbClr val="E2E8F0"/>
              </a:solidFill>
              <a:round/>
            </a:ln>
          </p:spPr>
        </p:cxnSp>
        <p:sp>
          <p:nvSpPr>
            <p:cNvPr id="17" name="Text 17"/>
            <p:cNvSpPr txBox="1"/>
            <p:nvPr/>
          </p:nvSpPr>
          <p:spPr>
            <a:xfrm>
              <a:off x="934050" y="3259241"/>
              <a:ext cx="252209" cy="148456"/>
            </a:xfrm>
            <a:prstGeom prst="rect">
              <a:avLst/>
            </a:prstGeom>
            <a:noFill/>
            <a:ln>
              <a:noFill/>
            </a:ln>
          </p:spPr>
          <p:txBody>
            <a:bodyPr wrap="none" lIns="0" tIns="0" rIns="0" bIns="0" anchor="t">
              <a:noAutofit/>
            </a:bodyPr>
            <a:lstStyle/>
            <a:p>
              <a:pPr algn="r">
                <a:lnSpc>
                  <a:spcPct val="100000"/>
                </a:lnSpc>
                <a:spcBef>
                  <a:spcPts val="0"/>
                </a:spcBef>
                <a:spcAft>
                  <a:spcPts val="0"/>
                </a:spcAft>
                <a:buNone/>
              </a:pPr>
              <a:r>
                <a:rPr lang="en-US" sz="935" dirty="0">
                  <a:solidFill>
                    <a:srgbClr val="64748B"/>
                  </a:solidFill>
                  <a:latin typeface="Arial"/>
                  <a:cs typeface="Arial"/>
                </a:rPr>
                <a:t>40</a:t>
              </a:r>
              <a:endParaRPr lang="en-US" sz="935" dirty="0"/>
            </a:p>
          </p:txBody>
        </p:sp>
        <p:cxnSp>
          <p:nvCxnSpPr>
            <p:cNvPr id="18" name="Line 18"/>
            <p:cNvCxnSpPr/>
            <p:nvPr/>
          </p:nvCxnSpPr>
          <p:spPr>
            <a:xfrm>
              <a:off x="1276747" y="2374876"/>
              <a:ext cx="6560344" cy="0"/>
            </a:xfrm>
            <a:prstGeom prst="line">
              <a:avLst/>
            </a:prstGeom>
            <a:ln w="9049" cap="rnd">
              <a:solidFill>
                <a:srgbClr val="E2E8F0"/>
              </a:solidFill>
              <a:round/>
            </a:ln>
          </p:spPr>
        </p:cxnSp>
        <p:sp>
          <p:nvSpPr>
            <p:cNvPr id="19" name="Text 19"/>
            <p:cNvSpPr txBox="1"/>
            <p:nvPr/>
          </p:nvSpPr>
          <p:spPr>
            <a:xfrm>
              <a:off x="934050" y="2301581"/>
              <a:ext cx="252209" cy="148456"/>
            </a:xfrm>
            <a:prstGeom prst="rect">
              <a:avLst/>
            </a:prstGeom>
            <a:noFill/>
            <a:ln>
              <a:noFill/>
            </a:ln>
          </p:spPr>
          <p:txBody>
            <a:bodyPr wrap="none" lIns="0" tIns="0" rIns="0" bIns="0" anchor="t">
              <a:noAutofit/>
            </a:bodyPr>
            <a:lstStyle/>
            <a:p>
              <a:pPr algn="r">
                <a:lnSpc>
                  <a:spcPct val="100000"/>
                </a:lnSpc>
                <a:spcBef>
                  <a:spcPts val="0"/>
                </a:spcBef>
                <a:spcAft>
                  <a:spcPts val="0"/>
                </a:spcAft>
                <a:buNone/>
              </a:pPr>
              <a:r>
                <a:rPr lang="en-US" sz="935" dirty="0">
                  <a:solidFill>
                    <a:srgbClr val="64748B"/>
                  </a:solidFill>
                  <a:latin typeface="Arial"/>
                  <a:cs typeface="Arial"/>
                </a:rPr>
                <a:t>60</a:t>
              </a:r>
              <a:endParaRPr lang="en-US" sz="935" dirty="0"/>
            </a:p>
          </p:txBody>
        </p:sp>
        <p:sp>
          <p:nvSpPr>
            <p:cNvPr id="20" name="Rect 20"/>
            <p:cNvSpPr/>
            <p:nvPr/>
          </p:nvSpPr>
          <p:spPr>
            <a:xfrm>
              <a:off x="2373908" y="2614291"/>
              <a:ext cx="1063228" cy="2633563"/>
            </a:xfrm>
            <a:prstGeom prst="roundRect">
              <a:avLst>
                <a:gd name="adj" fmla="val 3191"/>
              </a:avLst>
            </a:prstGeom>
            <a:solidFill>
              <a:srgbClr val="4F46E5"/>
            </a:solidFill>
            <a:ln>
              <a:noFill/>
            </a:ln>
          </p:spPr>
        </p:sp>
        <p:sp>
          <p:nvSpPr>
            <p:cNvPr id="21" name="Text 21"/>
            <p:cNvSpPr txBox="1"/>
            <p:nvPr/>
          </p:nvSpPr>
          <p:spPr>
            <a:xfrm>
              <a:off x="2779417" y="2432411"/>
              <a:ext cx="252209" cy="148456"/>
            </a:xfrm>
            <a:prstGeom prst="rect">
              <a:avLst/>
            </a:prstGeom>
            <a:noFill/>
            <a:ln>
              <a:noFill/>
            </a:ln>
          </p:spPr>
          <p:txBody>
            <a:bodyPr wrap="none" lIns="0" tIns="0" rIns="0" bIns="0" anchor="t">
              <a:noAutofit/>
            </a:bodyPr>
            <a:lstStyle/>
            <a:p>
              <a:pPr algn="ctr">
                <a:lnSpc>
                  <a:spcPct val="100000"/>
                </a:lnSpc>
                <a:spcBef>
                  <a:spcPts val="0"/>
                </a:spcBef>
                <a:spcAft>
                  <a:spcPts val="0"/>
                </a:spcAft>
                <a:buNone/>
              </a:pPr>
              <a:r>
                <a:rPr lang="en-US" sz="935" b="1" dirty="0">
                  <a:solidFill>
                    <a:srgbClr val="0F172A"/>
                  </a:solidFill>
                  <a:latin typeface="Arial"/>
                  <a:cs typeface="Arial"/>
                </a:rPr>
                <a:t>55</a:t>
              </a:r>
              <a:endParaRPr lang="en-US" sz="935" dirty="0"/>
            </a:p>
          </p:txBody>
        </p:sp>
        <p:sp>
          <p:nvSpPr>
            <p:cNvPr id="22" name="Text 22"/>
            <p:cNvSpPr txBox="1"/>
            <p:nvPr/>
          </p:nvSpPr>
          <p:spPr>
            <a:xfrm>
              <a:off x="2702723" y="5337437"/>
              <a:ext cx="428219" cy="148456"/>
            </a:xfrm>
            <a:prstGeom prst="rect">
              <a:avLst/>
            </a:prstGeom>
            <a:noFill/>
            <a:ln>
              <a:noFill/>
            </a:ln>
          </p:spPr>
          <p:txBody>
            <a:bodyPr wrap="none" lIns="0" tIns="0" rIns="0" bIns="0" anchor="t">
              <a:noAutofit/>
            </a:bodyPr>
            <a:lstStyle/>
            <a:p>
              <a:pPr algn="ctr">
                <a:lnSpc>
                  <a:spcPct val="100000"/>
                </a:lnSpc>
                <a:spcBef>
                  <a:spcPts val="0"/>
                </a:spcBef>
                <a:spcAft>
                  <a:spcPts val="0"/>
                </a:spcAft>
                <a:buNone/>
              </a:pPr>
              <a:r>
                <a:rPr lang="en-US" sz="935" dirty="0">
                  <a:solidFill>
                    <a:srgbClr val="64748B"/>
                  </a:solidFill>
                  <a:latin typeface="Arial"/>
                  <a:cs typeface="Arial"/>
                </a:rPr>
                <a:t>2026</a:t>
              </a:r>
              <a:endParaRPr lang="en-US" sz="935" dirty="0"/>
            </a:p>
          </p:txBody>
        </p:sp>
        <p:sp>
          <p:nvSpPr>
            <p:cNvPr id="23" name="Rect 23"/>
            <p:cNvSpPr/>
            <p:nvPr/>
          </p:nvSpPr>
          <p:spPr>
            <a:xfrm>
              <a:off x="5654080" y="2422759"/>
              <a:ext cx="1063228" cy="2825095"/>
            </a:xfrm>
            <a:prstGeom prst="roundRect">
              <a:avLst>
                <a:gd name="adj" fmla="val 3191"/>
              </a:avLst>
            </a:prstGeom>
            <a:solidFill>
              <a:srgbClr val="4F46E5"/>
            </a:solidFill>
            <a:ln>
              <a:noFill/>
            </a:ln>
          </p:spPr>
        </p:sp>
        <p:sp>
          <p:nvSpPr>
            <p:cNvPr id="24" name="Text 24"/>
            <p:cNvSpPr txBox="1"/>
            <p:nvPr/>
          </p:nvSpPr>
          <p:spPr>
            <a:xfrm>
              <a:off x="6059589" y="2240879"/>
              <a:ext cx="252209" cy="148456"/>
            </a:xfrm>
            <a:prstGeom prst="rect">
              <a:avLst/>
            </a:prstGeom>
            <a:noFill/>
            <a:ln>
              <a:noFill/>
            </a:ln>
          </p:spPr>
          <p:txBody>
            <a:bodyPr wrap="none" lIns="0" tIns="0" rIns="0" bIns="0" anchor="t">
              <a:noAutofit/>
            </a:bodyPr>
            <a:lstStyle/>
            <a:p>
              <a:pPr algn="ctr">
                <a:lnSpc>
                  <a:spcPct val="100000"/>
                </a:lnSpc>
                <a:spcBef>
                  <a:spcPts val="0"/>
                </a:spcBef>
                <a:spcAft>
                  <a:spcPts val="0"/>
                </a:spcAft>
                <a:buNone/>
              </a:pPr>
              <a:r>
                <a:rPr lang="en-US" sz="935" b="1" dirty="0">
                  <a:solidFill>
                    <a:srgbClr val="0F172A"/>
                  </a:solidFill>
                  <a:latin typeface="Arial"/>
                  <a:cs typeface="Arial"/>
                </a:rPr>
                <a:t>59</a:t>
              </a:r>
              <a:endParaRPr lang="en-US" sz="935" dirty="0"/>
            </a:p>
          </p:txBody>
        </p:sp>
        <p:sp>
          <p:nvSpPr>
            <p:cNvPr id="25" name="Text 25"/>
            <p:cNvSpPr txBox="1"/>
            <p:nvPr/>
          </p:nvSpPr>
          <p:spPr>
            <a:xfrm>
              <a:off x="5982895" y="5337437"/>
              <a:ext cx="428219" cy="148456"/>
            </a:xfrm>
            <a:prstGeom prst="rect">
              <a:avLst/>
            </a:prstGeom>
            <a:noFill/>
            <a:ln>
              <a:noFill/>
            </a:ln>
          </p:spPr>
          <p:txBody>
            <a:bodyPr wrap="none" lIns="0" tIns="0" rIns="0" bIns="0" anchor="t">
              <a:noAutofit/>
            </a:bodyPr>
            <a:lstStyle/>
            <a:p>
              <a:pPr algn="ctr">
                <a:lnSpc>
                  <a:spcPct val="100000"/>
                </a:lnSpc>
                <a:spcBef>
                  <a:spcPts val="0"/>
                </a:spcBef>
                <a:spcAft>
                  <a:spcPts val="0"/>
                </a:spcAft>
                <a:buNone/>
              </a:pPr>
              <a:r>
                <a:rPr lang="en-US" sz="935" dirty="0">
                  <a:solidFill>
                    <a:srgbClr val="64748B"/>
                  </a:solidFill>
                  <a:latin typeface="Arial"/>
                  <a:cs typeface="Arial"/>
                </a:rPr>
                <a:t>2027</a:t>
              </a:r>
              <a:endParaRPr lang="en-US" sz="935" dirty="0"/>
            </a:p>
          </p:txBody>
        </p:sp>
      </p:grpSp>
      <p:sp>
        <p:nvSpPr>
          <p:cNvPr id="26" name="Text 26"/>
          <p:cNvSpPr txBox="1"/>
          <p:nvPr/>
        </p:nvSpPr>
        <p:spPr>
          <a:xfrm>
            <a:off x="711200" y="6096000"/>
            <a:ext cx="10769600" cy="177800"/>
          </a:xfrm>
          <a:prstGeom prst="rect">
            <a:avLst/>
          </a:prstGeom>
          <a:noFill/>
          <a:ln>
            <a:noFill/>
          </a:ln>
        </p:spPr>
        <p:txBody>
          <a:bodyPr wrap="square" lIns="0" tIns="0" rIns="0" bIns="0" anchor="t">
            <a:noAutofit/>
          </a:bodyPr>
          <a:lstStyle/>
          <a:p>
            <a:pPr algn="l">
              <a:lnSpc>
                <a:spcPct val="108000"/>
              </a:lnSpc>
              <a:spcBef>
                <a:spcPts val="0"/>
              </a:spcBef>
              <a:spcAft>
                <a:spcPts val="0"/>
              </a:spcAft>
              <a:buNone/>
            </a:pPr>
            <a:r>
              <a:rPr lang="en-US" sz="850" dirty="0">
                <a:solidFill>
                  <a:srgbClr val="64748B"/>
                </a:solidFill>
                <a:latin typeface="Arial"/>
                <a:cs typeface="Arial"/>
              </a:rPr>
              <a:t>Source: [5]. Data as of Forecast published 2026-08-10. Estimates, not measured spending.</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p:nvPr/>
        </p:nvSpPr>
        <p:spPr>
          <a:xfrm>
            <a:off x="711200" y="508000"/>
            <a:ext cx="558800" cy="63500"/>
          </a:xfrm>
          <a:prstGeom prst="roundRect">
            <a:avLst>
              <a:gd name="adj" fmla="val 50000"/>
            </a:avLst>
          </a:prstGeom>
          <a:gradFill rotWithShape="1">
            <a:gsLst>
              <a:gs pos="0">
                <a:srgbClr val="4F46E5"/>
              </a:gs>
              <a:gs pos="50000">
                <a:srgbClr val="7C3AED"/>
              </a:gs>
              <a:gs pos="100000">
                <a:srgbClr val="06B6D4"/>
              </a:gs>
            </a:gsLst>
            <a:lin ang="0" scaled="0"/>
          </a:gradFill>
          <a:ln>
            <a:noFill/>
          </a:ln>
        </p:spPr>
      </p:sp>
      <p:sp>
        <p:nvSpPr>
          <p:cNvPr id="3" name="Text 3"/>
          <p:cNvSpPr txBox="1"/>
          <p:nvPr/>
        </p:nvSpPr>
        <p:spPr>
          <a:xfrm>
            <a:off x="711200" y="685800"/>
            <a:ext cx="10769600" cy="203200"/>
          </a:xfrm>
          <a:prstGeom prst="rect">
            <a:avLst/>
          </a:prstGeom>
          <a:noFill/>
          <a:ln>
            <a:noFill/>
          </a:ln>
        </p:spPr>
        <p:txBody>
          <a:bodyPr wrap="square" lIns="0" tIns="0" rIns="0" bIns="0" anchor="t">
            <a:noAutofit/>
          </a:bodyPr>
          <a:lstStyle/>
          <a:p>
            <a:pPr algn="l">
              <a:lnSpc>
                <a:spcPct val="108000"/>
              </a:lnSpc>
              <a:spcBef>
                <a:spcPts val="0"/>
              </a:spcBef>
              <a:spcAft>
                <a:spcPts val="0"/>
              </a:spcAft>
              <a:buNone/>
            </a:pPr>
            <a:r>
              <a:rPr lang="en-US" sz="950" b="1" spc="140" dirty="0">
                <a:solidFill>
                  <a:srgbClr val="4F46E5"/>
                </a:solidFill>
                <a:latin typeface="Arial"/>
                <a:cs typeface="Arial"/>
              </a:rPr>
              <a:t>SECTION 01 · WHY AI WORKLOADS ARE MOVING ONTO KUBERNETES</a:t>
            </a:r>
            <a:endParaRPr lang="en-US" sz="950" dirty="0"/>
          </a:p>
        </p:txBody>
      </p:sp>
      <p:sp>
        <p:nvSpPr>
          <p:cNvPr id="4" name="Text 4"/>
          <p:cNvSpPr txBox="1"/>
          <p:nvPr/>
        </p:nvSpPr>
        <p:spPr>
          <a:xfrm>
            <a:off x="711200" y="965200"/>
            <a:ext cx="10515600" cy="481584"/>
          </a:xfrm>
          <a:prstGeom prst="rect">
            <a:avLst/>
          </a:prstGeom>
          <a:noFill/>
          <a:ln>
            <a:noFill/>
          </a:ln>
        </p:spPr>
        <p:txBody>
          <a:bodyPr wrap="square" lIns="0" tIns="0" rIns="0" bIns="0" anchor="t">
            <a:noAutofit/>
          </a:bodyPr>
          <a:lstStyle/>
          <a:p>
            <a:pPr algn="l">
              <a:lnSpc>
                <a:spcPct val="96000"/>
              </a:lnSpc>
              <a:spcBef>
                <a:spcPts val="0"/>
              </a:spcBef>
              <a:spcAft>
                <a:spcPts val="0"/>
              </a:spcAft>
              <a:buNone/>
            </a:pPr>
            <a:r>
              <a:rPr lang="en-US" sz="2800" b="1" spc="-30" dirty="0">
                <a:solidFill>
                  <a:srgbClr val="0F172A"/>
                </a:solidFill>
                <a:latin typeface="Arial"/>
                <a:cs typeface="Arial"/>
              </a:rPr>
              <a:t>Why AI workloads are moving onto Kubernetes</a:t>
            </a:r>
            <a:endParaRPr lang="en-US" sz="2800" dirty="0"/>
          </a:p>
        </p:txBody>
      </p:sp>
      <p:sp>
        <p:nvSpPr>
          <p:cNvPr id="5" name="Shape 5"/>
          <p:cNvSpPr/>
          <p:nvPr/>
        </p:nvSpPr>
        <p:spPr>
          <a:xfrm>
            <a:off x="711200" y="6451600"/>
            <a:ext cx="10769600" cy="9525"/>
          </a:xfrm>
          <a:prstGeom prst="rect">
            <a:avLst/>
          </a:prstGeom>
          <a:solidFill>
            <a:srgbClr val="E2E8F0"/>
          </a:solidFill>
          <a:ln>
            <a:noFill/>
          </a:ln>
        </p:spPr>
      </p:sp>
      <p:sp>
        <p:nvSpPr>
          <p:cNvPr id="6" name="Text 6"/>
          <p:cNvSpPr txBox="1"/>
          <p:nvPr/>
        </p:nvSpPr>
        <p:spPr>
          <a:xfrm>
            <a:off x="711200" y="6527800"/>
            <a:ext cx="9753600" cy="177800"/>
          </a:xfrm>
          <a:prstGeom prst="rect">
            <a:avLst/>
          </a:prstGeom>
          <a:noFill/>
          <a:ln>
            <a:noFill/>
          </a:ln>
        </p:spPr>
        <p:txBody>
          <a:bodyPr wrap="square" lIns="0" tIns="0" rIns="0" bIns="0" anchor="t">
            <a:noAutofit/>
          </a:bodyPr>
          <a:lstStyle/>
          <a:p>
            <a:pPr algn="l">
              <a:lnSpc>
                <a:spcPct val="108000"/>
              </a:lnSpc>
              <a:spcBef>
                <a:spcPts val="0"/>
              </a:spcBef>
              <a:spcAft>
                <a:spcPts val="0"/>
              </a:spcAft>
              <a:buNone/>
            </a:pPr>
            <a:r>
              <a:rPr lang="en-US" sz="800" dirty="0">
                <a:solidFill>
                  <a:srgbClr val="94A3B8"/>
                </a:solidFill>
                <a:latin typeface="Arial"/>
                <a:cs typeface="Arial"/>
              </a:rPr>
              <a:t>Kubernetes as the Platform for AI Infrastructure</a:t>
            </a:r>
            <a:endParaRPr lang="en-US" sz="800" dirty="0"/>
          </a:p>
        </p:txBody>
      </p:sp>
      <p:sp>
        <p:nvSpPr>
          <p:cNvPr id="7" name="Text 7"/>
          <p:cNvSpPr txBox="1"/>
          <p:nvPr/>
        </p:nvSpPr>
        <p:spPr>
          <a:xfrm>
            <a:off x="10718800" y="6527800"/>
            <a:ext cx="762000" cy="177800"/>
          </a:xfrm>
          <a:prstGeom prst="rect">
            <a:avLst/>
          </a:prstGeom>
          <a:noFill/>
          <a:ln>
            <a:noFill/>
          </a:ln>
        </p:spPr>
        <p:txBody>
          <a:bodyPr wrap="square" lIns="0" tIns="0" rIns="0" bIns="0" anchor="t">
            <a:noAutofit/>
          </a:bodyPr>
          <a:lstStyle/>
          <a:p>
            <a:pPr algn="r">
              <a:lnSpc>
                <a:spcPct val="108000"/>
              </a:lnSpc>
              <a:spcBef>
                <a:spcPts val="0"/>
              </a:spcBef>
              <a:spcAft>
                <a:spcPts val="0"/>
              </a:spcAft>
              <a:buNone/>
            </a:pPr>
            <a:r>
              <a:rPr lang="en-US" sz="850" b="1" dirty="0">
                <a:solidFill>
                  <a:srgbClr val="0F172A"/>
                </a:solidFill>
                <a:latin typeface="Arial"/>
                <a:cs typeface="Arial"/>
              </a:rPr>
              <a:t>10</a:t>
            </a:r>
            <a:endParaRPr lang="en-US" sz="850" dirty="0"/>
          </a:p>
        </p:txBody>
      </p:sp>
      <p:sp>
        <p:nvSpPr>
          <p:cNvPr id="8" name="Text 8"/>
          <p:cNvSpPr txBox="1"/>
          <p:nvPr/>
        </p:nvSpPr>
        <p:spPr>
          <a:xfrm>
            <a:off x="711200" y="1700784"/>
            <a:ext cx="9261856" cy="4547616"/>
          </a:xfrm>
          <a:prstGeom prst="rect">
            <a:avLst/>
          </a:prstGeom>
          <a:noFill/>
          <a:ln>
            <a:noFill/>
          </a:ln>
        </p:spPr>
        <p:txBody>
          <a:bodyPr wrap="square" lIns="0" tIns="0" rIns="0" bIns="0" anchor="t">
            <a:noAutofit/>
          </a:bodyPr>
          <a:lstStyle/>
          <a:p>
            <a:pPr marL="248285" indent="-248285" algn="l">
              <a:lnSpc>
                <a:spcPct val="118000"/>
              </a:lnSpc>
              <a:spcBef>
                <a:spcPts val="0"/>
              </a:spcBef>
              <a:spcAft>
                <a:spcPts val="1275"/>
              </a:spcAft>
              <a:buClr>
                <a:srgbClr val="4F46E5"/>
              </a:buClr>
              <a:buFont typeface="Arial"/>
              <a:buChar char="•"/>
            </a:pPr>
            <a:r>
              <a:rPr lang="en-US" sz="1700" dirty="0">
                <a:solidFill>
                  <a:srgbClr val="334155"/>
                </a:solidFill>
                <a:latin typeface="Arial"/>
                <a:cs typeface="Arial"/>
              </a:rPr>
              <a:t>The two forecasts measure different things and neither is a precise market share, but they point the same way.</a:t>
            </a:r>
            <a:endParaRPr lang="en-US" sz="17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p:nvPr/>
        </p:nvSpPr>
        <p:spPr>
          <a:xfrm>
            <a:off x="711200" y="508000"/>
            <a:ext cx="558800" cy="63500"/>
          </a:xfrm>
          <a:prstGeom prst="roundRect">
            <a:avLst>
              <a:gd name="adj" fmla="val 50000"/>
            </a:avLst>
          </a:prstGeom>
          <a:gradFill rotWithShape="1">
            <a:gsLst>
              <a:gs pos="0">
                <a:srgbClr val="4F46E5"/>
              </a:gs>
              <a:gs pos="50000">
                <a:srgbClr val="7C3AED"/>
              </a:gs>
              <a:gs pos="100000">
                <a:srgbClr val="06B6D4"/>
              </a:gs>
            </a:gsLst>
            <a:lin ang="0" scaled="0"/>
          </a:gradFill>
          <a:ln>
            <a:noFill/>
          </a:ln>
        </p:spPr>
      </p:sp>
      <p:sp>
        <p:nvSpPr>
          <p:cNvPr id="3" name="Text 3"/>
          <p:cNvSpPr txBox="1"/>
          <p:nvPr/>
        </p:nvSpPr>
        <p:spPr>
          <a:xfrm>
            <a:off x="711200" y="685800"/>
            <a:ext cx="10769600" cy="203200"/>
          </a:xfrm>
          <a:prstGeom prst="rect">
            <a:avLst/>
          </a:prstGeom>
          <a:noFill/>
          <a:ln>
            <a:noFill/>
          </a:ln>
        </p:spPr>
        <p:txBody>
          <a:bodyPr wrap="square" lIns="0" tIns="0" rIns="0" bIns="0" anchor="t">
            <a:noAutofit/>
          </a:bodyPr>
          <a:lstStyle/>
          <a:p>
            <a:pPr algn="l">
              <a:lnSpc>
                <a:spcPct val="108000"/>
              </a:lnSpc>
              <a:spcBef>
                <a:spcPts val="0"/>
              </a:spcBef>
              <a:spcAft>
                <a:spcPts val="0"/>
              </a:spcAft>
              <a:buNone/>
            </a:pPr>
            <a:r>
              <a:rPr lang="en-US" sz="950" b="1" spc="140" dirty="0">
                <a:solidFill>
                  <a:srgbClr val="4F46E5"/>
                </a:solidFill>
                <a:latin typeface="Arial"/>
                <a:cs typeface="Arial"/>
              </a:rPr>
              <a:t>SECTION 02 · CORE BUILDING BLOCKS: ACCELERATOR MANAGEMENT WITH DRA</a:t>
            </a:r>
            <a:endParaRPr lang="en-US" sz="950" dirty="0"/>
          </a:p>
        </p:txBody>
      </p:sp>
      <p:sp>
        <p:nvSpPr>
          <p:cNvPr id="4" name="Text 4"/>
          <p:cNvSpPr txBox="1"/>
          <p:nvPr/>
        </p:nvSpPr>
        <p:spPr>
          <a:xfrm>
            <a:off x="711200" y="965200"/>
            <a:ext cx="10515600" cy="481584"/>
          </a:xfrm>
          <a:prstGeom prst="rect">
            <a:avLst/>
          </a:prstGeom>
          <a:noFill/>
          <a:ln>
            <a:noFill/>
          </a:ln>
        </p:spPr>
        <p:txBody>
          <a:bodyPr wrap="square" lIns="0" tIns="0" rIns="0" bIns="0" anchor="t">
            <a:noAutofit/>
          </a:bodyPr>
          <a:lstStyle/>
          <a:p>
            <a:pPr algn="l">
              <a:lnSpc>
                <a:spcPct val="96000"/>
              </a:lnSpc>
              <a:spcBef>
                <a:spcPts val="0"/>
              </a:spcBef>
              <a:spcAft>
                <a:spcPts val="0"/>
              </a:spcAft>
              <a:buNone/>
            </a:pPr>
            <a:r>
              <a:rPr lang="en-US" sz="2800" b="1" spc="-30" dirty="0">
                <a:solidFill>
                  <a:srgbClr val="0F172A"/>
                </a:solidFill>
                <a:latin typeface="Arial"/>
                <a:cs typeface="Arial"/>
              </a:rPr>
              <a:t>Core building blocks: accelerator management with DRA</a:t>
            </a:r>
            <a:endParaRPr lang="en-US" sz="2800" dirty="0"/>
          </a:p>
        </p:txBody>
      </p:sp>
      <p:sp>
        <p:nvSpPr>
          <p:cNvPr id="5" name="Shape 5"/>
          <p:cNvSpPr/>
          <p:nvPr/>
        </p:nvSpPr>
        <p:spPr>
          <a:xfrm>
            <a:off x="711200" y="6451600"/>
            <a:ext cx="10769600" cy="9525"/>
          </a:xfrm>
          <a:prstGeom prst="rect">
            <a:avLst/>
          </a:prstGeom>
          <a:solidFill>
            <a:srgbClr val="E2E8F0"/>
          </a:solidFill>
          <a:ln>
            <a:noFill/>
          </a:ln>
        </p:spPr>
      </p:sp>
      <p:sp>
        <p:nvSpPr>
          <p:cNvPr id="6" name="Text 6"/>
          <p:cNvSpPr txBox="1"/>
          <p:nvPr/>
        </p:nvSpPr>
        <p:spPr>
          <a:xfrm>
            <a:off x="711200" y="6527800"/>
            <a:ext cx="9753600" cy="177800"/>
          </a:xfrm>
          <a:prstGeom prst="rect">
            <a:avLst/>
          </a:prstGeom>
          <a:noFill/>
          <a:ln>
            <a:noFill/>
          </a:ln>
        </p:spPr>
        <p:txBody>
          <a:bodyPr wrap="square" lIns="0" tIns="0" rIns="0" bIns="0" anchor="t">
            <a:noAutofit/>
          </a:bodyPr>
          <a:lstStyle/>
          <a:p>
            <a:pPr algn="l">
              <a:lnSpc>
                <a:spcPct val="108000"/>
              </a:lnSpc>
              <a:spcBef>
                <a:spcPts val="0"/>
              </a:spcBef>
              <a:spcAft>
                <a:spcPts val="0"/>
              </a:spcAft>
              <a:buNone/>
            </a:pPr>
            <a:r>
              <a:rPr lang="en-US" sz="800" dirty="0">
                <a:solidFill>
                  <a:srgbClr val="94A3B8"/>
                </a:solidFill>
                <a:latin typeface="Arial"/>
                <a:cs typeface="Arial"/>
              </a:rPr>
              <a:t>Kubernetes as the Platform for AI Infrastructure</a:t>
            </a:r>
            <a:endParaRPr lang="en-US" sz="800" dirty="0"/>
          </a:p>
        </p:txBody>
      </p:sp>
      <p:sp>
        <p:nvSpPr>
          <p:cNvPr id="7" name="Text 7"/>
          <p:cNvSpPr txBox="1"/>
          <p:nvPr/>
        </p:nvSpPr>
        <p:spPr>
          <a:xfrm>
            <a:off x="10718800" y="6527800"/>
            <a:ext cx="762000" cy="177800"/>
          </a:xfrm>
          <a:prstGeom prst="rect">
            <a:avLst/>
          </a:prstGeom>
          <a:noFill/>
          <a:ln>
            <a:noFill/>
          </a:ln>
        </p:spPr>
        <p:txBody>
          <a:bodyPr wrap="square" lIns="0" tIns="0" rIns="0" bIns="0" anchor="t">
            <a:noAutofit/>
          </a:bodyPr>
          <a:lstStyle/>
          <a:p>
            <a:pPr algn="r">
              <a:lnSpc>
                <a:spcPct val="108000"/>
              </a:lnSpc>
              <a:spcBef>
                <a:spcPts val="0"/>
              </a:spcBef>
              <a:spcAft>
                <a:spcPts val="0"/>
              </a:spcAft>
              <a:buNone/>
            </a:pPr>
            <a:r>
              <a:rPr lang="en-US" sz="850" b="1" dirty="0">
                <a:solidFill>
                  <a:srgbClr val="0F172A"/>
                </a:solidFill>
                <a:latin typeface="Arial"/>
                <a:cs typeface="Arial"/>
              </a:rPr>
              <a:t>11</a:t>
            </a:r>
            <a:endParaRPr lang="en-US" sz="850" dirty="0"/>
          </a:p>
        </p:txBody>
      </p:sp>
      <p:sp>
        <p:nvSpPr>
          <p:cNvPr id="8" name="Text 8"/>
          <p:cNvSpPr txBox="1"/>
          <p:nvPr/>
        </p:nvSpPr>
        <p:spPr>
          <a:xfrm>
            <a:off x="711200" y="1700784"/>
            <a:ext cx="9261856" cy="4547616"/>
          </a:xfrm>
          <a:prstGeom prst="rect">
            <a:avLst/>
          </a:prstGeom>
          <a:noFill/>
          <a:ln>
            <a:noFill/>
          </a:ln>
        </p:spPr>
        <p:txBody>
          <a:bodyPr wrap="square" lIns="0" tIns="0" rIns="0" bIns="0" anchor="t">
            <a:noAutofit/>
          </a:bodyPr>
          <a:lstStyle/>
          <a:p>
            <a:pPr marL="248285" indent="-248285" algn="l">
              <a:lnSpc>
                <a:spcPct val="118000"/>
              </a:lnSpc>
              <a:spcBef>
                <a:spcPts val="0"/>
              </a:spcBef>
              <a:spcAft>
                <a:spcPts val="1275"/>
              </a:spcAft>
              <a:buClr>
                <a:srgbClr val="4F46E5"/>
              </a:buClr>
              <a:buFont typeface="Arial"/>
              <a:buChar char="•"/>
            </a:pPr>
            <a:r>
              <a:rPr lang="en-US" sz="1700" dirty="0">
                <a:solidFill>
                  <a:srgbClr val="334155"/>
                </a:solidFill>
                <a:latin typeface="Arial"/>
                <a:cs typeface="Arial"/>
              </a:rPr>
              <a:t>Dynamic Resource Allocation replaces the fixed-count device-plugin model with claimable, parameterised devices.</a:t>
            </a:r>
            <a:endParaRPr lang="en-US" sz="17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p:nvPr/>
        </p:nvSpPr>
        <p:spPr>
          <a:xfrm>
            <a:off x="711200" y="508000"/>
            <a:ext cx="558800" cy="63500"/>
          </a:xfrm>
          <a:prstGeom prst="roundRect">
            <a:avLst>
              <a:gd name="adj" fmla="val 50000"/>
            </a:avLst>
          </a:prstGeom>
          <a:gradFill rotWithShape="1">
            <a:gsLst>
              <a:gs pos="0">
                <a:srgbClr val="4F46E5"/>
              </a:gs>
              <a:gs pos="50000">
                <a:srgbClr val="7C3AED"/>
              </a:gs>
              <a:gs pos="100000">
                <a:srgbClr val="06B6D4"/>
              </a:gs>
            </a:gsLst>
            <a:lin ang="0" scaled="0"/>
          </a:gradFill>
          <a:ln>
            <a:noFill/>
          </a:ln>
        </p:spPr>
      </p:sp>
      <p:sp>
        <p:nvSpPr>
          <p:cNvPr id="3" name="Text 3"/>
          <p:cNvSpPr txBox="1"/>
          <p:nvPr/>
        </p:nvSpPr>
        <p:spPr>
          <a:xfrm>
            <a:off x="711200" y="685800"/>
            <a:ext cx="10769600" cy="203200"/>
          </a:xfrm>
          <a:prstGeom prst="rect">
            <a:avLst/>
          </a:prstGeom>
          <a:noFill/>
          <a:ln>
            <a:noFill/>
          </a:ln>
        </p:spPr>
        <p:txBody>
          <a:bodyPr wrap="square" lIns="0" tIns="0" rIns="0" bIns="0" anchor="t">
            <a:noAutofit/>
          </a:bodyPr>
          <a:lstStyle/>
          <a:p>
            <a:pPr algn="l">
              <a:lnSpc>
                <a:spcPct val="108000"/>
              </a:lnSpc>
              <a:spcBef>
                <a:spcPts val="0"/>
              </a:spcBef>
              <a:spcAft>
                <a:spcPts val="0"/>
              </a:spcAft>
              <a:buNone/>
            </a:pPr>
            <a:r>
              <a:rPr lang="en-US" sz="950" b="1" spc="140" dirty="0">
                <a:solidFill>
                  <a:srgbClr val="4F46E5"/>
                </a:solidFill>
                <a:latin typeface="Arial"/>
                <a:cs typeface="Arial"/>
              </a:rPr>
              <a:t>SECTION 02 · CORE BUILDING BLOCKS: ACCELERATOR MANAGEMENT WITH DRA · TABLE 2</a:t>
            </a:r>
            <a:endParaRPr lang="en-US" sz="950" dirty="0"/>
          </a:p>
        </p:txBody>
      </p:sp>
      <p:sp>
        <p:nvSpPr>
          <p:cNvPr id="4" name="Text 4"/>
          <p:cNvSpPr txBox="1"/>
          <p:nvPr/>
        </p:nvSpPr>
        <p:spPr>
          <a:xfrm>
            <a:off x="711200" y="965200"/>
            <a:ext cx="10515600" cy="481584"/>
          </a:xfrm>
          <a:prstGeom prst="rect">
            <a:avLst/>
          </a:prstGeom>
          <a:noFill/>
          <a:ln>
            <a:noFill/>
          </a:ln>
        </p:spPr>
        <p:txBody>
          <a:bodyPr wrap="square" lIns="0" tIns="0" rIns="0" bIns="0" anchor="t">
            <a:noAutofit/>
          </a:bodyPr>
          <a:lstStyle/>
          <a:p>
            <a:pPr algn="l">
              <a:lnSpc>
                <a:spcPct val="96000"/>
              </a:lnSpc>
              <a:spcBef>
                <a:spcPts val="0"/>
              </a:spcBef>
              <a:spcAft>
                <a:spcPts val="0"/>
              </a:spcAft>
              <a:buNone/>
            </a:pPr>
            <a:r>
              <a:rPr lang="en-US" sz="2800" b="1" spc="-30" dirty="0">
                <a:solidFill>
                  <a:srgbClr val="0F172A"/>
                </a:solidFill>
                <a:latin typeface="Arial"/>
                <a:cs typeface="Arial"/>
              </a:rPr>
              <a:t>DRA and related feature maturity by Kubernetes release</a:t>
            </a:r>
            <a:endParaRPr lang="en-US" sz="2800" dirty="0"/>
          </a:p>
        </p:txBody>
      </p:sp>
      <p:sp>
        <p:nvSpPr>
          <p:cNvPr id="5" name="Shape 5"/>
          <p:cNvSpPr/>
          <p:nvPr/>
        </p:nvSpPr>
        <p:spPr>
          <a:xfrm>
            <a:off x="711200" y="6451600"/>
            <a:ext cx="10769600" cy="9525"/>
          </a:xfrm>
          <a:prstGeom prst="rect">
            <a:avLst/>
          </a:prstGeom>
          <a:solidFill>
            <a:srgbClr val="E2E8F0"/>
          </a:solidFill>
          <a:ln>
            <a:noFill/>
          </a:ln>
        </p:spPr>
      </p:sp>
      <p:sp>
        <p:nvSpPr>
          <p:cNvPr id="6" name="Text 6"/>
          <p:cNvSpPr txBox="1"/>
          <p:nvPr/>
        </p:nvSpPr>
        <p:spPr>
          <a:xfrm>
            <a:off x="711200" y="6527800"/>
            <a:ext cx="9753600" cy="177800"/>
          </a:xfrm>
          <a:prstGeom prst="rect">
            <a:avLst/>
          </a:prstGeom>
          <a:noFill/>
          <a:ln>
            <a:noFill/>
          </a:ln>
        </p:spPr>
        <p:txBody>
          <a:bodyPr wrap="square" lIns="0" tIns="0" rIns="0" bIns="0" anchor="t">
            <a:noAutofit/>
          </a:bodyPr>
          <a:lstStyle/>
          <a:p>
            <a:pPr algn="l">
              <a:lnSpc>
                <a:spcPct val="108000"/>
              </a:lnSpc>
              <a:spcBef>
                <a:spcPts val="0"/>
              </a:spcBef>
              <a:spcAft>
                <a:spcPts val="0"/>
              </a:spcAft>
              <a:buNone/>
            </a:pPr>
            <a:r>
              <a:rPr lang="en-US" sz="800" dirty="0">
                <a:solidFill>
                  <a:srgbClr val="94A3B8"/>
                </a:solidFill>
                <a:latin typeface="Arial"/>
                <a:cs typeface="Arial"/>
              </a:rPr>
              <a:t>Kubernetes as the Platform for AI Infrastructure</a:t>
            </a:r>
            <a:endParaRPr lang="en-US" sz="800" dirty="0"/>
          </a:p>
        </p:txBody>
      </p:sp>
      <p:sp>
        <p:nvSpPr>
          <p:cNvPr id="7" name="Text 7"/>
          <p:cNvSpPr txBox="1"/>
          <p:nvPr/>
        </p:nvSpPr>
        <p:spPr>
          <a:xfrm>
            <a:off x="10718800" y="6527800"/>
            <a:ext cx="762000" cy="177800"/>
          </a:xfrm>
          <a:prstGeom prst="rect">
            <a:avLst/>
          </a:prstGeom>
          <a:noFill/>
          <a:ln>
            <a:noFill/>
          </a:ln>
        </p:spPr>
        <p:txBody>
          <a:bodyPr wrap="square" lIns="0" tIns="0" rIns="0" bIns="0" anchor="t">
            <a:noAutofit/>
          </a:bodyPr>
          <a:lstStyle/>
          <a:p>
            <a:pPr algn="r">
              <a:lnSpc>
                <a:spcPct val="108000"/>
              </a:lnSpc>
              <a:spcBef>
                <a:spcPts val="0"/>
              </a:spcBef>
              <a:spcAft>
                <a:spcPts val="0"/>
              </a:spcAft>
              <a:buNone/>
            </a:pPr>
            <a:r>
              <a:rPr lang="en-US" sz="850" b="1" dirty="0">
                <a:solidFill>
                  <a:srgbClr val="0F172A"/>
                </a:solidFill>
                <a:latin typeface="Arial"/>
                <a:cs typeface="Arial"/>
              </a:rPr>
              <a:t>12</a:t>
            </a:r>
            <a:endParaRPr lang="en-US" sz="850" dirty="0"/>
          </a:p>
        </p:txBody>
      </p:sp>
      <p:graphicFrame>
        <p:nvGraphicFramePr>
          <p:cNvPr id="8" name="Table 8"/>
          <p:cNvGraphicFramePr>
            <a:graphicFrameLocks noGrp="1"/>
          </p:cNvGraphicFramePr>
          <p:nvPr/>
        </p:nvGraphicFramePr>
        <p:xfrm>
          <a:off x="711200" y="1700784"/>
          <a:ext cx="10769600" cy="2682240"/>
        </p:xfrm>
        <a:graphic>
          <a:graphicData uri="http://schemas.openxmlformats.org/drawingml/2006/table">
            <a:tbl>
              <a:tblPr firstRow="1"/>
              <a:tblGrid>
                <a:gridCol w="3616070"/>
                <a:gridCol w="2279696"/>
                <a:gridCol w="1257764"/>
                <a:gridCol w="3616070"/>
              </a:tblGrid>
              <a:tr h="307340">
                <a:tc>
                  <a:txBody>
                    <a:bodyPr/>
                    <a:lstStyle/>
                    <a:p>
                      <a:pPr algn="l">
                        <a:lnSpc>
                          <a:spcPct val="108000"/>
                        </a:lnSpc>
                        <a:spcBef>
                          <a:spcPts val="0"/>
                        </a:spcBef>
                        <a:spcAft>
                          <a:spcPts val="0"/>
                        </a:spcAft>
                        <a:buNone/>
                      </a:pPr>
                      <a:r>
                        <a:rPr lang="en-US" sz="858" b="1" spc="60" dirty="0">
                          <a:solidFill>
                            <a:srgbClr val="64748B"/>
                          </a:solidFill>
                          <a:latin typeface="Arial"/>
                          <a:cs typeface="Arial"/>
                        </a:rPr>
                        <a:t>FEATURE</a:t>
                      </a:r>
                      <a:endParaRPr lang="en-US" sz="858" dirty="0"/>
                    </a:p>
                  </a:txBody>
                  <a:tcPr marL="101600" marR="101600" marT="69850" marB="69850" anchor="ctr">
                    <a:lnL w="0">
                      <a:noFill/>
                    </a:lnL>
                    <a:lnR w="0">
                      <a:noFill/>
                    </a:lnR>
                    <a:lnT w="0">
                      <a:noFill/>
                    </a:lnT>
                    <a:lnB w="9525">
                      <a:solidFill>
                        <a:srgbClr val="E2E8F0"/>
                      </a:solidFill>
                    </a:lnB>
                    <a:solidFill>
                      <a:srgbClr val="F8FAFC"/>
                    </a:solidFill>
                  </a:tcPr>
                </a:tc>
                <a:tc>
                  <a:txBody>
                    <a:bodyPr/>
                    <a:lstStyle/>
                    <a:p>
                      <a:pPr algn="l">
                        <a:lnSpc>
                          <a:spcPct val="108000"/>
                        </a:lnSpc>
                        <a:spcBef>
                          <a:spcPts val="0"/>
                        </a:spcBef>
                        <a:spcAft>
                          <a:spcPts val="0"/>
                        </a:spcAft>
                        <a:buNone/>
                      </a:pPr>
                      <a:r>
                        <a:rPr lang="en-US" sz="858" b="1" spc="60" dirty="0">
                          <a:solidFill>
                            <a:srgbClr val="64748B"/>
                          </a:solidFill>
                          <a:latin typeface="Arial"/>
                          <a:cs typeface="Arial"/>
                        </a:rPr>
                        <a:t>STATUS</a:t>
                      </a:r>
                      <a:endParaRPr lang="en-US" sz="858" dirty="0"/>
                    </a:p>
                  </a:txBody>
                  <a:tcPr marL="101600" marR="101600" marT="69850" marB="69850" anchor="ctr">
                    <a:lnL w="0">
                      <a:noFill/>
                    </a:lnL>
                    <a:lnR w="0">
                      <a:noFill/>
                    </a:lnR>
                    <a:lnT w="0">
                      <a:noFill/>
                    </a:lnT>
                    <a:lnB w="9525">
                      <a:solidFill>
                        <a:srgbClr val="E2E8F0"/>
                      </a:solidFill>
                    </a:lnB>
                    <a:solidFill>
                      <a:srgbClr val="F8FAFC"/>
                    </a:solidFill>
                  </a:tcPr>
                </a:tc>
                <a:tc>
                  <a:txBody>
                    <a:bodyPr/>
                    <a:lstStyle/>
                    <a:p>
                      <a:pPr algn="l">
                        <a:lnSpc>
                          <a:spcPct val="108000"/>
                        </a:lnSpc>
                        <a:spcBef>
                          <a:spcPts val="0"/>
                        </a:spcBef>
                        <a:spcAft>
                          <a:spcPts val="0"/>
                        </a:spcAft>
                        <a:buNone/>
                      </a:pPr>
                      <a:r>
                        <a:rPr lang="en-US" sz="858" b="1" spc="60" dirty="0">
                          <a:solidFill>
                            <a:srgbClr val="64748B"/>
                          </a:solidFill>
                          <a:latin typeface="Arial"/>
                          <a:cs typeface="Arial"/>
                        </a:rPr>
                        <a:t>RELEASE</a:t>
                      </a:r>
                      <a:endParaRPr lang="en-US" sz="858" dirty="0"/>
                    </a:p>
                  </a:txBody>
                  <a:tcPr marL="101600" marR="101600" marT="69850" marB="69850" anchor="ctr">
                    <a:lnL w="0">
                      <a:noFill/>
                    </a:lnL>
                    <a:lnR w="0">
                      <a:noFill/>
                    </a:lnR>
                    <a:lnT w="0">
                      <a:noFill/>
                    </a:lnT>
                    <a:lnB w="9525">
                      <a:solidFill>
                        <a:srgbClr val="E2E8F0"/>
                      </a:solidFill>
                    </a:lnB>
                    <a:solidFill>
                      <a:srgbClr val="F8FAFC"/>
                    </a:solidFill>
                  </a:tcPr>
                </a:tc>
                <a:tc>
                  <a:txBody>
                    <a:bodyPr/>
                    <a:lstStyle/>
                    <a:p>
                      <a:pPr algn="l">
                        <a:lnSpc>
                          <a:spcPct val="108000"/>
                        </a:lnSpc>
                        <a:spcBef>
                          <a:spcPts val="0"/>
                        </a:spcBef>
                        <a:spcAft>
                          <a:spcPts val="0"/>
                        </a:spcAft>
                        <a:buNone/>
                      </a:pPr>
                      <a:r>
                        <a:rPr lang="en-US" sz="858" b="1" spc="60" dirty="0">
                          <a:solidFill>
                            <a:srgbClr val="64748B"/>
                          </a:solidFill>
                          <a:latin typeface="Arial"/>
                          <a:cs typeface="Arial"/>
                        </a:rPr>
                        <a:t>WHAT IT ENABLES</a:t>
                      </a:r>
                      <a:endParaRPr lang="en-US" sz="858" dirty="0"/>
                    </a:p>
                  </a:txBody>
                  <a:tcPr marL="101600" marR="101600" marT="69850" marB="69850" anchor="ctr">
                    <a:lnL w="0">
                      <a:noFill/>
                    </a:lnL>
                    <a:lnR w="0">
                      <a:noFill/>
                    </a:lnR>
                    <a:lnT w="0">
                      <a:noFill/>
                    </a:lnT>
                    <a:lnB w="9525">
                      <a:solidFill>
                        <a:srgbClr val="E2E8F0"/>
                      </a:solidFill>
                    </a:lnB>
                    <a:solidFill>
                      <a:srgbClr val="F8FAFC"/>
                    </a:solidFill>
                  </a:tcPr>
                </a:tc>
              </a:tr>
              <a:tr h="307340">
                <a:tc>
                  <a:txBody>
                    <a:bodyPr/>
                    <a:lstStyle/>
                    <a:p>
                      <a:pPr algn="l">
                        <a:lnSpc>
                          <a:spcPct val="108000"/>
                        </a:lnSpc>
                        <a:spcBef>
                          <a:spcPts val="0"/>
                        </a:spcBef>
                        <a:spcAft>
                          <a:spcPts val="0"/>
                        </a:spcAft>
                        <a:buNone/>
                      </a:pPr>
                      <a:r>
                        <a:rPr lang="en-US" sz="1100" b="1" dirty="0">
                          <a:solidFill>
                            <a:srgbClr val="0F172A"/>
                          </a:solidFill>
                          <a:latin typeface="Arial"/>
                          <a:cs typeface="Arial"/>
                        </a:rPr>
                        <a:t>Core DRA APIs (resource.k8s.io)</a:t>
                      </a:r>
                      <a:endParaRPr lang="en-US" sz="1100" dirty="0"/>
                    </a:p>
                  </a:txBody>
                  <a:tcPr marL="101600" marR="101600" marT="69850" marB="69850" anchor="ctr">
                    <a:lnL w="0">
                      <a:noFill/>
                    </a:lnL>
                    <a:lnR w="0">
                      <a:noFill/>
                    </a:lnR>
                    <a:lnT w="0">
                      <a:noFill/>
                    </a:lnT>
                    <a:lnB w="9525">
                      <a:solidFill>
                        <a:srgbClr val="E2E8F0"/>
                      </a:solidFill>
                    </a:lnB>
                    <a:solidFill>
                      <a:srgbClr val="FFFFFF"/>
                    </a:solidFill>
                  </a:tcPr>
                </a:tc>
                <a:tc>
                  <a:txBody>
                    <a:bodyPr/>
                    <a:lstStyle/>
                    <a:p>
                      <a:pPr algn="l">
                        <a:lnSpc>
                          <a:spcPct val="108000"/>
                        </a:lnSpc>
                        <a:spcBef>
                          <a:spcPts val="0"/>
                        </a:spcBef>
                        <a:spcAft>
                          <a:spcPts val="0"/>
                        </a:spcAft>
                        <a:buNone/>
                      </a:pPr>
                      <a:r>
                        <a:rPr lang="en-US" sz="1100" dirty="0">
                          <a:solidFill>
                            <a:srgbClr val="334155"/>
                          </a:solidFill>
                          <a:latin typeface="Arial"/>
                          <a:cs typeface="Arial"/>
                        </a:rPr>
                        <a:t>GA</a:t>
                      </a:r>
                      <a:endParaRPr lang="en-US" sz="1100" dirty="0"/>
                    </a:p>
                  </a:txBody>
                  <a:tcPr marL="101600" marR="101600" marT="69850" marB="69850" anchor="ctr">
                    <a:lnL w="0">
                      <a:noFill/>
                    </a:lnL>
                    <a:lnR w="0">
                      <a:noFill/>
                    </a:lnR>
                    <a:lnT w="0">
                      <a:noFill/>
                    </a:lnT>
                    <a:lnB w="9525">
                      <a:solidFill>
                        <a:srgbClr val="E2E8F0"/>
                      </a:solidFill>
                    </a:lnB>
                    <a:solidFill>
                      <a:srgbClr val="FFFFFF"/>
                    </a:solidFill>
                  </a:tcPr>
                </a:tc>
                <a:tc>
                  <a:txBody>
                    <a:bodyPr/>
                    <a:lstStyle/>
                    <a:p>
                      <a:pPr algn="l">
                        <a:lnSpc>
                          <a:spcPct val="108000"/>
                        </a:lnSpc>
                        <a:spcBef>
                          <a:spcPts val="0"/>
                        </a:spcBef>
                        <a:spcAft>
                          <a:spcPts val="0"/>
                        </a:spcAft>
                        <a:buNone/>
                      </a:pPr>
                      <a:r>
                        <a:rPr lang="en-US" sz="1100" dirty="0">
                          <a:solidFill>
                            <a:srgbClr val="334155"/>
                          </a:solidFill>
                          <a:latin typeface="Arial"/>
                          <a:cs typeface="Arial"/>
                        </a:rPr>
                        <a:t>v1.34 (Sep 2025)</a:t>
                      </a:r>
                      <a:endParaRPr lang="en-US" sz="1100" dirty="0"/>
                    </a:p>
                  </a:txBody>
                  <a:tcPr marL="101600" marR="101600" marT="69850" marB="69850" anchor="ctr">
                    <a:lnL w="0">
                      <a:noFill/>
                    </a:lnL>
                    <a:lnR w="0">
                      <a:noFill/>
                    </a:lnR>
                    <a:lnT w="0">
                      <a:noFill/>
                    </a:lnT>
                    <a:lnB w="9525">
                      <a:solidFill>
                        <a:srgbClr val="E2E8F0"/>
                      </a:solidFill>
                    </a:lnB>
                    <a:solidFill>
                      <a:srgbClr val="FFFFFF"/>
                    </a:solidFill>
                  </a:tcPr>
                </a:tc>
                <a:tc>
                  <a:txBody>
                    <a:bodyPr/>
                    <a:lstStyle/>
                    <a:p>
                      <a:pPr algn="l">
                        <a:lnSpc>
                          <a:spcPct val="108000"/>
                        </a:lnSpc>
                        <a:spcBef>
                          <a:spcPts val="0"/>
                        </a:spcBef>
                        <a:spcAft>
                          <a:spcPts val="0"/>
                        </a:spcAft>
                        <a:buNone/>
                      </a:pPr>
                      <a:r>
                        <a:rPr lang="en-US" sz="1100" dirty="0">
                          <a:solidFill>
                            <a:srgbClr val="334155"/>
                          </a:solidFill>
                          <a:latin typeface="Arial"/>
                          <a:cs typeface="Arial"/>
                        </a:rPr>
                        <a:t>Structured device claims beyond device plugins</a:t>
                      </a:r>
                      <a:endParaRPr lang="en-US" sz="1100" dirty="0"/>
                    </a:p>
                  </a:txBody>
                  <a:tcPr marL="101600" marR="101600" marT="69850" marB="69850" anchor="ctr">
                    <a:lnL w="0">
                      <a:noFill/>
                    </a:lnL>
                    <a:lnR w="0">
                      <a:noFill/>
                    </a:lnR>
                    <a:lnT w="0">
                      <a:noFill/>
                    </a:lnT>
                    <a:lnB w="9525">
                      <a:solidFill>
                        <a:srgbClr val="E2E8F0"/>
                      </a:solidFill>
                    </a:lnB>
                    <a:solidFill>
                      <a:srgbClr val="FFFFFF"/>
                    </a:solidFill>
                  </a:tcPr>
                </a:tc>
              </a:tr>
              <a:tr h="307340">
                <a:tc>
                  <a:txBody>
                    <a:bodyPr/>
                    <a:lstStyle/>
                    <a:p>
                      <a:pPr algn="l">
                        <a:lnSpc>
                          <a:spcPct val="108000"/>
                        </a:lnSpc>
                        <a:spcBef>
                          <a:spcPts val="0"/>
                        </a:spcBef>
                        <a:spcAft>
                          <a:spcPts val="0"/>
                        </a:spcAft>
                        <a:buNone/>
                      </a:pPr>
                      <a:r>
                        <a:rPr lang="en-US" sz="1100" b="1" dirty="0">
                          <a:solidFill>
                            <a:srgbClr val="0F172A"/>
                          </a:solidFill>
                          <a:latin typeface="Arial"/>
                          <a:cs typeface="Arial"/>
                        </a:rPr>
                        <a:t>AdminAccess for ResourceClaims (KEP-5018)</a:t>
                      </a:r>
                      <a:endParaRPr lang="en-US" sz="1100" dirty="0"/>
                    </a:p>
                  </a:txBody>
                  <a:tcPr marL="101600" marR="101600" marT="69850" marB="69850" anchor="ctr">
                    <a:lnL w="0">
                      <a:noFill/>
                    </a:lnL>
                    <a:lnR w="0">
                      <a:noFill/>
                    </a:lnR>
                    <a:lnT w="0">
                      <a:noFill/>
                    </a:lnT>
                    <a:lnB w="9525">
                      <a:solidFill>
                        <a:srgbClr val="E2E8F0"/>
                      </a:solidFill>
                    </a:lnB>
                    <a:solidFill>
                      <a:srgbClr val="FFFFFF"/>
                    </a:solidFill>
                  </a:tcPr>
                </a:tc>
                <a:tc>
                  <a:txBody>
                    <a:bodyPr/>
                    <a:lstStyle/>
                    <a:p>
                      <a:pPr algn="l">
                        <a:lnSpc>
                          <a:spcPct val="108000"/>
                        </a:lnSpc>
                        <a:spcBef>
                          <a:spcPts val="0"/>
                        </a:spcBef>
                        <a:spcAft>
                          <a:spcPts val="0"/>
                        </a:spcAft>
                        <a:buNone/>
                      </a:pPr>
                      <a:r>
                        <a:rPr lang="en-US" sz="1100" dirty="0">
                          <a:solidFill>
                            <a:srgbClr val="334155"/>
                          </a:solidFill>
                          <a:latin typeface="Arial"/>
                          <a:cs typeface="Arial"/>
                        </a:rPr>
                        <a:t>GA</a:t>
                      </a:r>
                      <a:endParaRPr lang="en-US" sz="1100" dirty="0"/>
                    </a:p>
                  </a:txBody>
                  <a:tcPr marL="101600" marR="101600" marT="69850" marB="69850" anchor="ctr">
                    <a:lnL w="0">
                      <a:noFill/>
                    </a:lnL>
                    <a:lnR w="0">
                      <a:noFill/>
                    </a:lnR>
                    <a:lnT w="0">
                      <a:noFill/>
                    </a:lnT>
                    <a:lnB w="9525">
                      <a:solidFill>
                        <a:srgbClr val="E2E8F0"/>
                      </a:solidFill>
                    </a:lnB>
                    <a:solidFill>
                      <a:srgbClr val="FFFFFF"/>
                    </a:solidFill>
                  </a:tcPr>
                </a:tc>
                <a:tc>
                  <a:txBody>
                    <a:bodyPr/>
                    <a:lstStyle/>
                    <a:p>
                      <a:pPr algn="l">
                        <a:lnSpc>
                          <a:spcPct val="108000"/>
                        </a:lnSpc>
                        <a:spcBef>
                          <a:spcPts val="0"/>
                        </a:spcBef>
                        <a:spcAft>
                          <a:spcPts val="0"/>
                        </a:spcAft>
                        <a:buNone/>
                      </a:pPr>
                      <a:r>
                        <a:rPr lang="en-US" sz="1100" dirty="0">
                          <a:solidFill>
                            <a:srgbClr val="334155"/>
                          </a:solidFill>
                          <a:latin typeface="Arial"/>
                          <a:cs typeface="Arial"/>
                        </a:rPr>
                        <a:t>v1.36 (Apr 2026)</a:t>
                      </a:r>
                      <a:endParaRPr lang="en-US" sz="1100" dirty="0"/>
                    </a:p>
                  </a:txBody>
                  <a:tcPr marL="101600" marR="101600" marT="69850" marB="69850" anchor="ctr">
                    <a:lnL w="0">
                      <a:noFill/>
                    </a:lnL>
                    <a:lnR w="0">
                      <a:noFill/>
                    </a:lnR>
                    <a:lnT w="0">
                      <a:noFill/>
                    </a:lnT>
                    <a:lnB w="9525">
                      <a:solidFill>
                        <a:srgbClr val="E2E8F0"/>
                      </a:solidFill>
                    </a:lnB>
                    <a:solidFill>
                      <a:srgbClr val="FFFFFF"/>
                    </a:solidFill>
                  </a:tcPr>
                </a:tc>
                <a:tc>
                  <a:txBody>
                    <a:bodyPr/>
                    <a:lstStyle/>
                    <a:p>
                      <a:pPr algn="l">
                        <a:lnSpc>
                          <a:spcPct val="108000"/>
                        </a:lnSpc>
                        <a:spcBef>
                          <a:spcPts val="0"/>
                        </a:spcBef>
                        <a:spcAft>
                          <a:spcPts val="0"/>
                        </a:spcAft>
                        <a:buNone/>
                      </a:pPr>
                      <a:r>
                        <a:rPr lang="en-US" sz="1100" dirty="0">
                          <a:solidFill>
                            <a:srgbClr val="334155"/>
                          </a:solidFill>
                          <a:latin typeface="Arial"/>
                          <a:cs typeface="Arial"/>
                        </a:rPr>
                        <a:t>Privileged admin access to in-use devices</a:t>
                      </a:r>
                      <a:endParaRPr lang="en-US" sz="1100" dirty="0"/>
                    </a:p>
                  </a:txBody>
                  <a:tcPr marL="101600" marR="101600" marT="69850" marB="69850" anchor="ctr">
                    <a:lnL w="0">
                      <a:noFill/>
                    </a:lnL>
                    <a:lnR w="0">
                      <a:noFill/>
                    </a:lnR>
                    <a:lnT w="0">
                      <a:noFill/>
                    </a:lnT>
                    <a:lnB w="9525">
                      <a:solidFill>
                        <a:srgbClr val="E2E8F0"/>
                      </a:solidFill>
                    </a:lnB>
                    <a:solidFill>
                      <a:srgbClr val="FFFFFF"/>
                    </a:solidFill>
                  </a:tcPr>
                </a:tc>
              </a:tr>
              <a:tr h="307340">
                <a:tc>
                  <a:txBody>
                    <a:bodyPr/>
                    <a:lstStyle/>
                    <a:p>
                      <a:pPr algn="l">
                        <a:lnSpc>
                          <a:spcPct val="108000"/>
                        </a:lnSpc>
                        <a:spcBef>
                          <a:spcPts val="0"/>
                        </a:spcBef>
                        <a:spcAft>
                          <a:spcPts val="0"/>
                        </a:spcAft>
                        <a:buNone/>
                      </a:pPr>
                      <a:r>
                        <a:rPr lang="en-US" sz="1100" b="1" dirty="0">
                          <a:solidFill>
                            <a:srgbClr val="0F172A"/>
                          </a:solidFill>
                          <a:latin typeface="Arial"/>
                          <a:cs typeface="Arial"/>
                        </a:rPr>
                        <a:t>Partitionable devices</a:t>
                      </a:r>
                      <a:endParaRPr lang="en-US" sz="1100" dirty="0"/>
                    </a:p>
                  </a:txBody>
                  <a:tcPr marL="101600" marR="101600" marT="69850" marB="69850" anchor="ctr">
                    <a:lnL w="0">
                      <a:noFill/>
                    </a:lnL>
                    <a:lnR w="0">
                      <a:noFill/>
                    </a:lnR>
                    <a:lnT w="0">
                      <a:noFill/>
                    </a:lnT>
                    <a:lnB w="9525">
                      <a:solidFill>
                        <a:srgbClr val="E2E8F0"/>
                      </a:solidFill>
                    </a:lnB>
                    <a:solidFill>
                      <a:srgbClr val="FFFFFF"/>
                    </a:solidFill>
                  </a:tcPr>
                </a:tc>
                <a:tc>
                  <a:txBody>
                    <a:bodyPr/>
                    <a:lstStyle/>
                    <a:p>
                      <a:pPr algn="l">
                        <a:lnSpc>
                          <a:spcPct val="108000"/>
                        </a:lnSpc>
                        <a:spcBef>
                          <a:spcPts val="0"/>
                        </a:spcBef>
                        <a:spcAft>
                          <a:spcPts val="0"/>
                        </a:spcAft>
                        <a:buNone/>
                      </a:pPr>
                      <a:r>
                        <a:rPr lang="en-US" sz="1100" dirty="0">
                          <a:solidFill>
                            <a:srgbClr val="334155"/>
                          </a:solidFill>
                          <a:latin typeface="Arial"/>
                          <a:cs typeface="Arial"/>
                        </a:rPr>
                        <a:t>Beta, on by default</a:t>
                      </a:r>
                      <a:endParaRPr lang="en-US" sz="1100" dirty="0"/>
                    </a:p>
                  </a:txBody>
                  <a:tcPr marL="101600" marR="101600" marT="69850" marB="69850" anchor="ctr">
                    <a:lnL w="0">
                      <a:noFill/>
                    </a:lnL>
                    <a:lnR w="0">
                      <a:noFill/>
                    </a:lnR>
                    <a:lnT w="0">
                      <a:noFill/>
                    </a:lnT>
                    <a:lnB w="9525">
                      <a:solidFill>
                        <a:srgbClr val="E2E8F0"/>
                      </a:solidFill>
                    </a:lnB>
                    <a:solidFill>
                      <a:srgbClr val="FFFFFF"/>
                    </a:solidFill>
                  </a:tcPr>
                </a:tc>
                <a:tc>
                  <a:txBody>
                    <a:bodyPr/>
                    <a:lstStyle/>
                    <a:p>
                      <a:pPr algn="l">
                        <a:lnSpc>
                          <a:spcPct val="108000"/>
                        </a:lnSpc>
                        <a:spcBef>
                          <a:spcPts val="0"/>
                        </a:spcBef>
                        <a:spcAft>
                          <a:spcPts val="0"/>
                        </a:spcAft>
                        <a:buNone/>
                      </a:pPr>
                      <a:r>
                        <a:rPr lang="en-US" sz="1100" dirty="0">
                          <a:solidFill>
                            <a:srgbClr val="334155"/>
                          </a:solidFill>
                          <a:latin typeface="Arial"/>
                          <a:cs typeface="Arial"/>
                        </a:rPr>
                        <a:t>v1.36</a:t>
                      </a:r>
                      <a:endParaRPr lang="en-US" sz="1100" dirty="0"/>
                    </a:p>
                  </a:txBody>
                  <a:tcPr marL="101600" marR="101600" marT="69850" marB="69850" anchor="ctr">
                    <a:lnL w="0">
                      <a:noFill/>
                    </a:lnL>
                    <a:lnR w="0">
                      <a:noFill/>
                    </a:lnR>
                    <a:lnT w="0">
                      <a:noFill/>
                    </a:lnT>
                    <a:lnB w="9525">
                      <a:solidFill>
                        <a:srgbClr val="E2E8F0"/>
                      </a:solidFill>
                    </a:lnB>
                    <a:solidFill>
                      <a:srgbClr val="FFFFFF"/>
                    </a:solidFill>
                  </a:tcPr>
                </a:tc>
                <a:tc>
                  <a:txBody>
                    <a:bodyPr/>
                    <a:lstStyle/>
                    <a:p>
                      <a:pPr algn="l">
                        <a:lnSpc>
                          <a:spcPct val="108000"/>
                        </a:lnSpc>
                        <a:spcBef>
                          <a:spcPts val="0"/>
                        </a:spcBef>
                        <a:spcAft>
                          <a:spcPts val="0"/>
                        </a:spcAft>
                        <a:buNone/>
                      </a:pPr>
                      <a:r>
                        <a:rPr lang="en-US" sz="1100" dirty="0">
                          <a:solidFill>
                            <a:srgbClr val="334155"/>
                          </a:solidFill>
                          <a:latin typeface="Arial"/>
                          <a:cs typeface="Arial"/>
                        </a:rPr>
                        <a:t>GPU slicing (e.g. MIG-style partitions)</a:t>
                      </a:r>
                      <a:endParaRPr lang="en-US" sz="1100" dirty="0"/>
                    </a:p>
                  </a:txBody>
                  <a:tcPr marL="101600" marR="101600" marT="69850" marB="69850" anchor="ctr">
                    <a:lnL w="0">
                      <a:noFill/>
                    </a:lnL>
                    <a:lnR w="0">
                      <a:noFill/>
                    </a:lnR>
                    <a:lnT w="0">
                      <a:noFill/>
                    </a:lnT>
                    <a:lnB w="9525">
                      <a:solidFill>
                        <a:srgbClr val="E2E8F0"/>
                      </a:solidFill>
                    </a:lnB>
                    <a:solidFill>
                      <a:srgbClr val="FFFFFF"/>
                    </a:solidFill>
                  </a:tcPr>
                </a:tc>
              </a:tr>
              <a:tr h="307340">
                <a:tc>
                  <a:txBody>
                    <a:bodyPr/>
                    <a:lstStyle/>
                    <a:p>
                      <a:pPr algn="l">
                        <a:lnSpc>
                          <a:spcPct val="108000"/>
                        </a:lnSpc>
                        <a:spcBef>
                          <a:spcPts val="0"/>
                        </a:spcBef>
                        <a:spcAft>
                          <a:spcPts val="0"/>
                        </a:spcAft>
                        <a:buNone/>
                      </a:pPr>
                      <a:r>
                        <a:rPr lang="en-US" sz="1100" b="1" dirty="0">
                          <a:solidFill>
                            <a:srgbClr val="0F172A"/>
                          </a:solidFill>
                          <a:latin typeface="Arial"/>
                          <a:cs typeface="Arial"/>
                        </a:rPr>
                        <a:t>Consumable capacity</a:t>
                      </a:r>
                      <a:endParaRPr lang="en-US" sz="1100" dirty="0"/>
                    </a:p>
                  </a:txBody>
                  <a:tcPr marL="101600" marR="101600" marT="69850" marB="69850" anchor="ctr">
                    <a:lnL w="0">
                      <a:noFill/>
                    </a:lnL>
                    <a:lnR w="0">
                      <a:noFill/>
                    </a:lnR>
                    <a:lnT w="0">
                      <a:noFill/>
                    </a:lnT>
                    <a:lnB w="9525">
                      <a:solidFill>
                        <a:srgbClr val="E2E8F0"/>
                      </a:solidFill>
                    </a:lnB>
                    <a:solidFill>
                      <a:srgbClr val="FFFFFF"/>
                    </a:solidFill>
                  </a:tcPr>
                </a:tc>
                <a:tc>
                  <a:txBody>
                    <a:bodyPr/>
                    <a:lstStyle/>
                    <a:p>
                      <a:pPr algn="l">
                        <a:lnSpc>
                          <a:spcPct val="108000"/>
                        </a:lnSpc>
                        <a:spcBef>
                          <a:spcPts val="0"/>
                        </a:spcBef>
                        <a:spcAft>
                          <a:spcPts val="0"/>
                        </a:spcAft>
                        <a:buNone/>
                      </a:pPr>
                      <a:r>
                        <a:rPr lang="en-US" sz="1100" dirty="0">
                          <a:solidFill>
                            <a:srgbClr val="334155"/>
                          </a:solidFill>
                          <a:latin typeface="Arial"/>
                          <a:cs typeface="Arial"/>
                        </a:rPr>
                        <a:t>Beta, on by default</a:t>
                      </a:r>
                      <a:endParaRPr lang="en-US" sz="1100" dirty="0"/>
                    </a:p>
                  </a:txBody>
                  <a:tcPr marL="101600" marR="101600" marT="69850" marB="69850" anchor="ctr">
                    <a:lnL w="0">
                      <a:noFill/>
                    </a:lnL>
                    <a:lnR w="0">
                      <a:noFill/>
                    </a:lnR>
                    <a:lnT w="0">
                      <a:noFill/>
                    </a:lnT>
                    <a:lnB w="9525">
                      <a:solidFill>
                        <a:srgbClr val="E2E8F0"/>
                      </a:solidFill>
                    </a:lnB>
                    <a:solidFill>
                      <a:srgbClr val="FFFFFF"/>
                    </a:solidFill>
                  </a:tcPr>
                </a:tc>
                <a:tc>
                  <a:txBody>
                    <a:bodyPr/>
                    <a:lstStyle/>
                    <a:p>
                      <a:pPr algn="l">
                        <a:lnSpc>
                          <a:spcPct val="108000"/>
                        </a:lnSpc>
                        <a:spcBef>
                          <a:spcPts val="0"/>
                        </a:spcBef>
                        <a:spcAft>
                          <a:spcPts val="0"/>
                        </a:spcAft>
                        <a:buNone/>
                      </a:pPr>
                      <a:r>
                        <a:rPr lang="en-US" sz="1100" dirty="0">
                          <a:solidFill>
                            <a:srgbClr val="334155"/>
                          </a:solidFill>
                          <a:latin typeface="Arial"/>
                          <a:cs typeface="Arial"/>
                        </a:rPr>
                        <a:t>v1.36</a:t>
                      </a:r>
                      <a:endParaRPr lang="en-US" sz="1100" dirty="0"/>
                    </a:p>
                  </a:txBody>
                  <a:tcPr marL="101600" marR="101600" marT="69850" marB="69850" anchor="ctr">
                    <a:lnL w="0">
                      <a:noFill/>
                    </a:lnL>
                    <a:lnR w="0">
                      <a:noFill/>
                    </a:lnR>
                    <a:lnT w="0">
                      <a:noFill/>
                    </a:lnT>
                    <a:lnB w="9525">
                      <a:solidFill>
                        <a:srgbClr val="E2E8F0"/>
                      </a:solidFill>
                    </a:lnB>
                    <a:solidFill>
                      <a:srgbClr val="FFFFFF"/>
                    </a:solidFill>
                  </a:tcPr>
                </a:tc>
                <a:tc>
                  <a:txBody>
                    <a:bodyPr/>
                    <a:lstStyle/>
                    <a:p>
                      <a:pPr algn="l">
                        <a:lnSpc>
                          <a:spcPct val="108000"/>
                        </a:lnSpc>
                        <a:spcBef>
                          <a:spcPts val="0"/>
                        </a:spcBef>
                        <a:spcAft>
                          <a:spcPts val="0"/>
                        </a:spcAft>
                        <a:buNone/>
                      </a:pPr>
                      <a:r>
                        <a:rPr lang="en-US" sz="1100" dirty="0">
                          <a:solidFill>
                            <a:srgbClr val="334155"/>
                          </a:solidFill>
                          <a:latin typeface="Arial"/>
                          <a:cs typeface="Arial"/>
                        </a:rPr>
                        <a:t>Finer-grained device sharing</a:t>
                      </a:r>
                      <a:endParaRPr lang="en-US" sz="1100" dirty="0"/>
                    </a:p>
                  </a:txBody>
                  <a:tcPr marL="101600" marR="101600" marT="69850" marB="69850" anchor="ctr">
                    <a:lnL w="0">
                      <a:noFill/>
                    </a:lnL>
                    <a:lnR w="0">
                      <a:noFill/>
                    </a:lnR>
                    <a:lnT w="0">
                      <a:noFill/>
                    </a:lnT>
                    <a:lnB w="9525">
                      <a:solidFill>
                        <a:srgbClr val="E2E8F0"/>
                      </a:solidFill>
                    </a:lnB>
                    <a:solidFill>
                      <a:srgbClr val="FFFFFF"/>
                    </a:solidFill>
                  </a:tcPr>
                </a:tc>
              </a:tr>
              <a:tr h="307340">
                <a:tc>
                  <a:txBody>
                    <a:bodyPr/>
                    <a:lstStyle/>
                    <a:p>
                      <a:pPr algn="l">
                        <a:lnSpc>
                          <a:spcPct val="108000"/>
                        </a:lnSpc>
                        <a:spcBef>
                          <a:spcPts val="0"/>
                        </a:spcBef>
                        <a:spcAft>
                          <a:spcPts val="0"/>
                        </a:spcAft>
                        <a:buNone/>
                      </a:pPr>
                      <a:r>
                        <a:rPr lang="en-US" sz="1100" b="1" dirty="0">
                          <a:solidFill>
                            <a:srgbClr val="0F172A"/>
                          </a:solidFill>
                          <a:latin typeface="Arial"/>
                          <a:cs typeface="Arial"/>
                        </a:rPr>
                        <a:t>Device taints and tolerations</a:t>
                      </a:r>
                      <a:endParaRPr lang="en-US" sz="1100" dirty="0"/>
                    </a:p>
                  </a:txBody>
                  <a:tcPr marL="101600" marR="101600" marT="69850" marB="69850" anchor="ctr">
                    <a:lnL w="0">
                      <a:noFill/>
                    </a:lnL>
                    <a:lnR w="0">
                      <a:noFill/>
                    </a:lnR>
                    <a:lnT w="0">
                      <a:noFill/>
                    </a:lnT>
                    <a:lnB w="9525">
                      <a:solidFill>
                        <a:srgbClr val="E2E8F0"/>
                      </a:solidFill>
                    </a:lnB>
                    <a:solidFill>
                      <a:srgbClr val="FFFFFF"/>
                    </a:solidFill>
                  </a:tcPr>
                </a:tc>
                <a:tc>
                  <a:txBody>
                    <a:bodyPr/>
                    <a:lstStyle/>
                    <a:p>
                      <a:pPr algn="l">
                        <a:lnSpc>
                          <a:spcPct val="108000"/>
                        </a:lnSpc>
                        <a:spcBef>
                          <a:spcPts val="0"/>
                        </a:spcBef>
                        <a:spcAft>
                          <a:spcPts val="0"/>
                        </a:spcAft>
                        <a:buNone/>
                      </a:pPr>
                      <a:r>
                        <a:rPr lang="en-US" sz="1100" dirty="0">
                          <a:solidFill>
                            <a:srgbClr val="334155"/>
                          </a:solidFill>
                          <a:latin typeface="Arial"/>
                          <a:cs typeface="Arial"/>
                        </a:rPr>
                        <a:t>Beta</a:t>
                      </a:r>
                      <a:endParaRPr lang="en-US" sz="1100" dirty="0"/>
                    </a:p>
                  </a:txBody>
                  <a:tcPr marL="101600" marR="101600" marT="69850" marB="69850" anchor="ctr">
                    <a:lnL w="0">
                      <a:noFill/>
                    </a:lnL>
                    <a:lnR w="0">
                      <a:noFill/>
                    </a:lnR>
                    <a:lnT w="0">
                      <a:noFill/>
                    </a:lnT>
                    <a:lnB w="9525">
                      <a:solidFill>
                        <a:srgbClr val="E2E8F0"/>
                      </a:solidFill>
                    </a:lnB>
                    <a:solidFill>
                      <a:srgbClr val="FFFFFF"/>
                    </a:solidFill>
                  </a:tcPr>
                </a:tc>
                <a:tc>
                  <a:txBody>
                    <a:bodyPr/>
                    <a:lstStyle/>
                    <a:p>
                      <a:pPr algn="l">
                        <a:lnSpc>
                          <a:spcPct val="108000"/>
                        </a:lnSpc>
                        <a:spcBef>
                          <a:spcPts val="0"/>
                        </a:spcBef>
                        <a:spcAft>
                          <a:spcPts val="0"/>
                        </a:spcAft>
                        <a:buNone/>
                      </a:pPr>
                      <a:r>
                        <a:rPr lang="en-US" sz="1100" dirty="0">
                          <a:solidFill>
                            <a:srgbClr val="334155"/>
                          </a:solidFill>
                          <a:latin typeface="Arial"/>
                          <a:cs typeface="Arial"/>
                        </a:rPr>
                        <a:t>v1.36</a:t>
                      </a:r>
                      <a:endParaRPr lang="en-US" sz="1100" dirty="0"/>
                    </a:p>
                  </a:txBody>
                  <a:tcPr marL="101600" marR="101600" marT="69850" marB="69850" anchor="ctr">
                    <a:lnL w="0">
                      <a:noFill/>
                    </a:lnL>
                    <a:lnR w="0">
                      <a:noFill/>
                    </a:lnR>
                    <a:lnT w="0">
                      <a:noFill/>
                    </a:lnT>
                    <a:lnB w="9525">
                      <a:solidFill>
                        <a:srgbClr val="E2E8F0"/>
                      </a:solidFill>
                    </a:lnB>
                    <a:solidFill>
                      <a:srgbClr val="FFFFFF"/>
                    </a:solidFill>
                  </a:tcPr>
                </a:tc>
                <a:tc>
                  <a:txBody>
                    <a:bodyPr/>
                    <a:lstStyle/>
                    <a:p>
                      <a:pPr algn="l">
                        <a:lnSpc>
                          <a:spcPct val="108000"/>
                        </a:lnSpc>
                        <a:spcBef>
                          <a:spcPts val="0"/>
                        </a:spcBef>
                        <a:spcAft>
                          <a:spcPts val="0"/>
                        </a:spcAft>
                        <a:buNone/>
                      </a:pPr>
                      <a:r>
                        <a:rPr lang="en-US" sz="1100" dirty="0">
                          <a:solidFill>
                            <a:srgbClr val="334155"/>
                          </a:solidFill>
                          <a:latin typeface="Arial"/>
                          <a:cs typeface="Arial"/>
                        </a:rPr>
                        <a:t>Keep specialised devices for the right workloads</a:t>
                      </a:r>
                      <a:endParaRPr lang="en-US" sz="1100" dirty="0"/>
                    </a:p>
                  </a:txBody>
                  <a:tcPr marL="101600" marR="101600" marT="69850" marB="69850" anchor="ctr">
                    <a:lnL w="0">
                      <a:noFill/>
                    </a:lnL>
                    <a:lnR w="0">
                      <a:noFill/>
                    </a:lnR>
                    <a:lnT w="0">
                      <a:noFill/>
                    </a:lnT>
                    <a:lnB w="9525">
                      <a:solidFill>
                        <a:srgbClr val="E2E8F0"/>
                      </a:solidFill>
                    </a:lnB>
                    <a:solidFill>
                      <a:srgbClr val="FFFFFF"/>
                    </a:solidFill>
                  </a:tcPr>
                </a:tc>
              </a:tr>
              <a:tr h="307340">
                <a:tc>
                  <a:txBody>
                    <a:bodyPr/>
                    <a:lstStyle/>
                    <a:p>
                      <a:pPr algn="l">
                        <a:lnSpc>
                          <a:spcPct val="108000"/>
                        </a:lnSpc>
                        <a:spcBef>
                          <a:spcPts val="0"/>
                        </a:spcBef>
                        <a:spcAft>
                          <a:spcPts val="0"/>
                        </a:spcAft>
                        <a:buNone/>
                      </a:pPr>
                      <a:r>
                        <a:rPr lang="en-US" sz="1100" b="1" dirty="0">
                          <a:solidFill>
                            <a:srgbClr val="0F172A"/>
                          </a:solidFill>
                          <a:latin typeface="Arial"/>
                          <a:cs typeface="Arial"/>
                        </a:rPr>
                        <a:t>ResourceClaim device status</a:t>
                      </a:r>
                      <a:endParaRPr lang="en-US" sz="1100" dirty="0"/>
                    </a:p>
                  </a:txBody>
                  <a:tcPr marL="101600" marR="101600" marT="69850" marB="69850" anchor="ctr">
                    <a:lnL w="0">
                      <a:noFill/>
                    </a:lnL>
                    <a:lnR w="0">
                      <a:noFill/>
                    </a:lnR>
                    <a:lnT w="0">
                      <a:noFill/>
                    </a:lnT>
                    <a:lnB w="9525">
                      <a:solidFill>
                        <a:srgbClr val="E2E8F0"/>
                      </a:solidFill>
                    </a:lnB>
                    <a:solidFill>
                      <a:srgbClr val="FFFFFF"/>
                    </a:solidFill>
                  </a:tcPr>
                </a:tc>
                <a:tc>
                  <a:txBody>
                    <a:bodyPr/>
                    <a:lstStyle/>
                    <a:p>
                      <a:pPr algn="l">
                        <a:lnSpc>
                          <a:spcPct val="108000"/>
                        </a:lnSpc>
                        <a:spcBef>
                          <a:spcPts val="0"/>
                        </a:spcBef>
                        <a:spcAft>
                          <a:spcPts val="0"/>
                        </a:spcAft>
                        <a:buNone/>
                      </a:pPr>
                      <a:r>
                        <a:rPr lang="en-US" sz="1100" dirty="0">
                          <a:solidFill>
                            <a:srgbClr val="334155"/>
                          </a:solidFill>
                          <a:latin typeface="Arial"/>
                          <a:cs typeface="Arial"/>
                        </a:rPr>
                        <a:t>Beta</a:t>
                      </a:r>
                      <a:endParaRPr lang="en-US" sz="1100" dirty="0"/>
                    </a:p>
                  </a:txBody>
                  <a:tcPr marL="101600" marR="101600" marT="69850" marB="69850" anchor="ctr">
                    <a:lnL w="0">
                      <a:noFill/>
                    </a:lnL>
                    <a:lnR w="0">
                      <a:noFill/>
                    </a:lnR>
                    <a:lnT w="0">
                      <a:noFill/>
                    </a:lnT>
                    <a:lnB w="9525">
                      <a:solidFill>
                        <a:srgbClr val="E2E8F0"/>
                      </a:solidFill>
                    </a:lnB>
                    <a:solidFill>
                      <a:srgbClr val="FFFFFF"/>
                    </a:solidFill>
                  </a:tcPr>
                </a:tc>
                <a:tc>
                  <a:txBody>
                    <a:bodyPr/>
                    <a:lstStyle/>
                    <a:p>
                      <a:pPr algn="l">
                        <a:lnSpc>
                          <a:spcPct val="108000"/>
                        </a:lnSpc>
                        <a:spcBef>
                          <a:spcPts val="0"/>
                        </a:spcBef>
                        <a:spcAft>
                          <a:spcPts val="0"/>
                        </a:spcAft>
                        <a:buNone/>
                      </a:pPr>
                      <a:r>
                        <a:rPr lang="en-US" sz="1100" dirty="0">
                          <a:solidFill>
                            <a:srgbClr val="334155"/>
                          </a:solidFill>
                          <a:latin typeface="Arial"/>
                          <a:cs typeface="Arial"/>
                        </a:rPr>
                        <a:t>v1.36</a:t>
                      </a:r>
                      <a:endParaRPr lang="en-US" sz="1100" dirty="0"/>
                    </a:p>
                  </a:txBody>
                  <a:tcPr marL="101600" marR="101600" marT="69850" marB="69850" anchor="ctr">
                    <a:lnL w="0">
                      <a:noFill/>
                    </a:lnL>
                    <a:lnR w="0">
                      <a:noFill/>
                    </a:lnR>
                    <a:lnT w="0">
                      <a:noFill/>
                    </a:lnT>
                    <a:lnB w="9525">
                      <a:solidFill>
                        <a:srgbClr val="E2E8F0"/>
                      </a:solidFill>
                    </a:lnB>
                    <a:solidFill>
                      <a:srgbClr val="FFFFFF"/>
                    </a:solidFill>
                  </a:tcPr>
                </a:tc>
                <a:tc>
                  <a:txBody>
                    <a:bodyPr/>
                    <a:lstStyle/>
                    <a:p>
                      <a:pPr algn="l">
                        <a:lnSpc>
                          <a:spcPct val="108000"/>
                        </a:lnSpc>
                        <a:spcBef>
                          <a:spcPts val="0"/>
                        </a:spcBef>
                        <a:spcAft>
                          <a:spcPts val="0"/>
                        </a:spcAft>
                        <a:buNone/>
                      </a:pPr>
                      <a:r>
                        <a:rPr lang="en-US" sz="1100" dirty="0">
                          <a:solidFill>
                            <a:srgbClr val="334155"/>
                          </a:solidFill>
                          <a:latin typeface="Arial"/>
                          <a:cs typeface="Arial"/>
                        </a:rPr>
                        <a:t>Device status reporting on claims</a:t>
                      </a:r>
                      <a:endParaRPr lang="en-US" sz="1100" dirty="0"/>
                    </a:p>
                  </a:txBody>
                  <a:tcPr marL="101600" marR="101600" marT="69850" marB="69850" anchor="ctr">
                    <a:lnL w="0">
                      <a:noFill/>
                    </a:lnL>
                    <a:lnR w="0">
                      <a:noFill/>
                    </a:lnR>
                    <a:lnT w="0">
                      <a:noFill/>
                    </a:lnT>
                    <a:lnB w="9525">
                      <a:solidFill>
                        <a:srgbClr val="E2E8F0"/>
                      </a:solidFill>
                    </a:lnB>
                    <a:solidFill>
                      <a:srgbClr val="FFFFFF"/>
                    </a:solidFill>
                  </a:tcPr>
                </a:tc>
              </a:tr>
              <a:tr h="307340">
                <a:tc>
                  <a:txBody>
                    <a:bodyPr/>
                    <a:lstStyle/>
                    <a:p>
                      <a:pPr algn="l">
                        <a:lnSpc>
                          <a:spcPct val="108000"/>
                        </a:lnSpc>
                        <a:spcBef>
                          <a:spcPts val="0"/>
                        </a:spcBef>
                        <a:spcAft>
                          <a:spcPts val="0"/>
                        </a:spcAft>
                        <a:buNone/>
                      </a:pPr>
                      <a:r>
                        <a:rPr lang="en-US" sz="1100" b="1" dirty="0">
                          <a:solidFill>
                            <a:srgbClr val="0F172A"/>
                          </a:solidFill>
                          <a:latin typeface="Arial"/>
                          <a:cs typeface="Arial"/>
                        </a:rPr>
                        <a:t>allocatedResourcesStatus in Pod status (KEP-4680)</a:t>
                      </a:r>
                      <a:endParaRPr lang="en-US" sz="1100" dirty="0"/>
                    </a:p>
                  </a:txBody>
                  <a:tcPr marL="101600" marR="101600" marT="69850" marB="69850" anchor="ctr">
                    <a:lnL w="0">
                      <a:noFill/>
                    </a:lnL>
                    <a:lnR w="0">
                      <a:noFill/>
                    </a:lnR>
                    <a:lnT w="0">
                      <a:noFill/>
                    </a:lnT>
                    <a:lnB w="9525">
                      <a:solidFill>
                        <a:srgbClr val="E2E8F0"/>
                      </a:solidFill>
                    </a:lnB>
                    <a:solidFill>
                      <a:srgbClr val="FFFFFF"/>
                    </a:solidFill>
                  </a:tcPr>
                </a:tc>
                <a:tc>
                  <a:txBody>
                    <a:bodyPr/>
                    <a:lstStyle/>
                    <a:p>
                      <a:pPr algn="l">
                        <a:lnSpc>
                          <a:spcPct val="108000"/>
                        </a:lnSpc>
                        <a:spcBef>
                          <a:spcPts val="0"/>
                        </a:spcBef>
                        <a:spcAft>
                          <a:spcPts val="0"/>
                        </a:spcAft>
                        <a:buNone/>
                      </a:pPr>
                      <a:r>
                        <a:rPr lang="en-US" sz="1100" dirty="0">
                          <a:solidFill>
                            <a:srgbClr val="334155"/>
                          </a:solidFill>
                          <a:latin typeface="Arial"/>
                          <a:cs typeface="Arial"/>
                        </a:rPr>
                        <a:t>Beta</a:t>
                      </a:r>
                      <a:endParaRPr lang="en-US" sz="1100" dirty="0"/>
                    </a:p>
                  </a:txBody>
                  <a:tcPr marL="101600" marR="101600" marT="69850" marB="69850" anchor="ctr">
                    <a:lnL w="0">
                      <a:noFill/>
                    </a:lnL>
                    <a:lnR w="0">
                      <a:noFill/>
                    </a:lnR>
                    <a:lnT w="0">
                      <a:noFill/>
                    </a:lnT>
                    <a:lnB w="9525">
                      <a:solidFill>
                        <a:srgbClr val="E2E8F0"/>
                      </a:solidFill>
                    </a:lnB>
                    <a:solidFill>
                      <a:srgbClr val="FFFFFF"/>
                    </a:solidFill>
                  </a:tcPr>
                </a:tc>
                <a:tc>
                  <a:txBody>
                    <a:bodyPr/>
                    <a:lstStyle/>
                    <a:p>
                      <a:pPr algn="l">
                        <a:lnSpc>
                          <a:spcPct val="108000"/>
                        </a:lnSpc>
                        <a:spcBef>
                          <a:spcPts val="0"/>
                        </a:spcBef>
                        <a:spcAft>
                          <a:spcPts val="0"/>
                        </a:spcAft>
                        <a:buNone/>
                      </a:pPr>
                      <a:r>
                        <a:rPr lang="en-US" sz="1100" dirty="0">
                          <a:solidFill>
                            <a:srgbClr val="334155"/>
                          </a:solidFill>
                          <a:latin typeface="Arial"/>
                          <a:cs typeface="Arial"/>
                        </a:rPr>
                        <a:t>v1.36</a:t>
                      </a:r>
                      <a:endParaRPr lang="en-US" sz="1100" dirty="0"/>
                    </a:p>
                  </a:txBody>
                  <a:tcPr marL="101600" marR="101600" marT="69850" marB="69850" anchor="ctr">
                    <a:lnL w="0">
                      <a:noFill/>
                    </a:lnL>
                    <a:lnR w="0">
                      <a:noFill/>
                    </a:lnR>
                    <a:lnT w="0">
                      <a:noFill/>
                    </a:lnT>
                    <a:lnB w="9525">
                      <a:solidFill>
                        <a:srgbClr val="E2E8F0"/>
                      </a:solidFill>
                    </a:lnB>
                    <a:solidFill>
                      <a:srgbClr val="FFFFFF"/>
                    </a:solidFill>
                  </a:tcPr>
                </a:tc>
                <a:tc>
                  <a:txBody>
                    <a:bodyPr/>
                    <a:lstStyle/>
                    <a:p>
                      <a:pPr algn="l">
                        <a:lnSpc>
                          <a:spcPct val="108000"/>
                        </a:lnSpc>
                        <a:spcBef>
                          <a:spcPts val="0"/>
                        </a:spcBef>
                        <a:spcAft>
                          <a:spcPts val="0"/>
                        </a:spcAft>
                        <a:buNone/>
                      </a:pPr>
                      <a:r>
                        <a:rPr lang="en-US" sz="1100" dirty="0">
                          <a:solidFill>
                            <a:srgbClr val="334155"/>
                          </a:solidFill>
                          <a:latin typeface="Arial"/>
                          <a:cs typeface="Arial"/>
                        </a:rPr>
                        <a:t>Shows Unhealthy/Unknown devices behind crash loops</a:t>
                      </a:r>
                      <a:endParaRPr lang="en-US" sz="1100" dirty="0"/>
                    </a:p>
                  </a:txBody>
                  <a:tcPr marL="101600" marR="101600" marT="69850" marB="69850" anchor="ctr">
                    <a:lnL w="0">
                      <a:noFill/>
                    </a:lnL>
                    <a:lnR w="0">
                      <a:noFill/>
                    </a:lnR>
                    <a:lnT w="0">
                      <a:noFill/>
                    </a:lnT>
                    <a:lnB w="9525">
                      <a:solidFill>
                        <a:srgbClr val="E2E8F0"/>
                      </a:solidFill>
                    </a:lnB>
                    <a:solidFill>
                      <a:srgbClr val="FFFFFF"/>
                    </a:solidFill>
                  </a:tcPr>
                </a:tc>
              </a:tr>
            </a:tbl>
          </a:graphicData>
        </a:graphic>
      </p:graphicFrame>
      <p:sp>
        <p:nvSpPr>
          <p:cNvPr id="9" name="Text 9"/>
          <p:cNvSpPr txBox="1"/>
          <p:nvPr/>
        </p:nvSpPr>
        <p:spPr>
          <a:xfrm>
            <a:off x="711200" y="5359400"/>
            <a:ext cx="10769600" cy="635000"/>
          </a:xfrm>
          <a:prstGeom prst="rect">
            <a:avLst/>
          </a:prstGeom>
          <a:noFill/>
          <a:ln>
            <a:noFill/>
          </a:ln>
        </p:spPr>
        <p:txBody>
          <a:bodyPr wrap="square" lIns="0" tIns="0" rIns="0" bIns="0" anchor="b">
            <a:noAutofit/>
          </a:bodyPr>
          <a:lstStyle/>
          <a:p>
            <a:pPr algn="l">
              <a:lnSpc>
                <a:spcPct val="118000"/>
              </a:lnSpc>
              <a:spcBef>
                <a:spcPts val="0"/>
              </a:spcBef>
              <a:spcAft>
                <a:spcPts val="0"/>
              </a:spcAft>
              <a:buNone/>
            </a:pPr>
            <a:r>
              <a:rPr lang="en-US" sz="1250" dirty="0">
                <a:solidFill>
                  <a:srgbClr val="334155"/>
                </a:solidFill>
                <a:latin typeface="Arial"/>
                <a:cs typeface="Arial"/>
              </a:rPr>
              <a:t>Device health reporting closes a long-standing operational blind spot.</a:t>
            </a:r>
            <a:endParaRPr lang="en-US" sz="1250" dirty="0"/>
          </a:p>
        </p:txBody>
      </p:sp>
      <p:sp>
        <p:nvSpPr>
          <p:cNvPr id="10" name="Text 10"/>
          <p:cNvSpPr txBox="1"/>
          <p:nvPr/>
        </p:nvSpPr>
        <p:spPr>
          <a:xfrm>
            <a:off x="711200" y="6096000"/>
            <a:ext cx="10769600" cy="177800"/>
          </a:xfrm>
          <a:prstGeom prst="rect">
            <a:avLst/>
          </a:prstGeom>
          <a:noFill/>
          <a:ln>
            <a:noFill/>
          </a:ln>
        </p:spPr>
        <p:txBody>
          <a:bodyPr wrap="square" lIns="0" tIns="0" rIns="0" bIns="0" anchor="t">
            <a:noAutofit/>
          </a:bodyPr>
          <a:lstStyle/>
          <a:p>
            <a:pPr algn="l">
              <a:lnSpc>
                <a:spcPct val="108000"/>
              </a:lnSpc>
              <a:spcBef>
                <a:spcPts val="0"/>
              </a:spcBef>
              <a:spcAft>
                <a:spcPts val="0"/>
              </a:spcAft>
              <a:buNone/>
            </a:pPr>
            <a:r>
              <a:rPr lang="en-US" sz="850" dirty="0">
                <a:solidFill>
                  <a:srgbClr val="64748B"/>
                </a:solidFill>
                <a:latin typeface="Arial"/>
                <a:cs typeface="Arial"/>
              </a:rPr>
              <a:t>Source: [17], [18], [19], [20], [49], [50]. Data as of 2026-05.</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p:nvPr/>
        </p:nvSpPr>
        <p:spPr>
          <a:xfrm>
            <a:off x="711200" y="508000"/>
            <a:ext cx="558800" cy="63500"/>
          </a:xfrm>
          <a:prstGeom prst="roundRect">
            <a:avLst>
              <a:gd name="adj" fmla="val 50000"/>
            </a:avLst>
          </a:prstGeom>
          <a:gradFill rotWithShape="1">
            <a:gsLst>
              <a:gs pos="0">
                <a:srgbClr val="4F46E5"/>
              </a:gs>
              <a:gs pos="50000">
                <a:srgbClr val="7C3AED"/>
              </a:gs>
              <a:gs pos="100000">
                <a:srgbClr val="06B6D4"/>
              </a:gs>
            </a:gsLst>
            <a:lin ang="0" scaled="0"/>
          </a:gradFill>
          <a:ln>
            <a:noFill/>
          </a:ln>
        </p:spPr>
      </p:sp>
      <p:sp>
        <p:nvSpPr>
          <p:cNvPr id="3" name="Text 3"/>
          <p:cNvSpPr txBox="1"/>
          <p:nvPr/>
        </p:nvSpPr>
        <p:spPr>
          <a:xfrm>
            <a:off x="711200" y="685800"/>
            <a:ext cx="10769600" cy="203200"/>
          </a:xfrm>
          <a:prstGeom prst="rect">
            <a:avLst/>
          </a:prstGeom>
          <a:noFill/>
          <a:ln>
            <a:noFill/>
          </a:ln>
        </p:spPr>
        <p:txBody>
          <a:bodyPr wrap="square" lIns="0" tIns="0" rIns="0" bIns="0" anchor="t">
            <a:noAutofit/>
          </a:bodyPr>
          <a:lstStyle/>
          <a:p>
            <a:pPr algn="l">
              <a:lnSpc>
                <a:spcPct val="108000"/>
              </a:lnSpc>
              <a:spcBef>
                <a:spcPts val="0"/>
              </a:spcBef>
              <a:spcAft>
                <a:spcPts val="0"/>
              </a:spcAft>
              <a:buNone/>
            </a:pPr>
            <a:r>
              <a:rPr lang="en-US" sz="950" b="1" spc="140" dirty="0">
                <a:solidFill>
                  <a:srgbClr val="4F46E5"/>
                </a:solidFill>
                <a:latin typeface="Arial"/>
                <a:cs typeface="Arial"/>
              </a:rPr>
              <a:t>SECTION 02 · CORE BUILDING BLOCKS: ACCELERATOR MANAGEMENT WITH DRA · TABLE 2</a:t>
            </a:r>
            <a:endParaRPr lang="en-US" sz="950" dirty="0"/>
          </a:p>
        </p:txBody>
      </p:sp>
      <p:sp>
        <p:nvSpPr>
          <p:cNvPr id="4" name="Text 4"/>
          <p:cNvSpPr txBox="1"/>
          <p:nvPr/>
        </p:nvSpPr>
        <p:spPr>
          <a:xfrm>
            <a:off x="711200" y="965200"/>
            <a:ext cx="10515600" cy="886968"/>
          </a:xfrm>
          <a:prstGeom prst="rect">
            <a:avLst/>
          </a:prstGeom>
          <a:noFill/>
          <a:ln>
            <a:noFill/>
          </a:ln>
        </p:spPr>
        <p:txBody>
          <a:bodyPr wrap="square" lIns="0" tIns="0" rIns="0" bIns="0" anchor="t">
            <a:noAutofit/>
          </a:bodyPr>
          <a:lstStyle/>
          <a:p>
            <a:pPr algn="l">
              <a:lnSpc>
                <a:spcPct val="96000"/>
              </a:lnSpc>
              <a:spcBef>
                <a:spcPts val="0"/>
              </a:spcBef>
              <a:spcAft>
                <a:spcPts val="0"/>
              </a:spcAft>
              <a:buNone/>
            </a:pPr>
            <a:r>
              <a:rPr lang="en-US" sz="2800" b="1" spc="-30" dirty="0">
                <a:solidFill>
                  <a:srgbClr val="0F172A"/>
                </a:solidFill>
                <a:latin typeface="Arial"/>
                <a:cs typeface="Arial"/>
              </a:rPr>
              <a:t>DRA and related feature maturity by Kubernetes release (continued)</a:t>
            </a:r>
            <a:endParaRPr lang="en-US" sz="2800" dirty="0"/>
          </a:p>
        </p:txBody>
      </p:sp>
      <p:sp>
        <p:nvSpPr>
          <p:cNvPr id="5" name="Shape 5"/>
          <p:cNvSpPr/>
          <p:nvPr/>
        </p:nvSpPr>
        <p:spPr>
          <a:xfrm>
            <a:off x="711200" y="6451600"/>
            <a:ext cx="10769600" cy="9525"/>
          </a:xfrm>
          <a:prstGeom prst="rect">
            <a:avLst/>
          </a:prstGeom>
          <a:solidFill>
            <a:srgbClr val="E2E8F0"/>
          </a:solidFill>
          <a:ln>
            <a:noFill/>
          </a:ln>
        </p:spPr>
      </p:sp>
      <p:sp>
        <p:nvSpPr>
          <p:cNvPr id="6" name="Text 6"/>
          <p:cNvSpPr txBox="1"/>
          <p:nvPr/>
        </p:nvSpPr>
        <p:spPr>
          <a:xfrm>
            <a:off x="711200" y="6527800"/>
            <a:ext cx="9753600" cy="177800"/>
          </a:xfrm>
          <a:prstGeom prst="rect">
            <a:avLst/>
          </a:prstGeom>
          <a:noFill/>
          <a:ln>
            <a:noFill/>
          </a:ln>
        </p:spPr>
        <p:txBody>
          <a:bodyPr wrap="square" lIns="0" tIns="0" rIns="0" bIns="0" anchor="t">
            <a:noAutofit/>
          </a:bodyPr>
          <a:lstStyle/>
          <a:p>
            <a:pPr algn="l">
              <a:lnSpc>
                <a:spcPct val="108000"/>
              </a:lnSpc>
              <a:spcBef>
                <a:spcPts val="0"/>
              </a:spcBef>
              <a:spcAft>
                <a:spcPts val="0"/>
              </a:spcAft>
              <a:buNone/>
            </a:pPr>
            <a:r>
              <a:rPr lang="en-US" sz="800" dirty="0">
                <a:solidFill>
                  <a:srgbClr val="94A3B8"/>
                </a:solidFill>
                <a:latin typeface="Arial"/>
                <a:cs typeface="Arial"/>
              </a:rPr>
              <a:t>Kubernetes as the Platform for AI Infrastructure</a:t>
            </a:r>
            <a:endParaRPr lang="en-US" sz="800" dirty="0"/>
          </a:p>
        </p:txBody>
      </p:sp>
      <p:sp>
        <p:nvSpPr>
          <p:cNvPr id="7" name="Text 7"/>
          <p:cNvSpPr txBox="1"/>
          <p:nvPr/>
        </p:nvSpPr>
        <p:spPr>
          <a:xfrm>
            <a:off x="10718800" y="6527800"/>
            <a:ext cx="762000" cy="177800"/>
          </a:xfrm>
          <a:prstGeom prst="rect">
            <a:avLst/>
          </a:prstGeom>
          <a:noFill/>
          <a:ln>
            <a:noFill/>
          </a:ln>
        </p:spPr>
        <p:txBody>
          <a:bodyPr wrap="square" lIns="0" tIns="0" rIns="0" bIns="0" anchor="t">
            <a:noAutofit/>
          </a:bodyPr>
          <a:lstStyle/>
          <a:p>
            <a:pPr algn="r">
              <a:lnSpc>
                <a:spcPct val="108000"/>
              </a:lnSpc>
              <a:spcBef>
                <a:spcPts val="0"/>
              </a:spcBef>
              <a:spcAft>
                <a:spcPts val="0"/>
              </a:spcAft>
              <a:buNone/>
            </a:pPr>
            <a:r>
              <a:rPr lang="en-US" sz="850" b="1" dirty="0">
                <a:solidFill>
                  <a:srgbClr val="0F172A"/>
                </a:solidFill>
                <a:latin typeface="Arial"/>
                <a:cs typeface="Arial"/>
              </a:rPr>
              <a:t>13</a:t>
            </a:r>
            <a:endParaRPr lang="en-US" sz="850" dirty="0"/>
          </a:p>
        </p:txBody>
      </p:sp>
      <p:graphicFrame>
        <p:nvGraphicFramePr>
          <p:cNvPr id="8" name="Table 8"/>
          <p:cNvGraphicFramePr>
            <a:graphicFrameLocks noGrp="1"/>
          </p:cNvGraphicFramePr>
          <p:nvPr/>
        </p:nvGraphicFramePr>
        <p:xfrm>
          <a:off x="711200" y="2106168"/>
          <a:ext cx="10769600" cy="670560"/>
        </p:xfrm>
        <a:graphic>
          <a:graphicData uri="http://schemas.openxmlformats.org/drawingml/2006/table">
            <a:tbl>
              <a:tblPr firstRow="1"/>
              <a:tblGrid>
                <a:gridCol w="3616070"/>
                <a:gridCol w="2279696"/>
                <a:gridCol w="1257764"/>
                <a:gridCol w="3616070"/>
              </a:tblGrid>
              <a:tr h="307340">
                <a:tc>
                  <a:txBody>
                    <a:bodyPr/>
                    <a:lstStyle/>
                    <a:p>
                      <a:pPr algn="l">
                        <a:lnSpc>
                          <a:spcPct val="108000"/>
                        </a:lnSpc>
                        <a:spcBef>
                          <a:spcPts val="0"/>
                        </a:spcBef>
                        <a:spcAft>
                          <a:spcPts val="0"/>
                        </a:spcAft>
                        <a:buNone/>
                      </a:pPr>
                      <a:r>
                        <a:rPr lang="en-US" sz="858" b="1" spc="60" dirty="0">
                          <a:solidFill>
                            <a:srgbClr val="64748B"/>
                          </a:solidFill>
                          <a:latin typeface="Arial"/>
                          <a:cs typeface="Arial"/>
                        </a:rPr>
                        <a:t>FEATURE</a:t>
                      </a:r>
                      <a:endParaRPr lang="en-US" sz="858" dirty="0"/>
                    </a:p>
                  </a:txBody>
                  <a:tcPr marL="101600" marR="101600" marT="69850" marB="69850" anchor="ctr">
                    <a:lnL w="0">
                      <a:noFill/>
                    </a:lnL>
                    <a:lnR w="0">
                      <a:noFill/>
                    </a:lnR>
                    <a:lnT w="0">
                      <a:noFill/>
                    </a:lnT>
                    <a:lnB w="9525">
                      <a:solidFill>
                        <a:srgbClr val="E2E8F0"/>
                      </a:solidFill>
                    </a:lnB>
                    <a:solidFill>
                      <a:srgbClr val="F8FAFC"/>
                    </a:solidFill>
                  </a:tcPr>
                </a:tc>
                <a:tc>
                  <a:txBody>
                    <a:bodyPr/>
                    <a:lstStyle/>
                    <a:p>
                      <a:pPr algn="l">
                        <a:lnSpc>
                          <a:spcPct val="108000"/>
                        </a:lnSpc>
                        <a:spcBef>
                          <a:spcPts val="0"/>
                        </a:spcBef>
                        <a:spcAft>
                          <a:spcPts val="0"/>
                        </a:spcAft>
                        <a:buNone/>
                      </a:pPr>
                      <a:r>
                        <a:rPr lang="en-US" sz="858" b="1" spc="60" dirty="0">
                          <a:solidFill>
                            <a:srgbClr val="64748B"/>
                          </a:solidFill>
                          <a:latin typeface="Arial"/>
                          <a:cs typeface="Arial"/>
                        </a:rPr>
                        <a:t>STATUS</a:t>
                      </a:r>
                      <a:endParaRPr lang="en-US" sz="858" dirty="0"/>
                    </a:p>
                  </a:txBody>
                  <a:tcPr marL="101600" marR="101600" marT="69850" marB="69850" anchor="ctr">
                    <a:lnL w="0">
                      <a:noFill/>
                    </a:lnL>
                    <a:lnR w="0">
                      <a:noFill/>
                    </a:lnR>
                    <a:lnT w="0">
                      <a:noFill/>
                    </a:lnT>
                    <a:lnB w="9525">
                      <a:solidFill>
                        <a:srgbClr val="E2E8F0"/>
                      </a:solidFill>
                    </a:lnB>
                    <a:solidFill>
                      <a:srgbClr val="F8FAFC"/>
                    </a:solidFill>
                  </a:tcPr>
                </a:tc>
                <a:tc>
                  <a:txBody>
                    <a:bodyPr/>
                    <a:lstStyle/>
                    <a:p>
                      <a:pPr algn="l">
                        <a:lnSpc>
                          <a:spcPct val="108000"/>
                        </a:lnSpc>
                        <a:spcBef>
                          <a:spcPts val="0"/>
                        </a:spcBef>
                        <a:spcAft>
                          <a:spcPts val="0"/>
                        </a:spcAft>
                        <a:buNone/>
                      </a:pPr>
                      <a:r>
                        <a:rPr lang="en-US" sz="858" b="1" spc="60" dirty="0">
                          <a:solidFill>
                            <a:srgbClr val="64748B"/>
                          </a:solidFill>
                          <a:latin typeface="Arial"/>
                          <a:cs typeface="Arial"/>
                        </a:rPr>
                        <a:t>RELEASE</a:t>
                      </a:r>
                      <a:endParaRPr lang="en-US" sz="858" dirty="0"/>
                    </a:p>
                  </a:txBody>
                  <a:tcPr marL="101600" marR="101600" marT="69850" marB="69850" anchor="ctr">
                    <a:lnL w="0">
                      <a:noFill/>
                    </a:lnL>
                    <a:lnR w="0">
                      <a:noFill/>
                    </a:lnR>
                    <a:lnT w="0">
                      <a:noFill/>
                    </a:lnT>
                    <a:lnB w="9525">
                      <a:solidFill>
                        <a:srgbClr val="E2E8F0"/>
                      </a:solidFill>
                    </a:lnB>
                    <a:solidFill>
                      <a:srgbClr val="F8FAFC"/>
                    </a:solidFill>
                  </a:tcPr>
                </a:tc>
                <a:tc>
                  <a:txBody>
                    <a:bodyPr/>
                    <a:lstStyle/>
                    <a:p>
                      <a:pPr algn="l">
                        <a:lnSpc>
                          <a:spcPct val="108000"/>
                        </a:lnSpc>
                        <a:spcBef>
                          <a:spcPts val="0"/>
                        </a:spcBef>
                        <a:spcAft>
                          <a:spcPts val="0"/>
                        </a:spcAft>
                        <a:buNone/>
                      </a:pPr>
                      <a:r>
                        <a:rPr lang="en-US" sz="858" b="1" spc="60" dirty="0">
                          <a:solidFill>
                            <a:srgbClr val="64748B"/>
                          </a:solidFill>
                          <a:latin typeface="Arial"/>
                          <a:cs typeface="Arial"/>
                        </a:rPr>
                        <a:t>WHAT IT ENABLES</a:t>
                      </a:r>
                      <a:endParaRPr lang="en-US" sz="858" dirty="0"/>
                    </a:p>
                  </a:txBody>
                  <a:tcPr marL="101600" marR="101600" marT="69850" marB="69850" anchor="ctr">
                    <a:lnL w="0">
                      <a:noFill/>
                    </a:lnL>
                    <a:lnR w="0">
                      <a:noFill/>
                    </a:lnR>
                    <a:lnT w="0">
                      <a:noFill/>
                    </a:lnT>
                    <a:lnB w="9525">
                      <a:solidFill>
                        <a:srgbClr val="E2E8F0"/>
                      </a:solidFill>
                    </a:lnB>
                    <a:solidFill>
                      <a:srgbClr val="F8FAFC"/>
                    </a:solidFill>
                  </a:tcPr>
                </a:tc>
              </a:tr>
              <a:tr h="307340">
                <a:tc>
                  <a:txBody>
                    <a:bodyPr/>
                    <a:lstStyle/>
                    <a:p>
                      <a:pPr algn="l">
                        <a:lnSpc>
                          <a:spcPct val="108000"/>
                        </a:lnSpc>
                        <a:spcBef>
                          <a:spcPts val="0"/>
                        </a:spcBef>
                        <a:spcAft>
                          <a:spcPts val="0"/>
                        </a:spcAft>
                        <a:buNone/>
                      </a:pPr>
                      <a:r>
                        <a:rPr lang="en-US" sz="1100" b="1" dirty="0">
                          <a:solidFill>
                            <a:srgbClr val="0F172A"/>
                          </a:solidFill>
                          <a:latin typeface="Arial"/>
                          <a:cs typeface="Arial"/>
                        </a:rPr>
                        <a:t>ResourceClaims for PodGroups (KEP-5729)</a:t>
                      </a:r>
                      <a:endParaRPr lang="en-US" sz="1100" dirty="0"/>
                    </a:p>
                  </a:txBody>
                  <a:tcPr marL="101600" marR="101600" marT="69850" marB="69850" anchor="ctr">
                    <a:lnL w="0">
                      <a:noFill/>
                    </a:lnL>
                    <a:lnR w="0">
                      <a:noFill/>
                    </a:lnR>
                    <a:lnT w="0">
                      <a:noFill/>
                    </a:lnT>
                    <a:lnB w="9525">
                      <a:solidFill>
                        <a:srgbClr val="E2E8F0"/>
                      </a:solidFill>
                    </a:lnB>
                    <a:solidFill>
                      <a:srgbClr val="FFFFFF"/>
                    </a:solidFill>
                  </a:tcPr>
                </a:tc>
                <a:tc>
                  <a:txBody>
                    <a:bodyPr/>
                    <a:lstStyle/>
                    <a:p>
                      <a:pPr algn="l">
                        <a:lnSpc>
                          <a:spcPct val="108000"/>
                        </a:lnSpc>
                        <a:spcBef>
                          <a:spcPts val="0"/>
                        </a:spcBef>
                        <a:spcAft>
                          <a:spcPts val="0"/>
                        </a:spcAft>
                        <a:buNone/>
                      </a:pPr>
                      <a:r>
                        <a:rPr lang="en-US" sz="1100" dirty="0">
                          <a:solidFill>
                            <a:srgbClr val="334155"/>
                          </a:solidFill>
                          <a:latin typeface="Arial"/>
                          <a:cs typeface="Arial"/>
                        </a:rPr>
                        <a:t>Alpha in v1.36; beta in v1.37</a:t>
                      </a:r>
                      <a:endParaRPr lang="en-US" sz="1100" dirty="0"/>
                    </a:p>
                  </a:txBody>
                  <a:tcPr marL="101600" marR="101600" marT="69850" marB="69850" anchor="ctr">
                    <a:lnL w="0">
                      <a:noFill/>
                    </a:lnL>
                    <a:lnR w="0">
                      <a:noFill/>
                    </a:lnR>
                    <a:lnT w="0">
                      <a:noFill/>
                    </a:lnT>
                    <a:lnB w="9525">
                      <a:solidFill>
                        <a:srgbClr val="E2E8F0"/>
                      </a:solidFill>
                    </a:lnB>
                    <a:solidFill>
                      <a:srgbClr val="FFFFFF"/>
                    </a:solidFill>
                  </a:tcPr>
                </a:tc>
                <a:tc>
                  <a:txBody>
                    <a:bodyPr/>
                    <a:lstStyle/>
                    <a:p>
                      <a:pPr algn="l">
                        <a:lnSpc>
                          <a:spcPct val="108000"/>
                        </a:lnSpc>
                        <a:spcBef>
                          <a:spcPts val="0"/>
                        </a:spcBef>
                        <a:spcAft>
                          <a:spcPts val="0"/>
                        </a:spcAft>
                        <a:buNone/>
                      </a:pPr>
                      <a:r>
                        <a:rPr lang="en-US" sz="1100" dirty="0">
                          <a:solidFill>
                            <a:srgbClr val="334155"/>
                          </a:solidFill>
                          <a:latin typeface="Arial"/>
                          <a:cs typeface="Arial"/>
                        </a:rPr>
                        <a:t>v1.36 / v1.37</a:t>
                      </a:r>
                      <a:endParaRPr lang="en-US" sz="1100" dirty="0"/>
                    </a:p>
                  </a:txBody>
                  <a:tcPr marL="101600" marR="101600" marT="69850" marB="69850" anchor="ctr">
                    <a:lnL w="0">
                      <a:noFill/>
                    </a:lnL>
                    <a:lnR w="0">
                      <a:noFill/>
                    </a:lnR>
                    <a:lnT w="0">
                      <a:noFill/>
                    </a:lnT>
                    <a:lnB w="9525">
                      <a:solidFill>
                        <a:srgbClr val="E2E8F0"/>
                      </a:solidFill>
                    </a:lnB>
                    <a:solidFill>
                      <a:srgbClr val="FFFFFF"/>
                    </a:solidFill>
                  </a:tcPr>
                </a:tc>
                <a:tc>
                  <a:txBody>
                    <a:bodyPr/>
                    <a:lstStyle/>
                    <a:p>
                      <a:pPr algn="l">
                        <a:lnSpc>
                          <a:spcPct val="108000"/>
                        </a:lnSpc>
                        <a:spcBef>
                          <a:spcPts val="0"/>
                        </a:spcBef>
                        <a:spcAft>
                          <a:spcPts val="0"/>
                        </a:spcAft>
                        <a:buNone/>
                      </a:pPr>
                      <a:r>
                        <a:rPr lang="en-US" sz="1100" dirty="0">
                          <a:solidFill>
                            <a:srgbClr val="334155"/>
                          </a:solidFill>
                          <a:latin typeface="Arial"/>
                          <a:cs typeface="Arial"/>
                        </a:rPr>
                        <a:t>Claim reserved per group; removes the 256-pod reservedFor limit</a:t>
                      </a:r>
                      <a:endParaRPr lang="en-US" sz="1100" dirty="0"/>
                    </a:p>
                  </a:txBody>
                  <a:tcPr marL="101600" marR="101600" marT="69850" marB="69850" anchor="ctr">
                    <a:lnL w="0">
                      <a:noFill/>
                    </a:lnL>
                    <a:lnR w="0">
                      <a:noFill/>
                    </a:lnR>
                    <a:lnT w="0">
                      <a:noFill/>
                    </a:lnT>
                    <a:lnB w="9525">
                      <a:solidFill>
                        <a:srgbClr val="E2E8F0"/>
                      </a:solidFill>
                    </a:lnB>
                    <a:solidFill>
                      <a:srgbClr val="FFFFFF"/>
                    </a:solidFill>
                  </a:tcPr>
                </a:tc>
              </a:tr>
            </a:tbl>
          </a:graphicData>
        </a:graphic>
      </p:graphicFrame>
      <p:sp>
        <p:nvSpPr>
          <p:cNvPr id="9" name="Text 9"/>
          <p:cNvSpPr txBox="1"/>
          <p:nvPr/>
        </p:nvSpPr>
        <p:spPr>
          <a:xfrm>
            <a:off x="711200" y="6096000"/>
            <a:ext cx="10769600" cy="177800"/>
          </a:xfrm>
          <a:prstGeom prst="rect">
            <a:avLst/>
          </a:prstGeom>
          <a:noFill/>
          <a:ln>
            <a:noFill/>
          </a:ln>
        </p:spPr>
        <p:txBody>
          <a:bodyPr wrap="square" lIns="0" tIns="0" rIns="0" bIns="0" anchor="t">
            <a:noAutofit/>
          </a:bodyPr>
          <a:lstStyle/>
          <a:p>
            <a:pPr algn="l">
              <a:lnSpc>
                <a:spcPct val="108000"/>
              </a:lnSpc>
              <a:spcBef>
                <a:spcPts val="0"/>
              </a:spcBef>
              <a:spcAft>
                <a:spcPts val="0"/>
              </a:spcAft>
              <a:buNone/>
            </a:pPr>
            <a:r>
              <a:rPr lang="en-US" sz="850" dirty="0">
                <a:solidFill>
                  <a:srgbClr val="64748B"/>
                </a:solidFill>
                <a:latin typeface="Arial"/>
                <a:cs typeface="Arial"/>
              </a:rPr>
              <a:t>Source: [17], [18], [19], [20], [49], [50]. Data as of 2026-05.</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p:nvPr/>
        </p:nvSpPr>
        <p:spPr>
          <a:xfrm>
            <a:off x="711200" y="508000"/>
            <a:ext cx="558800" cy="63500"/>
          </a:xfrm>
          <a:prstGeom prst="roundRect">
            <a:avLst>
              <a:gd name="adj" fmla="val 50000"/>
            </a:avLst>
          </a:prstGeom>
          <a:gradFill rotWithShape="1">
            <a:gsLst>
              <a:gs pos="0">
                <a:srgbClr val="4F46E5"/>
              </a:gs>
              <a:gs pos="50000">
                <a:srgbClr val="7C3AED"/>
              </a:gs>
              <a:gs pos="100000">
                <a:srgbClr val="06B6D4"/>
              </a:gs>
            </a:gsLst>
            <a:lin ang="0" scaled="0"/>
          </a:gradFill>
          <a:ln>
            <a:noFill/>
          </a:ln>
        </p:spPr>
      </p:sp>
      <p:sp>
        <p:nvSpPr>
          <p:cNvPr id="3" name="Text 3"/>
          <p:cNvSpPr txBox="1"/>
          <p:nvPr/>
        </p:nvSpPr>
        <p:spPr>
          <a:xfrm>
            <a:off x="711200" y="685800"/>
            <a:ext cx="10769600" cy="203200"/>
          </a:xfrm>
          <a:prstGeom prst="rect">
            <a:avLst/>
          </a:prstGeom>
          <a:noFill/>
          <a:ln>
            <a:noFill/>
          </a:ln>
        </p:spPr>
        <p:txBody>
          <a:bodyPr wrap="square" lIns="0" tIns="0" rIns="0" bIns="0" anchor="t">
            <a:noAutofit/>
          </a:bodyPr>
          <a:lstStyle/>
          <a:p>
            <a:pPr algn="l">
              <a:lnSpc>
                <a:spcPct val="108000"/>
              </a:lnSpc>
              <a:spcBef>
                <a:spcPts val="0"/>
              </a:spcBef>
              <a:spcAft>
                <a:spcPts val="0"/>
              </a:spcAft>
              <a:buNone/>
            </a:pPr>
            <a:r>
              <a:rPr lang="en-US" sz="950" b="1" spc="140" dirty="0">
                <a:solidFill>
                  <a:srgbClr val="4F46E5"/>
                </a:solidFill>
                <a:latin typeface="Arial"/>
                <a:cs typeface="Arial"/>
              </a:rPr>
              <a:t>SECTION 02 · CORE BUILDING BLOCKS: ACCELERATOR MANAGEMENT WITH DRA</a:t>
            </a:r>
            <a:endParaRPr lang="en-US" sz="950" dirty="0"/>
          </a:p>
        </p:txBody>
      </p:sp>
      <p:sp>
        <p:nvSpPr>
          <p:cNvPr id="4" name="Text 4"/>
          <p:cNvSpPr txBox="1"/>
          <p:nvPr/>
        </p:nvSpPr>
        <p:spPr>
          <a:xfrm>
            <a:off x="711200" y="965200"/>
            <a:ext cx="10515600" cy="481584"/>
          </a:xfrm>
          <a:prstGeom prst="rect">
            <a:avLst/>
          </a:prstGeom>
          <a:noFill/>
          <a:ln>
            <a:noFill/>
          </a:ln>
        </p:spPr>
        <p:txBody>
          <a:bodyPr wrap="square" lIns="0" tIns="0" rIns="0" bIns="0" anchor="t">
            <a:noAutofit/>
          </a:bodyPr>
          <a:lstStyle/>
          <a:p>
            <a:pPr algn="l">
              <a:lnSpc>
                <a:spcPct val="96000"/>
              </a:lnSpc>
              <a:spcBef>
                <a:spcPts val="0"/>
              </a:spcBef>
              <a:spcAft>
                <a:spcPts val="0"/>
              </a:spcAft>
              <a:buNone/>
            </a:pPr>
            <a:r>
              <a:rPr lang="en-US" sz="2800" b="1" spc="-30" dirty="0">
                <a:solidFill>
                  <a:srgbClr val="0F172A"/>
                </a:solidFill>
                <a:latin typeface="Arial"/>
                <a:cs typeface="Arial"/>
              </a:rPr>
              <a:t>Core building blocks: accelerator management with DRA</a:t>
            </a:r>
            <a:endParaRPr lang="en-US" sz="2800" dirty="0"/>
          </a:p>
        </p:txBody>
      </p:sp>
      <p:sp>
        <p:nvSpPr>
          <p:cNvPr id="5" name="Shape 5"/>
          <p:cNvSpPr/>
          <p:nvPr/>
        </p:nvSpPr>
        <p:spPr>
          <a:xfrm>
            <a:off x="711200" y="6451600"/>
            <a:ext cx="10769600" cy="9525"/>
          </a:xfrm>
          <a:prstGeom prst="rect">
            <a:avLst/>
          </a:prstGeom>
          <a:solidFill>
            <a:srgbClr val="E2E8F0"/>
          </a:solidFill>
          <a:ln>
            <a:noFill/>
          </a:ln>
        </p:spPr>
      </p:sp>
      <p:sp>
        <p:nvSpPr>
          <p:cNvPr id="6" name="Text 6"/>
          <p:cNvSpPr txBox="1"/>
          <p:nvPr/>
        </p:nvSpPr>
        <p:spPr>
          <a:xfrm>
            <a:off x="711200" y="6527800"/>
            <a:ext cx="9753600" cy="177800"/>
          </a:xfrm>
          <a:prstGeom prst="rect">
            <a:avLst/>
          </a:prstGeom>
          <a:noFill/>
          <a:ln>
            <a:noFill/>
          </a:ln>
        </p:spPr>
        <p:txBody>
          <a:bodyPr wrap="square" lIns="0" tIns="0" rIns="0" bIns="0" anchor="t">
            <a:noAutofit/>
          </a:bodyPr>
          <a:lstStyle/>
          <a:p>
            <a:pPr algn="l">
              <a:lnSpc>
                <a:spcPct val="108000"/>
              </a:lnSpc>
              <a:spcBef>
                <a:spcPts val="0"/>
              </a:spcBef>
              <a:spcAft>
                <a:spcPts val="0"/>
              </a:spcAft>
              <a:buNone/>
            </a:pPr>
            <a:r>
              <a:rPr lang="en-US" sz="800" dirty="0">
                <a:solidFill>
                  <a:srgbClr val="94A3B8"/>
                </a:solidFill>
                <a:latin typeface="Arial"/>
                <a:cs typeface="Arial"/>
              </a:rPr>
              <a:t>Kubernetes as the Platform for AI Infrastructure</a:t>
            </a:r>
            <a:endParaRPr lang="en-US" sz="800" dirty="0"/>
          </a:p>
        </p:txBody>
      </p:sp>
      <p:sp>
        <p:nvSpPr>
          <p:cNvPr id="7" name="Text 7"/>
          <p:cNvSpPr txBox="1"/>
          <p:nvPr/>
        </p:nvSpPr>
        <p:spPr>
          <a:xfrm>
            <a:off x="10718800" y="6527800"/>
            <a:ext cx="762000" cy="177800"/>
          </a:xfrm>
          <a:prstGeom prst="rect">
            <a:avLst/>
          </a:prstGeom>
          <a:noFill/>
          <a:ln>
            <a:noFill/>
          </a:ln>
        </p:spPr>
        <p:txBody>
          <a:bodyPr wrap="square" lIns="0" tIns="0" rIns="0" bIns="0" anchor="t">
            <a:noAutofit/>
          </a:bodyPr>
          <a:lstStyle/>
          <a:p>
            <a:pPr algn="r">
              <a:lnSpc>
                <a:spcPct val="108000"/>
              </a:lnSpc>
              <a:spcBef>
                <a:spcPts val="0"/>
              </a:spcBef>
              <a:spcAft>
                <a:spcPts val="0"/>
              </a:spcAft>
              <a:buNone/>
            </a:pPr>
            <a:r>
              <a:rPr lang="en-US" sz="850" b="1" dirty="0">
                <a:solidFill>
                  <a:srgbClr val="0F172A"/>
                </a:solidFill>
                <a:latin typeface="Arial"/>
                <a:cs typeface="Arial"/>
              </a:rPr>
              <a:t>14</a:t>
            </a:r>
            <a:endParaRPr lang="en-US" sz="850" dirty="0"/>
          </a:p>
        </p:txBody>
      </p:sp>
      <p:sp>
        <p:nvSpPr>
          <p:cNvPr id="8" name="Shape 8"/>
          <p:cNvSpPr/>
          <p:nvPr/>
        </p:nvSpPr>
        <p:spPr>
          <a:xfrm>
            <a:off x="711200" y="5251450"/>
            <a:ext cx="10769600" cy="996950"/>
          </a:xfrm>
          <a:prstGeom prst="roundRect">
            <a:avLst>
              <a:gd name="adj" fmla="val 12738"/>
            </a:avLst>
          </a:prstGeom>
          <a:solidFill>
            <a:srgbClr val="FFFBEB"/>
          </a:solidFill>
          <a:ln>
            <a:noFill/>
          </a:ln>
        </p:spPr>
      </p:sp>
      <p:sp>
        <p:nvSpPr>
          <p:cNvPr id="9" name="Shape 9"/>
          <p:cNvSpPr/>
          <p:nvPr/>
        </p:nvSpPr>
        <p:spPr>
          <a:xfrm>
            <a:off x="711200" y="5251450"/>
            <a:ext cx="50800" cy="996950"/>
          </a:xfrm>
          <a:prstGeom prst="roundRect">
            <a:avLst>
              <a:gd name="adj" fmla="val 50000"/>
            </a:avLst>
          </a:prstGeom>
          <a:solidFill>
            <a:srgbClr val="B45309"/>
          </a:solidFill>
          <a:ln>
            <a:noFill/>
          </a:ln>
        </p:spPr>
      </p:sp>
      <p:sp>
        <p:nvSpPr>
          <p:cNvPr id="10" name="Text 10"/>
          <p:cNvSpPr txBox="1"/>
          <p:nvPr/>
        </p:nvSpPr>
        <p:spPr>
          <a:xfrm>
            <a:off x="990600" y="5403850"/>
            <a:ext cx="10210800" cy="742950"/>
          </a:xfrm>
          <a:prstGeom prst="rect">
            <a:avLst/>
          </a:prstGeom>
          <a:noFill/>
          <a:ln>
            <a:noFill/>
          </a:ln>
        </p:spPr>
        <p:txBody>
          <a:bodyPr wrap="square" lIns="0" tIns="0" rIns="0" bIns="0" anchor="t">
            <a:noAutofit/>
          </a:bodyPr>
          <a:lstStyle/>
          <a:p>
            <a:pPr algn="l">
              <a:lnSpc>
                <a:spcPct val="108000"/>
              </a:lnSpc>
              <a:spcBef>
                <a:spcPts val="0"/>
              </a:spcBef>
              <a:spcAft>
                <a:spcPts val="400"/>
              </a:spcAft>
              <a:buNone/>
            </a:pPr>
            <a:r>
              <a:rPr lang="en-US" sz="850" b="1" spc="130" dirty="0">
                <a:solidFill>
                  <a:srgbClr val="B45309"/>
                </a:solidFill>
                <a:latin typeface="Arial"/>
                <a:cs typeface="Arial"/>
              </a:rPr>
              <a:t>CAUTION</a:t>
            </a:r>
            <a:endParaRPr lang="en-US" sz="850" dirty="0"/>
          </a:p>
          <a:p>
            <a:pPr algn="l">
              <a:lnSpc>
                <a:spcPct val="116000"/>
              </a:lnSpc>
              <a:spcBef>
                <a:spcPts val="0"/>
              </a:spcBef>
              <a:spcAft>
                <a:spcPts val="0"/>
              </a:spcAft>
              <a:buNone/>
            </a:pPr>
            <a:r>
              <a:rPr lang="en-US" sz="1250" dirty="0">
                <a:solidFill>
                  <a:srgbClr val="0F172A"/>
                </a:solidFill>
                <a:latin typeface="Arial"/>
                <a:cs typeface="Arial"/>
              </a:rPr>
              <a:t>DRA is GA as an API, but the most common use, allocating NVIDIA GPUs through DRA, is not yet officially supported in NVIDIA's driver</a:t>
            </a:r>
            <a:r>
              <a:rPr lang="en-US" sz="1250" baseline="30000" dirty="0">
                <a:solidFill>
                  <a:srgbClr val="64748B"/>
                </a:solidFill>
                <a:latin typeface="Arial"/>
                <a:cs typeface="Arial"/>
              </a:rPr>
              <a:t> 21</a:t>
            </a:r>
            <a:r>
              <a:rPr lang="en-US" sz="1250" dirty="0">
                <a:solidFill>
                  <a:srgbClr val="0F172A"/>
                </a:solidFill>
                <a:latin typeface="Arial"/>
                <a:cs typeface="Arial"/>
              </a:rPr>
              <a:t>.</a:t>
            </a:r>
            <a:endParaRPr lang="en-US" sz="1250" dirty="0"/>
          </a:p>
        </p:txBody>
      </p:sp>
      <p:sp>
        <p:nvSpPr>
          <p:cNvPr id="11" name="Text 11"/>
          <p:cNvSpPr txBox="1"/>
          <p:nvPr/>
        </p:nvSpPr>
        <p:spPr>
          <a:xfrm>
            <a:off x="711200" y="1700784"/>
            <a:ext cx="9261856" cy="3372866"/>
          </a:xfrm>
          <a:prstGeom prst="rect">
            <a:avLst/>
          </a:prstGeom>
          <a:noFill/>
          <a:ln>
            <a:noFill/>
          </a:ln>
        </p:spPr>
        <p:txBody>
          <a:bodyPr wrap="square" lIns="0" tIns="0" rIns="0" bIns="0" anchor="t">
            <a:noAutofit/>
          </a:bodyPr>
          <a:lstStyle/>
          <a:p>
            <a:pPr algn="l">
              <a:lnSpc>
                <a:spcPct val="112000"/>
              </a:lnSpc>
              <a:spcBef>
                <a:spcPts val="0"/>
              </a:spcBef>
              <a:spcAft>
                <a:spcPts val="594"/>
              </a:spcAft>
              <a:buNone/>
            </a:pPr>
            <a:r>
              <a:rPr lang="en-US" sz="1564" b="1" dirty="0">
                <a:solidFill>
                  <a:srgbClr val="4F46E5"/>
                </a:solidFill>
                <a:latin typeface="Arial"/>
                <a:cs typeface="Arial"/>
              </a:rPr>
              <a:t>NVIDIA's DRA driver and multi-node NVLink</a:t>
            </a:r>
            <a:endParaRPr lang="en-US" sz="1564" dirty="0"/>
          </a:p>
          <a:p>
            <a:pPr marL="248285" indent="-248285" algn="l">
              <a:lnSpc>
                <a:spcPct val="118000"/>
              </a:lnSpc>
              <a:spcBef>
                <a:spcPts val="0"/>
              </a:spcBef>
              <a:spcAft>
                <a:spcPts val="1275"/>
              </a:spcAft>
              <a:buClr>
                <a:srgbClr val="4F46E5"/>
              </a:buClr>
              <a:buFont typeface="Arial"/>
              <a:buChar char="•"/>
            </a:pPr>
            <a:r>
              <a:rPr lang="en-US" sz="1700" dirty="0">
                <a:solidFill>
                  <a:srgbClr val="334155"/>
                </a:solidFill>
                <a:latin typeface="Arial"/>
                <a:cs typeface="Arial"/>
              </a:rPr>
              <a:t>NVIDIA's DRA driver provides ComputeDomains, an officially supported abstraction for secure Multi-Node NVLink on systems such as GB200.</a:t>
            </a:r>
            <a:endParaRPr lang="en-US" sz="1700" dirty="0"/>
          </a:p>
          <a:p>
            <a:pPr marL="248285" indent="-248285" algn="l">
              <a:lnSpc>
                <a:spcPct val="118000"/>
              </a:lnSpc>
              <a:spcBef>
                <a:spcPts val="0"/>
              </a:spcBef>
              <a:spcAft>
                <a:spcPts val="1275"/>
              </a:spcAft>
              <a:buClr>
                <a:srgbClr val="4F46E5"/>
              </a:buClr>
              <a:buFont typeface="Arial"/>
              <a:buChar char="•"/>
            </a:pPr>
            <a:r>
              <a:rPr lang="en-US" sz="1700" dirty="0">
                <a:solidFill>
                  <a:srgbClr val="334155"/>
                </a:solidFill>
                <a:latin typeface="Arial"/>
                <a:cs typeface="Arial"/>
              </a:rPr>
              <a:t>WG Device Management set its 2026 priorities in June. They are multi-node allocation through integration with workload-aware scheduling, device health and failure detection, advanced sharing, and portable…</a:t>
            </a:r>
            <a:r>
              <a:rPr lang="en-US" sz="1700" baseline="30000" dirty="0">
                <a:solidFill>
                  <a:srgbClr val="64748B"/>
                </a:solidFill>
                <a:latin typeface="Arial"/>
                <a:cs typeface="Arial"/>
              </a:rPr>
              <a:t> 51</a:t>
            </a:r>
            <a:endParaRPr lang="en-US" sz="17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p:nvPr/>
        </p:nvSpPr>
        <p:spPr>
          <a:xfrm>
            <a:off x="711200" y="508000"/>
            <a:ext cx="558800" cy="63500"/>
          </a:xfrm>
          <a:prstGeom prst="roundRect">
            <a:avLst>
              <a:gd name="adj" fmla="val 50000"/>
            </a:avLst>
          </a:prstGeom>
          <a:gradFill rotWithShape="1">
            <a:gsLst>
              <a:gs pos="0">
                <a:srgbClr val="4F46E5"/>
              </a:gs>
              <a:gs pos="50000">
                <a:srgbClr val="7C3AED"/>
              </a:gs>
              <a:gs pos="100000">
                <a:srgbClr val="06B6D4"/>
              </a:gs>
            </a:gsLst>
            <a:lin ang="0" scaled="0"/>
          </a:gradFill>
          <a:ln>
            <a:noFill/>
          </a:ln>
        </p:spPr>
      </p:sp>
      <p:sp>
        <p:nvSpPr>
          <p:cNvPr id="3" name="Text 3"/>
          <p:cNvSpPr txBox="1"/>
          <p:nvPr/>
        </p:nvSpPr>
        <p:spPr>
          <a:xfrm>
            <a:off x="711200" y="685800"/>
            <a:ext cx="10769600" cy="203200"/>
          </a:xfrm>
          <a:prstGeom prst="rect">
            <a:avLst/>
          </a:prstGeom>
          <a:noFill/>
          <a:ln>
            <a:noFill/>
          </a:ln>
        </p:spPr>
        <p:txBody>
          <a:bodyPr wrap="square" lIns="0" tIns="0" rIns="0" bIns="0" anchor="t">
            <a:noAutofit/>
          </a:bodyPr>
          <a:lstStyle/>
          <a:p>
            <a:pPr algn="l">
              <a:lnSpc>
                <a:spcPct val="108000"/>
              </a:lnSpc>
              <a:spcBef>
                <a:spcPts val="0"/>
              </a:spcBef>
              <a:spcAft>
                <a:spcPts val="0"/>
              </a:spcAft>
              <a:buNone/>
            </a:pPr>
            <a:r>
              <a:rPr lang="en-US" sz="950" b="1" spc="140" dirty="0">
                <a:solidFill>
                  <a:srgbClr val="4F46E5"/>
                </a:solidFill>
                <a:latin typeface="Arial"/>
                <a:cs typeface="Arial"/>
              </a:rPr>
              <a:t>SECTION 03 · TRAINING ON KUBERNETES: GANG SCHEDULING, OPERATORS AND SLURM</a:t>
            </a:r>
            <a:endParaRPr lang="en-US" sz="950" dirty="0"/>
          </a:p>
        </p:txBody>
      </p:sp>
      <p:sp>
        <p:nvSpPr>
          <p:cNvPr id="4" name="Text 4"/>
          <p:cNvSpPr txBox="1"/>
          <p:nvPr/>
        </p:nvSpPr>
        <p:spPr>
          <a:xfrm>
            <a:off x="711200" y="965200"/>
            <a:ext cx="10515600" cy="886968"/>
          </a:xfrm>
          <a:prstGeom prst="rect">
            <a:avLst/>
          </a:prstGeom>
          <a:noFill/>
          <a:ln>
            <a:noFill/>
          </a:ln>
        </p:spPr>
        <p:txBody>
          <a:bodyPr wrap="square" lIns="0" tIns="0" rIns="0" bIns="0" anchor="t">
            <a:noAutofit/>
          </a:bodyPr>
          <a:lstStyle/>
          <a:p>
            <a:pPr algn="l">
              <a:lnSpc>
                <a:spcPct val="96000"/>
              </a:lnSpc>
              <a:spcBef>
                <a:spcPts val="0"/>
              </a:spcBef>
              <a:spcAft>
                <a:spcPts val="0"/>
              </a:spcAft>
              <a:buNone/>
            </a:pPr>
            <a:r>
              <a:rPr lang="en-US" sz="2800" b="1" spc="-30" dirty="0">
                <a:solidFill>
                  <a:srgbClr val="0F172A"/>
                </a:solidFill>
                <a:latin typeface="Arial"/>
                <a:cs typeface="Arial"/>
              </a:rPr>
              <a:t>Training on Kubernetes: gang scheduling, operators and Slurm</a:t>
            </a:r>
            <a:endParaRPr lang="en-US" sz="2800" dirty="0"/>
          </a:p>
        </p:txBody>
      </p:sp>
      <p:sp>
        <p:nvSpPr>
          <p:cNvPr id="5" name="Shape 5"/>
          <p:cNvSpPr/>
          <p:nvPr/>
        </p:nvSpPr>
        <p:spPr>
          <a:xfrm>
            <a:off x="711200" y="6451600"/>
            <a:ext cx="10769600" cy="9525"/>
          </a:xfrm>
          <a:prstGeom prst="rect">
            <a:avLst/>
          </a:prstGeom>
          <a:solidFill>
            <a:srgbClr val="E2E8F0"/>
          </a:solidFill>
          <a:ln>
            <a:noFill/>
          </a:ln>
        </p:spPr>
      </p:sp>
      <p:sp>
        <p:nvSpPr>
          <p:cNvPr id="6" name="Text 6"/>
          <p:cNvSpPr txBox="1"/>
          <p:nvPr/>
        </p:nvSpPr>
        <p:spPr>
          <a:xfrm>
            <a:off x="711200" y="6527800"/>
            <a:ext cx="9753600" cy="177800"/>
          </a:xfrm>
          <a:prstGeom prst="rect">
            <a:avLst/>
          </a:prstGeom>
          <a:noFill/>
          <a:ln>
            <a:noFill/>
          </a:ln>
        </p:spPr>
        <p:txBody>
          <a:bodyPr wrap="square" lIns="0" tIns="0" rIns="0" bIns="0" anchor="t">
            <a:noAutofit/>
          </a:bodyPr>
          <a:lstStyle/>
          <a:p>
            <a:pPr algn="l">
              <a:lnSpc>
                <a:spcPct val="108000"/>
              </a:lnSpc>
              <a:spcBef>
                <a:spcPts val="0"/>
              </a:spcBef>
              <a:spcAft>
                <a:spcPts val="0"/>
              </a:spcAft>
              <a:buNone/>
            </a:pPr>
            <a:r>
              <a:rPr lang="en-US" sz="800" dirty="0">
                <a:solidFill>
                  <a:srgbClr val="94A3B8"/>
                </a:solidFill>
                <a:latin typeface="Arial"/>
                <a:cs typeface="Arial"/>
              </a:rPr>
              <a:t>Kubernetes as the Platform for AI Infrastructure</a:t>
            </a:r>
            <a:endParaRPr lang="en-US" sz="800" dirty="0"/>
          </a:p>
        </p:txBody>
      </p:sp>
      <p:sp>
        <p:nvSpPr>
          <p:cNvPr id="7" name="Text 7"/>
          <p:cNvSpPr txBox="1"/>
          <p:nvPr/>
        </p:nvSpPr>
        <p:spPr>
          <a:xfrm>
            <a:off x="10718800" y="6527800"/>
            <a:ext cx="762000" cy="177800"/>
          </a:xfrm>
          <a:prstGeom prst="rect">
            <a:avLst/>
          </a:prstGeom>
          <a:noFill/>
          <a:ln>
            <a:noFill/>
          </a:ln>
        </p:spPr>
        <p:txBody>
          <a:bodyPr wrap="square" lIns="0" tIns="0" rIns="0" bIns="0" anchor="t">
            <a:noAutofit/>
          </a:bodyPr>
          <a:lstStyle/>
          <a:p>
            <a:pPr algn="r">
              <a:lnSpc>
                <a:spcPct val="108000"/>
              </a:lnSpc>
              <a:spcBef>
                <a:spcPts val="0"/>
              </a:spcBef>
              <a:spcAft>
                <a:spcPts val="0"/>
              </a:spcAft>
              <a:buNone/>
            </a:pPr>
            <a:r>
              <a:rPr lang="en-US" sz="850" b="1" dirty="0">
                <a:solidFill>
                  <a:srgbClr val="0F172A"/>
                </a:solidFill>
                <a:latin typeface="Arial"/>
                <a:cs typeface="Arial"/>
              </a:rPr>
              <a:t>15</a:t>
            </a:r>
            <a:endParaRPr lang="en-US" sz="850" dirty="0"/>
          </a:p>
        </p:txBody>
      </p:sp>
      <p:sp>
        <p:nvSpPr>
          <p:cNvPr id="8" name="Text 8"/>
          <p:cNvSpPr txBox="1"/>
          <p:nvPr/>
        </p:nvSpPr>
        <p:spPr>
          <a:xfrm>
            <a:off x="711200" y="2106168"/>
            <a:ext cx="9261856" cy="4142232"/>
          </a:xfrm>
          <a:prstGeom prst="rect">
            <a:avLst/>
          </a:prstGeom>
          <a:noFill/>
          <a:ln>
            <a:noFill/>
          </a:ln>
        </p:spPr>
        <p:txBody>
          <a:bodyPr wrap="square" lIns="0" tIns="0" rIns="0" bIns="0" anchor="t">
            <a:noAutofit/>
          </a:bodyPr>
          <a:lstStyle/>
          <a:p>
            <a:pPr marL="248285" indent="-248285" algn="l">
              <a:lnSpc>
                <a:spcPct val="118000"/>
              </a:lnSpc>
              <a:spcBef>
                <a:spcPts val="0"/>
              </a:spcBef>
              <a:spcAft>
                <a:spcPts val="1275"/>
              </a:spcAft>
              <a:buClr>
                <a:srgbClr val="4F46E5"/>
              </a:buClr>
              <a:buFont typeface="Arial"/>
              <a:buChar char="•"/>
            </a:pPr>
            <a:r>
              <a:rPr lang="en-US" sz="1700" dirty="0">
                <a:solidFill>
                  <a:srgbClr val="334155"/>
                </a:solidFill>
                <a:latin typeface="Arial"/>
                <a:cs typeface="Arial"/>
              </a:rPr>
              <a:t>Distributed training needs all-or-nothing placement: a job whose workers cannot all start wastes every GPU it holds.</a:t>
            </a:r>
            <a:endParaRPr lang="en-US" sz="1700" dirty="0"/>
          </a:p>
          <a:p>
            <a:pPr marL="248285" indent="-248285" algn="l">
              <a:lnSpc>
                <a:spcPct val="118000"/>
              </a:lnSpc>
              <a:spcBef>
                <a:spcPts val="0"/>
              </a:spcBef>
              <a:spcAft>
                <a:spcPts val="1275"/>
              </a:spcAft>
              <a:buClr>
                <a:srgbClr val="4F46E5"/>
              </a:buClr>
              <a:buFont typeface="Arial"/>
              <a:buChar char="•"/>
            </a:pPr>
            <a:r>
              <a:rPr lang="en-US" sz="1700" dirty="0">
                <a:solidFill>
                  <a:srgbClr val="334155"/>
                </a:solidFill>
                <a:latin typeface="Arial"/>
                <a:cs typeface="Arial"/>
              </a:rPr>
              <a:t>Production training therefore runs on add-on schedulers. Kueue's queueing, quotas with fair sharing and preemption, timeout-based all-or-nothing admission and topology-aware scheduling are GA.</a:t>
            </a:r>
            <a:endParaRPr lang="en-US" sz="17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p:nvPr/>
        </p:nvSpPr>
        <p:spPr>
          <a:xfrm>
            <a:off x="711200" y="508000"/>
            <a:ext cx="558800" cy="63500"/>
          </a:xfrm>
          <a:prstGeom prst="roundRect">
            <a:avLst>
              <a:gd name="adj" fmla="val 50000"/>
            </a:avLst>
          </a:prstGeom>
          <a:gradFill rotWithShape="1">
            <a:gsLst>
              <a:gs pos="0">
                <a:srgbClr val="4F46E5"/>
              </a:gs>
              <a:gs pos="50000">
                <a:srgbClr val="7C3AED"/>
              </a:gs>
              <a:gs pos="100000">
                <a:srgbClr val="06B6D4"/>
              </a:gs>
            </a:gsLst>
            <a:lin ang="0" scaled="0"/>
          </a:gradFill>
          <a:ln>
            <a:noFill/>
          </a:ln>
        </p:spPr>
      </p:sp>
      <p:sp>
        <p:nvSpPr>
          <p:cNvPr id="3" name="Text 3"/>
          <p:cNvSpPr txBox="1"/>
          <p:nvPr/>
        </p:nvSpPr>
        <p:spPr>
          <a:xfrm>
            <a:off x="711200" y="685800"/>
            <a:ext cx="10769600" cy="203200"/>
          </a:xfrm>
          <a:prstGeom prst="rect">
            <a:avLst/>
          </a:prstGeom>
          <a:noFill/>
          <a:ln>
            <a:noFill/>
          </a:ln>
        </p:spPr>
        <p:txBody>
          <a:bodyPr wrap="square" lIns="0" tIns="0" rIns="0" bIns="0" anchor="t">
            <a:noAutofit/>
          </a:bodyPr>
          <a:lstStyle/>
          <a:p>
            <a:pPr algn="l">
              <a:lnSpc>
                <a:spcPct val="108000"/>
              </a:lnSpc>
              <a:spcBef>
                <a:spcPts val="0"/>
              </a:spcBef>
              <a:spcAft>
                <a:spcPts val="0"/>
              </a:spcAft>
              <a:buNone/>
            </a:pPr>
            <a:r>
              <a:rPr lang="en-US" sz="950" b="1" spc="140" dirty="0">
                <a:solidFill>
                  <a:srgbClr val="4F46E5"/>
                </a:solidFill>
                <a:latin typeface="Arial"/>
                <a:cs typeface="Arial"/>
              </a:rPr>
              <a:t>SECTION 03 · TRAINING ON KUBERNETES: GANG SCHEDULING, OPERATORS AND SLURM · TABLE 3</a:t>
            </a:r>
            <a:endParaRPr lang="en-US" sz="950" dirty="0"/>
          </a:p>
        </p:txBody>
      </p:sp>
      <p:sp>
        <p:nvSpPr>
          <p:cNvPr id="4" name="Text 4"/>
          <p:cNvSpPr txBox="1"/>
          <p:nvPr/>
        </p:nvSpPr>
        <p:spPr>
          <a:xfrm>
            <a:off x="711200" y="965200"/>
            <a:ext cx="10515600" cy="481584"/>
          </a:xfrm>
          <a:prstGeom prst="rect">
            <a:avLst/>
          </a:prstGeom>
          <a:noFill/>
          <a:ln>
            <a:noFill/>
          </a:ln>
        </p:spPr>
        <p:txBody>
          <a:bodyPr wrap="square" lIns="0" tIns="0" rIns="0" bIns="0" anchor="t">
            <a:noAutofit/>
          </a:bodyPr>
          <a:lstStyle/>
          <a:p>
            <a:pPr algn="l">
              <a:lnSpc>
                <a:spcPct val="96000"/>
              </a:lnSpc>
              <a:spcBef>
                <a:spcPts val="0"/>
              </a:spcBef>
              <a:spcAft>
                <a:spcPts val="0"/>
              </a:spcAft>
              <a:buNone/>
            </a:pPr>
            <a:r>
              <a:rPr lang="en-US" sz="2800" b="1" spc="-30" dirty="0">
                <a:solidFill>
                  <a:srgbClr val="0F172A"/>
                </a:solidFill>
                <a:latin typeface="Arial"/>
                <a:cs typeface="Arial"/>
              </a:rPr>
              <a:t>Training schedulers and Slurm-on-Kubernetes options</a:t>
            </a:r>
            <a:endParaRPr lang="en-US" sz="2800" dirty="0"/>
          </a:p>
        </p:txBody>
      </p:sp>
      <p:sp>
        <p:nvSpPr>
          <p:cNvPr id="5" name="Shape 5"/>
          <p:cNvSpPr/>
          <p:nvPr/>
        </p:nvSpPr>
        <p:spPr>
          <a:xfrm>
            <a:off x="711200" y="6451600"/>
            <a:ext cx="10769600" cy="9525"/>
          </a:xfrm>
          <a:prstGeom prst="rect">
            <a:avLst/>
          </a:prstGeom>
          <a:solidFill>
            <a:srgbClr val="E2E8F0"/>
          </a:solidFill>
          <a:ln>
            <a:noFill/>
          </a:ln>
        </p:spPr>
      </p:sp>
      <p:sp>
        <p:nvSpPr>
          <p:cNvPr id="6" name="Text 6"/>
          <p:cNvSpPr txBox="1"/>
          <p:nvPr/>
        </p:nvSpPr>
        <p:spPr>
          <a:xfrm>
            <a:off x="711200" y="6527800"/>
            <a:ext cx="9753600" cy="177800"/>
          </a:xfrm>
          <a:prstGeom prst="rect">
            <a:avLst/>
          </a:prstGeom>
          <a:noFill/>
          <a:ln>
            <a:noFill/>
          </a:ln>
        </p:spPr>
        <p:txBody>
          <a:bodyPr wrap="square" lIns="0" tIns="0" rIns="0" bIns="0" anchor="t">
            <a:noAutofit/>
          </a:bodyPr>
          <a:lstStyle/>
          <a:p>
            <a:pPr algn="l">
              <a:lnSpc>
                <a:spcPct val="108000"/>
              </a:lnSpc>
              <a:spcBef>
                <a:spcPts val="0"/>
              </a:spcBef>
              <a:spcAft>
                <a:spcPts val="0"/>
              </a:spcAft>
              <a:buNone/>
            </a:pPr>
            <a:r>
              <a:rPr lang="en-US" sz="800" dirty="0">
                <a:solidFill>
                  <a:srgbClr val="94A3B8"/>
                </a:solidFill>
                <a:latin typeface="Arial"/>
                <a:cs typeface="Arial"/>
              </a:rPr>
              <a:t>Kubernetes as the Platform for AI Infrastructure</a:t>
            </a:r>
            <a:endParaRPr lang="en-US" sz="800" dirty="0"/>
          </a:p>
        </p:txBody>
      </p:sp>
      <p:sp>
        <p:nvSpPr>
          <p:cNvPr id="7" name="Text 7"/>
          <p:cNvSpPr txBox="1"/>
          <p:nvPr/>
        </p:nvSpPr>
        <p:spPr>
          <a:xfrm>
            <a:off x="10718800" y="6527800"/>
            <a:ext cx="762000" cy="177800"/>
          </a:xfrm>
          <a:prstGeom prst="rect">
            <a:avLst/>
          </a:prstGeom>
          <a:noFill/>
          <a:ln>
            <a:noFill/>
          </a:ln>
        </p:spPr>
        <p:txBody>
          <a:bodyPr wrap="square" lIns="0" tIns="0" rIns="0" bIns="0" anchor="t">
            <a:noAutofit/>
          </a:bodyPr>
          <a:lstStyle/>
          <a:p>
            <a:pPr algn="r">
              <a:lnSpc>
                <a:spcPct val="108000"/>
              </a:lnSpc>
              <a:spcBef>
                <a:spcPts val="0"/>
              </a:spcBef>
              <a:spcAft>
                <a:spcPts val="0"/>
              </a:spcAft>
              <a:buNone/>
            </a:pPr>
            <a:r>
              <a:rPr lang="en-US" sz="850" b="1" dirty="0">
                <a:solidFill>
                  <a:srgbClr val="0F172A"/>
                </a:solidFill>
                <a:latin typeface="Arial"/>
                <a:cs typeface="Arial"/>
              </a:rPr>
              <a:t>16</a:t>
            </a:r>
            <a:endParaRPr lang="en-US" sz="850" dirty="0"/>
          </a:p>
        </p:txBody>
      </p:sp>
      <p:graphicFrame>
        <p:nvGraphicFramePr>
          <p:cNvPr id="8" name="Table 8"/>
          <p:cNvGraphicFramePr>
            <a:graphicFrameLocks noGrp="1"/>
          </p:cNvGraphicFramePr>
          <p:nvPr/>
        </p:nvGraphicFramePr>
        <p:xfrm>
          <a:off x="711200" y="1700784"/>
          <a:ext cx="10769600" cy="1828800"/>
        </p:xfrm>
        <a:graphic>
          <a:graphicData uri="http://schemas.openxmlformats.org/drawingml/2006/table">
            <a:tbl>
              <a:tblPr firstRow="1"/>
              <a:tblGrid>
                <a:gridCol w="1990035"/>
                <a:gridCol w="2692400"/>
                <a:gridCol w="2692400"/>
                <a:gridCol w="1404730"/>
                <a:gridCol w="1990035"/>
              </a:tblGrid>
              <a:tr h="279400">
                <a:tc>
                  <a:txBody>
                    <a:bodyPr/>
                    <a:lstStyle/>
                    <a:p>
                      <a:pPr algn="l">
                        <a:lnSpc>
                          <a:spcPct val="108000"/>
                        </a:lnSpc>
                        <a:spcBef>
                          <a:spcPts val="0"/>
                        </a:spcBef>
                        <a:spcAft>
                          <a:spcPts val="0"/>
                        </a:spcAft>
                        <a:buNone/>
                      </a:pPr>
                      <a:r>
                        <a:rPr lang="en-US" sz="780" b="1" spc="60" dirty="0">
                          <a:solidFill>
                            <a:srgbClr val="64748B"/>
                          </a:solidFill>
                          <a:latin typeface="Arial"/>
                          <a:cs typeface="Arial"/>
                        </a:rPr>
                        <a:t>OPTION</a:t>
                      </a:r>
                      <a:endParaRPr lang="en-US" sz="780" dirty="0"/>
                    </a:p>
                  </a:txBody>
                  <a:tcPr marL="101600" marR="101600" marT="69850" marB="69850" anchor="ctr">
                    <a:lnL w="0">
                      <a:noFill/>
                    </a:lnL>
                    <a:lnR w="0">
                      <a:noFill/>
                    </a:lnR>
                    <a:lnT w="0">
                      <a:noFill/>
                    </a:lnT>
                    <a:lnB w="9525">
                      <a:solidFill>
                        <a:srgbClr val="E2E8F0"/>
                      </a:solidFill>
                    </a:lnB>
                    <a:solidFill>
                      <a:srgbClr val="F8FAFC"/>
                    </a:solidFill>
                  </a:tcPr>
                </a:tc>
                <a:tc>
                  <a:txBody>
                    <a:bodyPr/>
                    <a:lstStyle/>
                    <a:p>
                      <a:pPr algn="l">
                        <a:lnSpc>
                          <a:spcPct val="108000"/>
                        </a:lnSpc>
                        <a:spcBef>
                          <a:spcPts val="0"/>
                        </a:spcBef>
                        <a:spcAft>
                          <a:spcPts val="0"/>
                        </a:spcAft>
                        <a:buNone/>
                      </a:pPr>
                      <a:r>
                        <a:rPr lang="en-US" sz="780" b="1" spc="60" dirty="0">
                          <a:solidFill>
                            <a:srgbClr val="64748B"/>
                          </a:solidFill>
                          <a:latin typeface="Arial"/>
                          <a:cs typeface="Arial"/>
                        </a:rPr>
                        <a:t>GANG SCHEDULING</a:t>
                      </a:r>
                      <a:endParaRPr lang="en-US" sz="780" dirty="0"/>
                    </a:p>
                  </a:txBody>
                  <a:tcPr marL="101600" marR="101600" marT="69850" marB="69850" anchor="ctr">
                    <a:lnL w="0">
                      <a:noFill/>
                    </a:lnL>
                    <a:lnR w="0">
                      <a:noFill/>
                    </a:lnR>
                    <a:lnT w="0">
                      <a:noFill/>
                    </a:lnT>
                    <a:lnB w="9525">
                      <a:solidFill>
                        <a:srgbClr val="E2E8F0"/>
                      </a:solidFill>
                    </a:lnB>
                    <a:solidFill>
                      <a:srgbClr val="F8FAFC"/>
                    </a:solidFill>
                  </a:tcPr>
                </a:tc>
                <a:tc>
                  <a:txBody>
                    <a:bodyPr/>
                    <a:lstStyle/>
                    <a:p>
                      <a:pPr algn="l">
                        <a:lnSpc>
                          <a:spcPct val="108000"/>
                        </a:lnSpc>
                        <a:spcBef>
                          <a:spcPts val="0"/>
                        </a:spcBef>
                        <a:spcAft>
                          <a:spcPts val="0"/>
                        </a:spcAft>
                        <a:buNone/>
                      </a:pPr>
                      <a:r>
                        <a:rPr lang="en-US" sz="780" b="1" spc="60" dirty="0">
                          <a:solidFill>
                            <a:srgbClr val="64748B"/>
                          </a:solidFill>
                          <a:latin typeface="Arial"/>
                          <a:cs typeface="Arial"/>
                        </a:rPr>
                        <a:t>TOPOLOGY AWARENESS</a:t>
                      </a:r>
                      <a:endParaRPr lang="en-US" sz="780" dirty="0"/>
                    </a:p>
                  </a:txBody>
                  <a:tcPr marL="101600" marR="101600" marT="69850" marB="69850" anchor="ctr">
                    <a:lnL w="0">
                      <a:noFill/>
                    </a:lnL>
                    <a:lnR w="0">
                      <a:noFill/>
                    </a:lnR>
                    <a:lnT w="0">
                      <a:noFill/>
                    </a:lnT>
                    <a:lnB w="9525">
                      <a:solidFill>
                        <a:srgbClr val="E2E8F0"/>
                      </a:solidFill>
                    </a:lnB>
                    <a:solidFill>
                      <a:srgbClr val="F8FAFC"/>
                    </a:solidFill>
                  </a:tcPr>
                </a:tc>
                <a:tc>
                  <a:txBody>
                    <a:bodyPr/>
                    <a:lstStyle/>
                    <a:p>
                      <a:pPr algn="l">
                        <a:lnSpc>
                          <a:spcPct val="108000"/>
                        </a:lnSpc>
                        <a:spcBef>
                          <a:spcPts val="0"/>
                        </a:spcBef>
                        <a:spcAft>
                          <a:spcPts val="0"/>
                        </a:spcAft>
                        <a:buNone/>
                      </a:pPr>
                      <a:r>
                        <a:rPr lang="en-US" sz="780" b="1" spc="60" dirty="0">
                          <a:solidFill>
                            <a:srgbClr val="64748B"/>
                          </a:solidFill>
                          <a:latin typeface="Arial"/>
                          <a:cs typeface="Arial"/>
                        </a:rPr>
                        <a:t>MULTI-CLUSTER</a:t>
                      </a:r>
                      <a:endParaRPr lang="en-US" sz="780" dirty="0"/>
                    </a:p>
                  </a:txBody>
                  <a:tcPr marL="101600" marR="101600" marT="69850" marB="69850" anchor="ctr">
                    <a:lnL w="0">
                      <a:noFill/>
                    </a:lnL>
                    <a:lnR w="0">
                      <a:noFill/>
                    </a:lnR>
                    <a:lnT w="0">
                      <a:noFill/>
                    </a:lnT>
                    <a:lnB w="9525">
                      <a:solidFill>
                        <a:srgbClr val="E2E8F0"/>
                      </a:solidFill>
                    </a:lnB>
                    <a:solidFill>
                      <a:srgbClr val="F8FAFC"/>
                    </a:solidFill>
                  </a:tcPr>
                </a:tc>
                <a:tc>
                  <a:txBody>
                    <a:bodyPr/>
                    <a:lstStyle/>
                    <a:p>
                      <a:pPr algn="l">
                        <a:lnSpc>
                          <a:spcPct val="108000"/>
                        </a:lnSpc>
                        <a:spcBef>
                          <a:spcPts val="0"/>
                        </a:spcBef>
                        <a:spcAft>
                          <a:spcPts val="0"/>
                        </a:spcAft>
                        <a:buNone/>
                      </a:pPr>
                      <a:r>
                        <a:rPr lang="en-US" sz="780" b="1" spc="60" dirty="0">
                          <a:solidFill>
                            <a:srgbClr val="64748B"/>
                          </a:solidFill>
                          <a:latin typeface="Arial"/>
                          <a:cs typeface="Arial"/>
                        </a:rPr>
                        <a:t>MATURITY SIGNAL</a:t>
                      </a:r>
                      <a:endParaRPr lang="en-US" sz="780" dirty="0"/>
                    </a:p>
                  </a:txBody>
                  <a:tcPr marL="101600" marR="101600" marT="69850" marB="69850" anchor="ctr">
                    <a:lnL w="0">
                      <a:noFill/>
                    </a:lnL>
                    <a:lnR w="0">
                      <a:noFill/>
                    </a:lnR>
                    <a:lnT w="0">
                      <a:noFill/>
                    </a:lnT>
                    <a:lnB w="9525">
                      <a:solidFill>
                        <a:srgbClr val="E2E8F0"/>
                      </a:solidFill>
                    </a:lnB>
                    <a:solidFill>
                      <a:srgbClr val="F8FAFC"/>
                    </a:solidFill>
                  </a:tcPr>
                </a:tc>
              </a:tr>
              <a:tr h="279400">
                <a:tc>
                  <a:txBody>
                    <a:bodyPr/>
                    <a:lstStyle/>
                    <a:p>
                      <a:pPr algn="l">
                        <a:lnSpc>
                          <a:spcPct val="108000"/>
                        </a:lnSpc>
                        <a:spcBef>
                          <a:spcPts val="0"/>
                        </a:spcBef>
                        <a:spcAft>
                          <a:spcPts val="0"/>
                        </a:spcAft>
                        <a:buNone/>
                      </a:pPr>
                      <a:r>
                        <a:rPr lang="en-US" sz="1000" b="1" dirty="0">
                          <a:solidFill>
                            <a:srgbClr val="0F172A"/>
                          </a:solidFill>
                          <a:latin typeface="Arial"/>
                          <a:cs typeface="Arial"/>
                        </a:rPr>
                        <a:t>Kubernetes WAS / PodGroup</a:t>
                      </a:r>
                      <a:endParaRPr lang="en-US" sz="1000" dirty="0"/>
                    </a:p>
                  </a:txBody>
                  <a:tcPr marL="101600" marR="101600" marT="69850" marB="69850" anchor="ctr">
                    <a:lnL w="0">
                      <a:noFill/>
                    </a:lnL>
                    <a:lnR w="0">
                      <a:noFill/>
                    </a:lnR>
                    <a:lnT w="0">
                      <a:noFill/>
                    </a:lnT>
                    <a:lnB w="9525">
                      <a:solidFill>
                        <a:srgbClr val="E2E8F0"/>
                      </a:solidFill>
                    </a:lnB>
                    <a:solidFill>
                      <a:srgbClr val="FFFFFF"/>
                    </a:solidFill>
                  </a:tcPr>
                </a:tc>
                <a:tc>
                  <a:txBody>
                    <a:bodyPr/>
                    <a:lstStyle/>
                    <a:p>
                      <a:pPr algn="l">
                        <a:lnSpc>
                          <a:spcPct val="108000"/>
                        </a:lnSpc>
                        <a:spcBef>
                          <a:spcPts val="0"/>
                        </a:spcBef>
                        <a:spcAft>
                          <a:spcPts val="0"/>
                        </a:spcAft>
                        <a:buNone/>
                      </a:pPr>
                      <a:r>
                        <a:rPr lang="en-US" sz="1000" dirty="0">
                          <a:solidFill>
                            <a:srgbClr val="334155"/>
                          </a:solidFill>
                          <a:latin typeface="Arial"/>
                          <a:cs typeface="Arial"/>
                        </a:rPr>
                        <a:t>Native, atomic group cycle</a:t>
                      </a:r>
                      <a:endParaRPr lang="en-US" sz="1000" dirty="0"/>
                    </a:p>
                  </a:txBody>
                  <a:tcPr marL="101600" marR="101600" marT="69850" marB="69850" anchor="ctr">
                    <a:lnL w="0">
                      <a:noFill/>
                    </a:lnL>
                    <a:lnR w="0">
                      <a:noFill/>
                    </a:lnR>
                    <a:lnT w="0">
                      <a:noFill/>
                    </a:lnT>
                    <a:lnB w="9525">
                      <a:solidFill>
                        <a:srgbClr val="E2E8F0"/>
                      </a:solidFill>
                    </a:lnB>
                    <a:solidFill>
                      <a:srgbClr val="FFFFFF"/>
                    </a:solidFill>
                  </a:tcPr>
                </a:tc>
                <a:tc>
                  <a:txBody>
                    <a:bodyPr/>
                    <a:lstStyle/>
                    <a:p>
                      <a:pPr algn="l">
                        <a:lnSpc>
                          <a:spcPct val="108000"/>
                        </a:lnSpc>
                        <a:spcBef>
                          <a:spcPts val="0"/>
                        </a:spcBef>
                        <a:spcAft>
                          <a:spcPts val="0"/>
                        </a:spcAft>
                        <a:buNone/>
                      </a:pPr>
                      <a:r>
                        <a:rPr lang="en-US" sz="1000" dirty="0">
                          <a:solidFill>
                            <a:srgbClr val="334155"/>
                          </a:solidFill>
                          <a:latin typeface="Arial"/>
                          <a:cs typeface="Arial"/>
                        </a:rPr>
                        <a:t>Included in WAS work</a:t>
                      </a:r>
                      <a:endParaRPr lang="en-US" sz="1000" dirty="0"/>
                    </a:p>
                  </a:txBody>
                  <a:tcPr marL="101600" marR="101600" marT="69850" marB="69850" anchor="ctr">
                    <a:lnL w="0">
                      <a:noFill/>
                    </a:lnL>
                    <a:lnR w="0">
                      <a:noFill/>
                    </a:lnR>
                    <a:lnT w="0">
                      <a:noFill/>
                    </a:lnT>
                    <a:lnB w="9525">
                      <a:solidFill>
                        <a:srgbClr val="E2E8F0"/>
                      </a:solidFill>
                    </a:lnB>
                    <a:solidFill>
                      <a:srgbClr val="FFFFFF"/>
                    </a:solidFill>
                  </a:tcPr>
                </a:tc>
                <a:tc>
                  <a:txBody>
                    <a:bodyPr/>
                    <a:lstStyle/>
                    <a:p>
                      <a:pPr algn="l">
                        <a:lnSpc>
                          <a:spcPct val="108000"/>
                        </a:lnSpc>
                        <a:spcBef>
                          <a:spcPts val="0"/>
                        </a:spcBef>
                        <a:spcAft>
                          <a:spcPts val="0"/>
                        </a:spcAft>
                        <a:buNone/>
                      </a:pPr>
                      <a:r>
                        <a:rPr lang="en-US" sz="1000" dirty="0">
                          <a:solidFill>
                            <a:srgbClr val="334155"/>
                          </a:solidFill>
                          <a:latin typeface="Arial"/>
                          <a:cs typeface="Arial"/>
                        </a:rPr>
                        <a:t>No</a:t>
                      </a:r>
                      <a:endParaRPr lang="en-US" sz="1000" dirty="0"/>
                    </a:p>
                  </a:txBody>
                  <a:tcPr marL="101600" marR="101600" marT="69850" marB="69850" anchor="ctr">
                    <a:lnL w="0">
                      <a:noFill/>
                    </a:lnL>
                    <a:lnR w="0">
                      <a:noFill/>
                    </a:lnR>
                    <a:lnT w="0">
                      <a:noFill/>
                    </a:lnT>
                    <a:lnB w="9525">
                      <a:solidFill>
                        <a:srgbClr val="E2E8F0"/>
                      </a:solidFill>
                    </a:lnB>
                    <a:solidFill>
                      <a:srgbClr val="FFFFFF"/>
                    </a:solidFill>
                  </a:tcPr>
                </a:tc>
                <a:tc>
                  <a:txBody>
                    <a:bodyPr/>
                    <a:lstStyle/>
                    <a:p>
                      <a:pPr algn="l">
                        <a:lnSpc>
                          <a:spcPct val="108000"/>
                        </a:lnSpc>
                        <a:spcBef>
                          <a:spcPts val="0"/>
                        </a:spcBef>
                        <a:spcAft>
                          <a:spcPts val="0"/>
                        </a:spcAft>
                        <a:buNone/>
                      </a:pPr>
                      <a:r>
                        <a:rPr lang="en-US" sz="1000" dirty="0">
                          <a:solidFill>
                            <a:srgbClr val="334155"/>
                          </a:solidFill>
                          <a:latin typeface="Arial"/>
                          <a:cs typeface="Arial"/>
                        </a:rPr>
                        <a:t>Alpha in v1.36</a:t>
                      </a:r>
                      <a:endParaRPr lang="en-US" sz="1000" dirty="0"/>
                    </a:p>
                  </a:txBody>
                  <a:tcPr marL="101600" marR="101600" marT="69850" marB="69850" anchor="ctr">
                    <a:lnL w="0">
                      <a:noFill/>
                    </a:lnL>
                    <a:lnR w="0">
                      <a:noFill/>
                    </a:lnR>
                    <a:lnT w="0">
                      <a:noFill/>
                    </a:lnT>
                    <a:lnB w="9525">
                      <a:solidFill>
                        <a:srgbClr val="E2E8F0"/>
                      </a:solidFill>
                    </a:lnB>
                    <a:solidFill>
                      <a:srgbClr val="FFFFFF"/>
                    </a:solidFill>
                  </a:tcPr>
                </a:tc>
              </a:tr>
              <a:tr h="279400">
                <a:tc>
                  <a:txBody>
                    <a:bodyPr/>
                    <a:lstStyle/>
                    <a:p>
                      <a:pPr algn="l">
                        <a:lnSpc>
                          <a:spcPct val="108000"/>
                        </a:lnSpc>
                        <a:spcBef>
                          <a:spcPts val="0"/>
                        </a:spcBef>
                        <a:spcAft>
                          <a:spcPts val="0"/>
                        </a:spcAft>
                        <a:buNone/>
                      </a:pPr>
                      <a:r>
                        <a:rPr lang="en-US" sz="1000" b="1" dirty="0">
                          <a:solidFill>
                            <a:srgbClr val="0F172A"/>
                          </a:solidFill>
                          <a:latin typeface="Arial"/>
                          <a:cs typeface="Arial"/>
                        </a:rPr>
                        <a:t>Kueue</a:t>
                      </a:r>
                      <a:endParaRPr lang="en-US" sz="1000" dirty="0"/>
                    </a:p>
                  </a:txBody>
                  <a:tcPr marL="101600" marR="101600" marT="69850" marB="69850" anchor="ctr">
                    <a:lnL w="0">
                      <a:noFill/>
                    </a:lnL>
                    <a:lnR w="0">
                      <a:noFill/>
                    </a:lnR>
                    <a:lnT w="0">
                      <a:noFill/>
                    </a:lnT>
                    <a:lnB w="9525">
                      <a:solidFill>
                        <a:srgbClr val="E2E8F0"/>
                      </a:solidFill>
                    </a:lnB>
                    <a:solidFill>
                      <a:srgbClr val="FFFFFF"/>
                    </a:solidFill>
                  </a:tcPr>
                </a:tc>
                <a:tc>
                  <a:txBody>
                    <a:bodyPr/>
                    <a:lstStyle/>
                    <a:p>
                      <a:pPr algn="l">
                        <a:lnSpc>
                          <a:spcPct val="108000"/>
                        </a:lnSpc>
                        <a:spcBef>
                          <a:spcPts val="0"/>
                        </a:spcBef>
                        <a:spcAft>
                          <a:spcPts val="0"/>
                        </a:spcAft>
                        <a:buNone/>
                      </a:pPr>
                      <a:r>
                        <a:rPr lang="en-US" sz="1000" dirty="0">
                          <a:solidFill>
                            <a:srgbClr val="334155"/>
                          </a:solidFill>
                          <a:latin typeface="Arial"/>
                          <a:cs typeface="Arial"/>
                        </a:rPr>
                        <a:t>Timeout-based all-or-nothing admission (GA)</a:t>
                      </a:r>
                      <a:endParaRPr lang="en-US" sz="1000" dirty="0"/>
                    </a:p>
                  </a:txBody>
                  <a:tcPr marL="101600" marR="101600" marT="69850" marB="69850" anchor="ctr">
                    <a:lnL w="0">
                      <a:noFill/>
                    </a:lnL>
                    <a:lnR w="0">
                      <a:noFill/>
                    </a:lnR>
                    <a:lnT w="0">
                      <a:noFill/>
                    </a:lnT>
                    <a:lnB w="9525">
                      <a:solidFill>
                        <a:srgbClr val="E2E8F0"/>
                      </a:solidFill>
                    </a:lnB>
                    <a:solidFill>
                      <a:srgbClr val="FFFFFF"/>
                    </a:solidFill>
                  </a:tcPr>
                </a:tc>
                <a:tc>
                  <a:txBody>
                    <a:bodyPr/>
                    <a:lstStyle/>
                    <a:p>
                      <a:pPr algn="l">
                        <a:lnSpc>
                          <a:spcPct val="108000"/>
                        </a:lnSpc>
                        <a:spcBef>
                          <a:spcPts val="0"/>
                        </a:spcBef>
                        <a:spcAft>
                          <a:spcPts val="0"/>
                        </a:spcAft>
                        <a:buNone/>
                      </a:pPr>
                      <a:r>
                        <a:rPr lang="en-US" sz="1000" dirty="0">
                          <a:solidFill>
                            <a:srgbClr val="334155"/>
                          </a:solidFill>
                          <a:latin typeface="Arial"/>
                          <a:cs typeface="Arial"/>
                        </a:rPr>
                        <a:t>Topology-aware scheduling (GA)</a:t>
                      </a:r>
                      <a:endParaRPr lang="en-US" sz="1000" dirty="0"/>
                    </a:p>
                  </a:txBody>
                  <a:tcPr marL="101600" marR="101600" marT="69850" marB="69850" anchor="ctr">
                    <a:lnL w="0">
                      <a:noFill/>
                    </a:lnL>
                    <a:lnR w="0">
                      <a:noFill/>
                    </a:lnR>
                    <a:lnT w="0">
                      <a:noFill/>
                    </a:lnT>
                    <a:lnB w="9525">
                      <a:solidFill>
                        <a:srgbClr val="E2E8F0"/>
                      </a:solidFill>
                    </a:lnB>
                    <a:solidFill>
                      <a:srgbClr val="FFFFFF"/>
                    </a:solidFill>
                  </a:tcPr>
                </a:tc>
                <a:tc>
                  <a:txBody>
                    <a:bodyPr/>
                    <a:lstStyle/>
                    <a:p>
                      <a:pPr algn="l">
                        <a:lnSpc>
                          <a:spcPct val="108000"/>
                        </a:lnSpc>
                        <a:spcBef>
                          <a:spcPts val="0"/>
                        </a:spcBef>
                        <a:spcAft>
                          <a:spcPts val="0"/>
                        </a:spcAft>
                        <a:buNone/>
                      </a:pPr>
                      <a:r>
                        <a:rPr lang="en-US" sz="1000" dirty="0">
                          <a:solidFill>
                            <a:srgbClr val="334155"/>
                          </a:solidFill>
                          <a:latin typeface="Arial"/>
                          <a:cs typeface="Arial"/>
                        </a:rPr>
                        <a:t>MultiKueue (GA Feb 2026)</a:t>
                      </a:r>
                      <a:endParaRPr lang="en-US" sz="1000" dirty="0"/>
                    </a:p>
                  </a:txBody>
                  <a:tcPr marL="101600" marR="101600" marT="69850" marB="69850" anchor="ctr">
                    <a:lnL w="0">
                      <a:noFill/>
                    </a:lnL>
                    <a:lnR w="0">
                      <a:noFill/>
                    </a:lnR>
                    <a:lnT w="0">
                      <a:noFill/>
                    </a:lnT>
                    <a:lnB w="9525">
                      <a:solidFill>
                        <a:srgbClr val="E2E8F0"/>
                      </a:solidFill>
                    </a:lnB>
                    <a:solidFill>
                      <a:srgbClr val="FFFFFF"/>
                    </a:solidFill>
                  </a:tcPr>
                </a:tc>
                <a:tc>
                  <a:txBody>
                    <a:bodyPr/>
                    <a:lstStyle/>
                    <a:p>
                      <a:pPr algn="l">
                        <a:lnSpc>
                          <a:spcPct val="108000"/>
                        </a:lnSpc>
                        <a:spcBef>
                          <a:spcPts val="0"/>
                        </a:spcBef>
                        <a:spcAft>
                          <a:spcPts val="0"/>
                        </a:spcAft>
                        <a:buNone/>
                      </a:pPr>
                      <a:r>
                        <a:rPr lang="en-US" sz="1000" dirty="0">
                          <a:solidFill>
                            <a:srgbClr val="334155"/>
                          </a:solidFill>
                          <a:latin typeface="Arial"/>
                          <a:cs typeface="Arial"/>
                        </a:rPr>
                        <a:t>v0.19.5, Sep 2026</a:t>
                      </a:r>
                      <a:endParaRPr lang="en-US" sz="1000" dirty="0"/>
                    </a:p>
                  </a:txBody>
                  <a:tcPr marL="101600" marR="101600" marT="69850" marB="69850" anchor="ctr">
                    <a:lnL w="0">
                      <a:noFill/>
                    </a:lnL>
                    <a:lnR w="0">
                      <a:noFill/>
                    </a:lnR>
                    <a:lnT w="0">
                      <a:noFill/>
                    </a:lnT>
                    <a:lnB w="9525">
                      <a:solidFill>
                        <a:srgbClr val="E2E8F0"/>
                      </a:solidFill>
                    </a:lnB>
                    <a:solidFill>
                      <a:srgbClr val="FFFFFF"/>
                    </a:solidFill>
                  </a:tcPr>
                </a:tc>
              </a:tr>
              <a:tr h="279400">
                <a:tc>
                  <a:txBody>
                    <a:bodyPr/>
                    <a:lstStyle/>
                    <a:p>
                      <a:pPr algn="l">
                        <a:lnSpc>
                          <a:spcPct val="108000"/>
                        </a:lnSpc>
                        <a:spcBef>
                          <a:spcPts val="0"/>
                        </a:spcBef>
                        <a:spcAft>
                          <a:spcPts val="0"/>
                        </a:spcAft>
                        <a:buNone/>
                      </a:pPr>
                      <a:r>
                        <a:rPr lang="en-US" sz="1000" b="1" dirty="0">
                          <a:solidFill>
                            <a:srgbClr val="0F172A"/>
                          </a:solidFill>
                          <a:latin typeface="Arial"/>
                          <a:cs typeface="Arial"/>
                        </a:rPr>
                        <a:t>Volcano</a:t>
                      </a:r>
                      <a:endParaRPr lang="en-US" sz="1000" dirty="0"/>
                    </a:p>
                  </a:txBody>
                  <a:tcPr marL="101600" marR="101600" marT="69850" marB="69850" anchor="ctr">
                    <a:lnL w="0">
                      <a:noFill/>
                    </a:lnL>
                    <a:lnR w="0">
                      <a:noFill/>
                    </a:lnR>
                    <a:lnT w="0">
                      <a:noFill/>
                    </a:lnT>
                    <a:lnB w="9525">
                      <a:solidFill>
                        <a:srgbClr val="E2E8F0"/>
                      </a:solidFill>
                    </a:lnB>
                    <a:solidFill>
                      <a:srgbClr val="FFFFFF"/>
                    </a:solidFill>
                  </a:tcPr>
                </a:tc>
                <a:tc>
                  <a:txBody>
                    <a:bodyPr/>
                    <a:lstStyle/>
                    <a:p>
                      <a:pPr algn="l">
                        <a:lnSpc>
                          <a:spcPct val="108000"/>
                        </a:lnSpc>
                        <a:spcBef>
                          <a:spcPts val="0"/>
                        </a:spcBef>
                        <a:spcAft>
                          <a:spcPts val="0"/>
                        </a:spcAft>
                        <a:buNone/>
                      </a:pPr>
                      <a:r>
                        <a:rPr lang="en-US" sz="1000" dirty="0">
                          <a:solidFill>
                            <a:srgbClr val="334155"/>
                          </a:solidFill>
                          <a:latin typeface="Arial"/>
                          <a:cs typeface="Arial"/>
                        </a:rPr>
                        <a:t>PodGroup and SubGroup gangs; gang-level preemption</a:t>
                      </a:r>
                      <a:endParaRPr lang="en-US" sz="1000" dirty="0"/>
                    </a:p>
                  </a:txBody>
                  <a:tcPr marL="101600" marR="101600" marT="69850" marB="69850" anchor="ctr">
                    <a:lnL w="0">
                      <a:noFill/>
                    </a:lnL>
                    <a:lnR w="0">
                      <a:noFill/>
                    </a:lnR>
                    <a:lnT w="0">
                      <a:noFill/>
                    </a:lnT>
                    <a:lnB w="9525">
                      <a:solidFill>
                        <a:srgbClr val="E2E8F0"/>
                      </a:solidFill>
                    </a:lnB>
                    <a:solidFill>
                      <a:srgbClr val="FFFFFF"/>
                    </a:solidFill>
                  </a:tcPr>
                </a:tc>
                <a:tc>
                  <a:txBody>
                    <a:bodyPr/>
                    <a:lstStyle/>
                    <a:p>
                      <a:pPr algn="l">
                        <a:lnSpc>
                          <a:spcPct val="108000"/>
                        </a:lnSpc>
                        <a:spcBef>
                          <a:spcPts val="0"/>
                        </a:spcBef>
                        <a:spcAft>
                          <a:spcPts val="0"/>
                        </a:spcAft>
                        <a:buNone/>
                      </a:pPr>
                      <a:r>
                        <a:rPr lang="en-US" sz="1000" dirty="0">
                          <a:solidFill>
                            <a:srgbClr val="334155"/>
                          </a:solidFill>
                          <a:latin typeface="Arial"/>
                          <a:cs typeface="Arial"/>
                        </a:rPr>
                        <a:t>HyperNode (switch/rack) bin-packing</a:t>
                      </a:r>
                      <a:endParaRPr lang="en-US" sz="1000" dirty="0"/>
                    </a:p>
                  </a:txBody>
                  <a:tcPr marL="101600" marR="101600" marT="69850" marB="69850" anchor="ctr">
                    <a:lnL w="0">
                      <a:noFill/>
                    </a:lnL>
                    <a:lnR w="0">
                      <a:noFill/>
                    </a:lnR>
                    <a:lnT w="0">
                      <a:noFill/>
                    </a:lnT>
                    <a:lnB w="9525">
                      <a:solidFill>
                        <a:srgbClr val="E2E8F0"/>
                      </a:solidFill>
                    </a:lnB>
                    <a:solidFill>
                      <a:srgbClr val="FFFFFF"/>
                    </a:solidFill>
                  </a:tcPr>
                </a:tc>
                <a:tc>
                  <a:txBody>
                    <a:bodyPr/>
                    <a:lstStyle/>
                    <a:p>
                      <a:pPr algn="l">
                        <a:lnSpc>
                          <a:spcPct val="108000"/>
                        </a:lnSpc>
                        <a:spcBef>
                          <a:spcPts val="0"/>
                        </a:spcBef>
                        <a:spcAft>
                          <a:spcPts val="0"/>
                        </a:spcAft>
                        <a:buNone/>
                      </a:pPr>
                      <a:r>
                        <a:rPr lang="en-US" sz="1000" dirty="0">
                          <a:solidFill>
                            <a:srgbClr val="334155"/>
                          </a:solidFill>
                          <a:latin typeface="Arial"/>
                          <a:cs typeface="Arial"/>
                        </a:rPr>
                        <a:t>Not documented in corpus</a:t>
                      </a:r>
                      <a:endParaRPr lang="en-US" sz="1000" dirty="0"/>
                    </a:p>
                  </a:txBody>
                  <a:tcPr marL="101600" marR="101600" marT="69850" marB="69850" anchor="ctr">
                    <a:lnL w="0">
                      <a:noFill/>
                    </a:lnL>
                    <a:lnR w="0">
                      <a:noFill/>
                    </a:lnR>
                    <a:lnT w="0">
                      <a:noFill/>
                    </a:lnT>
                    <a:lnB w="9525">
                      <a:solidFill>
                        <a:srgbClr val="E2E8F0"/>
                      </a:solidFill>
                    </a:lnB>
                    <a:solidFill>
                      <a:srgbClr val="FFFFFF"/>
                    </a:solidFill>
                  </a:tcPr>
                </a:tc>
                <a:tc>
                  <a:txBody>
                    <a:bodyPr/>
                    <a:lstStyle/>
                    <a:p>
                      <a:pPr algn="l">
                        <a:lnSpc>
                          <a:spcPct val="108000"/>
                        </a:lnSpc>
                        <a:spcBef>
                          <a:spcPts val="0"/>
                        </a:spcBef>
                        <a:spcAft>
                          <a:spcPts val="0"/>
                        </a:spcAft>
                        <a:buNone/>
                      </a:pPr>
                      <a:r>
                        <a:rPr lang="en-US" sz="1000" dirty="0">
                          <a:solidFill>
                            <a:srgbClr val="334155"/>
                          </a:solidFill>
                          <a:latin typeface="Arial"/>
                          <a:cs typeface="Arial"/>
                        </a:rPr>
                        <a:t>v1.15, May 2026</a:t>
                      </a:r>
                      <a:endParaRPr lang="en-US" sz="1000" dirty="0"/>
                    </a:p>
                  </a:txBody>
                  <a:tcPr marL="101600" marR="101600" marT="69850" marB="69850" anchor="ctr">
                    <a:lnL w="0">
                      <a:noFill/>
                    </a:lnL>
                    <a:lnR w="0">
                      <a:noFill/>
                    </a:lnR>
                    <a:lnT w="0">
                      <a:noFill/>
                    </a:lnT>
                    <a:lnB w="9525">
                      <a:solidFill>
                        <a:srgbClr val="E2E8F0"/>
                      </a:solidFill>
                    </a:lnB>
                    <a:solidFill>
                      <a:srgbClr val="FFFFFF"/>
                    </a:solidFill>
                  </a:tcPr>
                </a:tc>
              </a:tr>
              <a:tr h="279400">
                <a:tc>
                  <a:txBody>
                    <a:bodyPr/>
                    <a:lstStyle/>
                    <a:p>
                      <a:pPr algn="l">
                        <a:lnSpc>
                          <a:spcPct val="108000"/>
                        </a:lnSpc>
                        <a:spcBef>
                          <a:spcPts val="0"/>
                        </a:spcBef>
                        <a:spcAft>
                          <a:spcPts val="0"/>
                        </a:spcAft>
                        <a:buNone/>
                      </a:pPr>
                      <a:r>
                        <a:rPr lang="en-US" sz="1000" b="1" dirty="0">
                          <a:solidFill>
                            <a:srgbClr val="0F172A"/>
                          </a:solidFill>
                          <a:latin typeface="Arial"/>
                          <a:cs typeface="Arial"/>
                        </a:rPr>
                        <a:t>KAI Scheduler</a:t>
                      </a:r>
                      <a:endParaRPr lang="en-US" sz="1000" dirty="0"/>
                    </a:p>
                  </a:txBody>
                  <a:tcPr marL="101600" marR="101600" marT="69850" marB="69850" anchor="ctr">
                    <a:lnL w="0">
                      <a:noFill/>
                    </a:lnL>
                    <a:lnR w="0">
                      <a:noFill/>
                    </a:lnR>
                    <a:lnT w="0">
                      <a:noFill/>
                    </a:lnT>
                    <a:lnB w="9525">
                      <a:solidFill>
                        <a:srgbClr val="E2E8F0"/>
                      </a:solidFill>
                    </a:lnB>
                    <a:solidFill>
                      <a:srgbClr val="FFFFFF"/>
                    </a:solidFill>
                  </a:tcPr>
                </a:tc>
                <a:tc>
                  <a:txBody>
                    <a:bodyPr/>
                    <a:lstStyle/>
                    <a:p>
                      <a:pPr algn="l">
                        <a:lnSpc>
                          <a:spcPct val="108000"/>
                        </a:lnSpc>
                        <a:spcBef>
                          <a:spcPts val="0"/>
                        </a:spcBef>
                        <a:spcAft>
                          <a:spcPts val="0"/>
                        </a:spcAft>
                        <a:buNone/>
                      </a:pPr>
                      <a:r>
                        <a:rPr lang="en-US" sz="1000" dirty="0">
                          <a:solidFill>
                            <a:srgbClr val="334155"/>
                          </a:solidFill>
                          <a:latin typeface="Arial"/>
                          <a:cs typeface="Arial"/>
                        </a:rPr>
                        <a:t>Hierarchical gang scheduling (used by Grove)</a:t>
                      </a:r>
                      <a:endParaRPr lang="en-US" sz="1000" dirty="0"/>
                    </a:p>
                  </a:txBody>
                  <a:tcPr marL="101600" marR="101600" marT="69850" marB="69850" anchor="ctr">
                    <a:lnL w="0">
                      <a:noFill/>
                    </a:lnL>
                    <a:lnR w="0">
                      <a:noFill/>
                    </a:lnR>
                    <a:lnT w="0">
                      <a:noFill/>
                    </a:lnT>
                    <a:lnB w="9525">
                      <a:solidFill>
                        <a:srgbClr val="E2E8F0"/>
                      </a:solidFill>
                    </a:lnB>
                    <a:solidFill>
                      <a:srgbClr val="FFFFFF"/>
                    </a:solidFill>
                  </a:tcPr>
                </a:tc>
                <a:tc>
                  <a:txBody>
                    <a:bodyPr/>
                    <a:lstStyle/>
                    <a:p>
                      <a:pPr algn="l">
                        <a:lnSpc>
                          <a:spcPct val="108000"/>
                        </a:lnSpc>
                        <a:spcBef>
                          <a:spcPts val="0"/>
                        </a:spcBef>
                        <a:spcAft>
                          <a:spcPts val="0"/>
                        </a:spcAft>
                        <a:buNone/>
                      </a:pPr>
                      <a:r>
                        <a:rPr lang="en-US" sz="1000" dirty="0">
                          <a:solidFill>
                            <a:srgbClr val="334155"/>
                          </a:solidFill>
                          <a:latin typeface="Arial"/>
                          <a:cs typeface="Arial"/>
                        </a:rPr>
                        <a:t>Topology-aware placement</a:t>
                      </a:r>
                      <a:endParaRPr lang="en-US" sz="1000" dirty="0"/>
                    </a:p>
                  </a:txBody>
                  <a:tcPr marL="101600" marR="101600" marT="69850" marB="69850" anchor="ctr">
                    <a:lnL w="0">
                      <a:noFill/>
                    </a:lnL>
                    <a:lnR w="0">
                      <a:noFill/>
                    </a:lnR>
                    <a:lnT w="0">
                      <a:noFill/>
                    </a:lnT>
                    <a:lnB w="9525">
                      <a:solidFill>
                        <a:srgbClr val="E2E8F0"/>
                      </a:solidFill>
                    </a:lnB>
                    <a:solidFill>
                      <a:srgbClr val="FFFFFF"/>
                    </a:solidFill>
                  </a:tcPr>
                </a:tc>
                <a:tc>
                  <a:txBody>
                    <a:bodyPr/>
                    <a:lstStyle/>
                    <a:p>
                      <a:pPr algn="l">
                        <a:lnSpc>
                          <a:spcPct val="108000"/>
                        </a:lnSpc>
                        <a:spcBef>
                          <a:spcPts val="0"/>
                        </a:spcBef>
                        <a:spcAft>
                          <a:spcPts val="0"/>
                        </a:spcAft>
                        <a:buNone/>
                      </a:pPr>
                      <a:r>
                        <a:rPr lang="en-US" sz="1000" dirty="0">
                          <a:solidFill>
                            <a:srgbClr val="334155"/>
                          </a:solidFill>
                          <a:latin typeface="Arial"/>
                          <a:cs typeface="Arial"/>
                        </a:rPr>
                        <a:t>Not documented in corpus</a:t>
                      </a:r>
                      <a:endParaRPr lang="en-US" sz="1000" dirty="0"/>
                    </a:p>
                  </a:txBody>
                  <a:tcPr marL="101600" marR="101600" marT="69850" marB="69850" anchor="ctr">
                    <a:lnL w="0">
                      <a:noFill/>
                    </a:lnL>
                    <a:lnR w="0">
                      <a:noFill/>
                    </a:lnR>
                    <a:lnT w="0">
                      <a:noFill/>
                    </a:lnT>
                    <a:lnB w="9525">
                      <a:solidFill>
                        <a:srgbClr val="E2E8F0"/>
                      </a:solidFill>
                    </a:lnB>
                    <a:solidFill>
                      <a:srgbClr val="FFFFFF"/>
                    </a:solidFill>
                  </a:tcPr>
                </a:tc>
                <a:tc>
                  <a:txBody>
                    <a:bodyPr/>
                    <a:lstStyle/>
                    <a:p>
                      <a:pPr algn="l">
                        <a:lnSpc>
                          <a:spcPct val="108000"/>
                        </a:lnSpc>
                        <a:spcBef>
                          <a:spcPts val="0"/>
                        </a:spcBef>
                        <a:spcAft>
                          <a:spcPts val="0"/>
                        </a:spcAft>
                        <a:buNone/>
                      </a:pPr>
                      <a:r>
                        <a:rPr lang="en-US" sz="1000" dirty="0">
                          <a:solidFill>
                            <a:srgbClr val="334155"/>
                          </a:solidFill>
                          <a:latin typeface="Arial"/>
                          <a:cs typeface="Arial"/>
                        </a:rPr>
                        <a:t>CNCF Sandbox, Mar 2026</a:t>
                      </a:r>
                      <a:endParaRPr lang="en-US" sz="1000" dirty="0"/>
                    </a:p>
                  </a:txBody>
                  <a:tcPr marL="101600" marR="101600" marT="69850" marB="69850" anchor="ctr">
                    <a:lnL w="0">
                      <a:noFill/>
                    </a:lnL>
                    <a:lnR w="0">
                      <a:noFill/>
                    </a:lnR>
                    <a:lnT w="0">
                      <a:noFill/>
                    </a:lnT>
                    <a:lnB w="9525">
                      <a:solidFill>
                        <a:srgbClr val="E2E8F0"/>
                      </a:solidFill>
                    </a:lnB>
                    <a:solidFill>
                      <a:srgbClr val="FFFFFF"/>
                    </a:solidFill>
                  </a:tcPr>
                </a:tc>
              </a:tr>
              <a:tr h="279400">
                <a:tc>
                  <a:txBody>
                    <a:bodyPr/>
                    <a:lstStyle/>
                    <a:p>
                      <a:pPr algn="l">
                        <a:lnSpc>
                          <a:spcPct val="108000"/>
                        </a:lnSpc>
                        <a:spcBef>
                          <a:spcPts val="0"/>
                        </a:spcBef>
                        <a:spcAft>
                          <a:spcPts val="0"/>
                        </a:spcAft>
                        <a:buNone/>
                      </a:pPr>
                      <a:r>
                        <a:rPr lang="en-US" sz="1000" b="1" dirty="0">
                          <a:solidFill>
                            <a:srgbClr val="0F172A"/>
                          </a:solidFill>
                          <a:latin typeface="Arial"/>
                          <a:cs typeface="Arial"/>
                        </a:rPr>
                        <a:t>Slurm on Kubernetes (SUNK, Slinky)</a:t>
                      </a:r>
                      <a:endParaRPr lang="en-US" sz="1000" dirty="0"/>
                    </a:p>
                  </a:txBody>
                  <a:tcPr marL="101600" marR="101600" marT="69850" marB="69850" anchor="ctr">
                    <a:lnL w="0">
                      <a:noFill/>
                    </a:lnL>
                    <a:lnR w="0">
                      <a:noFill/>
                    </a:lnR>
                    <a:lnT w="0">
                      <a:noFill/>
                    </a:lnT>
                    <a:lnB w="9525">
                      <a:solidFill>
                        <a:srgbClr val="E2E8F0"/>
                      </a:solidFill>
                    </a:lnB>
                    <a:solidFill>
                      <a:srgbClr val="FFFFFF"/>
                    </a:solidFill>
                  </a:tcPr>
                </a:tc>
                <a:tc>
                  <a:txBody>
                    <a:bodyPr/>
                    <a:lstStyle/>
                    <a:p>
                      <a:pPr algn="l">
                        <a:lnSpc>
                          <a:spcPct val="108000"/>
                        </a:lnSpc>
                        <a:spcBef>
                          <a:spcPts val="0"/>
                        </a:spcBef>
                        <a:spcAft>
                          <a:spcPts val="0"/>
                        </a:spcAft>
                        <a:buNone/>
                      </a:pPr>
                      <a:r>
                        <a:rPr lang="en-US" sz="1000" dirty="0">
                          <a:solidFill>
                            <a:srgbClr val="334155"/>
                          </a:solidFill>
                          <a:latin typeface="Arial"/>
                          <a:cs typeface="Arial"/>
                        </a:rPr>
                        <a:t>Slurm semantics</a:t>
                      </a:r>
                      <a:endParaRPr lang="en-US" sz="1000" dirty="0"/>
                    </a:p>
                  </a:txBody>
                  <a:tcPr marL="101600" marR="101600" marT="69850" marB="69850" anchor="ctr">
                    <a:lnL w="0">
                      <a:noFill/>
                    </a:lnL>
                    <a:lnR w="0">
                      <a:noFill/>
                    </a:lnR>
                    <a:lnT w="0">
                      <a:noFill/>
                    </a:lnT>
                    <a:lnB w="9525">
                      <a:solidFill>
                        <a:srgbClr val="E2E8F0"/>
                      </a:solidFill>
                    </a:lnB>
                    <a:solidFill>
                      <a:srgbClr val="FFFFFF"/>
                    </a:solidFill>
                  </a:tcPr>
                </a:tc>
                <a:tc>
                  <a:txBody>
                    <a:bodyPr/>
                    <a:lstStyle/>
                    <a:p>
                      <a:pPr algn="l">
                        <a:lnSpc>
                          <a:spcPct val="108000"/>
                        </a:lnSpc>
                        <a:spcBef>
                          <a:spcPts val="0"/>
                        </a:spcBef>
                        <a:spcAft>
                          <a:spcPts val="0"/>
                        </a:spcAft>
                        <a:buNone/>
                      </a:pPr>
                      <a:r>
                        <a:rPr lang="en-US" sz="1000" dirty="0">
                          <a:solidFill>
                            <a:srgbClr val="334155"/>
                          </a:solidFill>
                          <a:latin typeface="Arial"/>
                          <a:cs typeface="Arial"/>
                        </a:rPr>
                        <a:t>Topology-aware scheduling (SUNK); dynamic topology (Slinky v1.1.0)</a:t>
                      </a:r>
                      <a:endParaRPr lang="en-US" sz="1000" dirty="0"/>
                    </a:p>
                  </a:txBody>
                  <a:tcPr marL="101600" marR="101600" marT="69850" marB="69850" anchor="ctr">
                    <a:lnL w="0">
                      <a:noFill/>
                    </a:lnL>
                    <a:lnR w="0">
                      <a:noFill/>
                    </a:lnR>
                    <a:lnT w="0">
                      <a:noFill/>
                    </a:lnT>
                    <a:lnB w="9525">
                      <a:solidFill>
                        <a:srgbClr val="E2E8F0"/>
                      </a:solidFill>
                    </a:lnB>
                    <a:solidFill>
                      <a:srgbClr val="FFFFFF"/>
                    </a:solidFill>
                  </a:tcPr>
                </a:tc>
                <a:tc>
                  <a:txBody>
                    <a:bodyPr/>
                    <a:lstStyle/>
                    <a:p>
                      <a:pPr algn="l">
                        <a:lnSpc>
                          <a:spcPct val="108000"/>
                        </a:lnSpc>
                        <a:spcBef>
                          <a:spcPts val="0"/>
                        </a:spcBef>
                        <a:spcAft>
                          <a:spcPts val="0"/>
                        </a:spcAft>
                        <a:buNone/>
                      </a:pPr>
                      <a:r>
                        <a:rPr lang="en-US" sz="1000" dirty="0">
                          <a:solidFill>
                            <a:srgbClr val="334155"/>
                          </a:solidFill>
                          <a:latin typeface="Arial"/>
                          <a:cs typeface="Arial"/>
                        </a:rPr>
                        <a:t>Not documented in corpus</a:t>
                      </a:r>
                      <a:endParaRPr lang="en-US" sz="1000" dirty="0"/>
                    </a:p>
                  </a:txBody>
                  <a:tcPr marL="101600" marR="101600" marT="69850" marB="69850" anchor="ctr">
                    <a:lnL w="0">
                      <a:noFill/>
                    </a:lnL>
                    <a:lnR w="0">
                      <a:noFill/>
                    </a:lnR>
                    <a:lnT w="0">
                      <a:noFill/>
                    </a:lnT>
                    <a:lnB w="9525">
                      <a:solidFill>
                        <a:srgbClr val="E2E8F0"/>
                      </a:solidFill>
                    </a:lnB>
                    <a:solidFill>
                      <a:srgbClr val="FFFFFF"/>
                    </a:solidFill>
                  </a:tcPr>
                </a:tc>
                <a:tc>
                  <a:txBody>
                    <a:bodyPr/>
                    <a:lstStyle/>
                    <a:p>
                      <a:pPr algn="l">
                        <a:lnSpc>
                          <a:spcPct val="108000"/>
                        </a:lnSpc>
                        <a:spcBef>
                          <a:spcPts val="0"/>
                        </a:spcBef>
                        <a:spcAft>
                          <a:spcPts val="0"/>
                        </a:spcAft>
                        <a:buNone/>
                      </a:pPr>
                      <a:r>
                        <a:rPr lang="en-US" sz="1000" dirty="0">
                          <a:solidFill>
                            <a:srgbClr val="334155"/>
                          </a:solidFill>
                          <a:latin typeface="Arial"/>
                          <a:cs typeface="Arial"/>
                        </a:rPr>
                        <a:t>Production at CoreWeave and NVIDIA</a:t>
                      </a:r>
                      <a:endParaRPr lang="en-US" sz="1000" dirty="0"/>
                    </a:p>
                  </a:txBody>
                  <a:tcPr marL="101600" marR="101600" marT="69850" marB="69850" anchor="ctr">
                    <a:lnL w="0">
                      <a:noFill/>
                    </a:lnL>
                    <a:lnR w="0">
                      <a:noFill/>
                    </a:lnR>
                    <a:lnT w="0">
                      <a:noFill/>
                    </a:lnT>
                    <a:lnB w="9525">
                      <a:solidFill>
                        <a:srgbClr val="E2E8F0"/>
                      </a:solidFill>
                    </a:lnB>
                    <a:solidFill>
                      <a:srgbClr val="FFFFFF"/>
                    </a:solidFill>
                  </a:tcPr>
                </a:tc>
              </a:tr>
            </a:tbl>
          </a:graphicData>
        </a:graphic>
      </p:graphicFrame>
      <p:sp>
        <p:nvSpPr>
          <p:cNvPr id="9" name="Text 9"/>
          <p:cNvSpPr txBox="1"/>
          <p:nvPr/>
        </p:nvSpPr>
        <p:spPr>
          <a:xfrm>
            <a:off x="711200" y="5359400"/>
            <a:ext cx="10769600" cy="635000"/>
          </a:xfrm>
          <a:prstGeom prst="rect">
            <a:avLst/>
          </a:prstGeom>
          <a:noFill/>
          <a:ln>
            <a:noFill/>
          </a:ln>
        </p:spPr>
        <p:txBody>
          <a:bodyPr wrap="square" lIns="0" tIns="0" rIns="0" bIns="0" anchor="b">
            <a:noAutofit/>
          </a:bodyPr>
          <a:lstStyle/>
          <a:p>
            <a:pPr algn="l">
              <a:lnSpc>
                <a:spcPct val="118000"/>
              </a:lnSpc>
              <a:spcBef>
                <a:spcPts val="0"/>
              </a:spcBef>
              <a:spcAft>
                <a:spcPts val="0"/>
              </a:spcAft>
              <a:buNone/>
            </a:pPr>
            <a:r>
              <a:rPr lang="en-US" sz="1250" dirty="0">
                <a:solidFill>
                  <a:srgbClr val="334155"/>
                </a:solidFill>
                <a:latin typeface="Arial"/>
                <a:cs typeface="Arial"/>
              </a:rPr>
              <a:t>NVIDIA's KAI Scheduler, the open-sourced Run:ai scheduler, joined the CNCF Sandbox in March 2026</a:t>
            </a:r>
            <a:r>
              <a:rPr lang="en-US" sz="1250" baseline="30000" dirty="0">
                <a:solidFill>
                  <a:srgbClr val="64748B"/>
                </a:solidFill>
                <a:latin typeface="Arial"/>
                <a:cs typeface="Arial"/>
              </a:rPr>
              <a:t> 31,39</a:t>
            </a:r>
            <a:r>
              <a:rPr lang="en-US" sz="1250" dirty="0">
                <a:solidFill>
                  <a:srgbClr val="334155"/>
                </a:solidFill>
                <a:latin typeface="Arial"/>
                <a:cs typeface="Arial"/>
              </a:rPr>
              <a:t>.</a:t>
            </a:r>
            <a:endParaRPr lang="en-US" sz="1250" dirty="0"/>
          </a:p>
        </p:txBody>
      </p:sp>
      <p:sp>
        <p:nvSpPr>
          <p:cNvPr id="10" name="Text 10"/>
          <p:cNvSpPr txBox="1"/>
          <p:nvPr/>
        </p:nvSpPr>
        <p:spPr>
          <a:xfrm>
            <a:off x="711200" y="6096000"/>
            <a:ext cx="10769600" cy="177800"/>
          </a:xfrm>
          <a:prstGeom prst="rect">
            <a:avLst/>
          </a:prstGeom>
          <a:noFill/>
          <a:ln>
            <a:noFill/>
          </a:ln>
        </p:spPr>
        <p:txBody>
          <a:bodyPr wrap="square" lIns="0" tIns="0" rIns="0" bIns="0" anchor="t">
            <a:noAutofit/>
          </a:bodyPr>
          <a:lstStyle/>
          <a:p>
            <a:pPr algn="l">
              <a:lnSpc>
                <a:spcPct val="108000"/>
              </a:lnSpc>
              <a:spcBef>
                <a:spcPts val="0"/>
              </a:spcBef>
              <a:spcAft>
                <a:spcPts val="0"/>
              </a:spcAft>
              <a:buNone/>
            </a:pPr>
            <a:r>
              <a:rPr lang="en-US" sz="850" dirty="0">
                <a:solidFill>
                  <a:srgbClr val="64748B"/>
                </a:solidFill>
                <a:latin typeface="Arial"/>
                <a:cs typeface="Arial"/>
              </a:rPr>
              <a:t>Source: [14], [15], [19], [20], [24], [25], [31], [39], [54], [55], [56], [57]. Data as of 2026-09.</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p:nvPr/>
        </p:nvSpPr>
        <p:spPr>
          <a:xfrm>
            <a:off x="711200" y="508000"/>
            <a:ext cx="558800" cy="63500"/>
          </a:xfrm>
          <a:prstGeom prst="roundRect">
            <a:avLst>
              <a:gd name="adj" fmla="val 50000"/>
            </a:avLst>
          </a:prstGeom>
          <a:gradFill rotWithShape="1">
            <a:gsLst>
              <a:gs pos="0">
                <a:srgbClr val="4F46E5"/>
              </a:gs>
              <a:gs pos="50000">
                <a:srgbClr val="7C3AED"/>
              </a:gs>
              <a:gs pos="100000">
                <a:srgbClr val="06B6D4"/>
              </a:gs>
            </a:gsLst>
            <a:lin ang="0" scaled="0"/>
          </a:gradFill>
          <a:ln>
            <a:noFill/>
          </a:ln>
        </p:spPr>
      </p:sp>
      <p:sp>
        <p:nvSpPr>
          <p:cNvPr id="3" name="Text 3"/>
          <p:cNvSpPr txBox="1"/>
          <p:nvPr/>
        </p:nvSpPr>
        <p:spPr>
          <a:xfrm>
            <a:off x="711200" y="685800"/>
            <a:ext cx="10769600" cy="203200"/>
          </a:xfrm>
          <a:prstGeom prst="rect">
            <a:avLst/>
          </a:prstGeom>
          <a:noFill/>
          <a:ln>
            <a:noFill/>
          </a:ln>
        </p:spPr>
        <p:txBody>
          <a:bodyPr wrap="square" lIns="0" tIns="0" rIns="0" bIns="0" anchor="t">
            <a:noAutofit/>
          </a:bodyPr>
          <a:lstStyle/>
          <a:p>
            <a:pPr algn="l">
              <a:lnSpc>
                <a:spcPct val="108000"/>
              </a:lnSpc>
              <a:spcBef>
                <a:spcPts val="0"/>
              </a:spcBef>
              <a:spcAft>
                <a:spcPts val="0"/>
              </a:spcAft>
              <a:buNone/>
            </a:pPr>
            <a:r>
              <a:rPr lang="en-US" sz="950" b="1" spc="140" dirty="0">
                <a:solidFill>
                  <a:srgbClr val="4F46E5"/>
                </a:solidFill>
                <a:latin typeface="Arial"/>
                <a:cs typeface="Arial"/>
              </a:rPr>
              <a:t>SECTION 03 · TRAINING ON KUBERNETES: GANG SCHEDULING, OPERATORS AND SLURM</a:t>
            </a:r>
            <a:endParaRPr lang="en-US" sz="950" dirty="0"/>
          </a:p>
        </p:txBody>
      </p:sp>
      <p:sp>
        <p:nvSpPr>
          <p:cNvPr id="4" name="Text 4"/>
          <p:cNvSpPr txBox="1"/>
          <p:nvPr/>
        </p:nvSpPr>
        <p:spPr>
          <a:xfrm>
            <a:off x="711200" y="965200"/>
            <a:ext cx="10515600" cy="886968"/>
          </a:xfrm>
          <a:prstGeom prst="rect">
            <a:avLst/>
          </a:prstGeom>
          <a:noFill/>
          <a:ln>
            <a:noFill/>
          </a:ln>
        </p:spPr>
        <p:txBody>
          <a:bodyPr wrap="square" lIns="0" tIns="0" rIns="0" bIns="0" anchor="t">
            <a:noAutofit/>
          </a:bodyPr>
          <a:lstStyle/>
          <a:p>
            <a:pPr algn="l">
              <a:lnSpc>
                <a:spcPct val="96000"/>
              </a:lnSpc>
              <a:spcBef>
                <a:spcPts val="0"/>
              </a:spcBef>
              <a:spcAft>
                <a:spcPts val="0"/>
              </a:spcAft>
              <a:buNone/>
            </a:pPr>
            <a:r>
              <a:rPr lang="en-US" sz="2800" b="1" spc="-30" dirty="0">
                <a:solidFill>
                  <a:srgbClr val="0F172A"/>
                </a:solidFill>
                <a:latin typeface="Arial"/>
                <a:cs typeface="Arial"/>
              </a:rPr>
              <a:t>Training on Kubernetes: gang scheduling, operators and Slurm</a:t>
            </a:r>
            <a:endParaRPr lang="en-US" sz="2800" dirty="0"/>
          </a:p>
        </p:txBody>
      </p:sp>
      <p:sp>
        <p:nvSpPr>
          <p:cNvPr id="5" name="Shape 5"/>
          <p:cNvSpPr/>
          <p:nvPr/>
        </p:nvSpPr>
        <p:spPr>
          <a:xfrm>
            <a:off x="711200" y="6451600"/>
            <a:ext cx="10769600" cy="9525"/>
          </a:xfrm>
          <a:prstGeom prst="rect">
            <a:avLst/>
          </a:prstGeom>
          <a:solidFill>
            <a:srgbClr val="E2E8F0"/>
          </a:solidFill>
          <a:ln>
            <a:noFill/>
          </a:ln>
        </p:spPr>
      </p:sp>
      <p:sp>
        <p:nvSpPr>
          <p:cNvPr id="6" name="Text 6"/>
          <p:cNvSpPr txBox="1"/>
          <p:nvPr/>
        </p:nvSpPr>
        <p:spPr>
          <a:xfrm>
            <a:off x="711200" y="6527800"/>
            <a:ext cx="9753600" cy="177800"/>
          </a:xfrm>
          <a:prstGeom prst="rect">
            <a:avLst/>
          </a:prstGeom>
          <a:noFill/>
          <a:ln>
            <a:noFill/>
          </a:ln>
        </p:spPr>
        <p:txBody>
          <a:bodyPr wrap="square" lIns="0" tIns="0" rIns="0" bIns="0" anchor="t">
            <a:noAutofit/>
          </a:bodyPr>
          <a:lstStyle/>
          <a:p>
            <a:pPr algn="l">
              <a:lnSpc>
                <a:spcPct val="108000"/>
              </a:lnSpc>
              <a:spcBef>
                <a:spcPts val="0"/>
              </a:spcBef>
              <a:spcAft>
                <a:spcPts val="0"/>
              </a:spcAft>
              <a:buNone/>
            </a:pPr>
            <a:r>
              <a:rPr lang="en-US" sz="800" dirty="0">
                <a:solidFill>
                  <a:srgbClr val="94A3B8"/>
                </a:solidFill>
                <a:latin typeface="Arial"/>
                <a:cs typeface="Arial"/>
              </a:rPr>
              <a:t>Kubernetes as the Platform for AI Infrastructure</a:t>
            </a:r>
            <a:endParaRPr lang="en-US" sz="800" dirty="0"/>
          </a:p>
        </p:txBody>
      </p:sp>
      <p:sp>
        <p:nvSpPr>
          <p:cNvPr id="7" name="Text 7"/>
          <p:cNvSpPr txBox="1"/>
          <p:nvPr/>
        </p:nvSpPr>
        <p:spPr>
          <a:xfrm>
            <a:off x="10718800" y="6527800"/>
            <a:ext cx="762000" cy="177800"/>
          </a:xfrm>
          <a:prstGeom prst="rect">
            <a:avLst/>
          </a:prstGeom>
          <a:noFill/>
          <a:ln>
            <a:noFill/>
          </a:ln>
        </p:spPr>
        <p:txBody>
          <a:bodyPr wrap="square" lIns="0" tIns="0" rIns="0" bIns="0" anchor="t">
            <a:noAutofit/>
          </a:bodyPr>
          <a:lstStyle/>
          <a:p>
            <a:pPr algn="r">
              <a:lnSpc>
                <a:spcPct val="108000"/>
              </a:lnSpc>
              <a:spcBef>
                <a:spcPts val="0"/>
              </a:spcBef>
              <a:spcAft>
                <a:spcPts val="0"/>
              </a:spcAft>
              <a:buNone/>
            </a:pPr>
            <a:r>
              <a:rPr lang="en-US" sz="850" b="1" dirty="0">
                <a:solidFill>
                  <a:srgbClr val="0F172A"/>
                </a:solidFill>
                <a:latin typeface="Arial"/>
                <a:cs typeface="Arial"/>
              </a:rPr>
              <a:t>17</a:t>
            </a:r>
            <a:endParaRPr lang="en-US" sz="850" dirty="0"/>
          </a:p>
        </p:txBody>
      </p:sp>
      <p:sp>
        <p:nvSpPr>
          <p:cNvPr id="8" name="Shape 8"/>
          <p:cNvSpPr/>
          <p:nvPr/>
        </p:nvSpPr>
        <p:spPr>
          <a:xfrm>
            <a:off x="711200" y="5457825"/>
            <a:ext cx="10769600" cy="790575"/>
          </a:xfrm>
          <a:prstGeom prst="roundRect">
            <a:avLst>
              <a:gd name="adj" fmla="val 16064"/>
            </a:avLst>
          </a:prstGeom>
          <a:solidFill>
            <a:srgbClr val="F3F2FD"/>
          </a:solidFill>
          <a:ln>
            <a:noFill/>
          </a:ln>
        </p:spPr>
      </p:sp>
      <p:sp>
        <p:nvSpPr>
          <p:cNvPr id="9" name="Shape 9"/>
          <p:cNvSpPr/>
          <p:nvPr/>
        </p:nvSpPr>
        <p:spPr>
          <a:xfrm>
            <a:off x="711200" y="5457825"/>
            <a:ext cx="50800" cy="790575"/>
          </a:xfrm>
          <a:prstGeom prst="roundRect">
            <a:avLst>
              <a:gd name="adj" fmla="val 50000"/>
            </a:avLst>
          </a:prstGeom>
          <a:solidFill>
            <a:srgbClr val="4F46E5"/>
          </a:solidFill>
          <a:ln>
            <a:noFill/>
          </a:ln>
        </p:spPr>
      </p:sp>
      <p:sp>
        <p:nvSpPr>
          <p:cNvPr id="10" name="Text 10"/>
          <p:cNvSpPr txBox="1"/>
          <p:nvPr/>
        </p:nvSpPr>
        <p:spPr>
          <a:xfrm>
            <a:off x="990600" y="5610225"/>
            <a:ext cx="10210800" cy="536575"/>
          </a:xfrm>
          <a:prstGeom prst="rect">
            <a:avLst/>
          </a:prstGeom>
          <a:noFill/>
          <a:ln>
            <a:noFill/>
          </a:ln>
        </p:spPr>
        <p:txBody>
          <a:bodyPr wrap="square" lIns="0" tIns="0" rIns="0" bIns="0" anchor="t">
            <a:noAutofit/>
          </a:bodyPr>
          <a:lstStyle/>
          <a:p>
            <a:pPr algn="l">
              <a:lnSpc>
                <a:spcPct val="108000"/>
              </a:lnSpc>
              <a:spcBef>
                <a:spcPts val="0"/>
              </a:spcBef>
              <a:spcAft>
                <a:spcPts val="400"/>
              </a:spcAft>
              <a:buNone/>
            </a:pPr>
            <a:r>
              <a:rPr lang="en-US" sz="850" b="1" spc="130" dirty="0">
                <a:solidFill>
                  <a:srgbClr val="4F46E5"/>
                </a:solidFill>
                <a:latin typeface="Arial"/>
                <a:cs typeface="Arial"/>
              </a:rPr>
              <a:t>INSIGHT</a:t>
            </a:r>
            <a:endParaRPr lang="en-US" sz="850" dirty="0"/>
          </a:p>
          <a:p>
            <a:pPr algn="l">
              <a:lnSpc>
                <a:spcPct val="116000"/>
              </a:lnSpc>
              <a:spcBef>
                <a:spcPts val="0"/>
              </a:spcBef>
              <a:spcAft>
                <a:spcPts val="0"/>
              </a:spcAft>
              <a:buNone/>
            </a:pPr>
            <a:r>
              <a:rPr lang="en-US" sz="1250" dirty="0">
                <a:solidFill>
                  <a:srgbClr val="0F172A"/>
                </a:solidFill>
                <a:latin typeface="Arial"/>
                <a:cs typeface="Arial"/>
              </a:rPr>
              <a:t>Teams with HPC-style training habits do not have to choose between Slurm and Kubernetes.</a:t>
            </a:r>
            <a:endParaRPr lang="en-US" sz="1250" dirty="0"/>
          </a:p>
        </p:txBody>
      </p:sp>
      <p:sp>
        <p:nvSpPr>
          <p:cNvPr id="11" name="Text 11"/>
          <p:cNvSpPr txBox="1"/>
          <p:nvPr/>
        </p:nvSpPr>
        <p:spPr>
          <a:xfrm>
            <a:off x="711200" y="2106168"/>
            <a:ext cx="9261856" cy="3173857"/>
          </a:xfrm>
          <a:prstGeom prst="rect">
            <a:avLst/>
          </a:prstGeom>
          <a:noFill/>
          <a:ln>
            <a:noFill/>
          </a:ln>
        </p:spPr>
        <p:txBody>
          <a:bodyPr wrap="square" lIns="0" tIns="0" rIns="0" bIns="0" anchor="t">
            <a:noAutofit/>
          </a:bodyPr>
          <a:lstStyle/>
          <a:p>
            <a:pPr algn="l">
              <a:lnSpc>
                <a:spcPct val="112000"/>
              </a:lnSpc>
              <a:spcBef>
                <a:spcPts val="0"/>
              </a:spcBef>
              <a:spcAft>
                <a:spcPts val="594"/>
              </a:spcAft>
              <a:buNone/>
            </a:pPr>
            <a:r>
              <a:rPr lang="en-US" sz="1564" b="1" dirty="0">
                <a:solidFill>
                  <a:srgbClr val="4F46E5"/>
                </a:solidFill>
                <a:latin typeface="Arial"/>
                <a:cs typeface="Arial"/>
              </a:rPr>
              <a:t>Slurm and Kubernetes are converging</a:t>
            </a:r>
            <a:endParaRPr lang="en-US" sz="1564" dirty="0"/>
          </a:p>
          <a:p>
            <a:pPr marL="248285" indent="-248285" algn="l">
              <a:lnSpc>
                <a:spcPct val="118000"/>
              </a:lnSpc>
              <a:spcBef>
                <a:spcPts val="0"/>
              </a:spcBef>
              <a:spcAft>
                <a:spcPts val="1275"/>
              </a:spcAft>
              <a:buClr>
                <a:srgbClr val="4F46E5"/>
              </a:buClr>
              <a:buFont typeface="Arial"/>
              <a:buChar char="•"/>
            </a:pPr>
            <a:r>
              <a:rPr lang="en-US" sz="1700" dirty="0">
                <a:solidFill>
                  <a:srgbClr val="334155"/>
                </a:solidFill>
                <a:latin typeface="Arial"/>
                <a:cs typeface="Arial"/>
              </a:rPr>
              <a:t>CoreWeave's SUNK runs Slurm login and compute nodes as pods on its Kubernetes service.</a:t>
            </a:r>
            <a:endParaRPr lang="en-US" sz="17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p:nvPr/>
        </p:nvSpPr>
        <p:spPr>
          <a:xfrm>
            <a:off x="711200" y="508000"/>
            <a:ext cx="558800" cy="63500"/>
          </a:xfrm>
          <a:prstGeom prst="roundRect">
            <a:avLst>
              <a:gd name="adj" fmla="val 50000"/>
            </a:avLst>
          </a:prstGeom>
          <a:gradFill rotWithShape="1">
            <a:gsLst>
              <a:gs pos="0">
                <a:srgbClr val="4F46E5"/>
              </a:gs>
              <a:gs pos="50000">
                <a:srgbClr val="7C3AED"/>
              </a:gs>
              <a:gs pos="100000">
                <a:srgbClr val="06B6D4"/>
              </a:gs>
            </a:gsLst>
            <a:lin ang="0" scaled="0"/>
          </a:gradFill>
          <a:ln>
            <a:noFill/>
          </a:ln>
        </p:spPr>
      </p:sp>
      <p:sp>
        <p:nvSpPr>
          <p:cNvPr id="3" name="Text 3"/>
          <p:cNvSpPr txBox="1"/>
          <p:nvPr/>
        </p:nvSpPr>
        <p:spPr>
          <a:xfrm>
            <a:off x="711200" y="685800"/>
            <a:ext cx="10769600" cy="203200"/>
          </a:xfrm>
          <a:prstGeom prst="rect">
            <a:avLst/>
          </a:prstGeom>
          <a:noFill/>
          <a:ln>
            <a:noFill/>
          </a:ln>
        </p:spPr>
        <p:txBody>
          <a:bodyPr wrap="square" lIns="0" tIns="0" rIns="0" bIns="0" anchor="t">
            <a:noAutofit/>
          </a:bodyPr>
          <a:lstStyle/>
          <a:p>
            <a:pPr algn="l">
              <a:lnSpc>
                <a:spcPct val="108000"/>
              </a:lnSpc>
              <a:spcBef>
                <a:spcPts val="0"/>
              </a:spcBef>
              <a:spcAft>
                <a:spcPts val="0"/>
              </a:spcAft>
              <a:buNone/>
            </a:pPr>
            <a:r>
              <a:rPr lang="en-US" sz="950" b="1" spc="140" dirty="0">
                <a:solidFill>
                  <a:srgbClr val="4F46E5"/>
                </a:solidFill>
                <a:latin typeface="Arial"/>
                <a:cs typeface="Arial"/>
              </a:rPr>
              <a:t>SECTION 04 · INFERENCE ON KUBERNETES: MODEL-AWARE ROUTING, DISAGGREGATED SERVING AND AUTOSCALING</a:t>
            </a:r>
            <a:endParaRPr lang="en-US" sz="950" dirty="0"/>
          </a:p>
        </p:txBody>
      </p:sp>
      <p:sp>
        <p:nvSpPr>
          <p:cNvPr id="4" name="Text 4"/>
          <p:cNvSpPr txBox="1"/>
          <p:nvPr/>
        </p:nvSpPr>
        <p:spPr>
          <a:xfrm>
            <a:off x="711200" y="965200"/>
            <a:ext cx="10515600" cy="886968"/>
          </a:xfrm>
          <a:prstGeom prst="rect">
            <a:avLst/>
          </a:prstGeom>
          <a:noFill/>
          <a:ln>
            <a:noFill/>
          </a:ln>
        </p:spPr>
        <p:txBody>
          <a:bodyPr wrap="square" lIns="0" tIns="0" rIns="0" bIns="0" anchor="t">
            <a:noAutofit/>
          </a:bodyPr>
          <a:lstStyle/>
          <a:p>
            <a:pPr algn="l">
              <a:lnSpc>
                <a:spcPct val="96000"/>
              </a:lnSpc>
              <a:spcBef>
                <a:spcPts val="0"/>
              </a:spcBef>
              <a:spcAft>
                <a:spcPts val="0"/>
              </a:spcAft>
              <a:buNone/>
            </a:pPr>
            <a:r>
              <a:rPr lang="en-US" sz="2800" b="1" spc="-30" dirty="0">
                <a:solidFill>
                  <a:srgbClr val="0F172A"/>
                </a:solidFill>
                <a:latin typeface="Arial"/>
                <a:cs typeface="Arial"/>
              </a:rPr>
              <a:t>Inference on Kubernetes: model-aware routing, disaggregated serving and autoscaling</a:t>
            </a:r>
            <a:endParaRPr lang="en-US" sz="2800" dirty="0"/>
          </a:p>
        </p:txBody>
      </p:sp>
      <p:sp>
        <p:nvSpPr>
          <p:cNvPr id="5" name="Shape 5"/>
          <p:cNvSpPr/>
          <p:nvPr/>
        </p:nvSpPr>
        <p:spPr>
          <a:xfrm>
            <a:off x="711200" y="6451600"/>
            <a:ext cx="10769600" cy="9525"/>
          </a:xfrm>
          <a:prstGeom prst="rect">
            <a:avLst/>
          </a:prstGeom>
          <a:solidFill>
            <a:srgbClr val="E2E8F0"/>
          </a:solidFill>
          <a:ln>
            <a:noFill/>
          </a:ln>
        </p:spPr>
      </p:sp>
      <p:sp>
        <p:nvSpPr>
          <p:cNvPr id="6" name="Text 6"/>
          <p:cNvSpPr txBox="1"/>
          <p:nvPr/>
        </p:nvSpPr>
        <p:spPr>
          <a:xfrm>
            <a:off x="711200" y="6527800"/>
            <a:ext cx="9753600" cy="177800"/>
          </a:xfrm>
          <a:prstGeom prst="rect">
            <a:avLst/>
          </a:prstGeom>
          <a:noFill/>
          <a:ln>
            <a:noFill/>
          </a:ln>
        </p:spPr>
        <p:txBody>
          <a:bodyPr wrap="square" lIns="0" tIns="0" rIns="0" bIns="0" anchor="t">
            <a:noAutofit/>
          </a:bodyPr>
          <a:lstStyle/>
          <a:p>
            <a:pPr algn="l">
              <a:lnSpc>
                <a:spcPct val="108000"/>
              </a:lnSpc>
              <a:spcBef>
                <a:spcPts val="0"/>
              </a:spcBef>
              <a:spcAft>
                <a:spcPts val="0"/>
              </a:spcAft>
              <a:buNone/>
            </a:pPr>
            <a:r>
              <a:rPr lang="en-US" sz="800" dirty="0">
                <a:solidFill>
                  <a:srgbClr val="94A3B8"/>
                </a:solidFill>
                <a:latin typeface="Arial"/>
                <a:cs typeface="Arial"/>
              </a:rPr>
              <a:t>Kubernetes as the Platform for AI Infrastructure</a:t>
            </a:r>
            <a:endParaRPr lang="en-US" sz="800" dirty="0"/>
          </a:p>
        </p:txBody>
      </p:sp>
      <p:sp>
        <p:nvSpPr>
          <p:cNvPr id="7" name="Text 7"/>
          <p:cNvSpPr txBox="1"/>
          <p:nvPr/>
        </p:nvSpPr>
        <p:spPr>
          <a:xfrm>
            <a:off x="10718800" y="6527800"/>
            <a:ext cx="762000" cy="177800"/>
          </a:xfrm>
          <a:prstGeom prst="rect">
            <a:avLst/>
          </a:prstGeom>
          <a:noFill/>
          <a:ln>
            <a:noFill/>
          </a:ln>
        </p:spPr>
        <p:txBody>
          <a:bodyPr wrap="square" lIns="0" tIns="0" rIns="0" bIns="0" anchor="t">
            <a:noAutofit/>
          </a:bodyPr>
          <a:lstStyle/>
          <a:p>
            <a:pPr algn="r">
              <a:lnSpc>
                <a:spcPct val="108000"/>
              </a:lnSpc>
              <a:spcBef>
                <a:spcPts val="0"/>
              </a:spcBef>
              <a:spcAft>
                <a:spcPts val="0"/>
              </a:spcAft>
              <a:buNone/>
            </a:pPr>
            <a:r>
              <a:rPr lang="en-US" sz="850" b="1" dirty="0">
                <a:solidFill>
                  <a:srgbClr val="0F172A"/>
                </a:solidFill>
                <a:latin typeface="Arial"/>
                <a:cs typeface="Arial"/>
              </a:rPr>
              <a:t>18</a:t>
            </a:r>
            <a:endParaRPr lang="en-US" sz="850" dirty="0"/>
          </a:p>
        </p:txBody>
      </p:sp>
      <p:sp>
        <p:nvSpPr>
          <p:cNvPr id="8" name="Text 8"/>
          <p:cNvSpPr txBox="1"/>
          <p:nvPr/>
        </p:nvSpPr>
        <p:spPr>
          <a:xfrm>
            <a:off x="711200" y="2106168"/>
            <a:ext cx="9261856" cy="4142232"/>
          </a:xfrm>
          <a:prstGeom prst="rect">
            <a:avLst/>
          </a:prstGeom>
          <a:noFill/>
          <a:ln>
            <a:noFill/>
          </a:ln>
        </p:spPr>
        <p:txBody>
          <a:bodyPr wrap="square" lIns="0" tIns="0" rIns="0" bIns="0" anchor="t">
            <a:noAutofit/>
          </a:bodyPr>
          <a:lstStyle/>
          <a:p>
            <a:pPr marL="248285" indent="-248285" algn="l">
              <a:lnSpc>
                <a:spcPct val="118000"/>
              </a:lnSpc>
              <a:spcBef>
                <a:spcPts val="0"/>
              </a:spcBef>
              <a:spcAft>
                <a:spcPts val="1275"/>
              </a:spcAft>
              <a:buClr>
                <a:srgbClr val="4F46E5"/>
              </a:buClr>
              <a:buFont typeface="Arial"/>
              <a:buChar char="•"/>
            </a:pPr>
            <a:r>
              <a:rPr lang="en-US" sz="1700" dirty="0">
                <a:solidFill>
                  <a:srgbClr val="334155"/>
                </a:solidFill>
                <a:latin typeface="Arial"/>
                <a:cs typeface="Arial"/>
              </a:rPr>
              <a:t>The Gateway API Inference Extension is the routing layer. Its InferencePool API is stable at v1 and groups model-server Pods behind a standard Gateway such as Envoy Gateway, kgateway, GKE Gateway, NGINX or…</a:t>
            </a:r>
            <a:endParaRPr lang="en-US" sz="1700" dirty="0"/>
          </a:p>
          <a:p>
            <a:pPr marL="248285" indent="-248285" algn="l">
              <a:lnSpc>
                <a:spcPct val="118000"/>
              </a:lnSpc>
              <a:spcBef>
                <a:spcPts val="0"/>
              </a:spcBef>
              <a:spcAft>
                <a:spcPts val="1275"/>
              </a:spcAft>
              <a:buClr>
                <a:srgbClr val="4F46E5"/>
              </a:buClr>
              <a:buFont typeface="Arial"/>
              <a:buChar char="•"/>
            </a:pPr>
            <a:r>
              <a:rPr lang="en-US" sz="1700" dirty="0">
                <a:solidFill>
                  <a:srgbClr val="334155"/>
                </a:solidFill>
                <a:latin typeface="Arial"/>
                <a:cs typeface="Arial"/>
              </a:rPr>
              <a:t>llm-d supplies the serving stack: vLLM plus the inference scheduler, tiered KV-cache offload, prefill/decode disaggregation and wide expert parallelism.</a:t>
            </a:r>
            <a:endParaRPr lang="en-US" sz="17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p:nvPr/>
        </p:nvSpPr>
        <p:spPr>
          <a:xfrm>
            <a:off x="711200" y="508000"/>
            <a:ext cx="558800" cy="63500"/>
          </a:xfrm>
          <a:prstGeom prst="roundRect">
            <a:avLst>
              <a:gd name="adj" fmla="val 50000"/>
            </a:avLst>
          </a:prstGeom>
          <a:gradFill rotWithShape="1">
            <a:gsLst>
              <a:gs pos="0">
                <a:srgbClr val="4F46E5"/>
              </a:gs>
              <a:gs pos="50000">
                <a:srgbClr val="7C3AED"/>
              </a:gs>
              <a:gs pos="100000">
                <a:srgbClr val="06B6D4"/>
              </a:gs>
            </a:gsLst>
            <a:lin ang="0" scaled="0"/>
          </a:gradFill>
          <a:ln>
            <a:noFill/>
          </a:ln>
        </p:spPr>
      </p:sp>
      <p:sp>
        <p:nvSpPr>
          <p:cNvPr id="3" name="Text 3"/>
          <p:cNvSpPr txBox="1"/>
          <p:nvPr/>
        </p:nvSpPr>
        <p:spPr>
          <a:xfrm>
            <a:off x="711200" y="685800"/>
            <a:ext cx="10769600" cy="203200"/>
          </a:xfrm>
          <a:prstGeom prst="rect">
            <a:avLst/>
          </a:prstGeom>
          <a:noFill/>
          <a:ln>
            <a:noFill/>
          </a:ln>
        </p:spPr>
        <p:txBody>
          <a:bodyPr wrap="square" lIns="0" tIns="0" rIns="0" bIns="0" anchor="t">
            <a:noAutofit/>
          </a:bodyPr>
          <a:lstStyle/>
          <a:p>
            <a:pPr algn="l">
              <a:lnSpc>
                <a:spcPct val="108000"/>
              </a:lnSpc>
              <a:spcBef>
                <a:spcPts val="0"/>
              </a:spcBef>
              <a:spcAft>
                <a:spcPts val="0"/>
              </a:spcAft>
              <a:buNone/>
            </a:pPr>
            <a:r>
              <a:rPr lang="en-US" sz="950" b="1" spc="140" dirty="0">
                <a:solidFill>
                  <a:srgbClr val="4F46E5"/>
                </a:solidFill>
                <a:latin typeface="Arial"/>
                <a:cs typeface="Arial"/>
              </a:rPr>
              <a:t>SECTION 04 · INFERENCE ON KUBERNETES: MODEL-AWARE ROUTING, DISAGGREGATED SERVING AND AUTOSCALING · FIGURE 2</a:t>
            </a:r>
            <a:endParaRPr lang="en-US" sz="950" dirty="0"/>
          </a:p>
        </p:txBody>
      </p:sp>
      <p:sp>
        <p:nvSpPr>
          <p:cNvPr id="4" name="Text 4"/>
          <p:cNvSpPr txBox="1"/>
          <p:nvPr/>
        </p:nvSpPr>
        <p:spPr>
          <a:xfrm>
            <a:off x="711200" y="965200"/>
            <a:ext cx="10515600" cy="481584"/>
          </a:xfrm>
          <a:prstGeom prst="rect">
            <a:avLst/>
          </a:prstGeom>
          <a:noFill/>
          <a:ln>
            <a:noFill/>
          </a:ln>
        </p:spPr>
        <p:txBody>
          <a:bodyPr wrap="square" lIns="0" tIns="0" rIns="0" bIns="0" anchor="t">
            <a:noAutofit/>
          </a:bodyPr>
          <a:lstStyle/>
          <a:p>
            <a:pPr algn="l">
              <a:lnSpc>
                <a:spcPct val="96000"/>
              </a:lnSpc>
              <a:spcBef>
                <a:spcPts val="0"/>
              </a:spcBef>
              <a:spcAft>
                <a:spcPts val="0"/>
              </a:spcAft>
              <a:buNone/>
            </a:pPr>
            <a:r>
              <a:rPr lang="en-US" sz="2800" b="1" spc="-30" dirty="0">
                <a:solidFill>
                  <a:srgbClr val="0F172A"/>
                </a:solidFill>
                <a:latin typeface="Arial"/>
                <a:cs typeface="Arial"/>
              </a:rPr>
              <a:t>Converged Kubernetes LLM serving stack</a:t>
            </a:r>
            <a:endParaRPr lang="en-US" sz="2800" dirty="0"/>
          </a:p>
        </p:txBody>
      </p:sp>
      <p:sp>
        <p:nvSpPr>
          <p:cNvPr id="5" name="Shape 5"/>
          <p:cNvSpPr/>
          <p:nvPr/>
        </p:nvSpPr>
        <p:spPr>
          <a:xfrm>
            <a:off x="711200" y="6451600"/>
            <a:ext cx="10769600" cy="9525"/>
          </a:xfrm>
          <a:prstGeom prst="rect">
            <a:avLst/>
          </a:prstGeom>
          <a:solidFill>
            <a:srgbClr val="E2E8F0"/>
          </a:solidFill>
          <a:ln>
            <a:noFill/>
          </a:ln>
        </p:spPr>
      </p:sp>
      <p:sp>
        <p:nvSpPr>
          <p:cNvPr id="6" name="Text 6"/>
          <p:cNvSpPr txBox="1"/>
          <p:nvPr/>
        </p:nvSpPr>
        <p:spPr>
          <a:xfrm>
            <a:off x="711200" y="6527800"/>
            <a:ext cx="9753600" cy="177800"/>
          </a:xfrm>
          <a:prstGeom prst="rect">
            <a:avLst/>
          </a:prstGeom>
          <a:noFill/>
          <a:ln>
            <a:noFill/>
          </a:ln>
        </p:spPr>
        <p:txBody>
          <a:bodyPr wrap="square" lIns="0" tIns="0" rIns="0" bIns="0" anchor="t">
            <a:noAutofit/>
          </a:bodyPr>
          <a:lstStyle/>
          <a:p>
            <a:pPr algn="l">
              <a:lnSpc>
                <a:spcPct val="108000"/>
              </a:lnSpc>
              <a:spcBef>
                <a:spcPts val="0"/>
              </a:spcBef>
              <a:spcAft>
                <a:spcPts val="0"/>
              </a:spcAft>
              <a:buNone/>
            </a:pPr>
            <a:r>
              <a:rPr lang="en-US" sz="800" dirty="0">
                <a:solidFill>
                  <a:srgbClr val="94A3B8"/>
                </a:solidFill>
                <a:latin typeface="Arial"/>
                <a:cs typeface="Arial"/>
              </a:rPr>
              <a:t>Kubernetes as the Platform for AI Infrastructure</a:t>
            </a:r>
            <a:endParaRPr lang="en-US" sz="800" dirty="0"/>
          </a:p>
        </p:txBody>
      </p:sp>
      <p:sp>
        <p:nvSpPr>
          <p:cNvPr id="7" name="Text 7"/>
          <p:cNvSpPr txBox="1"/>
          <p:nvPr/>
        </p:nvSpPr>
        <p:spPr>
          <a:xfrm>
            <a:off x="10718800" y="6527800"/>
            <a:ext cx="762000" cy="177800"/>
          </a:xfrm>
          <a:prstGeom prst="rect">
            <a:avLst/>
          </a:prstGeom>
          <a:noFill/>
          <a:ln>
            <a:noFill/>
          </a:ln>
        </p:spPr>
        <p:txBody>
          <a:bodyPr wrap="square" lIns="0" tIns="0" rIns="0" bIns="0" anchor="t">
            <a:noAutofit/>
          </a:bodyPr>
          <a:lstStyle/>
          <a:p>
            <a:pPr algn="r">
              <a:lnSpc>
                <a:spcPct val="108000"/>
              </a:lnSpc>
              <a:spcBef>
                <a:spcPts val="0"/>
              </a:spcBef>
              <a:spcAft>
                <a:spcPts val="0"/>
              </a:spcAft>
              <a:buNone/>
            </a:pPr>
            <a:r>
              <a:rPr lang="en-US" sz="850" b="1" dirty="0">
                <a:solidFill>
                  <a:srgbClr val="0F172A"/>
                </a:solidFill>
                <a:latin typeface="Arial"/>
                <a:cs typeface="Arial"/>
              </a:rPr>
              <a:t>19</a:t>
            </a:r>
            <a:endParaRPr lang="en-US" sz="850" dirty="0"/>
          </a:p>
        </p:txBody>
      </p:sp>
      <p:sp>
        <p:nvSpPr>
          <p:cNvPr id="8" name="Shape 8"/>
          <p:cNvSpPr/>
          <p:nvPr/>
        </p:nvSpPr>
        <p:spPr>
          <a:xfrm>
            <a:off x="8305800" y="1700784"/>
            <a:ext cx="3175000" cy="4242816"/>
          </a:xfrm>
          <a:prstGeom prst="roundRect">
            <a:avLst>
              <a:gd name="adj" fmla="val 4800"/>
            </a:avLst>
          </a:prstGeom>
          <a:solidFill>
            <a:srgbClr val="F6F6FE"/>
          </a:solidFill>
          <a:ln>
            <a:noFill/>
          </a:ln>
        </p:spPr>
      </p:sp>
      <p:sp>
        <p:nvSpPr>
          <p:cNvPr id="9" name="Text 9"/>
          <p:cNvSpPr txBox="1"/>
          <p:nvPr/>
        </p:nvSpPr>
        <p:spPr>
          <a:xfrm>
            <a:off x="8534400" y="1929384"/>
            <a:ext cx="2717800" cy="3785616"/>
          </a:xfrm>
          <a:prstGeom prst="rect">
            <a:avLst/>
          </a:prstGeom>
          <a:noFill/>
          <a:ln>
            <a:noFill/>
          </a:ln>
        </p:spPr>
        <p:txBody>
          <a:bodyPr wrap="square" lIns="0" tIns="0" rIns="0" bIns="0" anchor="t">
            <a:noAutofit/>
          </a:bodyPr>
          <a:lstStyle/>
          <a:p>
            <a:pPr algn="l">
              <a:lnSpc>
                <a:spcPct val="108000"/>
              </a:lnSpc>
              <a:spcBef>
                <a:spcPts val="0"/>
              </a:spcBef>
              <a:spcAft>
                <a:spcPts val="800"/>
              </a:spcAft>
              <a:buNone/>
            </a:pPr>
            <a:r>
              <a:rPr lang="en-US" sz="850" b="1" spc="130" dirty="0">
                <a:solidFill>
                  <a:srgbClr val="4F46E5"/>
                </a:solidFill>
                <a:latin typeface="Arial"/>
                <a:cs typeface="Arial"/>
              </a:rPr>
              <a:t>WHAT IT SHOWS</a:t>
            </a:r>
            <a:endParaRPr lang="en-US" sz="850" dirty="0"/>
          </a:p>
          <a:p>
            <a:pPr algn="l">
              <a:lnSpc>
                <a:spcPct val="122000"/>
              </a:lnSpc>
              <a:spcBef>
                <a:spcPts val="0"/>
              </a:spcBef>
              <a:spcAft>
                <a:spcPts val="0"/>
              </a:spcAft>
              <a:buNone/>
            </a:pPr>
            <a:r>
              <a:rPr lang="en-US" sz="1300" dirty="0">
                <a:solidFill>
                  <a:srgbClr val="0F172A"/>
                </a:solidFill>
                <a:latin typeface="Arial"/>
                <a:cs typeface="Arial"/>
              </a:rPr>
              <a:t>Higher-level platforms wrap these parts. KServe v0.17 (13 March 2026) made LLMInferenceService production-ready on llm-d.</a:t>
            </a:r>
            <a:endParaRPr lang="en-US" sz="1300" dirty="0"/>
          </a:p>
        </p:txBody>
      </p:sp>
      <p:grpSp>
        <p:nvGrpSpPr>
          <p:cNvPr id="10" name="Figure 10"/>
          <p:cNvGrpSpPr/>
          <p:nvPr/>
        </p:nvGrpSpPr>
        <p:grpSpPr>
          <a:xfrm>
            <a:off x="1694815" y="1700784"/>
            <a:ext cx="5271770" cy="4217416"/>
            <a:chOff x="1694815" y="1700784"/>
            <a:chExt cx="5271770" cy="4217416"/>
          </a:xfrm>
        </p:grpSpPr>
        <p:cxnSp>
          <p:nvCxnSpPr>
            <p:cNvPr id="11" name="Line 11"/>
            <p:cNvCxnSpPr/>
            <p:nvPr/>
          </p:nvCxnSpPr>
          <p:spPr>
            <a:xfrm>
              <a:off x="2348217" y="2161136"/>
              <a:ext cx="55510" cy="42412"/>
            </a:xfrm>
            <a:prstGeom prst="line">
              <a:avLst/>
            </a:prstGeom>
            <a:ln w="9653" cap="rnd">
              <a:solidFill>
                <a:srgbClr val="7B899C"/>
              </a:solidFill>
              <a:round/>
            </a:ln>
          </p:spPr>
        </p:cxnSp>
        <p:cxnSp>
          <p:nvCxnSpPr>
            <p:cNvPr id="12" name="Line 12"/>
            <p:cNvCxnSpPr/>
            <p:nvPr/>
          </p:nvCxnSpPr>
          <p:spPr>
            <a:xfrm>
              <a:off x="2403727" y="2203548"/>
              <a:ext cx="150669" cy="34927"/>
            </a:xfrm>
            <a:prstGeom prst="line">
              <a:avLst/>
            </a:prstGeom>
            <a:ln w="9653" cap="rnd">
              <a:solidFill>
                <a:srgbClr val="7B899C"/>
              </a:solidFill>
              <a:round/>
            </a:ln>
          </p:spPr>
        </p:cxnSp>
        <p:cxnSp>
          <p:nvCxnSpPr>
            <p:cNvPr id="13" name="Line 13"/>
            <p:cNvCxnSpPr/>
            <p:nvPr/>
          </p:nvCxnSpPr>
          <p:spPr>
            <a:xfrm>
              <a:off x="2554396" y="2238475"/>
              <a:ext cx="222038" cy="29314"/>
            </a:xfrm>
            <a:prstGeom prst="line">
              <a:avLst/>
            </a:prstGeom>
            <a:ln w="9653" cap="rnd">
              <a:solidFill>
                <a:srgbClr val="7B899C"/>
              </a:solidFill>
              <a:round/>
            </a:ln>
          </p:spPr>
        </p:cxnSp>
        <p:cxnSp>
          <p:nvCxnSpPr>
            <p:cNvPr id="14" name="Line 14"/>
            <p:cNvCxnSpPr/>
            <p:nvPr/>
          </p:nvCxnSpPr>
          <p:spPr>
            <a:xfrm>
              <a:off x="2776434" y="2267789"/>
              <a:ext cx="269618" cy="25572"/>
            </a:xfrm>
            <a:prstGeom prst="line">
              <a:avLst/>
            </a:prstGeom>
            <a:ln w="9653" cap="rnd">
              <a:solidFill>
                <a:srgbClr val="7B899C"/>
              </a:solidFill>
              <a:round/>
            </a:ln>
          </p:spPr>
        </p:cxnSp>
        <p:cxnSp>
          <p:nvCxnSpPr>
            <p:cNvPr id="15" name="Line 15"/>
            <p:cNvCxnSpPr/>
            <p:nvPr/>
          </p:nvCxnSpPr>
          <p:spPr>
            <a:xfrm>
              <a:off x="3046051" y="2293361"/>
              <a:ext cx="293407" cy="23701"/>
            </a:xfrm>
            <a:prstGeom prst="line">
              <a:avLst/>
            </a:prstGeom>
            <a:ln w="9653" cap="rnd">
              <a:solidFill>
                <a:srgbClr val="7B899C"/>
              </a:solidFill>
              <a:round/>
            </a:ln>
          </p:spPr>
        </p:cxnSp>
        <p:cxnSp>
          <p:nvCxnSpPr>
            <p:cNvPr id="16" name="Line 16"/>
            <p:cNvCxnSpPr/>
            <p:nvPr/>
          </p:nvCxnSpPr>
          <p:spPr>
            <a:xfrm>
              <a:off x="3339459" y="2317061"/>
              <a:ext cx="293407" cy="23701"/>
            </a:xfrm>
            <a:prstGeom prst="line">
              <a:avLst/>
            </a:prstGeom>
            <a:ln w="9653" cap="rnd">
              <a:solidFill>
                <a:srgbClr val="7B899C"/>
              </a:solidFill>
              <a:round/>
            </a:ln>
          </p:spPr>
        </p:cxnSp>
        <p:cxnSp>
          <p:nvCxnSpPr>
            <p:cNvPr id="17" name="Line 17"/>
            <p:cNvCxnSpPr/>
            <p:nvPr/>
          </p:nvCxnSpPr>
          <p:spPr>
            <a:xfrm>
              <a:off x="3632866" y="2340762"/>
              <a:ext cx="269618" cy="25572"/>
            </a:xfrm>
            <a:prstGeom prst="line">
              <a:avLst/>
            </a:prstGeom>
            <a:ln w="9653" cap="rnd">
              <a:solidFill>
                <a:srgbClr val="7B899C"/>
              </a:solidFill>
              <a:round/>
            </a:ln>
          </p:spPr>
        </p:cxnSp>
        <p:cxnSp>
          <p:nvCxnSpPr>
            <p:cNvPr id="18" name="Line 18"/>
            <p:cNvCxnSpPr/>
            <p:nvPr/>
          </p:nvCxnSpPr>
          <p:spPr>
            <a:xfrm>
              <a:off x="3902484" y="2366334"/>
              <a:ext cx="222038" cy="29314"/>
            </a:xfrm>
            <a:prstGeom prst="line">
              <a:avLst/>
            </a:prstGeom>
            <a:ln w="9653" cap="rnd">
              <a:solidFill>
                <a:srgbClr val="7B899C"/>
              </a:solidFill>
              <a:round/>
            </a:ln>
          </p:spPr>
        </p:cxnSp>
        <p:cxnSp>
          <p:nvCxnSpPr>
            <p:cNvPr id="19" name="Line 19"/>
            <p:cNvCxnSpPr/>
            <p:nvPr/>
          </p:nvCxnSpPr>
          <p:spPr>
            <a:xfrm>
              <a:off x="4124522" y="2395648"/>
              <a:ext cx="150669" cy="34927"/>
            </a:xfrm>
            <a:prstGeom prst="line">
              <a:avLst/>
            </a:prstGeom>
            <a:ln w="9653" cap="rnd">
              <a:solidFill>
                <a:srgbClr val="7B899C"/>
              </a:solidFill>
              <a:round/>
            </a:ln>
          </p:spPr>
        </p:cxnSp>
        <p:cxnSp>
          <p:nvCxnSpPr>
            <p:cNvPr id="20" name="Line 20"/>
            <p:cNvCxnSpPr/>
            <p:nvPr/>
          </p:nvCxnSpPr>
          <p:spPr>
            <a:xfrm>
              <a:off x="4275190" y="2430575"/>
              <a:ext cx="55510" cy="42412"/>
            </a:xfrm>
            <a:prstGeom prst="line">
              <a:avLst/>
            </a:prstGeom>
            <a:ln w="9653" cap="rnd">
              <a:solidFill>
                <a:srgbClr val="7B899C"/>
              </a:solidFill>
              <a:round/>
              <a:tailEnd type="triangle" w="med" len="med"/>
            </a:ln>
          </p:spPr>
        </p:cxnSp>
        <p:sp>
          <p:nvSpPr>
            <p:cNvPr id="21" name="Rect 21"/>
            <p:cNvSpPr/>
            <p:nvPr/>
          </p:nvSpPr>
          <p:spPr>
            <a:xfrm>
              <a:off x="3130927" y="2253949"/>
              <a:ext cx="417064" cy="111375"/>
            </a:xfrm>
            <a:prstGeom prst="roundRect">
              <a:avLst>
                <a:gd name="adj" fmla="val 26666"/>
              </a:avLst>
            </a:prstGeom>
            <a:solidFill>
              <a:srgbClr val="FFFFFF"/>
            </a:solidFill>
            <a:ln>
              <a:noFill/>
            </a:ln>
          </p:spPr>
        </p:sp>
        <p:sp>
          <p:nvSpPr>
            <p:cNvPr id="22" name="Text 22"/>
            <p:cNvSpPr txBox="1"/>
            <p:nvPr/>
          </p:nvSpPr>
          <p:spPr>
            <a:xfrm>
              <a:off x="3078530" y="2270135"/>
              <a:ext cx="521858" cy="88172"/>
            </a:xfrm>
            <a:prstGeom prst="rect">
              <a:avLst/>
            </a:prstGeom>
            <a:noFill/>
            <a:ln>
              <a:noFill/>
            </a:ln>
          </p:spPr>
          <p:txBody>
            <a:bodyPr wrap="none" lIns="0" tIns="0" rIns="0" bIns="0" anchor="t">
              <a:noAutofit/>
            </a:bodyPr>
            <a:lstStyle/>
            <a:p>
              <a:pPr algn="ctr">
                <a:lnSpc>
                  <a:spcPct val="100000"/>
                </a:lnSpc>
                <a:spcBef>
                  <a:spcPts val="0"/>
                </a:spcBef>
                <a:spcAft>
                  <a:spcPts val="0"/>
                </a:spcAft>
                <a:buNone/>
              </a:pPr>
              <a:r>
                <a:rPr lang="en-US" sz="555" dirty="0">
                  <a:solidFill>
                    <a:srgbClr val="64748B"/>
                  </a:solidFill>
                  <a:latin typeface="Arial"/>
                  <a:cs typeface="Arial"/>
                </a:rPr>
                <a:t>routes to</a:t>
              </a:r>
              <a:endParaRPr lang="en-US" sz="555" dirty="0"/>
            </a:p>
          </p:txBody>
        </p:sp>
        <p:cxnSp>
          <p:nvCxnSpPr>
            <p:cNvPr id="23" name="Line 23"/>
            <p:cNvCxnSpPr/>
            <p:nvPr/>
          </p:nvCxnSpPr>
          <p:spPr>
            <a:xfrm>
              <a:off x="4330700" y="2859088"/>
              <a:ext cx="0" cy="42412"/>
            </a:xfrm>
            <a:prstGeom prst="line">
              <a:avLst/>
            </a:prstGeom>
            <a:ln w="9653" cap="rnd">
              <a:solidFill>
                <a:srgbClr val="7B899C"/>
              </a:solidFill>
              <a:round/>
            </a:ln>
          </p:spPr>
        </p:cxnSp>
        <p:cxnSp>
          <p:nvCxnSpPr>
            <p:cNvPr id="24" name="Line 24"/>
            <p:cNvCxnSpPr/>
            <p:nvPr/>
          </p:nvCxnSpPr>
          <p:spPr>
            <a:xfrm>
              <a:off x="4330700" y="2901500"/>
              <a:ext cx="0" cy="34927"/>
            </a:xfrm>
            <a:prstGeom prst="line">
              <a:avLst/>
            </a:prstGeom>
            <a:ln w="9653" cap="rnd">
              <a:solidFill>
                <a:srgbClr val="7B899C"/>
              </a:solidFill>
              <a:round/>
            </a:ln>
          </p:spPr>
        </p:cxnSp>
        <p:cxnSp>
          <p:nvCxnSpPr>
            <p:cNvPr id="25" name="Line 25"/>
            <p:cNvCxnSpPr/>
            <p:nvPr/>
          </p:nvCxnSpPr>
          <p:spPr>
            <a:xfrm flipV="1">
              <a:off x="4330700" y="2936427"/>
              <a:ext cx="0" cy="29314"/>
            </a:xfrm>
            <a:prstGeom prst="line">
              <a:avLst/>
            </a:prstGeom>
            <a:ln w="9653" cap="rnd">
              <a:solidFill>
                <a:srgbClr val="7B899C"/>
              </a:solidFill>
              <a:round/>
            </a:ln>
          </p:spPr>
        </p:cxnSp>
        <p:cxnSp>
          <p:nvCxnSpPr>
            <p:cNvPr id="26" name="Line 26"/>
            <p:cNvCxnSpPr/>
            <p:nvPr/>
          </p:nvCxnSpPr>
          <p:spPr>
            <a:xfrm>
              <a:off x="4330700" y="2965741"/>
              <a:ext cx="0" cy="25572"/>
            </a:xfrm>
            <a:prstGeom prst="line">
              <a:avLst/>
            </a:prstGeom>
            <a:ln w="9653" cap="rnd">
              <a:solidFill>
                <a:srgbClr val="7B899C"/>
              </a:solidFill>
              <a:round/>
            </a:ln>
          </p:spPr>
        </p:cxnSp>
        <p:cxnSp>
          <p:nvCxnSpPr>
            <p:cNvPr id="27" name="Line 27"/>
            <p:cNvCxnSpPr/>
            <p:nvPr/>
          </p:nvCxnSpPr>
          <p:spPr>
            <a:xfrm>
              <a:off x="4330700" y="2991313"/>
              <a:ext cx="0" cy="23701"/>
            </a:xfrm>
            <a:prstGeom prst="line">
              <a:avLst/>
            </a:prstGeom>
            <a:ln w="9653" cap="rnd">
              <a:solidFill>
                <a:srgbClr val="7B899C"/>
              </a:solidFill>
              <a:round/>
            </a:ln>
          </p:spPr>
        </p:cxnSp>
        <p:cxnSp>
          <p:nvCxnSpPr>
            <p:cNvPr id="28" name="Line 28"/>
            <p:cNvCxnSpPr/>
            <p:nvPr/>
          </p:nvCxnSpPr>
          <p:spPr>
            <a:xfrm>
              <a:off x="4330700" y="3015014"/>
              <a:ext cx="0" cy="23701"/>
            </a:xfrm>
            <a:prstGeom prst="line">
              <a:avLst/>
            </a:prstGeom>
            <a:ln w="9653" cap="rnd">
              <a:solidFill>
                <a:srgbClr val="7B899C"/>
              </a:solidFill>
              <a:round/>
            </a:ln>
          </p:spPr>
        </p:cxnSp>
        <p:cxnSp>
          <p:nvCxnSpPr>
            <p:cNvPr id="29" name="Line 29"/>
            <p:cNvCxnSpPr/>
            <p:nvPr/>
          </p:nvCxnSpPr>
          <p:spPr>
            <a:xfrm flipV="1">
              <a:off x="4330700" y="3038715"/>
              <a:ext cx="0" cy="25572"/>
            </a:xfrm>
            <a:prstGeom prst="line">
              <a:avLst/>
            </a:prstGeom>
            <a:ln w="9653" cap="rnd">
              <a:solidFill>
                <a:srgbClr val="7B899C"/>
              </a:solidFill>
              <a:round/>
            </a:ln>
          </p:spPr>
        </p:cxnSp>
        <p:cxnSp>
          <p:nvCxnSpPr>
            <p:cNvPr id="30" name="Line 30"/>
            <p:cNvCxnSpPr/>
            <p:nvPr/>
          </p:nvCxnSpPr>
          <p:spPr>
            <a:xfrm>
              <a:off x="4330700" y="3064286"/>
              <a:ext cx="0" cy="29314"/>
            </a:xfrm>
            <a:prstGeom prst="line">
              <a:avLst/>
            </a:prstGeom>
            <a:ln w="9653" cap="rnd">
              <a:solidFill>
                <a:srgbClr val="7B899C"/>
              </a:solidFill>
              <a:round/>
            </a:ln>
          </p:spPr>
        </p:cxnSp>
        <p:cxnSp>
          <p:nvCxnSpPr>
            <p:cNvPr id="31" name="Line 31"/>
            <p:cNvCxnSpPr/>
            <p:nvPr/>
          </p:nvCxnSpPr>
          <p:spPr>
            <a:xfrm>
              <a:off x="4330700" y="3093600"/>
              <a:ext cx="0" cy="34927"/>
            </a:xfrm>
            <a:prstGeom prst="line">
              <a:avLst/>
            </a:prstGeom>
            <a:ln w="9653" cap="rnd">
              <a:solidFill>
                <a:srgbClr val="7B899C"/>
              </a:solidFill>
              <a:round/>
            </a:ln>
          </p:spPr>
        </p:cxnSp>
        <p:cxnSp>
          <p:nvCxnSpPr>
            <p:cNvPr id="32" name="Line 32"/>
            <p:cNvCxnSpPr/>
            <p:nvPr/>
          </p:nvCxnSpPr>
          <p:spPr>
            <a:xfrm>
              <a:off x="4330700" y="3128528"/>
              <a:ext cx="0" cy="42412"/>
            </a:xfrm>
            <a:prstGeom prst="line">
              <a:avLst/>
            </a:prstGeom>
            <a:ln w="9653" cap="rnd">
              <a:solidFill>
                <a:srgbClr val="7B899C"/>
              </a:solidFill>
              <a:round/>
              <a:tailEnd type="triangle" w="med" len="med"/>
            </a:ln>
          </p:spPr>
        </p:cxnSp>
        <p:sp>
          <p:nvSpPr>
            <p:cNvPr id="33" name="Rect 33"/>
            <p:cNvSpPr/>
            <p:nvPr/>
          </p:nvSpPr>
          <p:spPr>
            <a:xfrm>
              <a:off x="4142271" y="2951901"/>
              <a:ext cx="376857" cy="111375"/>
            </a:xfrm>
            <a:prstGeom prst="roundRect">
              <a:avLst>
                <a:gd name="adj" fmla="val 26666"/>
              </a:avLst>
            </a:prstGeom>
            <a:solidFill>
              <a:srgbClr val="FFFFFF"/>
            </a:solidFill>
            <a:ln>
              <a:noFill/>
            </a:ln>
          </p:spPr>
        </p:sp>
        <p:sp>
          <p:nvSpPr>
            <p:cNvPr id="34" name="Text 34"/>
            <p:cNvSpPr txBox="1"/>
            <p:nvPr/>
          </p:nvSpPr>
          <p:spPr>
            <a:xfrm>
              <a:off x="4095905" y="2968088"/>
              <a:ext cx="469589" cy="88172"/>
            </a:xfrm>
            <a:prstGeom prst="rect">
              <a:avLst/>
            </a:prstGeom>
            <a:noFill/>
            <a:ln>
              <a:noFill/>
            </a:ln>
          </p:spPr>
          <p:txBody>
            <a:bodyPr wrap="none" lIns="0" tIns="0" rIns="0" bIns="0" anchor="t">
              <a:noAutofit/>
            </a:bodyPr>
            <a:lstStyle/>
            <a:p>
              <a:pPr algn="ctr">
                <a:lnSpc>
                  <a:spcPct val="100000"/>
                </a:lnSpc>
                <a:spcBef>
                  <a:spcPts val="0"/>
                </a:spcBef>
                <a:spcAft>
                  <a:spcPts val="0"/>
                </a:spcAft>
                <a:buNone/>
              </a:pPr>
              <a:r>
                <a:rPr lang="en-US" sz="555" dirty="0">
                  <a:solidFill>
                    <a:srgbClr val="64748B"/>
                  </a:solidFill>
                  <a:latin typeface="Arial"/>
                  <a:cs typeface="Arial"/>
                </a:rPr>
                <a:t>consults</a:t>
              </a:r>
              <a:endParaRPr lang="en-US" sz="555" dirty="0"/>
            </a:p>
          </p:txBody>
        </p:sp>
        <p:cxnSp>
          <p:nvCxnSpPr>
            <p:cNvPr id="35" name="Line 35"/>
            <p:cNvCxnSpPr/>
            <p:nvPr/>
          </p:nvCxnSpPr>
          <p:spPr>
            <a:xfrm>
              <a:off x="4330700" y="3557041"/>
              <a:ext cx="0" cy="42412"/>
            </a:xfrm>
            <a:prstGeom prst="line">
              <a:avLst/>
            </a:prstGeom>
            <a:ln w="9653" cap="rnd">
              <a:solidFill>
                <a:srgbClr val="7B899C"/>
              </a:solidFill>
              <a:round/>
            </a:ln>
          </p:spPr>
        </p:cxnSp>
        <p:cxnSp>
          <p:nvCxnSpPr>
            <p:cNvPr id="36" name="Line 36"/>
            <p:cNvCxnSpPr/>
            <p:nvPr/>
          </p:nvCxnSpPr>
          <p:spPr>
            <a:xfrm>
              <a:off x="4330700" y="3599453"/>
              <a:ext cx="0" cy="34927"/>
            </a:xfrm>
            <a:prstGeom prst="line">
              <a:avLst/>
            </a:prstGeom>
            <a:ln w="9653" cap="rnd">
              <a:solidFill>
                <a:srgbClr val="7B899C"/>
              </a:solidFill>
              <a:round/>
            </a:ln>
          </p:spPr>
        </p:cxnSp>
        <p:cxnSp>
          <p:nvCxnSpPr>
            <p:cNvPr id="37" name="Line 37"/>
            <p:cNvCxnSpPr/>
            <p:nvPr/>
          </p:nvCxnSpPr>
          <p:spPr>
            <a:xfrm flipV="1">
              <a:off x="4330700" y="3634380"/>
              <a:ext cx="0" cy="29314"/>
            </a:xfrm>
            <a:prstGeom prst="line">
              <a:avLst/>
            </a:prstGeom>
            <a:ln w="9653" cap="rnd">
              <a:solidFill>
                <a:srgbClr val="7B899C"/>
              </a:solidFill>
              <a:round/>
            </a:ln>
          </p:spPr>
        </p:cxnSp>
        <p:cxnSp>
          <p:nvCxnSpPr>
            <p:cNvPr id="38" name="Line 38"/>
            <p:cNvCxnSpPr/>
            <p:nvPr/>
          </p:nvCxnSpPr>
          <p:spPr>
            <a:xfrm>
              <a:off x="4330700" y="3663694"/>
              <a:ext cx="0" cy="25572"/>
            </a:xfrm>
            <a:prstGeom prst="line">
              <a:avLst/>
            </a:prstGeom>
            <a:ln w="9653" cap="rnd">
              <a:solidFill>
                <a:srgbClr val="7B899C"/>
              </a:solidFill>
              <a:round/>
            </a:ln>
          </p:spPr>
        </p:cxnSp>
        <p:cxnSp>
          <p:nvCxnSpPr>
            <p:cNvPr id="39" name="Line 39"/>
            <p:cNvCxnSpPr/>
            <p:nvPr/>
          </p:nvCxnSpPr>
          <p:spPr>
            <a:xfrm>
              <a:off x="4330700" y="3689266"/>
              <a:ext cx="0" cy="23701"/>
            </a:xfrm>
            <a:prstGeom prst="line">
              <a:avLst/>
            </a:prstGeom>
            <a:ln w="9653" cap="rnd">
              <a:solidFill>
                <a:srgbClr val="7B899C"/>
              </a:solidFill>
              <a:round/>
            </a:ln>
          </p:spPr>
        </p:cxnSp>
        <p:cxnSp>
          <p:nvCxnSpPr>
            <p:cNvPr id="40" name="Line 40"/>
            <p:cNvCxnSpPr/>
            <p:nvPr/>
          </p:nvCxnSpPr>
          <p:spPr>
            <a:xfrm>
              <a:off x="4330700" y="3712967"/>
              <a:ext cx="0" cy="23701"/>
            </a:xfrm>
            <a:prstGeom prst="line">
              <a:avLst/>
            </a:prstGeom>
            <a:ln w="9653" cap="rnd">
              <a:solidFill>
                <a:srgbClr val="7B899C"/>
              </a:solidFill>
              <a:round/>
            </a:ln>
          </p:spPr>
        </p:cxnSp>
        <p:cxnSp>
          <p:nvCxnSpPr>
            <p:cNvPr id="41" name="Line 41"/>
            <p:cNvCxnSpPr/>
            <p:nvPr/>
          </p:nvCxnSpPr>
          <p:spPr>
            <a:xfrm flipV="1">
              <a:off x="4330700" y="3736667"/>
              <a:ext cx="0" cy="25572"/>
            </a:xfrm>
            <a:prstGeom prst="line">
              <a:avLst/>
            </a:prstGeom>
            <a:ln w="9653" cap="rnd">
              <a:solidFill>
                <a:srgbClr val="7B899C"/>
              </a:solidFill>
              <a:round/>
            </a:ln>
          </p:spPr>
        </p:cxnSp>
        <p:cxnSp>
          <p:nvCxnSpPr>
            <p:cNvPr id="42" name="Line 42"/>
            <p:cNvCxnSpPr/>
            <p:nvPr/>
          </p:nvCxnSpPr>
          <p:spPr>
            <a:xfrm>
              <a:off x="4330700" y="3762239"/>
              <a:ext cx="0" cy="29314"/>
            </a:xfrm>
            <a:prstGeom prst="line">
              <a:avLst/>
            </a:prstGeom>
            <a:ln w="9653" cap="rnd">
              <a:solidFill>
                <a:srgbClr val="7B899C"/>
              </a:solidFill>
              <a:round/>
            </a:ln>
          </p:spPr>
        </p:cxnSp>
        <p:cxnSp>
          <p:nvCxnSpPr>
            <p:cNvPr id="43" name="Line 43"/>
            <p:cNvCxnSpPr/>
            <p:nvPr/>
          </p:nvCxnSpPr>
          <p:spPr>
            <a:xfrm>
              <a:off x="4330700" y="3791553"/>
              <a:ext cx="0" cy="34927"/>
            </a:xfrm>
            <a:prstGeom prst="line">
              <a:avLst/>
            </a:prstGeom>
            <a:ln w="9653" cap="rnd">
              <a:solidFill>
                <a:srgbClr val="7B899C"/>
              </a:solidFill>
              <a:round/>
            </a:ln>
          </p:spPr>
        </p:cxnSp>
        <p:cxnSp>
          <p:nvCxnSpPr>
            <p:cNvPr id="44" name="Line 44"/>
            <p:cNvCxnSpPr/>
            <p:nvPr/>
          </p:nvCxnSpPr>
          <p:spPr>
            <a:xfrm>
              <a:off x="4330700" y="3826480"/>
              <a:ext cx="0" cy="42412"/>
            </a:xfrm>
            <a:prstGeom prst="line">
              <a:avLst/>
            </a:prstGeom>
            <a:ln w="9653" cap="rnd">
              <a:solidFill>
                <a:srgbClr val="7B899C"/>
              </a:solidFill>
              <a:round/>
              <a:tailEnd type="triangle" w="med" len="med"/>
            </a:ln>
          </p:spPr>
        </p:cxnSp>
        <p:sp>
          <p:nvSpPr>
            <p:cNvPr id="45" name="Rect 45"/>
            <p:cNvSpPr/>
            <p:nvPr/>
          </p:nvSpPr>
          <p:spPr>
            <a:xfrm>
              <a:off x="4162375" y="3649854"/>
              <a:ext cx="336651" cy="111375"/>
            </a:xfrm>
            <a:prstGeom prst="roundRect">
              <a:avLst>
                <a:gd name="adj" fmla="val 26666"/>
              </a:avLst>
            </a:prstGeom>
            <a:solidFill>
              <a:srgbClr val="FFFFFF"/>
            </a:solidFill>
            <a:ln>
              <a:noFill/>
            </a:ln>
          </p:spPr>
        </p:sp>
        <p:sp>
          <p:nvSpPr>
            <p:cNvPr id="46" name="Text 46"/>
            <p:cNvSpPr txBox="1"/>
            <p:nvPr/>
          </p:nvSpPr>
          <p:spPr>
            <a:xfrm>
              <a:off x="4122040" y="3666040"/>
              <a:ext cx="417321" cy="88172"/>
            </a:xfrm>
            <a:prstGeom prst="rect">
              <a:avLst/>
            </a:prstGeom>
            <a:noFill/>
            <a:ln>
              <a:noFill/>
            </a:ln>
          </p:spPr>
          <p:txBody>
            <a:bodyPr wrap="none" lIns="0" tIns="0" rIns="0" bIns="0" anchor="t">
              <a:noAutofit/>
            </a:bodyPr>
            <a:lstStyle/>
            <a:p>
              <a:pPr algn="ctr">
                <a:lnSpc>
                  <a:spcPct val="100000"/>
                </a:lnSpc>
                <a:spcBef>
                  <a:spcPts val="0"/>
                </a:spcBef>
                <a:spcAft>
                  <a:spcPts val="0"/>
                </a:spcAft>
                <a:buNone/>
              </a:pPr>
              <a:r>
                <a:rPr lang="en-US" sz="555" dirty="0">
                  <a:solidFill>
                    <a:srgbClr val="64748B"/>
                  </a:solidFill>
                  <a:latin typeface="Arial"/>
                  <a:cs typeface="Arial"/>
                </a:rPr>
                <a:t>selects</a:t>
              </a:r>
              <a:endParaRPr lang="en-US" sz="555" dirty="0"/>
            </a:p>
          </p:txBody>
        </p:sp>
        <p:cxnSp>
          <p:nvCxnSpPr>
            <p:cNvPr id="47" name="Line 47"/>
            <p:cNvCxnSpPr/>
            <p:nvPr/>
          </p:nvCxnSpPr>
          <p:spPr>
            <a:xfrm>
              <a:off x="4330700" y="3557041"/>
              <a:ext cx="0" cy="137333"/>
            </a:xfrm>
            <a:prstGeom prst="line">
              <a:avLst/>
            </a:prstGeom>
            <a:ln w="9653" cap="rnd">
              <a:solidFill>
                <a:srgbClr val="7B899C"/>
              </a:solidFill>
              <a:round/>
            </a:ln>
          </p:spPr>
        </p:cxnSp>
        <p:cxnSp>
          <p:nvCxnSpPr>
            <p:cNvPr id="48" name="Line 48"/>
            <p:cNvCxnSpPr/>
            <p:nvPr/>
          </p:nvCxnSpPr>
          <p:spPr>
            <a:xfrm>
              <a:off x="4330700" y="3694374"/>
              <a:ext cx="0" cy="113098"/>
            </a:xfrm>
            <a:prstGeom prst="line">
              <a:avLst/>
            </a:prstGeom>
            <a:ln w="9653" cap="rnd">
              <a:solidFill>
                <a:srgbClr val="7B899C"/>
              </a:solidFill>
              <a:round/>
            </a:ln>
          </p:spPr>
        </p:cxnSp>
        <p:cxnSp>
          <p:nvCxnSpPr>
            <p:cNvPr id="49" name="Line 49"/>
            <p:cNvCxnSpPr/>
            <p:nvPr/>
          </p:nvCxnSpPr>
          <p:spPr>
            <a:xfrm flipV="1">
              <a:off x="4330700" y="3807472"/>
              <a:ext cx="0" cy="94922"/>
            </a:xfrm>
            <a:prstGeom prst="line">
              <a:avLst/>
            </a:prstGeom>
            <a:ln w="9653" cap="rnd">
              <a:solidFill>
                <a:srgbClr val="7B899C"/>
              </a:solidFill>
              <a:round/>
            </a:ln>
          </p:spPr>
        </p:cxnSp>
        <p:cxnSp>
          <p:nvCxnSpPr>
            <p:cNvPr id="50" name="Line 50"/>
            <p:cNvCxnSpPr/>
            <p:nvPr/>
          </p:nvCxnSpPr>
          <p:spPr>
            <a:xfrm>
              <a:off x="4330700" y="3902394"/>
              <a:ext cx="0" cy="82804"/>
            </a:xfrm>
            <a:prstGeom prst="line">
              <a:avLst/>
            </a:prstGeom>
            <a:ln w="9653" cap="rnd">
              <a:solidFill>
                <a:srgbClr val="7B899C"/>
              </a:solidFill>
              <a:round/>
            </a:ln>
          </p:spPr>
        </p:cxnSp>
        <p:cxnSp>
          <p:nvCxnSpPr>
            <p:cNvPr id="51" name="Line 51"/>
            <p:cNvCxnSpPr/>
            <p:nvPr/>
          </p:nvCxnSpPr>
          <p:spPr>
            <a:xfrm>
              <a:off x="4330700" y="3985198"/>
              <a:ext cx="0" cy="76745"/>
            </a:xfrm>
            <a:prstGeom prst="line">
              <a:avLst/>
            </a:prstGeom>
            <a:ln w="9653" cap="rnd">
              <a:solidFill>
                <a:srgbClr val="7B899C"/>
              </a:solidFill>
              <a:round/>
            </a:ln>
          </p:spPr>
        </p:cxnSp>
        <p:cxnSp>
          <p:nvCxnSpPr>
            <p:cNvPr id="52" name="Line 52"/>
            <p:cNvCxnSpPr/>
            <p:nvPr/>
          </p:nvCxnSpPr>
          <p:spPr>
            <a:xfrm>
              <a:off x="4330700" y="4061943"/>
              <a:ext cx="0" cy="76745"/>
            </a:xfrm>
            <a:prstGeom prst="line">
              <a:avLst/>
            </a:prstGeom>
            <a:ln w="9653" cap="rnd">
              <a:solidFill>
                <a:srgbClr val="7B899C"/>
              </a:solidFill>
              <a:round/>
            </a:ln>
          </p:spPr>
        </p:cxnSp>
        <p:cxnSp>
          <p:nvCxnSpPr>
            <p:cNvPr id="53" name="Line 53"/>
            <p:cNvCxnSpPr/>
            <p:nvPr/>
          </p:nvCxnSpPr>
          <p:spPr>
            <a:xfrm flipV="1">
              <a:off x="4330700" y="4138688"/>
              <a:ext cx="0" cy="82804"/>
            </a:xfrm>
            <a:prstGeom prst="line">
              <a:avLst/>
            </a:prstGeom>
            <a:ln w="9653" cap="rnd">
              <a:solidFill>
                <a:srgbClr val="7B899C"/>
              </a:solidFill>
              <a:round/>
            </a:ln>
          </p:spPr>
        </p:cxnSp>
        <p:cxnSp>
          <p:nvCxnSpPr>
            <p:cNvPr id="54" name="Line 54"/>
            <p:cNvCxnSpPr/>
            <p:nvPr/>
          </p:nvCxnSpPr>
          <p:spPr>
            <a:xfrm>
              <a:off x="4330700" y="4221492"/>
              <a:ext cx="0" cy="94922"/>
            </a:xfrm>
            <a:prstGeom prst="line">
              <a:avLst/>
            </a:prstGeom>
            <a:ln w="9653" cap="rnd">
              <a:solidFill>
                <a:srgbClr val="7B899C"/>
              </a:solidFill>
              <a:round/>
            </a:ln>
          </p:spPr>
        </p:cxnSp>
        <p:cxnSp>
          <p:nvCxnSpPr>
            <p:cNvPr id="55" name="Line 55"/>
            <p:cNvCxnSpPr/>
            <p:nvPr/>
          </p:nvCxnSpPr>
          <p:spPr>
            <a:xfrm>
              <a:off x="4330700" y="4316414"/>
              <a:ext cx="0" cy="113098"/>
            </a:xfrm>
            <a:prstGeom prst="line">
              <a:avLst/>
            </a:prstGeom>
            <a:ln w="9653" cap="rnd">
              <a:solidFill>
                <a:srgbClr val="7B899C"/>
              </a:solidFill>
              <a:round/>
            </a:ln>
          </p:spPr>
        </p:cxnSp>
        <p:cxnSp>
          <p:nvCxnSpPr>
            <p:cNvPr id="56" name="Line 56"/>
            <p:cNvCxnSpPr/>
            <p:nvPr/>
          </p:nvCxnSpPr>
          <p:spPr>
            <a:xfrm>
              <a:off x="4330700" y="4429512"/>
              <a:ext cx="0" cy="137333"/>
            </a:xfrm>
            <a:prstGeom prst="line">
              <a:avLst/>
            </a:prstGeom>
            <a:ln w="9653" cap="rnd">
              <a:solidFill>
                <a:srgbClr val="7B899C"/>
              </a:solidFill>
              <a:round/>
              <a:tailEnd type="triangle" w="med" len="med"/>
            </a:ln>
          </p:spPr>
        </p:cxnSp>
        <p:sp>
          <p:nvSpPr>
            <p:cNvPr id="57" name="Rect 57"/>
            <p:cNvSpPr/>
            <p:nvPr/>
          </p:nvSpPr>
          <p:spPr>
            <a:xfrm>
              <a:off x="4162375" y="3998830"/>
              <a:ext cx="336651" cy="111375"/>
            </a:xfrm>
            <a:prstGeom prst="roundRect">
              <a:avLst>
                <a:gd name="adj" fmla="val 26666"/>
              </a:avLst>
            </a:prstGeom>
            <a:solidFill>
              <a:srgbClr val="FFFFFF"/>
            </a:solidFill>
            <a:ln>
              <a:noFill/>
            </a:ln>
          </p:spPr>
        </p:sp>
        <p:sp>
          <p:nvSpPr>
            <p:cNvPr id="58" name="Text 58"/>
            <p:cNvSpPr txBox="1"/>
            <p:nvPr/>
          </p:nvSpPr>
          <p:spPr>
            <a:xfrm>
              <a:off x="4122040" y="4015017"/>
              <a:ext cx="417321" cy="88172"/>
            </a:xfrm>
            <a:prstGeom prst="rect">
              <a:avLst/>
            </a:prstGeom>
            <a:noFill/>
            <a:ln>
              <a:noFill/>
            </a:ln>
          </p:spPr>
          <p:txBody>
            <a:bodyPr wrap="none" lIns="0" tIns="0" rIns="0" bIns="0" anchor="t">
              <a:noAutofit/>
            </a:bodyPr>
            <a:lstStyle/>
            <a:p>
              <a:pPr algn="ctr">
                <a:lnSpc>
                  <a:spcPct val="100000"/>
                </a:lnSpc>
                <a:spcBef>
                  <a:spcPts val="0"/>
                </a:spcBef>
                <a:spcAft>
                  <a:spcPts val="0"/>
                </a:spcAft>
                <a:buNone/>
              </a:pPr>
              <a:r>
                <a:rPr lang="en-US" sz="555" dirty="0">
                  <a:solidFill>
                    <a:srgbClr val="64748B"/>
                  </a:solidFill>
                  <a:latin typeface="Arial"/>
                  <a:cs typeface="Arial"/>
                </a:rPr>
                <a:t>selects</a:t>
              </a:r>
              <a:endParaRPr lang="en-US" sz="555" dirty="0"/>
            </a:p>
          </p:txBody>
        </p:sp>
        <p:cxnSp>
          <p:nvCxnSpPr>
            <p:cNvPr id="59" name="Line 59"/>
            <p:cNvCxnSpPr/>
            <p:nvPr/>
          </p:nvCxnSpPr>
          <p:spPr>
            <a:xfrm>
              <a:off x="4330700" y="4254994"/>
              <a:ext cx="0" cy="42412"/>
            </a:xfrm>
            <a:prstGeom prst="line">
              <a:avLst/>
            </a:prstGeom>
            <a:ln w="9653" cap="rnd">
              <a:solidFill>
                <a:srgbClr val="7B899C"/>
              </a:solidFill>
              <a:round/>
            </a:ln>
          </p:spPr>
        </p:cxnSp>
        <p:cxnSp>
          <p:nvCxnSpPr>
            <p:cNvPr id="60" name="Line 60"/>
            <p:cNvCxnSpPr/>
            <p:nvPr/>
          </p:nvCxnSpPr>
          <p:spPr>
            <a:xfrm>
              <a:off x="4330700" y="4297405"/>
              <a:ext cx="0" cy="34927"/>
            </a:xfrm>
            <a:prstGeom prst="line">
              <a:avLst/>
            </a:prstGeom>
            <a:ln w="9653" cap="rnd">
              <a:solidFill>
                <a:srgbClr val="7B899C"/>
              </a:solidFill>
              <a:round/>
            </a:ln>
          </p:spPr>
        </p:cxnSp>
        <p:cxnSp>
          <p:nvCxnSpPr>
            <p:cNvPr id="61" name="Line 61"/>
            <p:cNvCxnSpPr/>
            <p:nvPr/>
          </p:nvCxnSpPr>
          <p:spPr>
            <a:xfrm flipV="1">
              <a:off x="4330700" y="4332333"/>
              <a:ext cx="0" cy="29314"/>
            </a:xfrm>
            <a:prstGeom prst="line">
              <a:avLst/>
            </a:prstGeom>
            <a:ln w="9653" cap="rnd">
              <a:solidFill>
                <a:srgbClr val="7B899C"/>
              </a:solidFill>
              <a:round/>
            </a:ln>
          </p:spPr>
        </p:cxnSp>
        <p:cxnSp>
          <p:nvCxnSpPr>
            <p:cNvPr id="62" name="Line 62"/>
            <p:cNvCxnSpPr/>
            <p:nvPr/>
          </p:nvCxnSpPr>
          <p:spPr>
            <a:xfrm>
              <a:off x="4330700" y="4361647"/>
              <a:ext cx="0" cy="25572"/>
            </a:xfrm>
            <a:prstGeom prst="line">
              <a:avLst/>
            </a:prstGeom>
            <a:ln w="9653" cap="rnd">
              <a:solidFill>
                <a:srgbClr val="7B899C"/>
              </a:solidFill>
              <a:round/>
            </a:ln>
          </p:spPr>
        </p:cxnSp>
        <p:cxnSp>
          <p:nvCxnSpPr>
            <p:cNvPr id="63" name="Line 63"/>
            <p:cNvCxnSpPr/>
            <p:nvPr/>
          </p:nvCxnSpPr>
          <p:spPr>
            <a:xfrm>
              <a:off x="4330700" y="4387219"/>
              <a:ext cx="0" cy="23701"/>
            </a:xfrm>
            <a:prstGeom prst="line">
              <a:avLst/>
            </a:prstGeom>
            <a:ln w="9653" cap="rnd">
              <a:solidFill>
                <a:srgbClr val="7B899C"/>
              </a:solidFill>
              <a:round/>
            </a:ln>
          </p:spPr>
        </p:cxnSp>
        <p:cxnSp>
          <p:nvCxnSpPr>
            <p:cNvPr id="64" name="Line 64"/>
            <p:cNvCxnSpPr/>
            <p:nvPr/>
          </p:nvCxnSpPr>
          <p:spPr>
            <a:xfrm>
              <a:off x="4330700" y="4410919"/>
              <a:ext cx="0" cy="23701"/>
            </a:xfrm>
            <a:prstGeom prst="line">
              <a:avLst/>
            </a:prstGeom>
            <a:ln w="9653" cap="rnd">
              <a:solidFill>
                <a:srgbClr val="7B899C"/>
              </a:solidFill>
              <a:round/>
            </a:ln>
          </p:spPr>
        </p:cxnSp>
        <p:cxnSp>
          <p:nvCxnSpPr>
            <p:cNvPr id="65" name="Line 65"/>
            <p:cNvCxnSpPr/>
            <p:nvPr/>
          </p:nvCxnSpPr>
          <p:spPr>
            <a:xfrm flipV="1">
              <a:off x="4330700" y="4434620"/>
              <a:ext cx="0" cy="25572"/>
            </a:xfrm>
            <a:prstGeom prst="line">
              <a:avLst/>
            </a:prstGeom>
            <a:ln w="9653" cap="rnd">
              <a:solidFill>
                <a:srgbClr val="7B899C"/>
              </a:solidFill>
              <a:round/>
            </a:ln>
          </p:spPr>
        </p:cxnSp>
        <p:cxnSp>
          <p:nvCxnSpPr>
            <p:cNvPr id="66" name="Line 66"/>
            <p:cNvCxnSpPr/>
            <p:nvPr/>
          </p:nvCxnSpPr>
          <p:spPr>
            <a:xfrm>
              <a:off x="4330700" y="4460192"/>
              <a:ext cx="0" cy="29314"/>
            </a:xfrm>
            <a:prstGeom prst="line">
              <a:avLst/>
            </a:prstGeom>
            <a:ln w="9653" cap="rnd">
              <a:solidFill>
                <a:srgbClr val="7B899C"/>
              </a:solidFill>
              <a:round/>
            </a:ln>
          </p:spPr>
        </p:cxnSp>
        <p:cxnSp>
          <p:nvCxnSpPr>
            <p:cNvPr id="67" name="Line 67"/>
            <p:cNvCxnSpPr/>
            <p:nvPr/>
          </p:nvCxnSpPr>
          <p:spPr>
            <a:xfrm>
              <a:off x="4330700" y="4489506"/>
              <a:ext cx="0" cy="34927"/>
            </a:xfrm>
            <a:prstGeom prst="line">
              <a:avLst/>
            </a:prstGeom>
            <a:ln w="9653" cap="rnd">
              <a:solidFill>
                <a:srgbClr val="7B899C"/>
              </a:solidFill>
              <a:round/>
            </a:ln>
          </p:spPr>
        </p:cxnSp>
        <p:cxnSp>
          <p:nvCxnSpPr>
            <p:cNvPr id="68" name="Line 68"/>
            <p:cNvCxnSpPr/>
            <p:nvPr/>
          </p:nvCxnSpPr>
          <p:spPr>
            <a:xfrm>
              <a:off x="4330700" y="4524433"/>
              <a:ext cx="0" cy="42412"/>
            </a:xfrm>
            <a:prstGeom prst="line">
              <a:avLst/>
            </a:prstGeom>
            <a:ln w="9653" cap="rnd">
              <a:solidFill>
                <a:srgbClr val="7B899C"/>
              </a:solidFill>
              <a:round/>
              <a:tailEnd type="triangle" w="med" len="med"/>
            </a:ln>
          </p:spPr>
        </p:cxnSp>
        <p:sp>
          <p:nvSpPr>
            <p:cNvPr id="69" name="Rect 69"/>
            <p:cNvSpPr/>
            <p:nvPr/>
          </p:nvSpPr>
          <p:spPr>
            <a:xfrm>
              <a:off x="4071381" y="4347807"/>
              <a:ext cx="518638" cy="111375"/>
            </a:xfrm>
            <a:prstGeom prst="roundRect">
              <a:avLst>
                <a:gd name="adj" fmla="val 26666"/>
              </a:avLst>
            </a:prstGeom>
            <a:solidFill>
              <a:srgbClr val="FFFFFF"/>
            </a:solidFill>
            <a:ln>
              <a:noFill/>
            </a:ln>
          </p:spPr>
        </p:sp>
        <p:sp>
          <p:nvSpPr>
            <p:cNvPr id="70" name="Text 70"/>
            <p:cNvSpPr txBox="1"/>
            <p:nvPr/>
          </p:nvSpPr>
          <p:spPr>
            <a:xfrm>
              <a:off x="4003748" y="4363993"/>
              <a:ext cx="653904" cy="88172"/>
            </a:xfrm>
            <a:prstGeom prst="rect">
              <a:avLst/>
            </a:prstGeom>
            <a:noFill/>
            <a:ln>
              <a:noFill/>
            </a:ln>
          </p:spPr>
          <p:txBody>
            <a:bodyPr wrap="none" lIns="0" tIns="0" rIns="0" bIns="0" anchor="t">
              <a:noAutofit/>
            </a:bodyPr>
            <a:lstStyle/>
            <a:p>
              <a:pPr algn="ctr">
                <a:lnSpc>
                  <a:spcPct val="100000"/>
                </a:lnSpc>
                <a:spcBef>
                  <a:spcPts val="0"/>
                </a:spcBef>
                <a:spcAft>
                  <a:spcPts val="0"/>
                </a:spcAft>
                <a:buNone/>
              </a:pPr>
              <a:r>
                <a:rPr lang="en-US" sz="555" dirty="0">
                  <a:solidFill>
                    <a:srgbClr val="64748B"/>
                  </a:solidFill>
                  <a:latin typeface="Arial"/>
                  <a:cs typeface="Arial"/>
                </a:rPr>
                <a:t>KV transfer</a:t>
              </a:r>
              <a:endParaRPr lang="en-US" sz="555" dirty="0"/>
            </a:p>
          </p:txBody>
        </p:sp>
        <p:cxnSp>
          <p:nvCxnSpPr>
            <p:cNvPr id="71" name="Line 71"/>
            <p:cNvCxnSpPr/>
            <p:nvPr/>
          </p:nvCxnSpPr>
          <p:spPr>
            <a:xfrm>
              <a:off x="4330700" y="4254994"/>
              <a:ext cx="0" cy="137333"/>
            </a:xfrm>
            <a:prstGeom prst="line">
              <a:avLst/>
            </a:prstGeom>
            <a:ln w="9653" cap="rnd">
              <a:solidFill>
                <a:srgbClr val="7B899C"/>
              </a:solidFill>
              <a:round/>
            </a:ln>
          </p:spPr>
        </p:cxnSp>
        <p:cxnSp>
          <p:nvCxnSpPr>
            <p:cNvPr id="72" name="Line 72"/>
            <p:cNvCxnSpPr/>
            <p:nvPr/>
          </p:nvCxnSpPr>
          <p:spPr>
            <a:xfrm>
              <a:off x="4330700" y="4392327"/>
              <a:ext cx="0" cy="113098"/>
            </a:xfrm>
            <a:prstGeom prst="line">
              <a:avLst/>
            </a:prstGeom>
            <a:ln w="9653" cap="rnd">
              <a:solidFill>
                <a:srgbClr val="7B899C"/>
              </a:solidFill>
              <a:round/>
            </a:ln>
          </p:spPr>
        </p:cxnSp>
        <p:cxnSp>
          <p:nvCxnSpPr>
            <p:cNvPr id="73" name="Line 73"/>
            <p:cNvCxnSpPr/>
            <p:nvPr/>
          </p:nvCxnSpPr>
          <p:spPr>
            <a:xfrm flipV="1">
              <a:off x="4330700" y="4505425"/>
              <a:ext cx="0" cy="94922"/>
            </a:xfrm>
            <a:prstGeom prst="line">
              <a:avLst/>
            </a:prstGeom>
            <a:ln w="9653" cap="rnd">
              <a:solidFill>
                <a:srgbClr val="7B899C"/>
              </a:solidFill>
              <a:round/>
            </a:ln>
          </p:spPr>
        </p:cxnSp>
        <p:cxnSp>
          <p:nvCxnSpPr>
            <p:cNvPr id="74" name="Line 74"/>
            <p:cNvCxnSpPr/>
            <p:nvPr/>
          </p:nvCxnSpPr>
          <p:spPr>
            <a:xfrm>
              <a:off x="4330700" y="4600347"/>
              <a:ext cx="0" cy="82804"/>
            </a:xfrm>
            <a:prstGeom prst="line">
              <a:avLst/>
            </a:prstGeom>
            <a:ln w="9653" cap="rnd">
              <a:solidFill>
                <a:srgbClr val="7B899C"/>
              </a:solidFill>
              <a:round/>
            </a:ln>
          </p:spPr>
        </p:cxnSp>
        <p:cxnSp>
          <p:nvCxnSpPr>
            <p:cNvPr id="75" name="Line 75"/>
            <p:cNvCxnSpPr/>
            <p:nvPr/>
          </p:nvCxnSpPr>
          <p:spPr>
            <a:xfrm>
              <a:off x="4330700" y="4683151"/>
              <a:ext cx="0" cy="76745"/>
            </a:xfrm>
            <a:prstGeom prst="line">
              <a:avLst/>
            </a:prstGeom>
            <a:ln w="9653" cap="rnd">
              <a:solidFill>
                <a:srgbClr val="7B899C"/>
              </a:solidFill>
              <a:round/>
            </a:ln>
          </p:spPr>
        </p:cxnSp>
        <p:cxnSp>
          <p:nvCxnSpPr>
            <p:cNvPr id="76" name="Line 76"/>
            <p:cNvCxnSpPr/>
            <p:nvPr/>
          </p:nvCxnSpPr>
          <p:spPr>
            <a:xfrm>
              <a:off x="4330700" y="4759896"/>
              <a:ext cx="0" cy="76745"/>
            </a:xfrm>
            <a:prstGeom prst="line">
              <a:avLst/>
            </a:prstGeom>
            <a:ln w="9653" cap="rnd">
              <a:solidFill>
                <a:srgbClr val="7B899C"/>
              </a:solidFill>
              <a:round/>
            </a:ln>
          </p:spPr>
        </p:cxnSp>
        <p:cxnSp>
          <p:nvCxnSpPr>
            <p:cNvPr id="77" name="Line 77"/>
            <p:cNvCxnSpPr/>
            <p:nvPr/>
          </p:nvCxnSpPr>
          <p:spPr>
            <a:xfrm flipV="1">
              <a:off x="4330700" y="4836641"/>
              <a:ext cx="0" cy="82804"/>
            </a:xfrm>
            <a:prstGeom prst="line">
              <a:avLst/>
            </a:prstGeom>
            <a:ln w="9653" cap="rnd">
              <a:solidFill>
                <a:srgbClr val="7B899C"/>
              </a:solidFill>
              <a:round/>
            </a:ln>
          </p:spPr>
        </p:cxnSp>
        <p:cxnSp>
          <p:nvCxnSpPr>
            <p:cNvPr id="78" name="Line 78"/>
            <p:cNvCxnSpPr/>
            <p:nvPr/>
          </p:nvCxnSpPr>
          <p:spPr>
            <a:xfrm>
              <a:off x="4330700" y="4919445"/>
              <a:ext cx="0" cy="94922"/>
            </a:xfrm>
            <a:prstGeom prst="line">
              <a:avLst/>
            </a:prstGeom>
            <a:ln w="9653" cap="rnd">
              <a:solidFill>
                <a:srgbClr val="7B899C"/>
              </a:solidFill>
              <a:round/>
            </a:ln>
          </p:spPr>
        </p:cxnSp>
        <p:cxnSp>
          <p:nvCxnSpPr>
            <p:cNvPr id="79" name="Line 79"/>
            <p:cNvCxnSpPr/>
            <p:nvPr/>
          </p:nvCxnSpPr>
          <p:spPr>
            <a:xfrm>
              <a:off x="4330700" y="5014366"/>
              <a:ext cx="0" cy="113098"/>
            </a:xfrm>
            <a:prstGeom prst="line">
              <a:avLst/>
            </a:prstGeom>
            <a:ln w="9653" cap="rnd">
              <a:solidFill>
                <a:srgbClr val="7B899C"/>
              </a:solidFill>
              <a:round/>
            </a:ln>
          </p:spPr>
        </p:cxnSp>
        <p:cxnSp>
          <p:nvCxnSpPr>
            <p:cNvPr id="80" name="Line 80"/>
            <p:cNvCxnSpPr/>
            <p:nvPr/>
          </p:nvCxnSpPr>
          <p:spPr>
            <a:xfrm>
              <a:off x="4330700" y="5127464"/>
              <a:ext cx="0" cy="137333"/>
            </a:xfrm>
            <a:prstGeom prst="line">
              <a:avLst/>
            </a:prstGeom>
            <a:ln w="9653" cap="rnd">
              <a:solidFill>
                <a:srgbClr val="7B899C"/>
              </a:solidFill>
              <a:round/>
              <a:tailEnd type="triangle" w="med" len="med"/>
            </a:ln>
          </p:spPr>
        </p:cxnSp>
        <p:cxnSp>
          <p:nvCxnSpPr>
            <p:cNvPr id="81" name="Line 81"/>
            <p:cNvCxnSpPr/>
            <p:nvPr/>
          </p:nvCxnSpPr>
          <p:spPr>
            <a:xfrm>
              <a:off x="4330700" y="4952946"/>
              <a:ext cx="0" cy="42412"/>
            </a:xfrm>
            <a:prstGeom prst="line">
              <a:avLst/>
            </a:prstGeom>
            <a:ln w="9653" cap="rnd">
              <a:solidFill>
                <a:srgbClr val="7B899C"/>
              </a:solidFill>
              <a:round/>
            </a:ln>
          </p:spPr>
        </p:cxnSp>
        <p:cxnSp>
          <p:nvCxnSpPr>
            <p:cNvPr id="82" name="Line 82"/>
            <p:cNvCxnSpPr/>
            <p:nvPr/>
          </p:nvCxnSpPr>
          <p:spPr>
            <a:xfrm>
              <a:off x="4330700" y="4995358"/>
              <a:ext cx="0" cy="34927"/>
            </a:xfrm>
            <a:prstGeom prst="line">
              <a:avLst/>
            </a:prstGeom>
            <a:ln w="9653" cap="rnd">
              <a:solidFill>
                <a:srgbClr val="7B899C"/>
              </a:solidFill>
              <a:round/>
            </a:ln>
          </p:spPr>
        </p:cxnSp>
        <p:cxnSp>
          <p:nvCxnSpPr>
            <p:cNvPr id="83" name="Line 83"/>
            <p:cNvCxnSpPr/>
            <p:nvPr/>
          </p:nvCxnSpPr>
          <p:spPr>
            <a:xfrm flipV="1">
              <a:off x="4330700" y="5030285"/>
              <a:ext cx="0" cy="29314"/>
            </a:xfrm>
            <a:prstGeom prst="line">
              <a:avLst/>
            </a:prstGeom>
            <a:ln w="9653" cap="rnd">
              <a:solidFill>
                <a:srgbClr val="7B899C"/>
              </a:solidFill>
              <a:round/>
            </a:ln>
          </p:spPr>
        </p:cxnSp>
        <p:cxnSp>
          <p:nvCxnSpPr>
            <p:cNvPr id="84" name="Line 84"/>
            <p:cNvCxnSpPr/>
            <p:nvPr/>
          </p:nvCxnSpPr>
          <p:spPr>
            <a:xfrm>
              <a:off x="4330700" y="5059599"/>
              <a:ext cx="0" cy="25572"/>
            </a:xfrm>
            <a:prstGeom prst="line">
              <a:avLst/>
            </a:prstGeom>
            <a:ln w="9653" cap="rnd">
              <a:solidFill>
                <a:srgbClr val="7B899C"/>
              </a:solidFill>
              <a:round/>
            </a:ln>
          </p:spPr>
        </p:cxnSp>
        <p:cxnSp>
          <p:nvCxnSpPr>
            <p:cNvPr id="85" name="Line 85"/>
            <p:cNvCxnSpPr/>
            <p:nvPr/>
          </p:nvCxnSpPr>
          <p:spPr>
            <a:xfrm>
              <a:off x="4330700" y="5085171"/>
              <a:ext cx="0" cy="23701"/>
            </a:xfrm>
            <a:prstGeom prst="line">
              <a:avLst/>
            </a:prstGeom>
            <a:ln w="9653" cap="rnd">
              <a:solidFill>
                <a:srgbClr val="7B899C"/>
              </a:solidFill>
              <a:round/>
            </a:ln>
          </p:spPr>
        </p:cxnSp>
        <p:cxnSp>
          <p:nvCxnSpPr>
            <p:cNvPr id="86" name="Line 86"/>
            <p:cNvCxnSpPr/>
            <p:nvPr/>
          </p:nvCxnSpPr>
          <p:spPr>
            <a:xfrm>
              <a:off x="4330700" y="5108872"/>
              <a:ext cx="0" cy="23701"/>
            </a:xfrm>
            <a:prstGeom prst="line">
              <a:avLst/>
            </a:prstGeom>
            <a:ln w="9653" cap="rnd">
              <a:solidFill>
                <a:srgbClr val="7B899C"/>
              </a:solidFill>
              <a:round/>
            </a:ln>
          </p:spPr>
        </p:cxnSp>
        <p:cxnSp>
          <p:nvCxnSpPr>
            <p:cNvPr id="87" name="Line 87"/>
            <p:cNvCxnSpPr/>
            <p:nvPr/>
          </p:nvCxnSpPr>
          <p:spPr>
            <a:xfrm flipV="1">
              <a:off x="4330700" y="5132573"/>
              <a:ext cx="0" cy="25572"/>
            </a:xfrm>
            <a:prstGeom prst="line">
              <a:avLst/>
            </a:prstGeom>
            <a:ln w="9653" cap="rnd">
              <a:solidFill>
                <a:srgbClr val="7B899C"/>
              </a:solidFill>
              <a:round/>
            </a:ln>
          </p:spPr>
        </p:cxnSp>
        <p:cxnSp>
          <p:nvCxnSpPr>
            <p:cNvPr id="88" name="Line 88"/>
            <p:cNvCxnSpPr/>
            <p:nvPr/>
          </p:nvCxnSpPr>
          <p:spPr>
            <a:xfrm>
              <a:off x="4330700" y="5158144"/>
              <a:ext cx="0" cy="29314"/>
            </a:xfrm>
            <a:prstGeom prst="line">
              <a:avLst/>
            </a:prstGeom>
            <a:ln w="9653" cap="rnd">
              <a:solidFill>
                <a:srgbClr val="7B899C"/>
              </a:solidFill>
              <a:round/>
            </a:ln>
          </p:spPr>
        </p:cxnSp>
        <p:cxnSp>
          <p:nvCxnSpPr>
            <p:cNvPr id="89" name="Line 89"/>
            <p:cNvCxnSpPr/>
            <p:nvPr/>
          </p:nvCxnSpPr>
          <p:spPr>
            <a:xfrm>
              <a:off x="4330700" y="5187458"/>
              <a:ext cx="0" cy="34927"/>
            </a:xfrm>
            <a:prstGeom prst="line">
              <a:avLst/>
            </a:prstGeom>
            <a:ln w="9653" cap="rnd">
              <a:solidFill>
                <a:srgbClr val="7B899C"/>
              </a:solidFill>
              <a:round/>
            </a:ln>
          </p:spPr>
        </p:cxnSp>
        <p:cxnSp>
          <p:nvCxnSpPr>
            <p:cNvPr id="90" name="Line 90"/>
            <p:cNvCxnSpPr/>
            <p:nvPr/>
          </p:nvCxnSpPr>
          <p:spPr>
            <a:xfrm>
              <a:off x="4330700" y="5222386"/>
              <a:ext cx="0" cy="42412"/>
            </a:xfrm>
            <a:prstGeom prst="line">
              <a:avLst/>
            </a:prstGeom>
            <a:ln w="9653" cap="rnd">
              <a:solidFill>
                <a:srgbClr val="7B899C"/>
              </a:solidFill>
              <a:round/>
              <a:tailEnd type="triangle" w="med" len="med"/>
            </a:ln>
          </p:spPr>
        </p:cxnSp>
        <p:cxnSp>
          <p:nvCxnSpPr>
            <p:cNvPr id="91" name="Line 91"/>
            <p:cNvCxnSpPr/>
            <p:nvPr/>
          </p:nvCxnSpPr>
          <p:spPr>
            <a:xfrm>
              <a:off x="3669872" y="2161136"/>
              <a:ext cx="18503" cy="327176"/>
            </a:xfrm>
            <a:prstGeom prst="line">
              <a:avLst/>
            </a:prstGeom>
            <a:ln w="9653" cap="rnd">
              <a:solidFill>
                <a:srgbClr val="7B899C"/>
              </a:solidFill>
              <a:round/>
            </a:ln>
          </p:spPr>
        </p:cxnSp>
        <p:cxnSp>
          <p:nvCxnSpPr>
            <p:cNvPr id="92" name="Line 92"/>
            <p:cNvCxnSpPr/>
            <p:nvPr/>
          </p:nvCxnSpPr>
          <p:spPr>
            <a:xfrm>
              <a:off x="3688376" y="2488312"/>
              <a:ext cx="50223" cy="269439"/>
            </a:xfrm>
            <a:prstGeom prst="line">
              <a:avLst/>
            </a:prstGeom>
            <a:ln w="9653" cap="rnd">
              <a:solidFill>
                <a:srgbClr val="7B899C"/>
              </a:solidFill>
              <a:round/>
            </a:ln>
          </p:spPr>
        </p:cxnSp>
        <p:cxnSp>
          <p:nvCxnSpPr>
            <p:cNvPr id="93" name="Line 93"/>
            <p:cNvCxnSpPr/>
            <p:nvPr/>
          </p:nvCxnSpPr>
          <p:spPr>
            <a:xfrm>
              <a:off x="3738599" y="2757752"/>
              <a:ext cx="74013" cy="226137"/>
            </a:xfrm>
            <a:prstGeom prst="line">
              <a:avLst/>
            </a:prstGeom>
            <a:ln w="9653" cap="rnd">
              <a:solidFill>
                <a:srgbClr val="7B899C"/>
              </a:solidFill>
              <a:round/>
            </a:ln>
          </p:spPr>
        </p:cxnSp>
        <p:cxnSp>
          <p:nvCxnSpPr>
            <p:cNvPr id="94" name="Line 94"/>
            <p:cNvCxnSpPr/>
            <p:nvPr/>
          </p:nvCxnSpPr>
          <p:spPr>
            <a:xfrm>
              <a:off x="3812611" y="2983888"/>
              <a:ext cx="89873" cy="197268"/>
            </a:xfrm>
            <a:prstGeom prst="line">
              <a:avLst/>
            </a:prstGeom>
            <a:ln w="9653" cap="rnd">
              <a:solidFill>
                <a:srgbClr val="7B899C"/>
              </a:solidFill>
              <a:round/>
            </a:ln>
          </p:spPr>
        </p:cxnSp>
        <p:cxnSp>
          <p:nvCxnSpPr>
            <p:cNvPr id="95" name="Line 95"/>
            <p:cNvCxnSpPr/>
            <p:nvPr/>
          </p:nvCxnSpPr>
          <p:spPr>
            <a:xfrm>
              <a:off x="3902484" y="3181156"/>
              <a:ext cx="97802" cy="182834"/>
            </a:xfrm>
            <a:prstGeom prst="line">
              <a:avLst/>
            </a:prstGeom>
            <a:ln w="9653" cap="rnd">
              <a:solidFill>
                <a:srgbClr val="7B899C"/>
              </a:solidFill>
              <a:round/>
            </a:ln>
          </p:spPr>
        </p:cxnSp>
        <p:cxnSp>
          <p:nvCxnSpPr>
            <p:cNvPr id="96" name="Line 96"/>
            <p:cNvCxnSpPr/>
            <p:nvPr/>
          </p:nvCxnSpPr>
          <p:spPr>
            <a:xfrm>
              <a:off x="4000286" y="3363990"/>
              <a:ext cx="97802" cy="182834"/>
            </a:xfrm>
            <a:prstGeom prst="line">
              <a:avLst/>
            </a:prstGeom>
            <a:ln w="9653" cap="rnd">
              <a:solidFill>
                <a:srgbClr val="7B899C"/>
              </a:solidFill>
              <a:round/>
            </a:ln>
          </p:spPr>
        </p:cxnSp>
        <p:cxnSp>
          <p:nvCxnSpPr>
            <p:cNvPr id="97" name="Line 97"/>
            <p:cNvCxnSpPr/>
            <p:nvPr/>
          </p:nvCxnSpPr>
          <p:spPr>
            <a:xfrm>
              <a:off x="4098089" y="3546824"/>
              <a:ext cx="89873" cy="197268"/>
            </a:xfrm>
            <a:prstGeom prst="line">
              <a:avLst/>
            </a:prstGeom>
            <a:ln w="9653" cap="rnd">
              <a:solidFill>
                <a:srgbClr val="7B899C"/>
              </a:solidFill>
              <a:round/>
            </a:ln>
          </p:spPr>
        </p:cxnSp>
        <p:cxnSp>
          <p:nvCxnSpPr>
            <p:cNvPr id="98" name="Line 98"/>
            <p:cNvCxnSpPr/>
            <p:nvPr/>
          </p:nvCxnSpPr>
          <p:spPr>
            <a:xfrm>
              <a:off x="4187961" y="3744092"/>
              <a:ext cx="74013" cy="226137"/>
            </a:xfrm>
            <a:prstGeom prst="line">
              <a:avLst/>
            </a:prstGeom>
            <a:ln w="9653" cap="rnd">
              <a:solidFill>
                <a:srgbClr val="7B899C"/>
              </a:solidFill>
              <a:round/>
            </a:ln>
          </p:spPr>
        </p:cxnSp>
        <p:cxnSp>
          <p:nvCxnSpPr>
            <p:cNvPr id="99" name="Line 99"/>
            <p:cNvCxnSpPr/>
            <p:nvPr/>
          </p:nvCxnSpPr>
          <p:spPr>
            <a:xfrm>
              <a:off x="4261974" y="3970229"/>
              <a:ext cx="50223" cy="269439"/>
            </a:xfrm>
            <a:prstGeom prst="line">
              <a:avLst/>
            </a:prstGeom>
            <a:ln w="9653" cap="rnd">
              <a:solidFill>
                <a:srgbClr val="7B899C"/>
              </a:solidFill>
              <a:round/>
            </a:ln>
          </p:spPr>
        </p:cxnSp>
        <p:cxnSp>
          <p:nvCxnSpPr>
            <p:cNvPr id="100" name="Line 100"/>
            <p:cNvCxnSpPr/>
            <p:nvPr/>
          </p:nvCxnSpPr>
          <p:spPr>
            <a:xfrm>
              <a:off x="4312197" y="4239668"/>
              <a:ext cx="18503" cy="327176"/>
            </a:xfrm>
            <a:prstGeom prst="line">
              <a:avLst/>
            </a:prstGeom>
            <a:ln w="9653" cap="rnd">
              <a:solidFill>
                <a:srgbClr val="7B899C"/>
              </a:solidFill>
              <a:round/>
              <a:tailEnd type="triangle" w="med" len="med"/>
            </a:ln>
          </p:spPr>
        </p:cxnSp>
        <p:sp>
          <p:nvSpPr>
            <p:cNvPr id="101" name="Rect 101"/>
            <p:cNvSpPr/>
            <p:nvPr/>
          </p:nvSpPr>
          <p:spPr>
            <a:xfrm>
              <a:off x="3852064" y="3300878"/>
              <a:ext cx="296444" cy="111375"/>
            </a:xfrm>
            <a:prstGeom prst="roundRect">
              <a:avLst>
                <a:gd name="adj" fmla="val 26666"/>
              </a:avLst>
            </a:prstGeom>
            <a:solidFill>
              <a:srgbClr val="FFFFFF"/>
            </a:solidFill>
            <a:ln>
              <a:noFill/>
            </a:ln>
          </p:spPr>
        </p:sp>
        <p:sp>
          <p:nvSpPr>
            <p:cNvPr id="102" name="Text 102"/>
            <p:cNvSpPr txBox="1"/>
            <p:nvPr/>
          </p:nvSpPr>
          <p:spPr>
            <a:xfrm>
              <a:off x="3817760" y="3317064"/>
              <a:ext cx="365052" cy="88172"/>
            </a:xfrm>
            <a:prstGeom prst="rect">
              <a:avLst/>
            </a:prstGeom>
            <a:noFill/>
            <a:ln>
              <a:noFill/>
            </a:ln>
          </p:spPr>
          <p:txBody>
            <a:bodyPr wrap="none" lIns="0" tIns="0" rIns="0" bIns="0" anchor="t">
              <a:noAutofit/>
            </a:bodyPr>
            <a:lstStyle/>
            <a:p>
              <a:pPr algn="ctr">
                <a:lnSpc>
                  <a:spcPct val="100000"/>
                </a:lnSpc>
                <a:spcBef>
                  <a:spcPts val="0"/>
                </a:spcBef>
                <a:spcAft>
                  <a:spcPts val="0"/>
                </a:spcAft>
                <a:buNone/>
              </a:pPr>
              <a:r>
                <a:rPr lang="en-US" sz="555" dirty="0">
                  <a:solidFill>
                    <a:srgbClr val="64748B"/>
                  </a:solidFill>
                  <a:latin typeface="Arial"/>
                  <a:cs typeface="Arial"/>
                </a:rPr>
                <a:t>scales</a:t>
              </a:r>
              <a:endParaRPr lang="en-US" sz="555" dirty="0"/>
            </a:p>
          </p:txBody>
        </p:sp>
        <p:cxnSp>
          <p:nvCxnSpPr>
            <p:cNvPr id="103" name="Line 103"/>
            <p:cNvCxnSpPr/>
            <p:nvPr/>
          </p:nvCxnSpPr>
          <p:spPr>
            <a:xfrm>
              <a:off x="3669872" y="2161136"/>
              <a:ext cx="18503" cy="232255"/>
            </a:xfrm>
            <a:prstGeom prst="line">
              <a:avLst/>
            </a:prstGeom>
            <a:ln w="9653" cap="rnd">
              <a:solidFill>
                <a:srgbClr val="7B899C"/>
              </a:solidFill>
              <a:round/>
            </a:ln>
          </p:spPr>
        </p:cxnSp>
        <p:cxnSp>
          <p:nvCxnSpPr>
            <p:cNvPr id="104" name="Line 104"/>
            <p:cNvCxnSpPr/>
            <p:nvPr/>
          </p:nvCxnSpPr>
          <p:spPr>
            <a:xfrm>
              <a:off x="3688376" y="2393391"/>
              <a:ext cx="50223" cy="191269"/>
            </a:xfrm>
            <a:prstGeom prst="line">
              <a:avLst/>
            </a:prstGeom>
            <a:ln w="9653" cap="rnd">
              <a:solidFill>
                <a:srgbClr val="7B899C"/>
              </a:solidFill>
              <a:round/>
            </a:ln>
          </p:spPr>
        </p:cxnSp>
        <p:cxnSp>
          <p:nvCxnSpPr>
            <p:cNvPr id="105" name="Line 105"/>
            <p:cNvCxnSpPr/>
            <p:nvPr/>
          </p:nvCxnSpPr>
          <p:spPr>
            <a:xfrm>
              <a:off x="3738599" y="2584659"/>
              <a:ext cx="74013" cy="160529"/>
            </a:xfrm>
            <a:prstGeom prst="line">
              <a:avLst/>
            </a:prstGeom>
            <a:ln w="9653" cap="rnd">
              <a:solidFill>
                <a:srgbClr val="7B899C"/>
              </a:solidFill>
              <a:round/>
            </a:ln>
          </p:spPr>
        </p:cxnSp>
        <p:cxnSp>
          <p:nvCxnSpPr>
            <p:cNvPr id="106" name="Line 106"/>
            <p:cNvCxnSpPr/>
            <p:nvPr/>
          </p:nvCxnSpPr>
          <p:spPr>
            <a:xfrm>
              <a:off x="3812611" y="2745188"/>
              <a:ext cx="89873" cy="140036"/>
            </a:xfrm>
            <a:prstGeom prst="line">
              <a:avLst/>
            </a:prstGeom>
            <a:ln w="9653" cap="rnd">
              <a:solidFill>
                <a:srgbClr val="7B899C"/>
              </a:solidFill>
              <a:round/>
            </a:ln>
          </p:spPr>
        </p:cxnSp>
        <p:cxnSp>
          <p:nvCxnSpPr>
            <p:cNvPr id="107" name="Line 107"/>
            <p:cNvCxnSpPr/>
            <p:nvPr/>
          </p:nvCxnSpPr>
          <p:spPr>
            <a:xfrm>
              <a:off x="3902484" y="2885224"/>
              <a:ext cx="97802" cy="129789"/>
            </a:xfrm>
            <a:prstGeom prst="line">
              <a:avLst/>
            </a:prstGeom>
            <a:ln w="9653" cap="rnd">
              <a:solidFill>
                <a:srgbClr val="7B899C"/>
              </a:solidFill>
              <a:round/>
            </a:ln>
          </p:spPr>
        </p:cxnSp>
        <p:cxnSp>
          <p:nvCxnSpPr>
            <p:cNvPr id="108" name="Line 108"/>
            <p:cNvCxnSpPr/>
            <p:nvPr/>
          </p:nvCxnSpPr>
          <p:spPr>
            <a:xfrm>
              <a:off x="4000286" y="3015014"/>
              <a:ext cx="97802" cy="129789"/>
            </a:xfrm>
            <a:prstGeom prst="line">
              <a:avLst/>
            </a:prstGeom>
            <a:ln w="9653" cap="rnd">
              <a:solidFill>
                <a:srgbClr val="7B899C"/>
              </a:solidFill>
              <a:round/>
            </a:ln>
          </p:spPr>
        </p:cxnSp>
        <p:cxnSp>
          <p:nvCxnSpPr>
            <p:cNvPr id="109" name="Line 109"/>
            <p:cNvCxnSpPr/>
            <p:nvPr/>
          </p:nvCxnSpPr>
          <p:spPr>
            <a:xfrm>
              <a:off x="4098089" y="3144803"/>
              <a:ext cx="89873" cy="140036"/>
            </a:xfrm>
            <a:prstGeom prst="line">
              <a:avLst/>
            </a:prstGeom>
            <a:ln w="9653" cap="rnd">
              <a:solidFill>
                <a:srgbClr val="7B899C"/>
              </a:solidFill>
              <a:round/>
            </a:ln>
          </p:spPr>
        </p:cxnSp>
        <p:cxnSp>
          <p:nvCxnSpPr>
            <p:cNvPr id="110" name="Line 110"/>
            <p:cNvCxnSpPr/>
            <p:nvPr/>
          </p:nvCxnSpPr>
          <p:spPr>
            <a:xfrm>
              <a:off x="4187961" y="3284840"/>
              <a:ext cx="74013" cy="160529"/>
            </a:xfrm>
            <a:prstGeom prst="line">
              <a:avLst/>
            </a:prstGeom>
            <a:ln w="9653" cap="rnd">
              <a:solidFill>
                <a:srgbClr val="7B899C"/>
              </a:solidFill>
              <a:round/>
            </a:ln>
          </p:spPr>
        </p:cxnSp>
        <p:cxnSp>
          <p:nvCxnSpPr>
            <p:cNvPr id="111" name="Line 111"/>
            <p:cNvCxnSpPr/>
            <p:nvPr/>
          </p:nvCxnSpPr>
          <p:spPr>
            <a:xfrm>
              <a:off x="4261974" y="3445369"/>
              <a:ext cx="50223" cy="191269"/>
            </a:xfrm>
            <a:prstGeom prst="line">
              <a:avLst/>
            </a:prstGeom>
            <a:ln w="9653" cap="rnd">
              <a:solidFill>
                <a:srgbClr val="7B899C"/>
              </a:solidFill>
              <a:round/>
            </a:ln>
          </p:spPr>
        </p:cxnSp>
        <p:cxnSp>
          <p:nvCxnSpPr>
            <p:cNvPr id="112" name="Line 112"/>
            <p:cNvCxnSpPr/>
            <p:nvPr/>
          </p:nvCxnSpPr>
          <p:spPr>
            <a:xfrm>
              <a:off x="4312197" y="3636637"/>
              <a:ext cx="18503" cy="232255"/>
            </a:xfrm>
            <a:prstGeom prst="line">
              <a:avLst/>
            </a:prstGeom>
            <a:ln w="9653" cap="rnd">
              <a:solidFill>
                <a:srgbClr val="7B899C"/>
              </a:solidFill>
              <a:round/>
              <a:tailEnd type="triangle" w="med" len="med"/>
            </a:ln>
          </p:spPr>
        </p:cxnSp>
        <p:sp>
          <p:nvSpPr>
            <p:cNvPr id="113" name="Rect 113"/>
            <p:cNvSpPr/>
            <p:nvPr/>
          </p:nvSpPr>
          <p:spPr>
            <a:xfrm>
              <a:off x="3852064" y="2951901"/>
              <a:ext cx="296444" cy="111375"/>
            </a:xfrm>
            <a:prstGeom prst="roundRect">
              <a:avLst>
                <a:gd name="adj" fmla="val 26666"/>
              </a:avLst>
            </a:prstGeom>
            <a:solidFill>
              <a:srgbClr val="FFFFFF"/>
            </a:solidFill>
            <a:ln>
              <a:noFill/>
            </a:ln>
          </p:spPr>
        </p:sp>
        <p:sp>
          <p:nvSpPr>
            <p:cNvPr id="114" name="Text 114"/>
            <p:cNvSpPr txBox="1"/>
            <p:nvPr/>
          </p:nvSpPr>
          <p:spPr>
            <a:xfrm>
              <a:off x="3817760" y="2968088"/>
              <a:ext cx="365052" cy="88172"/>
            </a:xfrm>
            <a:prstGeom prst="rect">
              <a:avLst/>
            </a:prstGeom>
            <a:noFill/>
            <a:ln>
              <a:noFill/>
            </a:ln>
          </p:spPr>
          <p:txBody>
            <a:bodyPr wrap="none" lIns="0" tIns="0" rIns="0" bIns="0" anchor="t">
              <a:noAutofit/>
            </a:bodyPr>
            <a:lstStyle/>
            <a:p>
              <a:pPr algn="ctr">
                <a:lnSpc>
                  <a:spcPct val="100000"/>
                </a:lnSpc>
                <a:spcBef>
                  <a:spcPts val="0"/>
                </a:spcBef>
                <a:spcAft>
                  <a:spcPts val="0"/>
                </a:spcAft>
                <a:buNone/>
              </a:pPr>
              <a:r>
                <a:rPr lang="en-US" sz="555" dirty="0">
                  <a:solidFill>
                    <a:srgbClr val="64748B"/>
                  </a:solidFill>
                  <a:latin typeface="Arial"/>
                  <a:cs typeface="Arial"/>
                </a:rPr>
                <a:t>scales</a:t>
              </a:r>
              <a:endParaRPr lang="en-US" sz="555" dirty="0"/>
            </a:p>
          </p:txBody>
        </p:sp>
        <p:cxnSp>
          <p:nvCxnSpPr>
            <p:cNvPr id="115" name="Line 115"/>
            <p:cNvCxnSpPr/>
            <p:nvPr/>
          </p:nvCxnSpPr>
          <p:spPr>
            <a:xfrm flipV="1">
              <a:off x="4973024" y="2161136"/>
              <a:ext cx="18503" cy="422098"/>
            </a:xfrm>
            <a:prstGeom prst="line">
              <a:avLst/>
            </a:prstGeom>
            <a:ln w="9653" cap="rnd">
              <a:solidFill>
                <a:srgbClr val="7B899C"/>
              </a:solidFill>
              <a:round/>
            </a:ln>
          </p:spPr>
        </p:cxnSp>
        <p:cxnSp>
          <p:nvCxnSpPr>
            <p:cNvPr id="116" name="Line 116"/>
            <p:cNvCxnSpPr/>
            <p:nvPr/>
          </p:nvCxnSpPr>
          <p:spPr>
            <a:xfrm flipV="1">
              <a:off x="4922801" y="2583234"/>
              <a:ext cx="50223" cy="347610"/>
            </a:xfrm>
            <a:prstGeom prst="line">
              <a:avLst/>
            </a:prstGeom>
            <a:ln w="9653" cap="rnd">
              <a:solidFill>
                <a:srgbClr val="7B899C"/>
              </a:solidFill>
              <a:round/>
            </a:ln>
          </p:spPr>
        </p:cxnSp>
        <p:cxnSp>
          <p:nvCxnSpPr>
            <p:cNvPr id="117" name="Line 117"/>
            <p:cNvCxnSpPr/>
            <p:nvPr/>
          </p:nvCxnSpPr>
          <p:spPr>
            <a:xfrm flipV="1">
              <a:off x="4848789" y="2930844"/>
              <a:ext cx="74013" cy="291744"/>
            </a:xfrm>
            <a:prstGeom prst="line">
              <a:avLst/>
            </a:prstGeom>
            <a:ln w="9653" cap="rnd">
              <a:solidFill>
                <a:srgbClr val="7B899C"/>
              </a:solidFill>
              <a:round/>
            </a:ln>
          </p:spPr>
        </p:cxnSp>
        <p:cxnSp>
          <p:nvCxnSpPr>
            <p:cNvPr id="118" name="Line 118"/>
            <p:cNvCxnSpPr/>
            <p:nvPr/>
          </p:nvCxnSpPr>
          <p:spPr>
            <a:xfrm flipV="1">
              <a:off x="4758916" y="3222588"/>
              <a:ext cx="89873" cy="254500"/>
            </a:xfrm>
            <a:prstGeom prst="line">
              <a:avLst/>
            </a:prstGeom>
            <a:ln w="9653" cap="rnd">
              <a:solidFill>
                <a:srgbClr val="7B899C"/>
              </a:solidFill>
              <a:round/>
            </a:ln>
          </p:spPr>
        </p:cxnSp>
        <p:cxnSp>
          <p:nvCxnSpPr>
            <p:cNvPr id="119" name="Line 119"/>
            <p:cNvCxnSpPr/>
            <p:nvPr/>
          </p:nvCxnSpPr>
          <p:spPr>
            <a:xfrm flipV="1">
              <a:off x="4661114" y="3477088"/>
              <a:ext cx="97802" cy="235878"/>
            </a:xfrm>
            <a:prstGeom prst="line">
              <a:avLst/>
            </a:prstGeom>
            <a:ln w="9653" cap="rnd">
              <a:solidFill>
                <a:srgbClr val="7B899C"/>
              </a:solidFill>
              <a:round/>
            </a:ln>
          </p:spPr>
        </p:cxnSp>
        <p:cxnSp>
          <p:nvCxnSpPr>
            <p:cNvPr id="120" name="Line 120"/>
            <p:cNvCxnSpPr/>
            <p:nvPr/>
          </p:nvCxnSpPr>
          <p:spPr>
            <a:xfrm flipV="1">
              <a:off x="4563311" y="3712967"/>
              <a:ext cx="97802" cy="235878"/>
            </a:xfrm>
            <a:prstGeom prst="line">
              <a:avLst/>
            </a:prstGeom>
            <a:ln w="9653" cap="rnd">
              <a:solidFill>
                <a:srgbClr val="7B899C"/>
              </a:solidFill>
              <a:round/>
            </a:ln>
          </p:spPr>
        </p:cxnSp>
        <p:cxnSp>
          <p:nvCxnSpPr>
            <p:cNvPr id="121" name="Line 121"/>
            <p:cNvCxnSpPr/>
            <p:nvPr/>
          </p:nvCxnSpPr>
          <p:spPr>
            <a:xfrm flipV="1">
              <a:off x="4473439" y="3948845"/>
              <a:ext cx="89873" cy="254500"/>
            </a:xfrm>
            <a:prstGeom prst="line">
              <a:avLst/>
            </a:prstGeom>
            <a:ln w="9653" cap="rnd">
              <a:solidFill>
                <a:srgbClr val="7B899C"/>
              </a:solidFill>
              <a:round/>
            </a:ln>
          </p:spPr>
        </p:cxnSp>
        <p:cxnSp>
          <p:nvCxnSpPr>
            <p:cNvPr id="122" name="Line 122"/>
            <p:cNvCxnSpPr/>
            <p:nvPr/>
          </p:nvCxnSpPr>
          <p:spPr>
            <a:xfrm flipV="1">
              <a:off x="4399426" y="4203345"/>
              <a:ext cx="74013" cy="291744"/>
            </a:xfrm>
            <a:prstGeom prst="line">
              <a:avLst/>
            </a:prstGeom>
            <a:ln w="9653" cap="rnd">
              <a:solidFill>
                <a:srgbClr val="7B899C"/>
              </a:solidFill>
              <a:round/>
            </a:ln>
          </p:spPr>
        </p:cxnSp>
        <p:cxnSp>
          <p:nvCxnSpPr>
            <p:cNvPr id="123" name="Line 123"/>
            <p:cNvCxnSpPr/>
            <p:nvPr/>
          </p:nvCxnSpPr>
          <p:spPr>
            <a:xfrm flipV="1">
              <a:off x="4349203" y="4495089"/>
              <a:ext cx="50223" cy="347610"/>
            </a:xfrm>
            <a:prstGeom prst="line">
              <a:avLst/>
            </a:prstGeom>
            <a:ln w="9653" cap="rnd">
              <a:solidFill>
                <a:srgbClr val="7B899C"/>
              </a:solidFill>
              <a:round/>
            </a:ln>
          </p:spPr>
        </p:cxnSp>
        <p:cxnSp>
          <p:nvCxnSpPr>
            <p:cNvPr id="124" name="Line 124"/>
            <p:cNvCxnSpPr/>
            <p:nvPr/>
          </p:nvCxnSpPr>
          <p:spPr>
            <a:xfrm flipV="1">
              <a:off x="4330700" y="4842700"/>
              <a:ext cx="18503" cy="422098"/>
            </a:xfrm>
            <a:prstGeom prst="line">
              <a:avLst/>
            </a:prstGeom>
            <a:ln w="9653" cap="rnd">
              <a:solidFill>
                <a:srgbClr val="7B899C"/>
              </a:solidFill>
              <a:round/>
              <a:headEnd type="triangle" w="med" len="med"/>
            </a:ln>
          </p:spPr>
        </p:cxnSp>
        <p:sp>
          <p:nvSpPr>
            <p:cNvPr id="125" name="Rect 125"/>
            <p:cNvSpPr/>
            <p:nvPr/>
          </p:nvSpPr>
          <p:spPr>
            <a:xfrm>
              <a:off x="4355240" y="3649854"/>
              <a:ext cx="611748" cy="111375"/>
            </a:xfrm>
            <a:prstGeom prst="roundRect">
              <a:avLst>
                <a:gd name="adj" fmla="val 26666"/>
              </a:avLst>
            </a:prstGeom>
            <a:solidFill>
              <a:srgbClr val="FFFFFF"/>
            </a:solidFill>
            <a:ln>
              <a:noFill/>
            </a:ln>
          </p:spPr>
        </p:sp>
        <p:sp>
          <p:nvSpPr>
            <p:cNvPr id="126" name="Text 126"/>
            <p:cNvSpPr txBox="1"/>
            <p:nvPr/>
          </p:nvSpPr>
          <p:spPr>
            <a:xfrm>
              <a:off x="4273640" y="3666040"/>
              <a:ext cx="774947" cy="88172"/>
            </a:xfrm>
            <a:prstGeom prst="rect">
              <a:avLst/>
            </a:prstGeom>
            <a:noFill/>
            <a:ln>
              <a:noFill/>
            </a:ln>
          </p:spPr>
          <p:txBody>
            <a:bodyPr wrap="none" lIns="0" tIns="0" rIns="0" bIns="0" anchor="t">
              <a:noAutofit/>
            </a:bodyPr>
            <a:lstStyle/>
            <a:p>
              <a:pPr algn="ctr">
                <a:lnSpc>
                  <a:spcPct val="100000"/>
                </a:lnSpc>
                <a:spcBef>
                  <a:spcPts val="0"/>
                </a:spcBef>
                <a:spcAft>
                  <a:spcPts val="0"/>
                </a:spcAft>
                <a:buNone/>
              </a:pPr>
              <a:r>
                <a:rPr lang="en-US" sz="555" dirty="0">
                  <a:solidFill>
                    <a:srgbClr val="64748B"/>
                  </a:solidFill>
                  <a:latin typeface="Arial"/>
                  <a:cs typeface="Arial"/>
                </a:rPr>
                <a:t>allocates GPUs</a:t>
              </a:r>
              <a:endParaRPr lang="en-US" sz="555" dirty="0"/>
            </a:p>
          </p:txBody>
        </p:sp>
        <p:cxnSp>
          <p:nvCxnSpPr>
            <p:cNvPr id="127" name="Line 127"/>
            <p:cNvCxnSpPr/>
            <p:nvPr/>
          </p:nvCxnSpPr>
          <p:spPr>
            <a:xfrm flipV="1">
              <a:off x="6257673" y="2161136"/>
              <a:ext cx="55510" cy="422098"/>
            </a:xfrm>
            <a:prstGeom prst="line">
              <a:avLst/>
            </a:prstGeom>
            <a:ln w="9653" cap="rnd">
              <a:solidFill>
                <a:srgbClr val="7B899C"/>
              </a:solidFill>
              <a:round/>
            </a:ln>
          </p:spPr>
        </p:cxnSp>
        <p:cxnSp>
          <p:nvCxnSpPr>
            <p:cNvPr id="128" name="Line 128"/>
            <p:cNvCxnSpPr/>
            <p:nvPr/>
          </p:nvCxnSpPr>
          <p:spPr>
            <a:xfrm flipV="1">
              <a:off x="6107004" y="2583234"/>
              <a:ext cx="150669" cy="347610"/>
            </a:xfrm>
            <a:prstGeom prst="line">
              <a:avLst/>
            </a:prstGeom>
            <a:ln w="9653" cap="rnd">
              <a:solidFill>
                <a:srgbClr val="7B899C"/>
              </a:solidFill>
              <a:round/>
            </a:ln>
          </p:spPr>
        </p:cxnSp>
        <p:cxnSp>
          <p:nvCxnSpPr>
            <p:cNvPr id="129" name="Line 129"/>
            <p:cNvCxnSpPr/>
            <p:nvPr/>
          </p:nvCxnSpPr>
          <p:spPr>
            <a:xfrm flipV="1">
              <a:off x="5884966" y="2930844"/>
              <a:ext cx="222038" cy="291744"/>
            </a:xfrm>
            <a:prstGeom prst="line">
              <a:avLst/>
            </a:prstGeom>
            <a:ln w="9653" cap="rnd">
              <a:solidFill>
                <a:srgbClr val="7B899C"/>
              </a:solidFill>
              <a:round/>
            </a:ln>
          </p:spPr>
        </p:cxnSp>
        <p:cxnSp>
          <p:nvCxnSpPr>
            <p:cNvPr id="130" name="Line 130"/>
            <p:cNvCxnSpPr/>
            <p:nvPr/>
          </p:nvCxnSpPr>
          <p:spPr>
            <a:xfrm flipV="1">
              <a:off x="5615349" y="3222588"/>
              <a:ext cx="269618" cy="254500"/>
            </a:xfrm>
            <a:prstGeom prst="line">
              <a:avLst/>
            </a:prstGeom>
            <a:ln w="9653" cap="rnd">
              <a:solidFill>
                <a:srgbClr val="7B899C"/>
              </a:solidFill>
              <a:round/>
            </a:ln>
          </p:spPr>
        </p:cxnSp>
        <p:cxnSp>
          <p:nvCxnSpPr>
            <p:cNvPr id="131" name="Line 131"/>
            <p:cNvCxnSpPr/>
            <p:nvPr/>
          </p:nvCxnSpPr>
          <p:spPr>
            <a:xfrm flipV="1">
              <a:off x="5321941" y="3477088"/>
              <a:ext cx="293407" cy="235878"/>
            </a:xfrm>
            <a:prstGeom prst="line">
              <a:avLst/>
            </a:prstGeom>
            <a:ln w="9653" cap="rnd">
              <a:solidFill>
                <a:srgbClr val="7B899C"/>
              </a:solidFill>
              <a:round/>
            </a:ln>
          </p:spPr>
        </p:cxnSp>
        <p:cxnSp>
          <p:nvCxnSpPr>
            <p:cNvPr id="132" name="Line 132"/>
            <p:cNvCxnSpPr/>
            <p:nvPr/>
          </p:nvCxnSpPr>
          <p:spPr>
            <a:xfrm flipV="1">
              <a:off x="5028534" y="3712967"/>
              <a:ext cx="293407" cy="235878"/>
            </a:xfrm>
            <a:prstGeom prst="line">
              <a:avLst/>
            </a:prstGeom>
            <a:ln w="9653" cap="rnd">
              <a:solidFill>
                <a:srgbClr val="7B899C"/>
              </a:solidFill>
              <a:round/>
            </a:ln>
          </p:spPr>
        </p:cxnSp>
        <p:cxnSp>
          <p:nvCxnSpPr>
            <p:cNvPr id="133" name="Line 133"/>
            <p:cNvCxnSpPr/>
            <p:nvPr/>
          </p:nvCxnSpPr>
          <p:spPr>
            <a:xfrm flipV="1">
              <a:off x="4758916" y="3948845"/>
              <a:ext cx="269618" cy="254500"/>
            </a:xfrm>
            <a:prstGeom prst="line">
              <a:avLst/>
            </a:prstGeom>
            <a:ln w="9653" cap="rnd">
              <a:solidFill>
                <a:srgbClr val="7B899C"/>
              </a:solidFill>
              <a:round/>
            </a:ln>
          </p:spPr>
        </p:cxnSp>
        <p:cxnSp>
          <p:nvCxnSpPr>
            <p:cNvPr id="134" name="Line 134"/>
            <p:cNvCxnSpPr/>
            <p:nvPr/>
          </p:nvCxnSpPr>
          <p:spPr>
            <a:xfrm flipV="1">
              <a:off x="4536878" y="4203345"/>
              <a:ext cx="222038" cy="291744"/>
            </a:xfrm>
            <a:prstGeom prst="line">
              <a:avLst/>
            </a:prstGeom>
            <a:ln w="9653" cap="rnd">
              <a:solidFill>
                <a:srgbClr val="7B899C"/>
              </a:solidFill>
              <a:round/>
            </a:ln>
          </p:spPr>
        </p:cxnSp>
        <p:cxnSp>
          <p:nvCxnSpPr>
            <p:cNvPr id="135" name="Line 135"/>
            <p:cNvCxnSpPr/>
            <p:nvPr/>
          </p:nvCxnSpPr>
          <p:spPr>
            <a:xfrm flipV="1">
              <a:off x="4386210" y="4495089"/>
              <a:ext cx="150669" cy="347610"/>
            </a:xfrm>
            <a:prstGeom prst="line">
              <a:avLst/>
            </a:prstGeom>
            <a:ln w="9653" cap="rnd">
              <a:solidFill>
                <a:srgbClr val="7B899C"/>
              </a:solidFill>
              <a:round/>
            </a:ln>
          </p:spPr>
        </p:cxnSp>
        <p:cxnSp>
          <p:nvCxnSpPr>
            <p:cNvPr id="136" name="Line 136"/>
            <p:cNvCxnSpPr/>
            <p:nvPr/>
          </p:nvCxnSpPr>
          <p:spPr>
            <a:xfrm flipV="1">
              <a:off x="4330700" y="4842700"/>
              <a:ext cx="55510" cy="422098"/>
            </a:xfrm>
            <a:prstGeom prst="line">
              <a:avLst/>
            </a:prstGeom>
            <a:ln w="9653" cap="rnd">
              <a:solidFill>
                <a:srgbClr val="7B899C"/>
              </a:solidFill>
              <a:round/>
              <a:headEnd type="triangle" w="med" len="med"/>
            </a:ln>
          </p:spPr>
        </p:cxnSp>
        <p:sp>
          <p:nvSpPr>
            <p:cNvPr id="137" name="Rect 137"/>
            <p:cNvSpPr/>
            <p:nvPr/>
          </p:nvSpPr>
          <p:spPr>
            <a:xfrm>
              <a:off x="5011835" y="3649854"/>
              <a:ext cx="620213" cy="111375"/>
            </a:xfrm>
            <a:prstGeom prst="roundRect">
              <a:avLst>
                <a:gd name="adj" fmla="val 26666"/>
              </a:avLst>
            </a:prstGeom>
            <a:solidFill>
              <a:srgbClr val="FFFFFF"/>
            </a:solidFill>
            <a:ln>
              <a:noFill/>
            </a:ln>
          </p:spPr>
        </p:sp>
        <p:sp>
          <p:nvSpPr>
            <p:cNvPr id="138" name="Text 138"/>
            <p:cNvSpPr txBox="1"/>
            <p:nvPr/>
          </p:nvSpPr>
          <p:spPr>
            <a:xfrm>
              <a:off x="4928966" y="3666040"/>
              <a:ext cx="785951" cy="88172"/>
            </a:xfrm>
            <a:prstGeom prst="rect">
              <a:avLst/>
            </a:prstGeom>
            <a:noFill/>
            <a:ln>
              <a:noFill/>
            </a:ln>
          </p:spPr>
          <p:txBody>
            <a:bodyPr wrap="none" lIns="0" tIns="0" rIns="0" bIns="0" anchor="t">
              <a:noAutofit/>
            </a:bodyPr>
            <a:lstStyle/>
            <a:p>
              <a:pPr algn="ctr">
                <a:lnSpc>
                  <a:spcPct val="100000"/>
                </a:lnSpc>
                <a:spcBef>
                  <a:spcPts val="0"/>
                </a:spcBef>
                <a:spcAft>
                  <a:spcPts val="0"/>
                </a:spcAft>
                <a:buNone/>
              </a:pPr>
              <a:r>
                <a:rPr lang="en-US" sz="555" dirty="0">
                  <a:solidFill>
                    <a:srgbClr val="64748B"/>
                  </a:solidFill>
                  <a:latin typeface="Arial"/>
                  <a:cs typeface="Arial"/>
                </a:rPr>
                <a:t>mounts weights</a:t>
              </a:r>
              <a:endParaRPr lang="en-US" sz="555" dirty="0"/>
            </a:p>
          </p:txBody>
        </p:sp>
        <p:sp>
          <p:nvSpPr>
            <p:cNvPr id="139" name="Rect 139"/>
            <p:cNvSpPr/>
            <p:nvPr/>
          </p:nvSpPr>
          <p:spPr>
            <a:xfrm>
              <a:off x="3751548" y="4566845"/>
              <a:ext cx="1158304" cy="386101"/>
            </a:xfrm>
            <a:prstGeom prst="roundRect">
              <a:avLst>
                <a:gd name="adj" fmla="val 17307"/>
              </a:avLst>
            </a:prstGeom>
            <a:solidFill>
              <a:srgbClr val="E6F8FB"/>
            </a:solidFill>
            <a:ln w="8168" cap="rnd">
              <a:solidFill>
                <a:srgbClr val="76D7E7"/>
              </a:solidFill>
              <a:round/>
            </a:ln>
          </p:spPr>
        </p:sp>
        <p:sp>
          <p:nvSpPr>
            <p:cNvPr id="140" name="Rect 140"/>
            <p:cNvSpPr/>
            <p:nvPr/>
          </p:nvSpPr>
          <p:spPr>
            <a:xfrm>
              <a:off x="3803523" y="4648520"/>
              <a:ext cx="25988" cy="222751"/>
            </a:xfrm>
            <a:prstGeom prst="roundRect">
              <a:avLst>
                <a:gd name="adj" fmla="val 50000"/>
              </a:avLst>
            </a:prstGeom>
            <a:solidFill>
              <a:srgbClr val="06B6D4"/>
            </a:solidFill>
            <a:ln>
              <a:noFill/>
            </a:ln>
          </p:spPr>
        </p:sp>
        <p:sp>
          <p:nvSpPr>
            <p:cNvPr id="141" name="Text 141"/>
            <p:cNvSpPr txBox="1"/>
            <p:nvPr/>
          </p:nvSpPr>
          <p:spPr>
            <a:xfrm>
              <a:off x="3819017" y="4711187"/>
              <a:ext cx="1082767" cy="102094"/>
            </a:xfrm>
            <a:prstGeom prst="rect">
              <a:avLst/>
            </a:prstGeom>
            <a:noFill/>
            <a:ln>
              <a:noFill/>
            </a:ln>
          </p:spPr>
          <p:txBody>
            <a:bodyPr wrap="none" lIns="0" tIns="0" rIns="0" bIns="0" anchor="t">
              <a:noAutofit/>
            </a:bodyPr>
            <a:lstStyle/>
            <a:p>
              <a:pPr algn="ctr">
                <a:lnSpc>
                  <a:spcPct val="100000"/>
                </a:lnSpc>
                <a:spcBef>
                  <a:spcPts val="0"/>
                </a:spcBef>
                <a:spcAft>
                  <a:spcPts val="0"/>
                </a:spcAft>
                <a:buNone/>
              </a:pPr>
              <a:r>
                <a:rPr lang="en-US" sz="643" b="1" dirty="0">
                  <a:solidFill>
                    <a:srgbClr val="0F172A"/>
                  </a:solidFill>
                  <a:latin typeface="Arial"/>
                  <a:cs typeface="Arial"/>
                </a:rPr>
                <a:t>Decode pool (LWS)</a:t>
              </a:r>
              <a:endParaRPr lang="en-US" sz="643" dirty="0"/>
            </a:p>
          </p:txBody>
        </p:sp>
        <p:sp>
          <p:nvSpPr>
            <p:cNvPr id="142" name="Rect 142"/>
            <p:cNvSpPr/>
            <p:nvPr/>
          </p:nvSpPr>
          <p:spPr>
            <a:xfrm>
              <a:off x="4412375" y="1775034"/>
              <a:ext cx="1158304" cy="386101"/>
            </a:xfrm>
            <a:prstGeom prst="roundRect">
              <a:avLst>
                <a:gd name="adj" fmla="val 17307"/>
              </a:avLst>
            </a:prstGeom>
            <a:solidFill>
              <a:srgbClr val="FDEDF5"/>
            </a:solidFill>
            <a:ln w="8168" cap="rnd">
              <a:solidFill>
                <a:srgbClr val="F59AC7"/>
              </a:solidFill>
              <a:round/>
            </a:ln>
          </p:spPr>
        </p:sp>
        <p:sp>
          <p:nvSpPr>
            <p:cNvPr id="143" name="Rect 143"/>
            <p:cNvSpPr/>
            <p:nvPr/>
          </p:nvSpPr>
          <p:spPr>
            <a:xfrm>
              <a:off x="4464351" y="1856710"/>
              <a:ext cx="25988" cy="222751"/>
            </a:xfrm>
            <a:prstGeom prst="roundRect">
              <a:avLst>
                <a:gd name="adj" fmla="val 50000"/>
              </a:avLst>
            </a:prstGeom>
            <a:solidFill>
              <a:srgbClr val="EC4899"/>
            </a:solidFill>
            <a:ln>
              <a:noFill/>
            </a:ln>
          </p:spPr>
        </p:sp>
        <p:sp>
          <p:nvSpPr>
            <p:cNvPr id="144" name="Text 144"/>
            <p:cNvSpPr txBox="1"/>
            <p:nvPr/>
          </p:nvSpPr>
          <p:spPr>
            <a:xfrm>
              <a:off x="4561070" y="1919377"/>
              <a:ext cx="920314" cy="102094"/>
            </a:xfrm>
            <a:prstGeom prst="rect">
              <a:avLst/>
            </a:prstGeom>
            <a:noFill/>
            <a:ln>
              <a:noFill/>
            </a:ln>
          </p:spPr>
          <p:txBody>
            <a:bodyPr wrap="none" lIns="0" tIns="0" rIns="0" bIns="0" anchor="t">
              <a:noAutofit/>
            </a:bodyPr>
            <a:lstStyle/>
            <a:p>
              <a:pPr algn="ctr">
                <a:lnSpc>
                  <a:spcPct val="100000"/>
                </a:lnSpc>
                <a:spcBef>
                  <a:spcPts val="0"/>
                </a:spcBef>
                <a:spcAft>
                  <a:spcPts val="0"/>
                </a:spcAft>
                <a:buNone/>
              </a:pPr>
              <a:r>
                <a:rPr lang="en-US" sz="643" b="1" dirty="0">
                  <a:solidFill>
                    <a:srgbClr val="0F172A"/>
                  </a:solidFill>
                  <a:latin typeface="Arial"/>
                  <a:cs typeface="Arial"/>
                </a:rPr>
                <a:t>DRA GPU claims</a:t>
              </a:r>
              <a:endParaRPr lang="en-US" sz="643" dirty="0"/>
            </a:p>
          </p:txBody>
        </p:sp>
        <p:sp>
          <p:nvSpPr>
            <p:cNvPr id="145" name="Rect 145"/>
            <p:cNvSpPr/>
            <p:nvPr/>
          </p:nvSpPr>
          <p:spPr>
            <a:xfrm>
              <a:off x="3751548" y="3170940"/>
              <a:ext cx="1158304" cy="386101"/>
            </a:xfrm>
            <a:prstGeom prst="roundRect">
              <a:avLst>
                <a:gd name="adj" fmla="val 17307"/>
              </a:avLst>
            </a:prstGeom>
            <a:solidFill>
              <a:srgbClr val="EDEDFC"/>
            </a:solidFill>
            <a:ln w="8168" cap="rnd">
              <a:solidFill>
                <a:srgbClr val="9E99F1"/>
              </a:solidFill>
              <a:round/>
            </a:ln>
          </p:spPr>
        </p:sp>
        <p:sp>
          <p:nvSpPr>
            <p:cNvPr id="146" name="Rect 146"/>
            <p:cNvSpPr/>
            <p:nvPr/>
          </p:nvSpPr>
          <p:spPr>
            <a:xfrm>
              <a:off x="3803523" y="3252615"/>
              <a:ext cx="25988" cy="222751"/>
            </a:xfrm>
            <a:prstGeom prst="roundRect">
              <a:avLst>
                <a:gd name="adj" fmla="val 50000"/>
              </a:avLst>
            </a:prstGeom>
            <a:solidFill>
              <a:srgbClr val="4F46E5"/>
            </a:solidFill>
            <a:ln>
              <a:noFill/>
            </a:ln>
          </p:spPr>
        </p:sp>
        <p:sp>
          <p:nvSpPr>
            <p:cNvPr id="147" name="Text 147"/>
            <p:cNvSpPr txBox="1"/>
            <p:nvPr/>
          </p:nvSpPr>
          <p:spPr>
            <a:xfrm>
              <a:off x="3895465" y="3270732"/>
              <a:ext cx="929870" cy="102094"/>
            </a:xfrm>
            <a:prstGeom prst="rect">
              <a:avLst/>
            </a:prstGeom>
            <a:noFill/>
            <a:ln>
              <a:noFill/>
            </a:ln>
          </p:spPr>
          <p:txBody>
            <a:bodyPr wrap="none" lIns="0" tIns="0" rIns="0" bIns="0" anchor="t">
              <a:noAutofit/>
            </a:bodyPr>
            <a:lstStyle/>
            <a:p>
              <a:pPr algn="ctr">
                <a:lnSpc>
                  <a:spcPct val="100000"/>
                </a:lnSpc>
                <a:spcBef>
                  <a:spcPts val="0"/>
                </a:spcBef>
                <a:spcAft>
                  <a:spcPts val="0"/>
                </a:spcAft>
                <a:buNone/>
              </a:pPr>
              <a:r>
                <a:rPr lang="en-US" sz="643" b="1" dirty="0">
                  <a:solidFill>
                    <a:srgbClr val="0F172A"/>
                  </a:solidFill>
                  <a:latin typeface="Arial"/>
                  <a:cs typeface="Arial"/>
                </a:rPr>
                <a:t>Endpoint Picker</a:t>
              </a:r>
              <a:endParaRPr lang="en-US" sz="643" dirty="0"/>
            </a:p>
          </p:txBody>
        </p:sp>
        <p:sp>
          <p:nvSpPr>
            <p:cNvPr id="148" name="Text 148"/>
            <p:cNvSpPr txBox="1"/>
            <p:nvPr/>
          </p:nvSpPr>
          <p:spPr>
            <a:xfrm>
              <a:off x="3663442" y="3385374"/>
              <a:ext cx="1393916" cy="88172"/>
            </a:xfrm>
            <a:prstGeom prst="rect">
              <a:avLst/>
            </a:prstGeom>
            <a:noFill/>
            <a:ln>
              <a:noFill/>
            </a:ln>
          </p:spPr>
          <p:txBody>
            <a:bodyPr wrap="none" lIns="0" tIns="0" rIns="0" bIns="0" anchor="t">
              <a:noAutofit/>
            </a:bodyPr>
            <a:lstStyle/>
            <a:p>
              <a:pPr algn="ctr">
                <a:lnSpc>
                  <a:spcPct val="100000"/>
                </a:lnSpc>
                <a:spcBef>
                  <a:spcPts val="0"/>
                </a:spcBef>
                <a:spcAft>
                  <a:spcPts val="0"/>
                </a:spcAft>
                <a:buNone/>
              </a:pPr>
              <a:r>
                <a:rPr lang="en-US" sz="555" dirty="0">
                  <a:solidFill>
                    <a:srgbClr val="64748B"/>
                  </a:solidFill>
                  <a:latin typeface="Arial"/>
                  <a:cs typeface="Arial"/>
                </a:rPr>
                <a:t>KV-cache, queue, LoRA awa…</a:t>
              </a:r>
              <a:endParaRPr lang="en-US" sz="555" dirty="0"/>
            </a:p>
          </p:txBody>
        </p:sp>
        <p:sp>
          <p:nvSpPr>
            <p:cNvPr id="149" name="Rect 149"/>
            <p:cNvSpPr/>
            <p:nvPr/>
          </p:nvSpPr>
          <p:spPr>
            <a:xfrm>
              <a:off x="1769065" y="1775034"/>
              <a:ext cx="1158304" cy="386101"/>
            </a:xfrm>
            <a:prstGeom prst="roundRect">
              <a:avLst>
                <a:gd name="adj" fmla="val 17307"/>
              </a:avLst>
            </a:prstGeom>
            <a:solidFill>
              <a:srgbClr val="EDEDFC"/>
            </a:solidFill>
            <a:ln w="8168" cap="rnd">
              <a:solidFill>
                <a:srgbClr val="9E99F1"/>
              </a:solidFill>
              <a:round/>
            </a:ln>
          </p:spPr>
        </p:sp>
        <p:sp>
          <p:nvSpPr>
            <p:cNvPr id="150" name="Rect 150"/>
            <p:cNvSpPr/>
            <p:nvPr/>
          </p:nvSpPr>
          <p:spPr>
            <a:xfrm>
              <a:off x="1821040" y="1856710"/>
              <a:ext cx="25988" cy="222751"/>
            </a:xfrm>
            <a:prstGeom prst="roundRect">
              <a:avLst>
                <a:gd name="adj" fmla="val 50000"/>
              </a:avLst>
            </a:prstGeom>
            <a:solidFill>
              <a:srgbClr val="4F46E5"/>
            </a:solidFill>
            <a:ln>
              <a:noFill/>
            </a:ln>
          </p:spPr>
        </p:sp>
        <p:sp>
          <p:nvSpPr>
            <p:cNvPr id="151" name="Text 151"/>
            <p:cNvSpPr txBox="1"/>
            <p:nvPr/>
          </p:nvSpPr>
          <p:spPr>
            <a:xfrm>
              <a:off x="1838127" y="1871114"/>
              <a:ext cx="1079581" cy="102094"/>
            </a:xfrm>
            <a:prstGeom prst="rect">
              <a:avLst/>
            </a:prstGeom>
            <a:noFill/>
            <a:ln>
              <a:noFill/>
            </a:ln>
          </p:spPr>
          <p:txBody>
            <a:bodyPr wrap="none" lIns="0" tIns="0" rIns="0" bIns="0" anchor="t">
              <a:noAutofit/>
            </a:bodyPr>
            <a:lstStyle/>
            <a:p>
              <a:pPr algn="ctr">
                <a:lnSpc>
                  <a:spcPct val="100000"/>
                </a:lnSpc>
                <a:spcBef>
                  <a:spcPts val="0"/>
                </a:spcBef>
                <a:spcAft>
                  <a:spcPts val="0"/>
                </a:spcAft>
                <a:buNone/>
              </a:pPr>
              <a:r>
                <a:rPr lang="en-US" sz="643" b="1" dirty="0">
                  <a:solidFill>
                    <a:srgbClr val="0F172A"/>
                  </a:solidFill>
                  <a:latin typeface="Arial"/>
                  <a:cs typeface="Arial"/>
                </a:rPr>
                <a:t>Gateway (Gateway</a:t>
              </a:r>
              <a:endParaRPr lang="en-US" sz="643" dirty="0"/>
            </a:p>
          </p:txBody>
        </p:sp>
        <p:sp>
          <p:nvSpPr>
            <p:cNvPr id="152" name="Text 152"/>
            <p:cNvSpPr txBox="1"/>
            <p:nvPr/>
          </p:nvSpPr>
          <p:spPr>
            <a:xfrm>
              <a:off x="2217182" y="1967640"/>
              <a:ext cx="321471" cy="102094"/>
            </a:xfrm>
            <a:prstGeom prst="rect">
              <a:avLst/>
            </a:prstGeom>
            <a:noFill/>
            <a:ln>
              <a:noFill/>
            </a:ln>
          </p:spPr>
          <p:txBody>
            <a:bodyPr wrap="none" lIns="0" tIns="0" rIns="0" bIns="0" anchor="t">
              <a:noAutofit/>
            </a:bodyPr>
            <a:lstStyle/>
            <a:p>
              <a:pPr algn="ctr">
                <a:lnSpc>
                  <a:spcPct val="100000"/>
                </a:lnSpc>
                <a:spcBef>
                  <a:spcPts val="0"/>
                </a:spcBef>
                <a:spcAft>
                  <a:spcPts val="0"/>
                </a:spcAft>
                <a:buNone/>
              </a:pPr>
              <a:r>
                <a:rPr lang="en-US" sz="643" b="1" dirty="0">
                  <a:solidFill>
                    <a:srgbClr val="0F172A"/>
                  </a:solidFill>
                  <a:latin typeface="Arial"/>
                  <a:cs typeface="Arial"/>
                </a:rPr>
                <a:t>API)</a:t>
              </a:r>
              <a:endParaRPr lang="en-US" sz="643" dirty="0"/>
            </a:p>
          </p:txBody>
        </p:sp>
        <p:sp>
          <p:nvSpPr>
            <p:cNvPr id="153" name="Rect 153"/>
            <p:cNvSpPr/>
            <p:nvPr/>
          </p:nvSpPr>
          <p:spPr>
            <a:xfrm>
              <a:off x="3090720" y="1775034"/>
              <a:ext cx="1158304" cy="386101"/>
            </a:xfrm>
            <a:prstGeom prst="roundRect">
              <a:avLst>
                <a:gd name="adj" fmla="val 17307"/>
              </a:avLst>
            </a:prstGeom>
            <a:solidFill>
              <a:srgbClr val="FEF5E7"/>
            </a:solidFill>
            <a:ln w="8168" cap="rnd">
              <a:solidFill>
                <a:srgbClr val="FACA79"/>
              </a:solidFill>
              <a:round/>
            </a:ln>
          </p:spPr>
        </p:sp>
        <p:sp>
          <p:nvSpPr>
            <p:cNvPr id="154" name="Rect 154"/>
            <p:cNvSpPr/>
            <p:nvPr/>
          </p:nvSpPr>
          <p:spPr>
            <a:xfrm>
              <a:off x="3142695" y="1856710"/>
              <a:ext cx="25988" cy="222751"/>
            </a:xfrm>
            <a:prstGeom prst="roundRect">
              <a:avLst>
                <a:gd name="adj" fmla="val 50000"/>
              </a:avLst>
            </a:prstGeom>
            <a:solidFill>
              <a:srgbClr val="F59E0B"/>
            </a:solidFill>
            <a:ln>
              <a:noFill/>
            </a:ln>
          </p:spPr>
        </p:sp>
        <p:sp>
          <p:nvSpPr>
            <p:cNvPr id="155" name="Text 155"/>
            <p:cNvSpPr txBox="1"/>
            <p:nvPr/>
          </p:nvSpPr>
          <p:spPr>
            <a:xfrm>
              <a:off x="3331790" y="1871114"/>
              <a:ext cx="735565" cy="102094"/>
            </a:xfrm>
            <a:prstGeom prst="rect">
              <a:avLst/>
            </a:prstGeom>
            <a:noFill/>
            <a:ln>
              <a:noFill/>
            </a:ln>
          </p:spPr>
          <p:txBody>
            <a:bodyPr wrap="none" lIns="0" tIns="0" rIns="0" bIns="0" anchor="t">
              <a:noAutofit/>
            </a:bodyPr>
            <a:lstStyle/>
            <a:p>
              <a:pPr algn="ctr">
                <a:lnSpc>
                  <a:spcPct val="100000"/>
                </a:lnSpc>
                <a:spcBef>
                  <a:spcPts val="0"/>
                </a:spcBef>
                <a:spcAft>
                  <a:spcPts val="0"/>
                </a:spcAft>
                <a:buNone/>
              </a:pPr>
              <a:r>
                <a:rPr lang="en-US" sz="643" b="1" dirty="0">
                  <a:solidFill>
                    <a:srgbClr val="0F172A"/>
                  </a:solidFill>
                  <a:latin typeface="Arial"/>
                  <a:cs typeface="Arial"/>
                </a:rPr>
                <a:t>KEDA / WVA</a:t>
              </a:r>
              <a:endParaRPr lang="en-US" sz="643" dirty="0"/>
            </a:p>
          </p:txBody>
        </p:sp>
        <p:sp>
          <p:nvSpPr>
            <p:cNvPr id="156" name="Text 156"/>
            <p:cNvSpPr txBox="1"/>
            <p:nvPr/>
          </p:nvSpPr>
          <p:spPr>
            <a:xfrm>
              <a:off x="3357273" y="1967640"/>
              <a:ext cx="684599" cy="102094"/>
            </a:xfrm>
            <a:prstGeom prst="rect">
              <a:avLst/>
            </a:prstGeom>
            <a:noFill/>
            <a:ln>
              <a:noFill/>
            </a:ln>
          </p:spPr>
          <p:txBody>
            <a:bodyPr wrap="none" lIns="0" tIns="0" rIns="0" bIns="0" anchor="t">
              <a:noAutofit/>
            </a:bodyPr>
            <a:lstStyle/>
            <a:p>
              <a:pPr algn="ctr">
                <a:lnSpc>
                  <a:spcPct val="100000"/>
                </a:lnSpc>
                <a:spcBef>
                  <a:spcPts val="0"/>
                </a:spcBef>
                <a:spcAft>
                  <a:spcPts val="0"/>
                </a:spcAft>
                <a:buNone/>
              </a:pPr>
              <a:r>
                <a:rPr lang="en-US" sz="643" b="1" dirty="0">
                  <a:solidFill>
                    <a:srgbClr val="0F172A"/>
                  </a:solidFill>
                  <a:latin typeface="Arial"/>
                  <a:cs typeface="Arial"/>
                </a:rPr>
                <a:t>autoscaling</a:t>
              </a:r>
              <a:endParaRPr lang="en-US" sz="643" dirty="0"/>
            </a:p>
          </p:txBody>
        </p:sp>
        <p:sp>
          <p:nvSpPr>
            <p:cNvPr id="157" name="Rect 157"/>
            <p:cNvSpPr/>
            <p:nvPr/>
          </p:nvSpPr>
          <p:spPr>
            <a:xfrm>
              <a:off x="5734030" y="1775034"/>
              <a:ext cx="1158304" cy="386101"/>
            </a:xfrm>
            <a:prstGeom prst="roundRect">
              <a:avLst>
                <a:gd name="adj" fmla="val 17307"/>
              </a:avLst>
            </a:prstGeom>
            <a:solidFill>
              <a:srgbClr val="E7F8F2"/>
            </a:solidFill>
            <a:ln w="8168" cap="rnd">
              <a:solidFill>
                <a:srgbClr val="7CD9BA"/>
              </a:solidFill>
              <a:round/>
            </a:ln>
          </p:spPr>
        </p:sp>
        <p:sp>
          <p:nvSpPr>
            <p:cNvPr id="158" name="Rect 158"/>
            <p:cNvSpPr/>
            <p:nvPr/>
          </p:nvSpPr>
          <p:spPr>
            <a:xfrm>
              <a:off x="5786006" y="1856710"/>
              <a:ext cx="25988" cy="222751"/>
            </a:xfrm>
            <a:prstGeom prst="roundRect">
              <a:avLst>
                <a:gd name="adj" fmla="val 50000"/>
              </a:avLst>
            </a:prstGeom>
            <a:solidFill>
              <a:srgbClr val="10B981"/>
            </a:solidFill>
            <a:ln>
              <a:noFill/>
            </a:ln>
          </p:spPr>
        </p:sp>
        <p:sp>
          <p:nvSpPr>
            <p:cNvPr id="159" name="Text 159"/>
            <p:cNvSpPr txBox="1"/>
            <p:nvPr/>
          </p:nvSpPr>
          <p:spPr>
            <a:xfrm>
              <a:off x="5799907" y="1919377"/>
              <a:ext cx="1085952" cy="102094"/>
            </a:xfrm>
            <a:prstGeom prst="rect">
              <a:avLst/>
            </a:prstGeom>
            <a:noFill/>
            <a:ln>
              <a:noFill/>
            </a:ln>
          </p:spPr>
          <p:txBody>
            <a:bodyPr wrap="none" lIns="0" tIns="0" rIns="0" bIns="0" anchor="t">
              <a:noAutofit/>
            </a:bodyPr>
            <a:lstStyle/>
            <a:p>
              <a:pPr algn="ctr">
                <a:lnSpc>
                  <a:spcPct val="100000"/>
                </a:lnSpc>
                <a:spcBef>
                  <a:spcPts val="0"/>
                </a:spcBef>
                <a:spcAft>
                  <a:spcPts val="0"/>
                </a:spcAft>
                <a:buNone/>
              </a:pPr>
              <a:r>
                <a:rPr lang="en-US" sz="643" b="1" dirty="0">
                  <a:solidFill>
                    <a:srgbClr val="0F172A"/>
                  </a:solidFill>
                  <a:latin typeface="Arial"/>
                  <a:cs typeface="Arial"/>
                </a:rPr>
                <a:t>OCI weight volumes</a:t>
              </a:r>
              <a:endParaRPr lang="en-US" sz="643" dirty="0"/>
            </a:p>
          </p:txBody>
        </p:sp>
        <p:sp>
          <p:nvSpPr>
            <p:cNvPr id="160" name="Rect 160"/>
            <p:cNvSpPr/>
            <p:nvPr/>
          </p:nvSpPr>
          <p:spPr>
            <a:xfrm>
              <a:off x="3751548" y="2472987"/>
              <a:ext cx="1158304" cy="386101"/>
            </a:xfrm>
            <a:prstGeom prst="roundRect">
              <a:avLst>
                <a:gd name="adj" fmla="val 17307"/>
              </a:avLst>
            </a:prstGeom>
            <a:solidFill>
              <a:srgbClr val="EDEDFC"/>
            </a:solidFill>
            <a:ln w="8168" cap="rnd">
              <a:solidFill>
                <a:srgbClr val="9E99F1"/>
              </a:solidFill>
              <a:round/>
            </a:ln>
          </p:spPr>
        </p:sp>
        <p:sp>
          <p:nvSpPr>
            <p:cNvPr id="161" name="Rect 161"/>
            <p:cNvSpPr/>
            <p:nvPr/>
          </p:nvSpPr>
          <p:spPr>
            <a:xfrm>
              <a:off x="3803523" y="2554662"/>
              <a:ext cx="25988" cy="222751"/>
            </a:xfrm>
            <a:prstGeom prst="roundRect">
              <a:avLst>
                <a:gd name="adj" fmla="val 50000"/>
              </a:avLst>
            </a:prstGeom>
            <a:solidFill>
              <a:srgbClr val="4F46E5"/>
            </a:solidFill>
            <a:ln>
              <a:noFill/>
            </a:ln>
          </p:spPr>
        </p:sp>
        <p:sp>
          <p:nvSpPr>
            <p:cNvPr id="162" name="Text 162"/>
            <p:cNvSpPr txBox="1"/>
            <p:nvPr/>
          </p:nvSpPr>
          <p:spPr>
            <a:xfrm>
              <a:off x="3887502" y="2617329"/>
              <a:ext cx="945797" cy="102094"/>
            </a:xfrm>
            <a:prstGeom prst="rect">
              <a:avLst/>
            </a:prstGeom>
            <a:noFill/>
            <a:ln>
              <a:noFill/>
            </a:ln>
          </p:spPr>
          <p:txBody>
            <a:bodyPr wrap="none" lIns="0" tIns="0" rIns="0" bIns="0" anchor="t">
              <a:noAutofit/>
            </a:bodyPr>
            <a:lstStyle/>
            <a:p>
              <a:pPr algn="ctr">
                <a:lnSpc>
                  <a:spcPct val="100000"/>
                </a:lnSpc>
                <a:spcBef>
                  <a:spcPts val="0"/>
                </a:spcBef>
                <a:spcAft>
                  <a:spcPts val="0"/>
                </a:spcAft>
                <a:buNone/>
              </a:pPr>
              <a:r>
                <a:rPr lang="en-US" sz="643" b="1" dirty="0">
                  <a:solidFill>
                    <a:srgbClr val="0F172A"/>
                  </a:solidFill>
                  <a:latin typeface="Arial"/>
                  <a:cs typeface="Arial"/>
                </a:rPr>
                <a:t>InferencePool v1</a:t>
              </a:r>
              <a:endParaRPr lang="en-US" sz="643" dirty="0"/>
            </a:p>
          </p:txBody>
        </p:sp>
        <p:sp>
          <p:nvSpPr>
            <p:cNvPr id="163" name="Rect 163"/>
            <p:cNvSpPr/>
            <p:nvPr/>
          </p:nvSpPr>
          <p:spPr>
            <a:xfrm>
              <a:off x="3751548" y="3868892"/>
              <a:ext cx="1158304" cy="386101"/>
            </a:xfrm>
            <a:prstGeom prst="roundRect">
              <a:avLst>
                <a:gd name="adj" fmla="val 17307"/>
              </a:avLst>
            </a:prstGeom>
            <a:solidFill>
              <a:srgbClr val="E6F8FB"/>
            </a:solidFill>
            <a:ln w="8168" cap="rnd">
              <a:solidFill>
                <a:srgbClr val="76D7E7"/>
              </a:solidFill>
              <a:round/>
            </a:ln>
          </p:spPr>
        </p:sp>
        <p:sp>
          <p:nvSpPr>
            <p:cNvPr id="164" name="Rect 164"/>
            <p:cNvSpPr/>
            <p:nvPr/>
          </p:nvSpPr>
          <p:spPr>
            <a:xfrm>
              <a:off x="3803523" y="3950568"/>
              <a:ext cx="25988" cy="222751"/>
            </a:xfrm>
            <a:prstGeom prst="roundRect">
              <a:avLst>
                <a:gd name="adj" fmla="val 50000"/>
              </a:avLst>
            </a:prstGeom>
            <a:solidFill>
              <a:srgbClr val="06B6D4"/>
            </a:solidFill>
            <a:ln>
              <a:noFill/>
            </a:ln>
          </p:spPr>
        </p:sp>
        <p:sp>
          <p:nvSpPr>
            <p:cNvPr id="165" name="Text 165"/>
            <p:cNvSpPr txBox="1"/>
            <p:nvPr/>
          </p:nvSpPr>
          <p:spPr>
            <a:xfrm>
              <a:off x="3831758" y="4013235"/>
              <a:ext cx="1057284" cy="102094"/>
            </a:xfrm>
            <a:prstGeom prst="rect">
              <a:avLst/>
            </a:prstGeom>
            <a:noFill/>
            <a:ln>
              <a:noFill/>
            </a:ln>
          </p:spPr>
          <p:txBody>
            <a:bodyPr wrap="none" lIns="0" tIns="0" rIns="0" bIns="0" anchor="t">
              <a:noAutofit/>
            </a:bodyPr>
            <a:lstStyle/>
            <a:p>
              <a:pPr algn="ctr">
                <a:lnSpc>
                  <a:spcPct val="100000"/>
                </a:lnSpc>
                <a:spcBef>
                  <a:spcPts val="0"/>
                </a:spcBef>
                <a:spcAft>
                  <a:spcPts val="0"/>
                </a:spcAft>
                <a:buNone/>
              </a:pPr>
              <a:r>
                <a:rPr lang="en-US" sz="643" b="1" dirty="0">
                  <a:solidFill>
                    <a:srgbClr val="0F172A"/>
                  </a:solidFill>
                  <a:latin typeface="Arial"/>
                  <a:cs typeface="Arial"/>
                </a:rPr>
                <a:t>Prefill pool (LWS)</a:t>
              </a:r>
              <a:endParaRPr lang="en-US" sz="643" dirty="0"/>
            </a:p>
          </p:txBody>
        </p:sp>
        <p:sp>
          <p:nvSpPr>
            <p:cNvPr id="166" name="Rect 166"/>
            <p:cNvSpPr/>
            <p:nvPr/>
          </p:nvSpPr>
          <p:spPr>
            <a:xfrm>
              <a:off x="3751548" y="5264798"/>
              <a:ext cx="1158304" cy="386101"/>
            </a:xfrm>
            <a:prstGeom prst="roundRect">
              <a:avLst>
                <a:gd name="adj" fmla="val 17307"/>
              </a:avLst>
            </a:prstGeom>
            <a:solidFill>
              <a:srgbClr val="E6F8FB"/>
            </a:solidFill>
            <a:ln w="8168" cap="rnd">
              <a:solidFill>
                <a:srgbClr val="76D7E7"/>
              </a:solidFill>
              <a:round/>
            </a:ln>
          </p:spPr>
        </p:sp>
        <p:sp>
          <p:nvSpPr>
            <p:cNvPr id="167" name="Rect 167"/>
            <p:cNvSpPr/>
            <p:nvPr/>
          </p:nvSpPr>
          <p:spPr>
            <a:xfrm>
              <a:off x="3803523" y="5346473"/>
              <a:ext cx="25988" cy="222751"/>
            </a:xfrm>
            <a:prstGeom prst="roundRect">
              <a:avLst>
                <a:gd name="adj" fmla="val 50000"/>
              </a:avLst>
            </a:prstGeom>
            <a:solidFill>
              <a:srgbClr val="06B6D4"/>
            </a:solidFill>
            <a:ln>
              <a:noFill/>
            </a:ln>
          </p:spPr>
        </p:sp>
        <p:sp>
          <p:nvSpPr>
            <p:cNvPr id="168" name="Text 168"/>
            <p:cNvSpPr txBox="1"/>
            <p:nvPr/>
          </p:nvSpPr>
          <p:spPr>
            <a:xfrm>
              <a:off x="3788756" y="5409140"/>
              <a:ext cx="1143288" cy="102094"/>
            </a:xfrm>
            <a:prstGeom prst="rect">
              <a:avLst/>
            </a:prstGeom>
            <a:noFill/>
            <a:ln>
              <a:noFill/>
            </a:ln>
          </p:spPr>
          <p:txBody>
            <a:bodyPr wrap="none" lIns="0" tIns="0" rIns="0" bIns="0" anchor="t">
              <a:noAutofit/>
            </a:bodyPr>
            <a:lstStyle/>
            <a:p>
              <a:pPr algn="ctr">
                <a:lnSpc>
                  <a:spcPct val="100000"/>
                </a:lnSpc>
                <a:spcBef>
                  <a:spcPts val="0"/>
                </a:spcBef>
                <a:spcAft>
                  <a:spcPts val="0"/>
                </a:spcAft>
                <a:buNone/>
              </a:pPr>
              <a:r>
                <a:rPr lang="en-US" sz="643" b="1" dirty="0">
                  <a:solidFill>
                    <a:srgbClr val="0F172A"/>
                  </a:solidFill>
                  <a:latin typeface="Arial"/>
                  <a:cs typeface="Arial"/>
                </a:rPr>
                <a:t>vLLM model servers</a:t>
              </a:r>
              <a:endParaRPr lang="en-US" sz="643" dirty="0"/>
            </a:p>
          </p:txBody>
        </p:sp>
        <p:sp>
          <p:nvSpPr>
            <p:cNvPr id="169" name="Rect 169"/>
            <p:cNvSpPr/>
            <p:nvPr/>
          </p:nvSpPr>
          <p:spPr>
            <a:xfrm>
              <a:off x="1769065" y="5784549"/>
              <a:ext cx="74250" cy="74250"/>
            </a:xfrm>
            <a:prstGeom prst="roundRect">
              <a:avLst>
                <a:gd name="adj" fmla="val 30000"/>
              </a:avLst>
            </a:prstGeom>
            <a:solidFill>
              <a:srgbClr val="4F46E5"/>
            </a:solidFill>
            <a:ln>
              <a:noFill/>
            </a:ln>
          </p:spPr>
        </p:sp>
        <p:sp>
          <p:nvSpPr>
            <p:cNvPr id="170" name="Text 170"/>
            <p:cNvSpPr txBox="1"/>
            <p:nvPr/>
          </p:nvSpPr>
          <p:spPr>
            <a:xfrm>
              <a:off x="1880441" y="5780094"/>
              <a:ext cx="449753" cy="92813"/>
            </a:xfrm>
            <a:prstGeom prst="rect">
              <a:avLst/>
            </a:prstGeom>
            <a:noFill/>
            <a:ln>
              <a:noFill/>
            </a:ln>
          </p:spPr>
          <p:txBody>
            <a:bodyPr wrap="none" lIns="0" tIns="0" rIns="0" bIns="0" anchor="t">
              <a:noAutofit/>
            </a:bodyPr>
            <a:lstStyle/>
            <a:p>
              <a:pPr algn="l">
                <a:lnSpc>
                  <a:spcPct val="100000"/>
                </a:lnSpc>
                <a:spcBef>
                  <a:spcPts val="0"/>
                </a:spcBef>
                <a:spcAft>
                  <a:spcPts val="0"/>
                </a:spcAft>
                <a:buNone/>
              </a:pPr>
              <a:r>
                <a:rPr lang="en-US" sz="585" dirty="0">
                  <a:solidFill>
                    <a:srgbClr val="64748B"/>
                  </a:solidFill>
                  <a:latin typeface="Arial"/>
                  <a:cs typeface="Arial"/>
                </a:rPr>
                <a:t>Routing</a:t>
              </a:r>
              <a:endParaRPr lang="en-US" sz="585" dirty="0"/>
            </a:p>
          </p:txBody>
        </p:sp>
        <p:sp>
          <p:nvSpPr>
            <p:cNvPr id="171" name="Rect 171"/>
            <p:cNvSpPr/>
            <p:nvPr/>
          </p:nvSpPr>
          <p:spPr>
            <a:xfrm>
              <a:off x="2316290" y="5784549"/>
              <a:ext cx="74250" cy="74250"/>
            </a:xfrm>
            <a:prstGeom prst="roundRect">
              <a:avLst>
                <a:gd name="adj" fmla="val 30000"/>
              </a:avLst>
            </a:prstGeom>
            <a:solidFill>
              <a:srgbClr val="06B6D4"/>
            </a:solidFill>
            <a:ln>
              <a:noFill/>
            </a:ln>
          </p:spPr>
        </p:sp>
        <p:sp>
          <p:nvSpPr>
            <p:cNvPr id="172" name="Text 172"/>
            <p:cNvSpPr txBox="1"/>
            <p:nvPr/>
          </p:nvSpPr>
          <p:spPr>
            <a:xfrm>
              <a:off x="2427665" y="5780094"/>
              <a:ext cx="449753" cy="92813"/>
            </a:xfrm>
            <a:prstGeom prst="rect">
              <a:avLst/>
            </a:prstGeom>
            <a:noFill/>
            <a:ln>
              <a:noFill/>
            </a:ln>
          </p:spPr>
          <p:txBody>
            <a:bodyPr wrap="none" lIns="0" tIns="0" rIns="0" bIns="0" anchor="t">
              <a:noAutofit/>
            </a:bodyPr>
            <a:lstStyle/>
            <a:p>
              <a:pPr algn="l">
                <a:lnSpc>
                  <a:spcPct val="100000"/>
                </a:lnSpc>
                <a:spcBef>
                  <a:spcPts val="0"/>
                </a:spcBef>
                <a:spcAft>
                  <a:spcPts val="0"/>
                </a:spcAft>
                <a:buNone/>
              </a:pPr>
              <a:r>
                <a:rPr lang="en-US" sz="585" dirty="0">
                  <a:solidFill>
                    <a:srgbClr val="64748B"/>
                  </a:solidFill>
                  <a:latin typeface="Arial"/>
                  <a:cs typeface="Arial"/>
                </a:rPr>
                <a:t>Serving</a:t>
              </a:r>
              <a:endParaRPr lang="en-US" sz="585" dirty="0"/>
            </a:p>
          </p:txBody>
        </p:sp>
        <p:sp>
          <p:nvSpPr>
            <p:cNvPr id="173" name="Rect 173"/>
            <p:cNvSpPr/>
            <p:nvPr/>
          </p:nvSpPr>
          <p:spPr>
            <a:xfrm>
              <a:off x="2863514" y="5784549"/>
              <a:ext cx="74250" cy="74250"/>
            </a:xfrm>
            <a:prstGeom prst="roundRect">
              <a:avLst>
                <a:gd name="adj" fmla="val 30000"/>
              </a:avLst>
            </a:prstGeom>
            <a:solidFill>
              <a:srgbClr val="F59E0B"/>
            </a:solidFill>
            <a:ln>
              <a:noFill/>
            </a:ln>
          </p:spPr>
        </p:sp>
        <p:sp>
          <p:nvSpPr>
            <p:cNvPr id="174" name="Text 174"/>
            <p:cNvSpPr txBox="1"/>
            <p:nvPr/>
          </p:nvSpPr>
          <p:spPr>
            <a:xfrm>
              <a:off x="2974890" y="5780094"/>
              <a:ext cx="449753" cy="92813"/>
            </a:xfrm>
            <a:prstGeom prst="rect">
              <a:avLst/>
            </a:prstGeom>
            <a:noFill/>
            <a:ln>
              <a:noFill/>
            </a:ln>
          </p:spPr>
          <p:txBody>
            <a:bodyPr wrap="none" lIns="0" tIns="0" rIns="0" bIns="0" anchor="t">
              <a:noAutofit/>
            </a:bodyPr>
            <a:lstStyle/>
            <a:p>
              <a:pPr algn="l">
                <a:lnSpc>
                  <a:spcPct val="100000"/>
                </a:lnSpc>
                <a:spcBef>
                  <a:spcPts val="0"/>
                </a:spcBef>
                <a:spcAft>
                  <a:spcPts val="0"/>
                </a:spcAft>
                <a:buNone/>
              </a:pPr>
              <a:r>
                <a:rPr lang="en-US" sz="585" dirty="0">
                  <a:solidFill>
                    <a:srgbClr val="64748B"/>
                  </a:solidFill>
                  <a:latin typeface="Arial"/>
                  <a:cs typeface="Arial"/>
                </a:rPr>
                <a:t>Control</a:t>
              </a:r>
              <a:endParaRPr lang="en-US" sz="585" dirty="0"/>
            </a:p>
          </p:txBody>
        </p:sp>
        <p:sp>
          <p:nvSpPr>
            <p:cNvPr id="175" name="Rect 175"/>
            <p:cNvSpPr/>
            <p:nvPr/>
          </p:nvSpPr>
          <p:spPr>
            <a:xfrm>
              <a:off x="3410739" y="5784549"/>
              <a:ext cx="74250" cy="74250"/>
            </a:xfrm>
            <a:prstGeom prst="roundRect">
              <a:avLst>
                <a:gd name="adj" fmla="val 30000"/>
              </a:avLst>
            </a:prstGeom>
            <a:solidFill>
              <a:srgbClr val="EC4899"/>
            </a:solidFill>
            <a:ln>
              <a:noFill/>
            </a:ln>
          </p:spPr>
        </p:sp>
        <p:sp>
          <p:nvSpPr>
            <p:cNvPr id="176" name="Text 176"/>
            <p:cNvSpPr txBox="1"/>
            <p:nvPr/>
          </p:nvSpPr>
          <p:spPr>
            <a:xfrm>
              <a:off x="3522114" y="5780094"/>
              <a:ext cx="724850" cy="92813"/>
            </a:xfrm>
            <a:prstGeom prst="rect">
              <a:avLst/>
            </a:prstGeom>
            <a:noFill/>
            <a:ln>
              <a:noFill/>
            </a:ln>
          </p:spPr>
          <p:txBody>
            <a:bodyPr wrap="none" lIns="0" tIns="0" rIns="0" bIns="0" anchor="t">
              <a:noAutofit/>
            </a:bodyPr>
            <a:lstStyle/>
            <a:p>
              <a:pPr algn="l">
                <a:lnSpc>
                  <a:spcPct val="100000"/>
                </a:lnSpc>
                <a:spcBef>
                  <a:spcPts val="0"/>
                </a:spcBef>
                <a:spcAft>
                  <a:spcPts val="0"/>
                </a:spcAft>
                <a:buNone/>
              </a:pPr>
              <a:r>
                <a:rPr lang="en-US" sz="585" dirty="0">
                  <a:solidFill>
                    <a:srgbClr val="64748B"/>
                  </a:solidFill>
                  <a:latin typeface="Arial"/>
                  <a:cs typeface="Arial"/>
                </a:rPr>
                <a:t>Accelerators</a:t>
              </a:r>
              <a:endParaRPr lang="en-US" sz="585" dirty="0"/>
            </a:p>
          </p:txBody>
        </p:sp>
        <p:sp>
          <p:nvSpPr>
            <p:cNvPr id="177" name="Rect 177"/>
            <p:cNvSpPr/>
            <p:nvPr/>
          </p:nvSpPr>
          <p:spPr>
            <a:xfrm>
              <a:off x="4169577" y="5784549"/>
              <a:ext cx="74250" cy="74250"/>
            </a:xfrm>
            <a:prstGeom prst="roundRect">
              <a:avLst>
                <a:gd name="adj" fmla="val 30000"/>
              </a:avLst>
            </a:prstGeom>
            <a:solidFill>
              <a:srgbClr val="10B981"/>
            </a:solidFill>
            <a:ln>
              <a:noFill/>
            </a:ln>
          </p:spPr>
        </p:sp>
        <p:sp>
          <p:nvSpPr>
            <p:cNvPr id="178" name="Text 178"/>
            <p:cNvSpPr txBox="1"/>
            <p:nvPr/>
          </p:nvSpPr>
          <p:spPr>
            <a:xfrm>
              <a:off x="4280952" y="5780094"/>
              <a:ext cx="475815" cy="92813"/>
            </a:xfrm>
            <a:prstGeom prst="rect">
              <a:avLst/>
            </a:prstGeom>
            <a:noFill/>
            <a:ln>
              <a:noFill/>
            </a:ln>
          </p:spPr>
          <p:txBody>
            <a:bodyPr wrap="none" lIns="0" tIns="0" rIns="0" bIns="0" anchor="t">
              <a:noAutofit/>
            </a:bodyPr>
            <a:lstStyle/>
            <a:p>
              <a:pPr algn="l">
                <a:lnSpc>
                  <a:spcPct val="100000"/>
                </a:lnSpc>
                <a:spcBef>
                  <a:spcPts val="0"/>
                </a:spcBef>
                <a:spcAft>
                  <a:spcPts val="0"/>
                </a:spcAft>
                <a:buNone/>
              </a:pPr>
              <a:r>
                <a:rPr lang="en-US" sz="585" dirty="0">
                  <a:solidFill>
                    <a:srgbClr val="64748B"/>
                  </a:solidFill>
                  <a:latin typeface="Arial"/>
                  <a:cs typeface="Arial"/>
                </a:rPr>
                <a:t>Storage</a:t>
              </a:r>
              <a:endParaRPr lang="en-US" sz="585" dirty="0"/>
            </a:p>
          </p:txBody>
        </p:sp>
      </p:grpSp>
      <p:sp>
        <p:nvSpPr>
          <p:cNvPr id="179" name="Text 179"/>
          <p:cNvSpPr txBox="1"/>
          <p:nvPr/>
        </p:nvSpPr>
        <p:spPr>
          <a:xfrm>
            <a:off x="711200" y="6096000"/>
            <a:ext cx="10769600" cy="177800"/>
          </a:xfrm>
          <a:prstGeom prst="rect">
            <a:avLst/>
          </a:prstGeom>
          <a:noFill/>
          <a:ln>
            <a:noFill/>
          </a:ln>
        </p:spPr>
        <p:txBody>
          <a:bodyPr wrap="square" lIns="0" tIns="0" rIns="0" bIns="0" anchor="t">
            <a:noAutofit/>
          </a:bodyPr>
          <a:lstStyle/>
          <a:p>
            <a:pPr algn="l">
              <a:lnSpc>
                <a:spcPct val="108000"/>
              </a:lnSpc>
              <a:spcBef>
                <a:spcPts val="0"/>
              </a:spcBef>
              <a:spcAft>
                <a:spcPts val="0"/>
              </a:spcAft>
              <a:buNone/>
            </a:pPr>
            <a:r>
              <a:rPr lang="en-US" sz="850" dirty="0">
                <a:solidFill>
                  <a:srgbClr val="64748B"/>
                </a:solidFill>
                <a:latin typeface="Arial"/>
                <a:cs typeface="Arial"/>
              </a:rPr>
              <a:t>Source: [6], [7], [8], [9], [10], [11], [12], [13], [18], [19], [22].</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p:nvPr/>
        </p:nvSpPr>
        <p:spPr>
          <a:xfrm>
            <a:off x="711200" y="508000"/>
            <a:ext cx="558800" cy="63500"/>
          </a:xfrm>
          <a:prstGeom prst="roundRect">
            <a:avLst>
              <a:gd name="adj" fmla="val 50000"/>
            </a:avLst>
          </a:prstGeom>
          <a:gradFill rotWithShape="1">
            <a:gsLst>
              <a:gs pos="0">
                <a:srgbClr val="4F46E5"/>
              </a:gs>
              <a:gs pos="50000">
                <a:srgbClr val="7C3AED"/>
              </a:gs>
              <a:gs pos="100000">
                <a:srgbClr val="06B6D4"/>
              </a:gs>
            </a:gsLst>
            <a:lin ang="0" scaled="0"/>
          </a:gradFill>
          <a:ln>
            <a:noFill/>
          </a:ln>
        </p:spPr>
      </p:sp>
      <p:sp>
        <p:nvSpPr>
          <p:cNvPr id="3" name="Text 3"/>
          <p:cNvSpPr txBox="1"/>
          <p:nvPr/>
        </p:nvSpPr>
        <p:spPr>
          <a:xfrm>
            <a:off x="711200" y="685800"/>
            <a:ext cx="10769600" cy="203200"/>
          </a:xfrm>
          <a:prstGeom prst="rect">
            <a:avLst/>
          </a:prstGeom>
          <a:noFill/>
          <a:ln>
            <a:noFill/>
          </a:ln>
        </p:spPr>
        <p:txBody>
          <a:bodyPr wrap="square" lIns="0" tIns="0" rIns="0" bIns="0" anchor="t">
            <a:noAutofit/>
          </a:bodyPr>
          <a:lstStyle/>
          <a:p>
            <a:pPr algn="l">
              <a:lnSpc>
                <a:spcPct val="108000"/>
              </a:lnSpc>
              <a:spcBef>
                <a:spcPts val="0"/>
              </a:spcBef>
              <a:spcAft>
                <a:spcPts val="0"/>
              </a:spcAft>
              <a:buNone/>
            </a:pPr>
            <a:r>
              <a:rPr lang="en-US" sz="950" b="1" spc="140" dirty="0">
                <a:solidFill>
                  <a:srgbClr val="4F46E5"/>
                </a:solidFill>
                <a:latin typeface="Arial"/>
                <a:cs typeface="Arial"/>
              </a:rPr>
              <a:t>SECTION 04 · INFERENCE ON KUBERNETES: MODEL-AWARE ROUTING, DISAGGREGATED SERVING AND AUTOSCALING</a:t>
            </a:r>
            <a:endParaRPr lang="en-US" sz="950" dirty="0"/>
          </a:p>
        </p:txBody>
      </p:sp>
      <p:sp>
        <p:nvSpPr>
          <p:cNvPr id="4" name="Text 4"/>
          <p:cNvSpPr txBox="1"/>
          <p:nvPr/>
        </p:nvSpPr>
        <p:spPr>
          <a:xfrm>
            <a:off x="711200" y="965200"/>
            <a:ext cx="10515600" cy="886968"/>
          </a:xfrm>
          <a:prstGeom prst="rect">
            <a:avLst/>
          </a:prstGeom>
          <a:noFill/>
          <a:ln>
            <a:noFill/>
          </a:ln>
        </p:spPr>
        <p:txBody>
          <a:bodyPr wrap="square" lIns="0" tIns="0" rIns="0" bIns="0" anchor="t">
            <a:noAutofit/>
          </a:bodyPr>
          <a:lstStyle/>
          <a:p>
            <a:pPr algn="l">
              <a:lnSpc>
                <a:spcPct val="96000"/>
              </a:lnSpc>
              <a:spcBef>
                <a:spcPts val="0"/>
              </a:spcBef>
              <a:spcAft>
                <a:spcPts val="0"/>
              </a:spcAft>
              <a:buNone/>
            </a:pPr>
            <a:r>
              <a:rPr lang="en-US" sz="2800" b="1" spc="-30" dirty="0">
                <a:solidFill>
                  <a:srgbClr val="0F172A"/>
                </a:solidFill>
                <a:latin typeface="Arial"/>
                <a:cs typeface="Arial"/>
              </a:rPr>
              <a:t>Inference on Kubernetes: model-aware routing, disaggregated serving and autoscaling</a:t>
            </a:r>
            <a:endParaRPr lang="en-US" sz="2800" dirty="0"/>
          </a:p>
        </p:txBody>
      </p:sp>
      <p:sp>
        <p:nvSpPr>
          <p:cNvPr id="5" name="Shape 5"/>
          <p:cNvSpPr/>
          <p:nvPr/>
        </p:nvSpPr>
        <p:spPr>
          <a:xfrm>
            <a:off x="711200" y="6451600"/>
            <a:ext cx="10769600" cy="9525"/>
          </a:xfrm>
          <a:prstGeom prst="rect">
            <a:avLst/>
          </a:prstGeom>
          <a:solidFill>
            <a:srgbClr val="E2E8F0"/>
          </a:solidFill>
          <a:ln>
            <a:noFill/>
          </a:ln>
        </p:spPr>
      </p:sp>
      <p:sp>
        <p:nvSpPr>
          <p:cNvPr id="6" name="Text 6"/>
          <p:cNvSpPr txBox="1"/>
          <p:nvPr/>
        </p:nvSpPr>
        <p:spPr>
          <a:xfrm>
            <a:off x="711200" y="6527800"/>
            <a:ext cx="9753600" cy="177800"/>
          </a:xfrm>
          <a:prstGeom prst="rect">
            <a:avLst/>
          </a:prstGeom>
          <a:noFill/>
          <a:ln>
            <a:noFill/>
          </a:ln>
        </p:spPr>
        <p:txBody>
          <a:bodyPr wrap="square" lIns="0" tIns="0" rIns="0" bIns="0" anchor="t">
            <a:noAutofit/>
          </a:bodyPr>
          <a:lstStyle/>
          <a:p>
            <a:pPr algn="l">
              <a:lnSpc>
                <a:spcPct val="108000"/>
              </a:lnSpc>
              <a:spcBef>
                <a:spcPts val="0"/>
              </a:spcBef>
              <a:spcAft>
                <a:spcPts val="0"/>
              </a:spcAft>
              <a:buNone/>
            </a:pPr>
            <a:r>
              <a:rPr lang="en-US" sz="800" dirty="0">
                <a:solidFill>
                  <a:srgbClr val="94A3B8"/>
                </a:solidFill>
                <a:latin typeface="Arial"/>
                <a:cs typeface="Arial"/>
              </a:rPr>
              <a:t>Kubernetes as the Platform for AI Infrastructure</a:t>
            </a:r>
            <a:endParaRPr lang="en-US" sz="800" dirty="0"/>
          </a:p>
        </p:txBody>
      </p:sp>
      <p:sp>
        <p:nvSpPr>
          <p:cNvPr id="7" name="Text 7"/>
          <p:cNvSpPr txBox="1"/>
          <p:nvPr/>
        </p:nvSpPr>
        <p:spPr>
          <a:xfrm>
            <a:off x="10718800" y="6527800"/>
            <a:ext cx="762000" cy="177800"/>
          </a:xfrm>
          <a:prstGeom prst="rect">
            <a:avLst/>
          </a:prstGeom>
          <a:noFill/>
          <a:ln>
            <a:noFill/>
          </a:ln>
        </p:spPr>
        <p:txBody>
          <a:bodyPr wrap="square" lIns="0" tIns="0" rIns="0" bIns="0" anchor="t">
            <a:noAutofit/>
          </a:bodyPr>
          <a:lstStyle/>
          <a:p>
            <a:pPr algn="r">
              <a:lnSpc>
                <a:spcPct val="108000"/>
              </a:lnSpc>
              <a:spcBef>
                <a:spcPts val="0"/>
              </a:spcBef>
              <a:spcAft>
                <a:spcPts val="0"/>
              </a:spcAft>
              <a:buNone/>
            </a:pPr>
            <a:r>
              <a:rPr lang="en-US" sz="850" b="1" dirty="0">
                <a:solidFill>
                  <a:srgbClr val="0F172A"/>
                </a:solidFill>
                <a:latin typeface="Arial"/>
                <a:cs typeface="Arial"/>
              </a:rPr>
              <a:t>20</a:t>
            </a:r>
            <a:endParaRPr lang="en-US" sz="850" dirty="0"/>
          </a:p>
        </p:txBody>
      </p:sp>
      <p:sp>
        <p:nvSpPr>
          <p:cNvPr id="8" name="Shape 8"/>
          <p:cNvSpPr/>
          <p:nvPr/>
        </p:nvSpPr>
        <p:spPr>
          <a:xfrm>
            <a:off x="711200" y="5457825"/>
            <a:ext cx="10769600" cy="790575"/>
          </a:xfrm>
          <a:prstGeom prst="roundRect">
            <a:avLst>
              <a:gd name="adj" fmla="val 16064"/>
            </a:avLst>
          </a:prstGeom>
          <a:solidFill>
            <a:srgbClr val="FFFBEB"/>
          </a:solidFill>
          <a:ln>
            <a:noFill/>
          </a:ln>
        </p:spPr>
      </p:sp>
      <p:sp>
        <p:nvSpPr>
          <p:cNvPr id="9" name="Shape 9"/>
          <p:cNvSpPr/>
          <p:nvPr/>
        </p:nvSpPr>
        <p:spPr>
          <a:xfrm>
            <a:off x="711200" y="5457825"/>
            <a:ext cx="50800" cy="790575"/>
          </a:xfrm>
          <a:prstGeom prst="roundRect">
            <a:avLst>
              <a:gd name="adj" fmla="val 50000"/>
            </a:avLst>
          </a:prstGeom>
          <a:solidFill>
            <a:srgbClr val="B45309"/>
          </a:solidFill>
          <a:ln>
            <a:noFill/>
          </a:ln>
        </p:spPr>
      </p:sp>
      <p:sp>
        <p:nvSpPr>
          <p:cNvPr id="10" name="Text 10"/>
          <p:cNvSpPr txBox="1"/>
          <p:nvPr/>
        </p:nvSpPr>
        <p:spPr>
          <a:xfrm>
            <a:off x="990600" y="5610225"/>
            <a:ext cx="10210800" cy="536575"/>
          </a:xfrm>
          <a:prstGeom prst="rect">
            <a:avLst/>
          </a:prstGeom>
          <a:noFill/>
          <a:ln>
            <a:noFill/>
          </a:ln>
        </p:spPr>
        <p:txBody>
          <a:bodyPr wrap="square" lIns="0" tIns="0" rIns="0" bIns="0" anchor="t">
            <a:noAutofit/>
          </a:bodyPr>
          <a:lstStyle/>
          <a:p>
            <a:pPr algn="l">
              <a:lnSpc>
                <a:spcPct val="108000"/>
              </a:lnSpc>
              <a:spcBef>
                <a:spcPts val="0"/>
              </a:spcBef>
              <a:spcAft>
                <a:spcPts val="400"/>
              </a:spcAft>
              <a:buNone/>
            </a:pPr>
            <a:r>
              <a:rPr lang="en-US" sz="850" b="1" spc="130" dirty="0">
                <a:solidFill>
                  <a:srgbClr val="B45309"/>
                </a:solidFill>
                <a:latin typeface="Arial"/>
                <a:cs typeface="Arial"/>
              </a:rPr>
              <a:t>CAUTION</a:t>
            </a:r>
            <a:endParaRPr lang="en-US" sz="850" dirty="0"/>
          </a:p>
          <a:p>
            <a:pPr algn="l">
              <a:lnSpc>
                <a:spcPct val="116000"/>
              </a:lnSpc>
              <a:spcBef>
                <a:spcPts val="0"/>
              </a:spcBef>
              <a:spcAft>
                <a:spcPts val="0"/>
              </a:spcAft>
              <a:buNone/>
            </a:pPr>
            <a:r>
              <a:rPr lang="en-US" sz="1250" dirty="0">
                <a:solidFill>
                  <a:srgbClr val="0F172A"/>
                </a:solidFill>
                <a:latin typeface="Arial"/>
                <a:cs typeface="Arial"/>
              </a:rPr>
              <a:t>No independent, like-for-like benchmark compares llm-d, KServe, Dynamo and other stacks.</a:t>
            </a:r>
            <a:endParaRPr lang="en-US" sz="1250" dirty="0"/>
          </a:p>
        </p:txBody>
      </p:sp>
      <p:sp>
        <p:nvSpPr>
          <p:cNvPr id="11" name="Text 11"/>
          <p:cNvSpPr txBox="1"/>
          <p:nvPr/>
        </p:nvSpPr>
        <p:spPr>
          <a:xfrm>
            <a:off x="711200" y="2106168"/>
            <a:ext cx="9261856" cy="3173857"/>
          </a:xfrm>
          <a:prstGeom prst="rect">
            <a:avLst/>
          </a:prstGeom>
          <a:noFill/>
          <a:ln>
            <a:noFill/>
          </a:ln>
        </p:spPr>
        <p:txBody>
          <a:bodyPr wrap="square" lIns="0" tIns="0" rIns="0" bIns="0" anchor="t">
            <a:noAutofit/>
          </a:bodyPr>
          <a:lstStyle/>
          <a:p>
            <a:pPr algn="l">
              <a:lnSpc>
                <a:spcPct val="112000"/>
              </a:lnSpc>
              <a:spcBef>
                <a:spcPts val="0"/>
              </a:spcBef>
              <a:spcAft>
                <a:spcPts val="594"/>
              </a:spcAft>
              <a:buNone/>
            </a:pPr>
            <a:r>
              <a:rPr lang="en-US" sz="1564" b="1" dirty="0">
                <a:solidFill>
                  <a:srgbClr val="4F46E5"/>
                </a:solidFill>
                <a:latin typeface="Arial"/>
                <a:cs typeface="Arial"/>
              </a:rPr>
              <a:t>NVIDIA Dynamo and Grove</a:t>
            </a:r>
            <a:endParaRPr lang="en-US" sz="1564" dirty="0"/>
          </a:p>
          <a:p>
            <a:pPr marL="248285" indent="-248285" algn="l">
              <a:lnSpc>
                <a:spcPct val="118000"/>
              </a:lnSpc>
              <a:spcBef>
                <a:spcPts val="0"/>
              </a:spcBef>
              <a:spcAft>
                <a:spcPts val="1275"/>
              </a:spcAft>
              <a:buClr>
                <a:srgbClr val="4F46E5"/>
              </a:buClr>
              <a:buFont typeface="Arial"/>
              <a:buChar char="•"/>
            </a:pPr>
            <a:r>
              <a:rPr lang="en-US" sz="1700" dirty="0">
                <a:solidFill>
                  <a:srgbClr val="334155"/>
                </a:solidFill>
                <a:latin typeface="Arial"/>
                <a:cs typeface="Arial"/>
              </a:rPr>
              <a:t>NVIDIA Dynamo models an inference graph as a custom resource managed by an operator.</a:t>
            </a:r>
            <a:endParaRPr lang="en-US" sz="1700" dirty="0"/>
          </a:p>
          <a:p>
            <a:pPr algn="l">
              <a:lnSpc>
                <a:spcPct val="112000"/>
              </a:lnSpc>
              <a:spcBef>
                <a:spcPts val="0"/>
              </a:spcBef>
              <a:spcAft>
                <a:spcPts val="594"/>
              </a:spcAft>
              <a:buNone/>
            </a:pPr>
            <a:r>
              <a:rPr lang="en-US" sz="1564" b="1" dirty="0">
                <a:solidFill>
                  <a:srgbClr val="4F46E5"/>
                </a:solidFill>
                <a:latin typeface="Arial"/>
                <a:cs typeface="Arial"/>
              </a:rPr>
              <a:t>Model weights and cold starts</a:t>
            </a:r>
            <a:endParaRPr lang="en-US" sz="1564" dirty="0"/>
          </a:p>
          <a:p>
            <a:pPr marL="248285" indent="-248285" algn="l">
              <a:lnSpc>
                <a:spcPct val="118000"/>
              </a:lnSpc>
              <a:spcBef>
                <a:spcPts val="0"/>
              </a:spcBef>
              <a:spcAft>
                <a:spcPts val="1275"/>
              </a:spcAft>
              <a:buClr>
                <a:srgbClr val="4F46E5"/>
              </a:buClr>
              <a:buFont typeface="Arial"/>
              <a:buChar char="•"/>
            </a:pPr>
            <a:r>
              <a:rPr lang="en-US" sz="1700" dirty="0">
                <a:solidFill>
                  <a:srgbClr val="334155"/>
                </a:solidFill>
                <a:latin typeface="Arial"/>
                <a:cs typeface="Arial"/>
              </a:rPr>
              <a:t>Getting weights onto GPUs quickly is the main cold-start problem. OCI Artifact and Image volume sources (KEP-4639) went stable in v1.36, so weights can be packaged as OCI artifacts and mounted from a registry</a:t>
            </a:r>
            <a:r>
              <a:rPr lang="en-US" sz="1700" baseline="30000" dirty="0">
                <a:solidFill>
                  <a:srgbClr val="64748B"/>
                </a:solidFill>
                <a:latin typeface="Arial"/>
                <a:cs typeface="Arial"/>
              </a:rPr>
              <a:t> 19</a:t>
            </a:r>
            <a:r>
              <a:rPr lang="en-US" sz="1700" dirty="0">
                <a:solidFill>
                  <a:srgbClr val="334155"/>
                </a:solidFill>
                <a:latin typeface="Arial"/>
                <a:cs typeface="Arial"/>
              </a:rPr>
              <a:t>.</a:t>
            </a:r>
            <a:endParaRPr lang="en-US" sz="17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p:nvPr/>
        </p:nvSpPr>
        <p:spPr>
          <a:xfrm>
            <a:off x="711200" y="508000"/>
            <a:ext cx="558800" cy="63500"/>
          </a:xfrm>
          <a:prstGeom prst="roundRect">
            <a:avLst>
              <a:gd name="adj" fmla="val 50000"/>
            </a:avLst>
          </a:prstGeom>
          <a:gradFill rotWithShape="1">
            <a:gsLst>
              <a:gs pos="0">
                <a:srgbClr val="4F46E5"/>
              </a:gs>
              <a:gs pos="50000">
                <a:srgbClr val="7C3AED"/>
              </a:gs>
              <a:gs pos="100000">
                <a:srgbClr val="06B6D4"/>
              </a:gs>
            </a:gsLst>
            <a:lin ang="0" scaled="0"/>
          </a:gradFill>
          <a:ln>
            <a:noFill/>
          </a:ln>
        </p:spPr>
      </p:sp>
      <p:sp>
        <p:nvSpPr>
          <p:cNvPr id="3" name="Text 3"/>
          <p:cNvSpPr txBox="1"/>
          <p:nvPr/>
        </p:nvSpPr>
        <p:spPr>
          <a:xfrm>
            <a:off x="711200" y="685800"/>
            <a:ext cx="10769600" cy="203200"/>
          </a:xfrm>
          <a:prstGeom prst="rect">
            <a:avLst/>
          </a:prstGeom>
          <a:noFill/>
          <a:ln>
            <a:noFill/>
          </a:ln>
        </p:spPr>
        <p:txBody>
          <a:bodyPr wrap="square" lIns="0" tIns="0" rIns="0" bIns="0" anchor="t">
            <a:noAutofit/>
          </a:bodyPr>
          <a:lstStyle/>
          <a:p>
            <a:pPr algn="l">
              <a:lnSpc>
                <a:spcPct val="108000"/>
              </a:lnSpc>
              <a:spcBef>
                <a:spcPts val="0"/>
              </a:spcBef>
              <a:spcAft>
                <a:spcPts val="0"/>
              </a:spcAft>
              <a:buNone/>
            </a:pPr>
            <a:r>
              <a:rPr lang="en-US" sz="950" b="1" spc="140" dirty="0">
                <a:solidFill>
                  <a:srgbClr val="4F46E5"/>
                </a:solidFill>
                <a:latin typeface="Arial"/>
                <a:cs typeface="Arial"/>
              </a:rPr>
              <a:t>SECTION 05 · VENDOR AND MANAGED PLATFORM LANDSCAPE</a:t>
            </a:r>
            <a:endParaRPr lang="en-US" sz="950" dirty="0"/>
          </a:p>
        </p:txBody>
      </p:sp>
      <p:sp>
        <p:nvSpPr>
          <p:cNvPr id="4" name="Text 4"/>
          <p:cNvSpPr txBox="1"/>
          <p:nvPr/>
        </p:nvSpPr>
        <p:spPr>
          <a:xfrm>
            <a:off x="711200" y="965200"/>
            <a:ext cx="10515600" cy="481584"/>
          </a:xfrm>
          <a:prstGeom prst="rect">
            <a:avLst/>
          </a:prstGeom>
          <a:noFill/>
          <a:ln>
            <a:noFill/>
          </a:ln>
        </p:spPr>
        <p:txBody>
          <a:bodyPr wrap="square" lIns="0" tIns="0" rIns="0" bIns="0" anchor="t">
            <a:noAutofit/>
          </a:bodyPr>
          <a:lstStyle/>
          <a:p>
            <a:pPr algn="l">
              <a:lnSpc>
                <a:spcPct val="96000"/>
              </a:lnSpc>
              <a:spcBef>
                <a:spcPts val="0"/>
              </a:spcBef>
              <a:spcAft>
                <a:spcPts val="0"/>
              </a:spcAft>
              <a:buNone/>
            </a:pPr>
            <a:r>
              <a:rPr lang="en-US" sz="2800" b="1" spc="-30" dirty="0">
                <a:solidFill>
                  <a:srgbClr val="0F172A"/>
                </a:solidFill>
                <a:latin typeface="Arial"/>
                <a:cs typeface="Arial"/>
              </a:rPr>
              <a:t>Vendor and managed platform landscape</a:t>
            </a:r>
            <a:endParaRPr lang="en-US" sz="2800" dirty="0"/>
          </a:p>
        </p:txBody>
      </p:sp>
      <p:sp>
        <p:nvSpPr>
          <p:cNvPr id="5" name="Shape 5"/>
          <p:cNvSpPr/>
          <p:nvPr/>
        </p:nvSpPr>
        <p:spPr>
          <a:xfrm>
            <a:off x="711200" y="6451600"/>
            <a:ext cx="10769600" cy="9525"/>
          </a:xfrm>
          <a:prstGeom prst="rect">
            <a:avLst/>
          </a:prstGeom>
          <a:solidFill>
            <a:srgbClr val="E2E8F0"/>
          </a:solidFill>
          <a:ln>
            <a:noFill/>
          </a:ln>
        </p:spPr>
      </p:sp>
      <p:sp>
        <p:nvSpPr>
          <p:cNvPr id="6" name="Text 6"/>
          <p:cNvSpPr txBox="1"/>
          <p:nvPr/>
        </p:nvSpPr>
        <p:spPr>
          <a:xfrm>
            <a:off x="711200" y="6527800"/>
            <a:ext cx="9753600" cy="177800"/>
          </a:xfrm>
          <a:prstGeom prst="rect">
            <a:avLst/>
          </a:prstGeom>
          <a:noFill/>
          <a:ln>
            <a:noFill/>
          </a:ln>
        </p:spPr>
        <p:txBody>
          <a:bodyPr wrap="square" lIns="0" tIns="0" rIns="0" bIns="0" anchor="t">
            <a:noAutofit/>
          </a:bodyPr>
          <a:lstStyle/>
          <a:p>
            <a:pPr algn="l">
              <a:lnSpc>
                <a:spcPct val="108000"/>
              </a:lnSpc>
              <a:spcBef>
                <a:spcPts val="0"/>
              </a:spcBef>
              <a:spcAft>
                <a:spcPts val="0"/>
              </a:spcAft>
              <a:buNone/>
            </a:pPr>
            <a:r>
              <a:rPr lang="en-US" sz="800" dirty="0">
                <a:solidFill>
                  <a:srgbClr val="94A3B8"/>
                </a:solidFill>
                <a:latin typeface="Arial"/>
                <a:cs typeface="Arial"/>
              </a:rPr>
              <a:t>Kubernetes as the Platform for AI Infrastructure</a:t>
            </a:r>
            <a:endParaRPr lang="en-US" sz="800" dirty="0"/>
          </a:p>
        </p:txBody>
      </p:sp>
      <p:sp>
        <p:nvSpPr>
          <p:cNvPr id="7" name="Text 7"/>
          <p:cNvSpPr txBox="1"/>
          <p:nvPr/>
        </p:nvSpPr>
        <p:spPr>
          <a:xfrm>
            <a:off x="10718800" y="6527800"/>
            <a:ext cx="762000" cy="177800"/>
          </a:xfrm>
          <a:prstGeom prst="rect">
            <a:avLst/>
          </a:prstGeom>
          <a:noFill/>
          <a:ln>
            <a:noFill/>
          </a:ln>
        </p:spPr>
        <p:txBody>
          <a:bodyPr wrap="square" lIns="0" tIns="0" rIns="0" bIns="0" anchor="t">
            <a:noAutofit/>
          </a:bodyPr>
          <a:lstStyle/>
          <a:p>
            <a:pPr algn="r">
              <a:lnSpc>
                <a:spcPct val="108000"/>
              </a:lnSpc>
              <a:spcBef>
                <a:spcPts val="0"/>
              </a:spcBef>
              <a:spcAft>
                <a:spcPts val="0"/>
              </a:spcAft>
              <a:buNone/>
            </a:pPr>
            <a:r>
              <a:rPr lang="en-US" sz="850" b="1" dirty="0">
                <a:solidFill>
                  <a:srgbClr val="0F172A"/>
                </a:solidFill>
                <a:latin typeface="Arial"/>
                <a:cs typeface="Arial"/>
              </a:rPr>
              <a:t>21</a:t>
            </a:r>
            <a:endParaRPr lang="en-US" sz="850" dirty="0"/>
          </a:p>
        </p:txBody>
      </p:sp>
      <p:sp>
        <p:nvSpPr>
          <p:cNvPr id="8" name="Text 8"/>
          <p:cNvSpPr txBox="1"/>
          <p:nvPr/>
        </p:nvSpPr>
        <p:spPr>
          <a:xfrm>
            <a:off x="711200" y="1700784"/>
            <a:ext cx="9261856" cy="4547616"/>
          </a:xfrm>
          <a:prstGeom prst="rect">
            <a:avLst/>
          </a:prstGeom>
          <a:noFill/>
          <a:ln>
            <a:noFill/>
          </a:ln>
        </p:spPr>
        <p:txBody>
          <a:bodyPr wrap="square" lIns="0" tIns="0" rIns="0" bIns="0" anchor="t">
            <a:noAutofit/>
          </a:bodyPr>
          <a:lstStyle/>
          <a:p>
            <a:pPr marL="248285" indent="-248285" algn="l">
              <a:lnSpc>
                <a:spcPct val="118000"/>
              </a:lnSpc>
              <a:spcBef>
                <a:spcPts val="0"/>
              </a:spcBef>
              <a:spcAft>
                <a:spcPts val="1275"/>
              </a:spcAft>
              <a:buClr>
                <a:srgbClr val="4F46E5"/>
              </a:buClr>
              <a:buFont typeface="Arial"/>
              <a:buChar char="•"/>
            </a:pPr>
            <a:r>
              <a:rPr lang="en-US" sz="1700" dirty="0">
                <a:solidFill>
                  <a:srgbClr val="334155"/>
                </a:solidFill>
                <a:latin typeface="Arial"/>
                <a:cs typeface="Arial"/>
              </a:rPr>
              <a:t>The major platforms package the same upstream primitives and differentiate on three things: control-plane scale, managed operations and vertical integration</a:t>
            </a:r>
            <a:r>
              <a:rPr lang="en-US" sz="1700" baseline="30000" dirty="0">
                <a:solidFill>
                  <a:srgbClr val="64748B"/>
                </a:solidFill>
                <a:latin typeface="Arial"/>
                <a:cs typeface="Arial"/>
              </a:rPr>
              <a:t> 16,24,25,26,28,29,30,31,32</a:t>
            </a:r>
            <a:r>
              <a:rPr lang="en-US" sz="1700" dirty="0">
                <a:solidFill>
                  <a:srgbClr val="334155"/>
                </a:solidFill>
                <a:latin typeface="Arial"/>
                <a:cs typeface="Arial"/>
              </a:rPr>
              <a:t>.</a:t>
            </a:r>
            <a:endParaRPr lang="en-US" sz="17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p:nvPr/>
        </p:nvSpPr>
        <p:spPr>
          <a:xfrm>
            <a:off x="711200" y="508000"/>
            <a:ext cx="558800" cy="63500"/>
          </a:xfrm>
          <a:prstGeom prst="roundRect">
            <a:avLst>
              <a:gd name="adj" fmla="val 50000"/>
            </a:avLst>
          </a:prstGeom>
          <a:gradFill rotWithShape="1">
            <a:gsLst>
              <a:gs pos="0">
                <a:srgbClr val="4F46E5"/>
              </a:gs>
              <a:gs pos="50000">
                <a:srgbClr val="7C3AED"/>
              </a:gs>
              <a:gs pos="100000">
                <a:srgbClr val="06B6D4"/>
              </a:gs>
            </a:gsLst>
            <a:lin ang="0" scaled="0"/>
          </a:gradFill>
          <a:ln>
            <a:noFill/>
          </a:ln>
        </p:spPr>
      </p:sp>
      <p:sp>
        <p:nvSpPr>
          <p:cNvPr id="3" name="Text 3"/>
          <p:cNvSpPr txBox="1"/>
          <p:nvPr/>
        </p:nvSpPr>
        <p:spPr>
          <a:xfrm>
            <a:off x="711200" y="685800"/>
            <a:ext cx="10769600" cy="203200"/>
          </a:xfrm>
          <a:prstGeom prst="rect">
            <a:avLst/>
          </a:prstGeom>
          <a:noFill/>
          <a:ln>
            <a:noFill/>
          </a:ln>
        </p:spPr>
        <p:txBody>
          <a:bodyPr wrap="square" lIns="0" tIns="0" rIns="0" bIns="0" anchor="t">
            <a:noAutofit/>
          </a:bodyPr>
          <a:lstStyle/>
          <a:p>
            <a:pPr algn="l">
              <a:lnSpc>
                <a:spcPct val="108000"/>
              </a:lnSpc>
              <a:spcBef>
                <a:spcPts val="0"/>
              </a:spcBef>
              <a:spcAft>
                <a:spcPts val="0"/>
              </a:spcAft>
              <a:buNone/>
            </a:pPr>
            <a:r>
              <a:rPr lang="en-US" sz="950" b="1" spc="140" dirty="0">
                <a:solidFill>
                  <a:srgbClr val="4F46E5"/>
                </a:solidFill>
                <a:latin typeface="Arial"/>
                <a:cs typeface="Arial"/>
              </a:rPr>
              <a:t>SECTION 05 · VENDOR AND MANAGED PLATFORM LANDSCAPE · TABLE 4</a:t>
            </a:r>
            <a:endParaRPr lang="en-US" sz="950" dirty="0"/>
          </a:p>
        </p:txBody>
      </p:sp>
      <p:sp>
        <p:nvSpPr>
          <p:cNvPr id="4" name="Text 4"/>
          <p:cNvSpPr txBox="1"/>
          <p:nvPr/>
        </p:nvSpPr>
        <p:spPr>
          <a:xfrm>
            <a:off x="711200" y="965200"/>
            <a:ext cx="10515600" cy="481584"/>
          </a:xfrm>
          <a:prstGeom prst="rect">
            <a:avLst/>
          </a:prstGeom>
          <a:noFill/>
          <a:ln>
            <a:noFill/>
          </a:ln>
        </p:spPr>
        <p:txBody>
          <a:bodyPr wrap="square" lIns="0" tIns="0" rIns="0" bIns="0" anchor="t">
            <a:noAutofit/>
          </a:bodyPr>
          <a:lstStyle/>
          <a:p>
            <a:pPr algn="l">
              <a:lnSpc>
                <a:spcPct val="96000"/>
              </a:lnSpc>
              <a:spcBef>
                <a:spcPts val="0"/>
              </a:spcBef>
              <a:spcAft>
                <a:spcPts val="0"/>
              </a:spcAft>
              <a:buNone/>
            </a:pPr>
            <a:r>
              <a:rPr lang="en-US" sz="2800" b="1" spc="-30" dirty="0">
                <a:solidFill>
                  <a:srgbClr val="0F172A"/>
                </a:solidFill>
                <a:latin typeface="Arial"/>
                <a:cs typeface="Arial"/>
              </a:rPr>
              <a:t>How major vendors package AI on Kubernetes</a:t>
            </a:r>
            <a:endParaRPr lang="en-US" sz="2800" dirty="0"/>
          </a:p>
        </p:txBody>
      </p:sp>
      <p:sp>
        <p:nvSpPr>
          <p:cNvPr id="5" name="Shape 5"/>
          <p:cNvSpPr/>
          <p:nvPr/>
        </p:nvSpPr>
        <p:spPr>
          <a:xfrm>
            <a:off x="711200" y="6451600"/>
            <a:ext cx="10769600" cy="9525"/>
          </a:xfrm>
          <a:prstGeom prst="rect">
            <a:avLst/>
          </a:prstGeom>
          <a:solidFill>
            <a:srgbClr val="E2E8F0"/>
          </a:solidFill>
          <a:ln>
            <a:noFill/>
          </a:ln>
        </p:spPr>
      </p:sp>
      <p:sp>
        <p:nvSpPr>
          <p:cNvPr id="6" name="Text 6"/>
          <p:cNvSpPr txBox="1"/>
          <p:nvPr/>
        </p:nvSpPr>
        <p:spPr>
          <a:xfrm>
            <a:off x="711200" y="6527800"/>
            <a:ext cx="9753600" cy="177800"/>
          </a:xfrm>
          <a:prstGeom prst="rect">
            <a:avLst/>
          </a:prstGeom>
          <a:noFill/>
          <a:ln>
            <a:noFill/>
          </a:ln>
        </p:spPr>
        <p:txBody>
          <a:bodyPr wrap="square" lIns="0" tIns="0" rIns="0" bIns="0" anchor="t">
            <a:noAutofit/>
          </a:bodyPr>
          <a:lstStyle/>
          <a:p>
            <a:pPr algn="l">
              <a:lnSpc>
                <a:spcPct val="108000"/>
              </a:lnSpc>
              <a:spcBef>
                <a:spcPts val="0"/>
              </a:spcBef>
              <a:spcAft>
                <a:spcPts val="0"/>
              </a:spcAft>
              <a:buNone/>
            </a:pPr>
            <a:r>
              <a:rPr lang="en-US" sz="800" dirty="0">
                <a:solidFill>
                  <a:srgbClr val="94A3B8"/>
                </a:solidFill>
                <a:latin typeface="Arial"/>
                <a:cs typeface="Arial"/>
              </a:rPr>
              <a:t>Kubernetes as the Platform for AI Infrastructure</a:t>
            </a:r>
            <a:endParaRPr lang="en-US" sz="800" dirty="0"/>
          </a:p>
        </p:txBody>
      </p:sp>
      <p:sp>
        <p:nvSpPr>
          <p:cNvPr id="7" name="Text 7"/>
          <p:cNvSpPr txBox="1"/>
          <p:nvPr/>
        </p:nvSpPr>
        <p:spPr>
          <a:xfrm>
            <a:off x="10718800" y="6527800"/>
            <a:ext cx="762000" cy="177800"/>
          </a:xfrm>
          <a:prstGeom prst="rect">
            <a:avLst/>
          </a:prstGeom>
          <a:noFill/>
          <a:ln>
            <a:noFill/>
          </a:ln>
        </p:spPr>
        <p:txBody>
          <a:bodyPr wrap="square" lIns="0" tIns="0" rIns="0" bIns="0" anchor="t">
            <a:noAutofit/>
          </a:bodyPr>
          <a:lstStyle/>
          <a:p>
            <a:pPr algn="r">
              <a:lnSpc>
                <a:spcPct val="108000"/>
              </a:lnSpc>
              <a:spcBef>
                <a:spcPts val="0"/>
              </a:spcBef>
              <a:spcAft>
                <a:spcPts val="0"/>
              </a:spcAft>
              <a:buNone/>
            </a:pPr>
            <a:r>
              <a:rPr lang="en-US" sz="850" b="1" dirty="0">
                <a:solidFill>
                  <a:srgbClr val="0F172A"/>
                </a:solidFill>
                <a:latin typeface="Arial"/>
                <a:cs typeface="Arial"/>
              </a:rPr>
              <a:t>22</a:t>
            </a:r>
            <a:endParaRPr lang="en-US" sz="850" dirty="0"/>
          </a:p>
        </p:txBody>
      </p:sp>
      <p:graphicFrame>
        <p:nvGraphicFramePr>
          <p:cNvPr id="8" name="Table 8"/>
          <p:cNvGraphicFramePr>
            <a:graphicFrameLocks noGrp="1"/>
          </p:cNvGraphicFramePr>
          <p:nvPr/>
        </p:nvGraphicFramePr>
        <p:xfrm>
          <a:off x="711200" y="1700784"/>
          <a:ext cx="10769600" cy="1828800"/>
        </p:xfrm>
        <a:graphic>
          <a:graphicData uri="http://schemas.openxmlformats.org/drawingml/2006/table">
            <a:tbl>
              <a:tblPr firstRow="1"/>
              <a:tblGrid>
                <a:gridCol w="1552826"/>
                <a:gridCol w="2304193"/>
                <a:gridCol w="2304193"/>
                <a:gridCol w="2304193"/>
                <a:gridCol w="2304193"/>
              </a:tblGrid>
              <a:tr h="279400">
                <a:tc>
                  <a:txBody>
                    <a:bodyPr/>
                    <a:lstStyle/>
                    <a:p>
                      <a:pPr algn="l">
                        <a:lnSpc>
                          <a:spcPct val="108000"/>
                        </a:lnSpc>
                        <a:spcBef>
                          <a:spcPts val="0"/>
                        </a:spcBef>
                        <a:spcAft>
                          <a:spcPts val="0"/>
                        </a:spcAft>
                        <a:buNone/>
                      </a:pPr>
                      <a:r>
                        <a:rPr lang="en-US" sz="780" b="1" spc="60" dirty="0">
                          <a:solidFill>
                            <a:srgbClr val="64748B"/>
                          </a:solidFill>
                          <a:latin typeface="Arial"/>
                          <a:cs typeface="Arial"/>
                        </a:rPr>
                        <a:t>VENDOR</a:t>
                      </a:r>
                      <a:endParaRPr lang="en-US" sz="780" dirty="0"/>
                    </a:p>
                  </a:txBody>
                  <a:tcPr marL="101600" marR="101600" marT="69850" marB="69850" anchor="ctr">
                    <a:lnL w="0">
                      <a:noFill/>
                    </a:lnL>
                    <a:lnR w="0">
                      <a:noFill/>
                    </a:lnR>
                    <a:lnT w="0">
                      <a:noFill/>
                    </a:lnT>
                    <a:lnB w="9525">
                      <a:solidFill>
                        <a:srgbClr val="E2E8F0"/>
                      </a:solidFill>
                    </a:lnB>
                    <a:solidFill>
                      <a:srgbClr val="F8FAFC"/>
                    </a:solidFill>
                  </a:tcPr>
                </a:tc>
                <a:tc>
                  <a:txBody>
                    <a:bodyPr/>
                    <a:lstStyle/>
                    <a:p>
                      <a:pPr algn="l">
                        <a:lnSpc>
                          <a:spcPct val="108000"/>
                        </a:lnSpc>
                        <a:spcBef>
                          <a:spcPts val="0"/>
                        </a:spcBef>
                        <a:spcAft>
                          <a:spcPts val="0"/>
                        </a:spcAft>
                        <a:buNone/>
                      </a:pPr>
                      <a:r>
                        <a:rPr lang="en-US" sz="780" b="1" spc="60" dirty="0">
                          <a:solidFill>
                            <a:srgbClr val="64748B"/>
                          </a:solidFill>
                          <a:latin typeface="Arial"/>
                          <a:cs typeface="Arial"/>
                        </a:rPr>
                        <a:t>CLUSTER SCALE</a:t>
                      </a:r>
                      <a:endParaRPr lang="en-US" sz="780" dirty="0"/>
                    </a:p>
                  </a:txBody>
                  <a:tcPr marL="101600" marR="101600" marT="69850" marB="69850" anchor="ctr">
                    <a:lnL w="0">
                      <a:noFill/>
                    </a:lnL>
                    <a:lnR w="0">
                      <a:noFill/>
                    </a:lnR>
                    <a:lnT w="0">
                      <a:noFill/>
                    </a:lnT>
                    <a:lnB w="9525">
                      <a:solidFill>
                        <a:srgbClr val="E2E8F0"/>
                      </a:solidFill>
                    </a:lnB>
                    <a:solidFill>
                      <a:srgbClr val="F8FAFC"/>
                    </a:solidFill>
                  </a:tcPr>
                </a:tc>
                <a:tc>
                  <a:txBody>
                    <a:bodyPr/>
                    <a:lstStyle/>
                    <a:p>
                      <a:pPr algn="l">
                        <a:lnSpc>
                          <a:spcPct val="108000"/>
                        </a:lnSpc>
                        <a:spcBef>
                          <a:spcPts val="0"/>
                        </a:spcBef>
                        <a:spcAft>
                          <a:spcPts val="0"/>
                        </a:spcAft>
                        <a:buNone/>
                      </a:pPr>
                      <a:r>
                        <a:rPr lang="en-US" sz="780" b="1" spc="60" dirty="0">
                          <a:solidFill>
                            <a:srgbClr val="64748B"/>
                          </a:solidFill>
                          <a:latin typeface="Arial"/>
                          <a:cs typeface="Arial"/>
                        </a:rPr>
                        <a:t>INFERENCE LAYER</a:t>
                      </a:r>
                      <a:endParaRPr lang="en-US" sz="780" dirty="0"/>
                    </a:p>
                  </a:txBody>
                  <a:tcPr marL="101600" marR="101600" marT="69850" marB="69850" anchor="ctr">
                    <a:lnL w="0">
                      <a:noFill/>
                    </a:lnL>
                    <a:lnR w="0">
                      <a:noFill/>
                    </a:lnR>
                    <a:lnT w="0">
                      <a:noFill/>
                    </a:lnT>
                    <a:lnB w="9525">
                      <a:solidFill>
                        <a:srgbClr val="E2E8F0"/>
                      </a:solidFill>
                    </a:lnB>
                    <a:solidFill>
                      <a:srgbClr val="F8FAFC"/>
                    </a:solidFill>
                  </a:tcPr>
                </a:tc>
                <a:tc>
                  <a:txBody>
                    <a:bodyPr/>
                    <a:lstStyle/>
                    <a:p>
                      <a:pPr algn="l">
                        <a:lnSpc>
                          <a:spcPct val="108000"/>
                        </a:lnSpc>
                        <a:spcBef>
                          <a:spcPts val="0"/>
                        </a:spcBef>
                        <a:spcAft>
                          <a:spcPts val="0"/>
                        </a:spcAft>
                        <a:buNone/>
                      </a:pPr>
                      <a:r>
                        <a:rPr lang="en-US" sz="780" b="1" spc="60" dirty="0">
                          <a:solidFill>
                            <a:srgbClr val="64748B"/>
                          </a:solidFill>
                          <a:latin typeface="Arial"/>
                          <a:cs typeface="Arial"/>
                        </a:rPr>
                        <a:t>TRAINING / SCHEDULING LAYER</a:t>
                      </a:r>
                      <a:endParaRPr lang="en-US" sz="780" dirty="0"/>
                    </a:p>
                  </a:txBody>
                  <a:tcPr marL="101600" marR="101600" marT="69850" marB="69850" anchor="ctr">
                    <a:lnL w="0">
                      <a:noFill/>
                    </a:lnL>
                    <a:lnR w="0">
                      <a:noFill/>
                    </a:lnR>
                    <a:lnT w="0">
                      <a:noFill/>
                    </a:lnT>
                    <a:lnB w="9525">
                      <a:solidFill>
                        <a:srgbClr val="E2E8F0"/>
                      </a:solidFill>
                    </a:lnB>
                    <a:solidFill>
                      <a:srgbClr val="F8FAFC"/>
                    </a:solidFill>
                  </a:tcPr>
                </a:tc>
                <a:tc>
                  <a:txBody>
                    <a:bodyPr/>
                    <a:lstStyle/>
                    <a:p>
                      <a:pPr algn="l">
                        <a:lnSpc>
                          <a:spcPct val="108000"/>
                        </a:lnSpc>
                        <a:spcBef>
                          <a:spcPts val="0"/>
                        </a:spcBef>
                        <a:spcAft>
                          <a:spcPts val="0"/>
                        </a:spcAft>
                        <a:buNone/>
                      </a:pPr>
                      <a:r>
                        <a:rPr lang="en-US" sz="780" b="1" spc="60" dirty="0">
                          <a:solidFill>
                            <a:srgbClr val="64748B"/>
                          </a:solidFill>
                          <a:latin typeface="Arial"/>
                          <a:cs typeface="Arial"/>
                        </a:rPr>
                        <a:t>NOTABLE DIFFERENTIATOR</a:t>
                      </a:r>
                      <a:endParaRPr lang="en-US" sz="780" dirty="0"/>
                    </a:p>
                  </a:txBody>
                  <a:tcPr marL="101600" marR="101600" marT="69850" marB="69850" anchor="ctr">
                    <a:lnL w="0">
                      <a:noFill/>
                    </a:lnL>
                    <a:lnR w="0">
                      <a:noFill/>
                    </a:lnR>
                    <a:lnT w="0">
                      <a:noFill/>
                    </a:lnT>
                    <a:lnB w="9525">
                      <a:solidFill>
                        <a:srgbClr val="E2E8F0"/>
                      </a:solidFill>
                    </a:lnB>
                    <a:solidFill>
                      <a:srgbClr val="F8FAFC"/>
                    </a:solidFill>
                  </a:tcPr>
                </a:tc>
              </a:tr>
              <a:tr h="279400">
                <a:tc>
                  <a:txBody>
                    <a:bodyPr/>
                    <a:lstStyle/>
                    <a:p>
                      <a:pPr algn="l">
                        <a:lnSpc>
                          <a:spcPct val="108000"/>
                        </a:lnSpc>
                        <a:spcBef>
                          <a:spcPts val="0"/>
                        </a:spcBef>
                        <a:spcAft>
                          <a:spcPts val="0"/>
                        </a:spcAft>
                        <a:buNone/>
                      </a:pPr>
                      <a:r>
                        <a:rPr lang="en-US" sz="1000" b="1" dirty="0">
                          <a:solidFill>
                            <a:srgbClr val="0F172A"/>
                          </a:solidFill>
                          <a:latin typeface="Arial"/>
                          <a:cs typeface="Arial"/>
                        </a:rPr>
                        <a:t>Google GKE</a:t>
                      </a:r>
                      <a:endParaRPr lang="en-US" sz="1000" dirty="0"/>
                    </a:p>
                  </a:txBody>
                  <a:tcPr marL="101600" marR="101600" marT="69850" marB="69850" anchor="ctr">
                    <a:lnL w="0">
                      <a:noFill/>
                    </a:lnL>
                    <a:lnR w="0">
                      <a:noFill/>
                    </a:lnR>
                    <a:lnT w="0">
                      <a:noFill/>
                    </a:lnT>
                    <a:lnB w="9525">
                      <a:solidFill>
                        <a:srgbClr val="E2E8F0"/>
                      </a:solidFill>
                    </a:lnB>
                    <a:solidFill>
                      <a:srgbClr val="FFFFFF"/>
                    </a:solidFill>
                  </a:tcPr>
                </a:tc>
                <a:tc>
                  <a:txBody>
                    <a:bodyPr/>
                    <a:lstStyle/>
                    <a:p>
                      <a:pPr algn="l">
                        <a:lnSpc>
                          <a:spcPct val="108000"/>
                        </a:lnSpc>
                        <a:spcBef>
                          <a:spcPts val="0"/>
                        </a:spcBef>
                        <a:spcAft>
                          <a:spcPts val="0"/>
                        </a:spcAft>
                        <a:buNone/>
                      </a:pPr>
                      <a:r>
                        <a:rPr lang="en-US" sz="1000" dirty="0">
                          <a:solidFill>
                            <a:srgbClr val="334155"/>
                          </a:solidFill>
                          <a:latin typeface="Arial"/>
                          <a:cs typeface="Arial"/>
                        </a:rPr>
                        <a:t>65,000 nodes supported; 130,000 in an experiment (Nov 2025)</a:t>
                      </a:r>
                      <a:endParaRPr lang="en-US" sz="1000" dirty="0"/>
                    </a:p>
                  </a:txBody>
                  <a:tcPr marL="101600" marR="101600" marT="69850" marB="69850" anchor="ctr">
                    <a:lnL w="0">
                      <a:noFill/>
                    </a:lnL>
                    <a:lnR w="0">
                      <a:noFill/>
                    </a:lnR>
                    <a:lnT w="0">
                      <a:noFill/>
                    </a:lnT>
                    <a:lnB w="9525">
                      <a:solidFill>
                        <a:srgbClr val="E2E8F0"/>
                      </a:solidFill>
                    </a:lnB>
                    <a:solidFill>
                      <a:srgbClr val="FFFFFF"/>
                    </a:solidFill>
                  </a:tcPr>
                </a:tc>
                <a:tc>
                  <a:txBody>
                    <a:bodyPr/>
                    <a:lstStyle/>
                    <a:p>
                      <a:pPr algn="l">
                        <a:lnSpc>
                          <a:spcPct val="108000"/>
                        </a:lnSpc>
                        <a:spcBef>
                          <a:spcPts val="0"/>
                        </a:spcBef>
                        <a:spcAft>
                          <a:spcPts val="0"/>
                        </a:spcAft>
                        <a:buNone/>
                      </a:pPr>
                      <a:r>
                        <a:rPr lang="en-US" sz="1000" dirty="0">
                          <a:solidFill>
                            <a:srgbClr val="334155"/>
                          </a:solidFill>
                          <a:latin typeface="Arial"/>
                          <a:cs typeface="Arial"/>
                        </a:rPr>
                        <a:t>GKE Inference Gateway (prefix-cache and load-aware)</a:t>
                      </a:r>
                      <a:endParaRPr lang="en-US" sz="1000" dirty="0"/>
                    </a:p>
                  </a:txBody>
                  <a:tcPr marL="101600" marR="101600" marT="69850" marB="69850" anchor="ctr">
                    <a:lnL w="0">
                      <a:noFill/>
                    </a:lnL>
                    <a:lnR w="0">
                      <a:noFill/>
                    </a:lnR>
                    <a:lnT w="0">
                      <a:noFill/>
                    </a:lnT>
                    <a:lnB w="9525">
                      <a:solidFill>
                        <a:srgbClr val="E2E8F0"/>
                      </a:solidFill>
                    </a:lnB>
                    <a:solidFill>
                      <a:srgbClr val="FFFFFF"/>
                    </a:solidFill>
                  </a:tcPr>
                </a:tc>
                <a:tc>
                  <a:txBody>
                    <a:bodyPr/>
                    <a:lstStyle/>
                    <a:p>
                      <a:pPr algn="l">
                        <a:lnSpc>
                          <a:spcPct val="108000"/>
                        </a:lnSpc>
                        <a:spcBef>
                          <a:spcPts val="0"/>
                        </a:spcBef>
                        <a:spcAft>
                          <a:spcPts val="0"/>
                        </a:spcAft>
                        <a:buNone/>
                      </a:pPr>
                      <a:r>
                        <a:rPr lang="en-US" sz="1000" dirty="0">
                          <a:solidFill>
                            <a:srgbClr val="334155"/>
                          </a:solidFill>
                          <a:latin typeface="Arial"/>
                          <a:cs typeface="Arial"/>
                        </a:rPr>
                        <a:t>Kueue; TPU dynamic slicing</a:t>
                      </a:r>
                      <a:endParaRPr lang="en-US" sz="1000" dirty="0"/>
                    </a:p>
                  </a:txBody>
                  <a:tcPr marL="101600" marR="101600" marT="69850" marB="69850" anchor="ctr">
                    <a:lnL w="0">
                      <a:noFill/>
                    </a:lnL>
                    <a:lnR w="0">
                      <a:noFill/>
                    </a:lnR>
                    <a:lnT w="0">
                      <a:noFill/>
                    </a:lnT>
                    <a:lnB w="9525">
                      <a:solidFill>
                        <a:srgbClr val="E2E8F0"/>
                      </a:solidFill>
                    </a:lnB>
                    <a:solidFill>
                      <a:srgbClr val="FFFFFF"/>
                    </a:solidFill>
                  </a:tcPr>
                </a:tc>
                <a:tc>
                  <a:txBody>
                    <a:bodyPr/>
                    <a:lstStyle/>
                    <a:p>
                      <a:pPr algn="l">
                        <a:lnSpc>
                          <a:spcPct val="108000"/>
                        </a:lnSpc>
                        <a:spcBef>
                          <a:spcPts val="0"/>
                        </a:spcBef>
                        <a:spcAft>
                          <a:spcPts val="0"/>
                        </a:spcAft>
                        <a:buNone/>
                      </a:pPr>
                      <a:r>
                        <a:rPr lang="en-US" sz="1000" dirty="0">
                          <a:solidFill>
                            <a:srgbClr val="334155"/>
                          </a:solidFill>
                          <a:latin typeface="Arial"/>
                          <a:cs typeface="Arial"/>
                        </a:rPr>
                        <a:t>Spanner-based control-plane store; GCS FUSE serving profile</a:t>
                      </a:r>
                      <a:endParaRPr lang="en-US" sz="1000" dirty="0"/>
                    </a:p>
                  </a:txBody>
                  <a:tcPr marL="101600" marR="101600" marT="69850" marB="69850" anchor="ctr">
                    <a:lnL w="0">
                      <a:noFill/>
                    </a:lnL>
                    <a:lnR w="0">
                      <a:noFill/>
                    </a:lnR>
                    <a:lnT w="0">
                      <a:noFill/>
                    </a:lnT>
                    <a:lnB w="9525">
                      <a:solidFill>
                        <a:srgbClr val="E2E8F0"/>
                      </a:solidFill>
                    </a:lnB>
                    <a:solidFill>
                      <a:srgbClr val="FFFFFF"/>
                    </a:solidFill>
                  </a:tcPr>
                </a:tc>
              </a:tr>
              <a:tr h="279400">
                <a:tc>
                  <a:txBody>
                    <a:bodyPr/>
                    <a:lstStyle/>
                    <a:p>
                      <a:pPr algn="l">
                        <a:lnSpc>
                          <a:spcPct val="108000"/>
                        </a:lnSpc>
                        <a:spcBef>
                          <a:spcPts val="0"/>
                        </a:spcBef>
                        <a:spcAft>
                          <a:spcPts val="0"/>
                        </a:spcAft>
                        <a:buNone/>
                      </a:pPr>
                      <a:r>
                        <a:rPr lang="en-US" sz="1000" b="1" dirty="0">
                          <a:solidFill>
                            <a:srgbClr val="0F172A"/>
                          </a:solidFill>
                          <a:latin typeface="Arial"/>
                          <a:cs typeface="Arial"/>
                        </a:rPr>
                        <a:t>Amazon EKS / SageMaker HyperPod</a:t>
                      </a:r>
                      <a:endParaRPr lang="en-US" sz="1000" dirty="0"/>
                    </a:p>
                  </a:txBody>
                  <a:tcPr marL="101600" marR="101600" marT="69850" marB="69850" anchor="ctr">
                    <a:lnL w="0">
                      <a:noFill/>
                    </a:lnL>
                    <a:lnR w="0">
                      <a:noFill/>
                    </a:lnR>
                    <a:lnT w="0">
                      <a:noFill/>
                    </a:lnT>
                    <a:lnB w="9525">
                      <a:solidFill>
                        <a:srgbClr val="E2E8F0"/>
                      </a:solidFill>
                    </a:lnB>
                    <a:solidFill>
                      <a:srgbClr val="FFFFFF"/>
                    </a:solidFill>
                  </a:tcPr>
                </a:tc>
                <a:tc>
                  <a:txBody>
                    <a:bodyPr/>
                    <a:lstStyle/>
                    <a:p>
                      <a:pPr algn="l">
                        <a:lnSpc>
                          <a:spcPct val="108000"/>
                        </a:lnSpc>
                        <a:spcBef>
                          <a:spcPts val="0"/>
                        </a:spcBef>
                        <a:spcAft>
                          <a:spcPts val="0"/>
                        </a:spcAft>
                        <a:buNone/>
                      </a:pPr>
                      <a:r>
                        <a:rPr lang="en-US" sz="1000" dirty="0">
                          <a:solidFill>
                            <a:srgbClr val="334155"/>
                          </a:solidFill>
                          <a:latin typeface="Arial"/>
                          <a:cs typeface="Arial"/>
                        </a:rPr>
                        <a:t>100,000 nodes (since Jul 2025)</a:t>
                      </a:r>
                      <a:endParaRPr lang="en-US" sz="1000" dirty="0"/>
                    </a:p>
                  </a:txBody>
                  <a:tcPr marL="101600" marR="101600" marT="69850" marB="69850" anchor="ctr">
                    <a:lnL w="0">
                      <a:noFill/>
                    </a:lnL>
                    <a:lnR w="0">
                      <a:noFill/>
                    </a:lnR>
                    <a:lnT w="0">
                      <a:noFill/>
                    </a:lnT>
                    <a:lnB w="9525">
                      <a:solidFill>
                        <a:srgbClr val="E2E8F0"/>
                      </a:solidFill>
                    </a:lnB>
                    <a:solidFill>
                      <a:srgbClr val="FFFFFF"/>
                    </a:solidFill>
                  </a:tcPr>
                </a:tc>
                <a:tc>
                  <a:txBody>
                    <a:bodyPr/>
                    <a:lstStyle/>
                    <a:p>
                      <a:pPr algn="l">
                        <a:lnSpc>
                          <a:spcPct val="108000"/>
                        </a:lnSpc>
                        <a:spcBef>
                          <a:spcPts val="0"/>
                        </a:spcBef>
                        <a:spcAft>
                          <a:spcPts val="0"/>
                        </a:spcAft>
                        <a:buNone/>
                      </a:pPr>
                      <a:r>
                        <a:rPr lang="en-US" sz="1000" dirty="0">
                          <a:solidFill>
                            <a:srgbClr val="334155"/>
                          </a:solidFill>
                          <a:latin typeface="Arial"/>
                          <a:cs typeface="Arial"/>
                        </a:rPr>
                        <a:t>Dynamo integration; gateway details not researched</a:t>
                      </a:r>
                      <a:endParaRPr lang="en-US" sz="1000" dirty="0"/>
                    </a:p>
                  </a:txBody>
                  <a:tcPr marL="101600" marR="101600" marT="69850" marB="69850" anchor="ctr">
                    <a:lnL w="0">
                      <a:noFill/>
                    </a:lnL>
                    <a:lnR w="0">
                      <a:noFill/>
                    </a:lnR>
                    <a:lnT w="0">
                      <a:noFill/>
                    </a:lnT>
                    <a:lnB w="9525">
                      <a:solidFill>
                        <a:srgbClr val="E2E8F0"/>
                      </a:solidFill>
                    </a:lnB>
                    <a:solidFill>
                      <a:srgbClr val="FFFFFF"/>
                    </a:solidFill>
                  </a:tcPr>
                </a:tc>
                <a:tc>
                  <a:txBody>
                    <a:bodyPr/>
                    <a:lstStyle/>
                    <a:p>
                      <a:pPr algn="l">
                        <a:lnSpc>
                          <a:spcPct val="108000"/>
                        </a:lnSpc>
                        <a:spcBef>
                          <a:spcPts val="0"/>
                        </a:spcBef>
                        <a:spcAft>
                          <a:spcPts val="0"/>
                        </a:spcAft>
                        <a:buNone/>
                      </a:pPr>
                      <a:r>
                        <a:rPr lang="en-US" sz="1000" dirty="0">
                          <a:solidFill>
                            <a:srgbClr val="334155"/>
                          </a:solidFill>
                          <a:latin typeface="Arial"/>
                          <a:cs typeface="Arial"/>
                        </a:rPr>
                        <a:t>HyperPod task governance with gang scheduling (Apr 2026)</a:t>
                      </a:r>
                      <a:endParaRPr lang="en-US" sz="1000" dirty="0"/>
                    </a:p>
                  </a:txBody>
                  <a:tcPr marL="101600" marR="101600" marT="69850" marB="69850" anchor="ctr">
                    <a:lnL w="0">
                      <a:noFill/>
                    </a:lnL>
                    <a:lnR w="0">
                      <a:noFill/>
                    </a:lnR>
                    <a:lnT w="0">
                      <a:noFill/>
                    </a:lnT>
                    <a:lnB w="9525">
                      <a:solidFill>
                        <a:srgbClr val="E2E8F0"/>
                      </a:solidFill>
                    </a:lnB>
                    <a:solidFill>
                      <a:srgbClr val="FFFFFF"/>
                    </a:solidFill>
                  </a:tcPr>
                </a:tc>
                <a:tc>
                  <a:txBody>
                    <a:bodyPr/>
                    <a:lstStyle/>
                    <a:p>
                      <a:pPr algn="l">
                        <a:lnSpc>
                          <a:spcPct val="108000"/>
                        </a:lnSpc>
                        <a:spcBef>
                          <a:spcPts val="0"/>
                        </a:spcBef>
                        <a:spcAft>
                          <a:spcPts val="0"/>
                        </a:spcAft>
                        <a:buNone/>
                      </a:pPr>
                      <a:r>
                        <a:rPr lang="en-US" sz="1000" dirty="0">
                          <a:solidFill>
                            <a:srgbClr val="334155"/>
                          </a:solidFill>
                          <a:latin typeface="Arial"/>
                          <a:cs typeface="Arial"/>
                        </a:rPr>
                        <a:t>Reworked etcd storage layer</a:t>
                      </a:r>
                      <a:endParaRPr lang="en-US" sz="1000" dirty="0"/>
                    </a:p>
                  </a:txBody>
                  <a:tcPr marL="101600" marR="101600" marT="69850" marB="69850" anchor="ctr">
                    <a:lnL w="0">
                      <a:noFill/>
                    </a:lnL>
                    <a:lnR w="0">
                      <a:noFill/>
                    </a:lnR>
                    <a:lnT w="0">
                      <a:noFill/>
                    </a:lnT>
                    <a:lnB w="9525">
                      <a:solidFill>
                        <a:srgbClr val="E2E8F0"/>
                      </a:solidFill>
                    </a:lnB>
                    <a:solidFill>
                      <a:srgbClr val="FFFFFF"/>
                    </a:solidFill>
                  </a:tcPr>
                </a:tc>
              </a:tr>
              <a:tr h="279400">
                <a:tc>
                  <a:txBody>
                    <a:bodyPr/>
                    <a:lstStyle/>
                    <a:p>
                      <a:pPr algn="l">
                        <a:lnSpc>
                          <a:spcPct val="108000"/>
                        </a:lnSpc>
                        <a:spcBef>
                          <a:spcPts val="0"/>
                        </a:spcBef>
                        <a:spcAft>
                          <a:spcPts val="0"/>
                        </a:spcAft>
                        <a:buNone/>
                      </a:pPr>
                      <a:r>
                        <a:rPr lang="en-US" sz="1000" b="1" dirty="0">
                          <a:solidFill>
                            <a:srgbClr val="0F172A"/>
                          </a:solidFill>
                          <a:latin typeface="Arial"/>
                          <a:cs typeface="Arial"/>
                        </a:rPr>
                        <a:t>Microsoft AKS</a:t>
                      </a:r>
                      <a:endParaRPr lang="en-US" sz="1000" dirty="0"/>
                    </a:p>
                  </a:txBody>
                  <a:tcPr marL="101600" marR="101600" marT="69850" marB="69850" anchor="ctr">
                    <a:lnL w="0">
                      <a:noFill/>
                    </a:lnL>
                    <a:lnR w="0">
                      <a:noFill/>
                    </a:lnR>
                    <a:lnT w="0">
                      <a:noFill/>
                    </a:lnT>
                    <a:lnB w="9525">
                      <a:solidFill>
                        <a:srgbClr val="E2E8F0"/>
                      </a:solidFill>
                    </a:lnB>
                    <a:solidFill>
                      <a:srgbClr val="FFFFFF"/>
                    </a:solidFill>
                  </a:tcPr>
                </a:tc>
                <a:tc>
                  <a:txBody>
                    <a:bodyPr/>
                    <a:lstStyle/>
                    <a:p>
                      <a:pPr algn="l">
                        <a:lnSpc>
                          <a:spcPct val="108000"/>
                        </a:lnSpc>
                        <a:spcBef>
                          <a:spcPts val="0"/>
                        </a:spcBef>
                        <a:spcAft>
                          <a:spcPts val="0"/>
                        </a:spcAft>
                        <a:buNone/>
                      </a:pPr>
                      <a:r>
                        <a:rPr lang="en-US" sz="1000" dirty="0">
                          <a:solidFill>
                            <a:srgbClr val="334155"/>
                          </a:solidFill>
                          <a:latin typeface="Arial"/>
                          <a:cs typeface="Arial"/>
                        </a:rPr>
                        <a:t>Not stated in corpus</a:t>
                      </a:r>
                      <a:endParaRPr lang="en-US" sz="1000" dirty="0"/>
                    </a:p>
                  </a:txBody>
                  <a:tcPr marL="101600" marR="101600" marT="69850" marB="69850" anchor="ctr">
                    <a:lnL w="0">
                      <a:noFill/>
                    </a:lnL>
                    <a:lnR w="0">
                      <a:noFill/>
                    </a:lnR>
                    <a:lnT w="0">
                      <a:noFill/>
                    </a:lnT>
                    <a:lnB w="9525">
                      <a:solidFill>
                        <a:srgbClr val="E2E8F0"/>
                      </a:solidFill>
                    </a:lnB>
                    <a:solidFill>
                      <a:srgbClr val="FFFFFF"/>
                    </a:solidFill>
                  </a:tcPr>
                </a:tc>
                <a:tc>
                  <a:txBody>
                    <a:bodyPr/>
                    <a:lstStyle/>
                    <a:p>
                      <a:pPr algn="l">
                        <a:lnSpc>
                          <a:spcPct val="108000"/>
                        </a:lnSpc>
                        <a:spcBef>
                          <a:spcPts val="0"/>
                        </a:spcBef>
                        <a:spcAft>
                          <a:spcPts val="0"/>
                        </a:spcAft>
                        <a:buNone/>
                      </a:pPr>
                      <a:r>
                        <a:rPr lang="en-US" sz="1000" dirty="0">
                          <a:solidFill>
                            <a:srgbClr val="334155"/>
                          </a:solidFill>
                          <a:latin typeface="Arial"/>
                          <a:cs typeface="Arial"/>
                        </a:rPr>
                        <a:t>KAITO (vLLM), AI Runway, Dynamo-Grove on AKS</a:t>
                      </a:r>
                      <a:endParaRPr lang="en-US" sz="1000" dirty="0"/>
                    </a:p>
                  </a:txBody>
                  <a:tcPr marL="101600" marR="101600" marT="69850" marB="69850" anchor="ctr">
                    <a:lnL w="0">
                      <a:noFill/>
                    </a:lnL>
                    <a:lnR w="0">
                      <a:noFill/>
                    </a:lnR>
                    <a:lnT w="0">
                      <a:noFill/>
                    </a:lnT>
                    <a:lnB w="9525">
                      <a:solidFill>
                        <a:srgbClr val="E2E8F0"/>
                      </a:solidFill>
                    </a:lnB>
                    <a:solidFill>
                      <a:srgbClr val="FFFFFF"/>
                    </a:solidFill>
                  </a:tcPr>
                </a:tc>
                <a:tc>
                  <a:txBody>
                    <a:bodyPr/>
                    <a:lstStyle/>
                    <a:p>
                      <a:pPr algn="l">
                        <a:lnSpc>
                          <a:spcPct val="108000"/>
                        </a:lnSpc>
                        <a:spcBef>
                          <a:spcPts val="0"/>
                        </a:spcBef>
                        <a:spcAft>
                          <a:spcPts val="0"/>
                        </a:spcAft>
                        <a:buNone/>
                      </a:pPr>
                      <a:r>
                        <a:rPr lang="en-US" sz="1000" dirty="0">
                          <a:solidFill>
                            <a:srgbClr val="334155"/>
                          </a:solidFill>
                          <a:latin typeface="Arial"/>
                          <a:cs typeface="Arial"/>
                        </a:rPr>
                        <a:t>AKS on Bare Metal (preview), Anyscale managed Ray (preview)</a:t>
                      </a:r>
                      <a:endParaRPr lang="en-US" sz="1000" dirty="0"/>
                    </a:p>
                  </a:txBody>
                  <a:tcPr marL="101600" marR="101600" marT="69850" marB="69850" anchor="ctr">
                    <a:lnL w="0">
                      <a:noFill/>
                    </a:lnL>
                    <a:lnR w="0">
                      <a:noFill/>
                    </a:lnR>
                    <a:lnT w="0">
                      <a:noFill/>
                    </a:lnT>
                    <a:lnB w="9525">
                      <a:solidFill>
                        <a:srgbClr val="E2E8F0"/>
                      </a:solidFill>
                    </a:lnB>
                    <a:solidFill>
                      <a:srgbClr val="FFFFFF"/>
                    </a:solidFill>
                  </a:tcPr>
                </a:tc>
                <a:tc>
                  <a:txBody>
                    <a:bodyPr/>
                    <a:lstStyle/>
                    <a:p>
                      <a:pPr algn="l">
                        <a:lnSpc>
                          <a:spcPct val="108000"/>
                        </a:lnSpc>
                        <a:spcBef>
                          <a:spcPts val="0"/>
                        </a:spcBef>
                        <a:spcAft>
                          <a:spcPts val="0"/>
                        </a:spcAft>
                        <a:buNone/>
                      </a:pPr>
                      <a:r>
                        <a:rPr lang="en-US" sz="1000" dirty="0">
                          <a:solidFill>
                            <a:srgbClr val="334155"/>
                          </a:solidFill>
                          <a:latin typeface="Arial"/>
                          <a:cs typeface="Arial"/>
                        </a:rPr>
                        <a:t>Fleet Manager GA for Arc-enabled clusters</a:t>
                      </a:r>
                      <a:endParaRPr lang="en-US" sz="1000" dirty="0"/>
                    </a:p>
                  </a:txBody>
                  <a:tcPr marL="101600" marR="101600" marT="69850" marB="69850" anchor="ctr">
                    <a:lnL w="0">
                      <a:noFill/>
                    </a:lnL>
                    <a:lnR w="0">
                      <a:noFill/>
                    </a:lnR>
                    <a:lnT w="0">
                      <a:noFill/>
                    </a:lnT>
                    <a:lnB w="9525">
                      <a:solidFill>
                        <a:srgbClr val="E2E8F0"/>
                      </a:solidFill>
                    </a:lnB>
                    <a:solidFill>
                      <a:srgbClr val="FFFFFF"/>
                    </a:solidFill>
                  </a:tcPr>
                </a:tc>
              </a:tr>
              <a:tr h="279400">
                <a:tc>
                  <a:txBody>
                    <a:bodyPr/>
                    <a:lstStyle/>
                    <a:p>
                      <a:pPr algn="l">
                        <a:lnSpc>
                          <a:spcPct val="108000"/>
                        </a:lnSpc>
                        <a:spcBef>
                          <a:spcPts val="0"/>
                        </a:spcBef>
                        <a:spcAft>
                          <a:spcPts val="0"/>
                        </a:spcAft>
                        <a:buNone/>
                      </a:pPr>
                      <a:r>
                        <a:rPr lang="en-US" sz="1000" b="1" dirty="0">
                          <a:solidFill>
                            <a:srgbClr val="0F172A"/>
                          </a:solidFill>
                          <a:latin typeface="Arial"/>
                          <a:cs typeface="Arial"/>
                        </a:rPr>
                        <a:t>Red Hat OpenShift AI 3</a:t>
                      </a:r>
                      <a:endParaRPr lang="en-US" sz="1000" dirty="0"/>
                    </a:p>
                  </a:txBody>
                  <a:tcPr marL="101600" marR="101600" marT="69850" marB="69850" anchor="ctr">
                    <a:lnL w="0">
                      <a:noFill/>
                    </a:lnL>
                    <a:lnR w="0">
                      <a:noFill/>
                    </a:lnR>
                    <a:lnT w="0">
                      <a:noFill/>
                    </a:lnT>
                    <a:lnB w="9525">
                      <a:solidFill>
                        <a:srgbClr val="E2E8F0"/>
                      </a:solidFill>
                    </a:lnB>
                    <a:solidFill>
                      <a:srgbClr val="FFFFFF"/>
                    </a:solidFill>
                  </a:tcPr>
                </a:tc>
                <a:tc>
                  <a:txBody>
                    <a:bodyPr/>
                    <a:lstStyle/>
                    <a:p>
                      <a:pPr algn="l">
                        <a:lnSpc>
                          <a:spcPct val="108000"/>
                        </a:lnSpc>
                        <a:spcBef>
                          <a:spcPts val="0"/>
                        </a:spcBef>
                        <a:spcAft>
                          <a:spcPts val="0"/>
                        </a:spcAft>
                        <a:buNone/>
                      </a:pPr>
                      <a:r>
                        <a:rPr lang="en-US" sz="1000" dirty="0">
                          <a:solidFill>
                            <a:srgbClr val="334155"/>
                          </a:solidFill>
                          <a:latin typeface="Arial"/>
                          <a:cs typeface="Arial"/>
                        </a:rPr>
                        <a:t>Not stated in corpus</a:t>
                      </a:r>
                      <a:endParaRPr lang="en-US" sz="1000" dirty="0"/>
                    </a:p>
                  </a:txBody>
                  <a:tcPr marL="101600" marR="101600" marT="69850" marB="69850" anchor="ctr">
                    <a:lnL w="0">
                      <a:noFill/>
                    </a:lnL>
                    <a:lnR w="0">
                      <a:noFill/>
                    </a:lnR>
                    <a:lnT w="0">
                      <a:noFill/>
                    </a:lnT>
                    <a:lnB w="9525">
                      <a:solidFill>
                        <a:srgbClr val="E2E8F0"/>
                      </a:solidFill>
                    </a:lnB>
                    <a:solidFill>
                      <a:srgbClr val="FFFFFF"/>
                    </a:solidFill>
                  </a:tcPr>
                </a:tc>
                <a:tc>
                  <a:txBody>
                    <a:bodyPr/>
                    <a:lstStyle/>
                    <a:p>
                      <a:pPr algn="l">
                        <a:lnSpc>
                          <a:spcPct val="108000"/>
                        </a:lnSpc>
                        <a:spcBef>
                          <a:spcPts val="0"/>
                        </a:spcBef>
                        <a:spcAft>
                          <a:spcPts val="0"/>
                        </a:spcAft>
                        <a:buNone/>
                      </a:pPr>
                      <a:r>
                        <a:rPr lang="en-US" sz="1000" dirty="0">
                          <a:solidFill>
                            <a:srgbClr val="334155"/>
                          </a:solidFill>
                          <a:latin typeface="Arial"/>
                          <a:cs typeface="Arial"/>
                        </a:rPr>
                        <a:t>llm-d GA (NVIDIA and AMD)</a:t>
                      </a:r>
                      <a:endParaRPr lang="en-US" sz="1000" dirty="0"/>
                    </a:p>
                  </a:txBody>
                  <a:tcPr marL="101600" marR="101600" marT="69850" marB="69850" anchor="ctr">
                    <a:lnL w="0">
                      <a:noFill/>
                    </a:lnL>
                    <a:lnR w="0">
                      <a:noFill/>
                    </a:lnR>
                    <a:lnT w="0">
                      <a:noFill/>
                    </a:lnT>
                    <a:lnB w="9525">
                      <a:solidFill>
                        <a:srgbClr val="E2E8F0"/>
                      </a:solidFill>
                    </a:lnB>
                    <a:solidFill>
                      <a:srgbClr val="FFFFFF"/>
                    </a:solidFill>
                  </a:tcPr>
                </a:tc>
                <a:tc>
                  <a:txBody>
                    <a:bodyPr/>
                    <a:lstStyle/>
                    <a:p>
                      <a:pPr algn="l">
                        <a:lnSpc>
                          <a:spcPct val="108000"/>
                        </a:lnSpc>
                        <a:spcBef>
                          <a:spcPts val="0"/>
                        </a:spcBef>
                        <a:spcAft>
                          <a:spcPts val="0"/>
                        </a:spcAft>
                        <a:buNone/>
                      </a:pPr>
                      <a:r>
                        <a:rPr lang="en-US" sz="1000" dirty="0">
                          <a:solidFill>
                            <a:srgbClr val="334155"/>
                          </a:solidFill>
                          <a:latin typeface="Arial"/>
                          <a:cs typeface="Arial"/>
                        </a:rPr>
                        <a:t>Not covered in corpus</a:t>
                      </a:r>
                      <a:endParaRPr lang="en-US" sz="1000" dirty="0"/>
                    </a:p>
                  </a:txBody>
                  <a:tcPr marL="101600" marR="101600" marT="69850" marB="69850" anchor="ctr">
                    <a:lnL w="0">
                      <a:noFill/>
                    </a:lnL>
                    <a:lnR w="0">
                      <a:noFill/>
                    </a:lnR>
                    <a:lnT w="0">
                      <a:noFill/>
                    </a:lnT>
                    <a:lnB w="9525">
                      <a:solidFill>
                        <a:srgbClr val="E2E8F0"/>
                      </a:solidFill>
                    </a:lnB>
                    <a:solidFill>
                      <a:srgbClr val="FFFFFF"/>
                    </a:solidFill>
                  </a:tcPr>
                </a:tc>
                <a:tc>
                  <a:txBody>
                    <a:bodyPr/>
                    <a:lstStyle/>
                    <a:p>
                      <a:pPr algn="l">
                        <a:lnSpc>
                          <a:spcPct val="108000"/>
                        </a:lnSpc>
                        <a:spcBef>
                          <a:spcPts val="0"/>
                        </a:spcBef>
                        <a:spcAft>
                          <a:spcPts val="0"/>
                        </a:spcAft>
                        <a:buNone/>
                      </a:pPr>
                      <a:r>
                        <a:rPr lang="en-US" sz="1000" dirty="0">
                          <a:solidFill>
                            <a:srgbClr val="334155"/>
                          </a:solidFill>
                          <a:latin typeface="Arial"/>
                          <a:cs typeface="Arial"/>
                        </a:rPr>
                        <a:t>Model-as-a-Service, AI Hub, agent API</a:t>
                      </a:r>
                      <a:endParaRPr lang="en-US" sz="1000" dirty="0"/>
                    </a:p>
                  </a:txBody>
                  <a:tcPr marL="101600" marR="101600" marT="69850" marB="69850" anchor="ctr">
                    <a:lnL w="0">
                      <a:noFill/>
                    </a:lnL>
                    <a:lnR w="0">
                      <a:noFill/>
                    </a:lnR>
                    <a:lnT w="0">
                      <a:noFill/>
                    </a:lnT>
                    <a:lnB w="9525">
                      <a:solidFill>
                        <a:srgbClr val="E2E8F0"/>
                      </a:solidFill>
                    </a:lnB>
                    <a:solidFill>
                      <a:srgbClr val="FFFFFF"/>
                    </a:solidFill>
                  </a:tcPr>
                </a:tc>
              </a:tr>
              <a:tr h="279400">
                <a:tc>
                  <a:txBody>
                    <a:bodyPr/>
                    <a:lstStyle/>
                    <a:p>
                      <a:pPr algn="l">
                        <a:lnSpc>
                          <a:spcPct val="108000"/>
                        </a:lnSpc>
                        <a:spcBef>
                          <a:spcPts val="0"/>
                        </a:spcBef>
                        <a:spcAft>
                          <a:spcPts val="0"/>
                        </a:spcAft>
                        <a:buNone/>
                      </a:pPr>
                      <a:r>
                        <a:rPr lang="en-US" sz="1000" b="1" dirty="0">
                          <a:solidFill>
                            <a:srgbClr val="0F172A"/>
                          </a:solidFill>
                          <a:latin typeface="Arial"/>
                          <a:cs typeface="Arial"/>
                        </a:rPr>
                        <a:t>NVIDIA</a:t>
                      </a:r>
                      <a:endParaRPr lang="en-US" sz="1000" dirty="0"/>
                    </a:p>
                  </a:txBody>
                  <a:tcPr marL="101600" marR="101600" marT="69850" marB="69850" anchor="ctr">
                    <a:lnL w="0">
                      <a:noFill/>
                    </a:lnL>
                    <a:lnR w="0">
                      <a:noFill/>
                    </a:lnR>
                    <a:lnT w="0">
                      <a:noFill/>
                    </a:lnT>
                    <a:lnB w="9525">
                      <a:solidFill>
                        <a:srgbClr val="E2E8F0"/>
                      </a:solidFill>
                    </a:lnB>
                    <a:solidFill>
                      <a:srgbClr val="FFFFFF"/>
                    </a:solidFill>
                  </a:tcPr>
                </a:tc>
                <a:tc>
                  <a:txBody>
                    <a:bodyPr/>
                    <a:lstStyle/>
                    <a:p>
                      <a:pPr algn="l">
                        <a:lnSpc>
                          <a:spcPct val="108000"/>
                        </a:lnSpc>
                        <a:spcBef>
                          <a:spcPts val="0"/>
                        </a:spcBef>
                        <a:spcAft>
                          <a:spcPts val="0"/>
                        </a:spcAft>
                        <a:buNone/>
                      </a:pPr>
                      <a:r>
                        <a:rPr lang="en-US" sz="1000" dirty="0">
                          <a:solidFill>
                            <a:srgbClr val="334155"/>
                          </a:solidFill>
                          <a:latin typeface="Arial"/>
                          <a:cs typeface="Arial"/>
                        </a:rPr>
                        <a:t>N/A (software)</a:t>
                      </a:r>
                      <a:endParaRPr lang="en-US" sz="1000" dirty="0"/>
                    </a:p>
                  </a:txBody>
                  <a:tcPr marL="101600" marR="101600" marT="69850" marB="69850" anchor="ctr">
                    <a:lnL w="0">
                      <a:noFill/>
                    </a:lnL>
                    <a:lnR w="0">
                      <a:noFill/>
                    </a:lnR>
                    <a:lnT w="0">
                      <a:noFill/>
                    </a:lnT>
                    <a:lnB w="9525">
                      <a:solidFill>
                        <a:srgbClr val="E2E8F0"/>
                      </a:solidFill>
                    </a:lnB>
                    <a:solidFill>
                      <a:srgbClr val="FFFFFF"/>
                    </a:solidFill>
                  </a:tcPr>
                </a:tc>
                <a:tc>
                  <a:txBody>
                    <a:bodyPr/>
                    <a:lstStyle/>
                    <a:p>
                      <a:pPr algn="l">
                        <a:lnSpc>
                          <a:spcPct val="108000"/>
                        </a:lnSpc>
                        <a:spcBef>
                          <a:spcPts val="0"/>
                        </a:spcBef>
                        <a:spcAft>
                          <a:spcPts val="0"/>
                        </a:spcAft>
                        <a:buNone/>
                      </a:pPr>
                      <a:r>
                        <a:rPr lang="en-US" sz="1000" dirty="0">
                          <a:solidFill>
                            <a:srgbClr val="334155"/>
                          </a:solidFill>
                          <a:latin typeface="Arial"/>
                          <a:cs typeface="Arial"/>
                        </a:rPr>
                        <a:t>Dynamo 1.0, Grove</a:t>
                      </a:r>
                      <a:endParaRPr lang="en-US" sz="1000" dirty="0"/>
                    </a:p>
                  </a:txBody>
                  <a:tcPr marL="101600" marR="101600" marT="69850" marB="69850" anchor="ctr">
                    <a:lnL w="0">
                      <a:noFill/>
                    </a:lnL>
                    <a:lnR w="0">
                      <a:noFill/>
                    </a:lnR>
                    <a:lnT w="0">
                      <a:noFill/>
                    </a:lnT>
                    <a:lnB w="9525">
                      <a:solidFill>
                        <a:srgbClr val="E2E8F0"/>
                      </a:solidFill>
                    </a:lnB>
                    <a:solidFill>
                      <a:srgbClr val="FFFFFF"/>
                    </a:solidFill>
                  </a:tcPr>
                </a:tc>
                <a:tc>
                  <a:txBody>
                    <a:bodyPr/>
                    <a:lstStyle/>
                    <a:p>
                      <a:pPr algn="l">
                        <a:lnSpc>
                          <a:spcPct val="108000"/>
                        </a:lnSpc>
                        <a:spcBef>
                          <a:spcPts val="0"/>
                        </a:spcBef>
                        <a:spcAft>
                          <a:spcPts val="0"/>
                        </a:spcAft>
                        <a:buNone/>
                      </a:pPr>
                      <a:r>
                        <a:rPr lang="en-US" sz="1000" dirty="0">
                          <a:solidFill>
                            <a:srgbClr val="334155"/>
                          </a:solidFill>
                          <a:latin typeface="Arial"/>
                          <a:cs typeface="Arial"/>
                        </a:rPr>
                        <a:t>KAI Scheduler, DRA driver, Slurm via SchedMD/Slinky</a:t>
                      </a:r>
                      <a:endParaRPr lang="en-US" sz="1000" dirty="0"/>
                    </a:p>
                  </a:txBody>
                  <a:tcPr marL="101600" marR="101600" marT="69850" marB="69850" anchor="ctr">
                    <a:lnL w="0">
                      <a:noFill/>
                    </a:lnL>
                    <a:lnR w="0">
                      <a:noFill/>
                    </a:lnR>
                    <a:lnT w="0">
                      <a:noFill/>
                    </a:lnT>
                    <a:lnB w="9525">
                      <a:solidFill>
                        <a:srgbClr val="E2E8F0"/>
                      </a:solidFill>
                    </a:lnB>
                    <a:solidFill>
                      <a:srgbClr val="FFFFFF"/>
                    </a:solidFill>
                  </a:tcPr>
                </a:tc>
                <a:tc>
                  <a:txBody>
                    <a:bodyPr/>
                    <a:lstStyle/>
                    <a:p>
                      <a:pPr algn="l">
                        <a:lnSpc>
                          <a:spcPct val="108000"/>
                        </a:lnSpc>
                        <a:spcBef>
                          <a:spcPts val="0"/>
                        </a:spcBef>
                        <a:spcAft>
                          <a:spcPts val="0"/>
                        </a:spcAft>
                        <a:buNone/>
                      </a:pPr>
                      <a:r>
                        <a:rPr lang="en-US" sz="1000" dirty="0">
                          <a:solidFill>
                            <a:srgbClr val="334155"/>
                          </a:solidFill>
                          <a:latin typeface="Arial"/>
                          <a:cs typeface="Arial"/>
                        </a:rPr>
                        <a:t>Vertical integration across the stack</a:t>
                      </a:r>
                      <a:endParaRPr lang="en-US" sz="1000" dirty="0"/>
                    </a:p>
                  </a:txBody>
                  <a:tcPr marL="101600" marR="101600" marT="69850" marB="69850" anchor="ctr">
                    <a:lnL w="0">
                      <a:noFill/>
                    </a:lnL>
                    <a:lnR w="0">
                      <a:noFill/>
                    </a:lnR>
                    <a:lnT w="0">
                      <a:noFill/>
                    </a:lnT>
                    <a:lnB w="9525">
                      <a:solidFill>
                        <a:srgbClr val="E2E8F0"/>
                      </a:solidFill>
                    </a:lnB>
                    <a:solidFill>
                      <a:srgbClr val="FFFFFF"/>
                    </a:solidFill>
                  </a:tcPr>
                </a:tc>
              </a:tr>
            </a:tbl>
          </a:graphicData>
        </a:graphic>
      </p:graphicFrame>
      <p:sp>
        <p:nvSpPr>
          <p:cNvPr id="9" name="Text 9"/>
          <p:cNvSpPr txBox="1"/>
          <p:nvPr/>
        </p:nvSpPr>
        <p:spPr>
          <a:xfrm>
            <a:off x="711200" y="5359400"/>
            <a:ext cx="10769600" cy="635000"/>
          </a:xfrm>
          <a:prstGeom prst="rect">
            <a:avLst/>
          </a:prstGeom>
          <a:noFill/>
          <a:ln>
            <a:noFill/>
          </a:ln>
        </p:spPr>
        <p:txBody>
          <a:bodyPr wrap="square" lIns="0" tIns="0" rIns="0" bIns="0" anchor="b">
            <a:noAutofit/>
          </a:bodyPr>
          <a:lstStyle/>
          <a:p>
            <a:pPr algn="l">
              <a:lnSpc>
                <a:spcPct val="118000"/>
              </a:lnSpc>
              <a:spcBef>
                <a:spcPts val="0"/>
              </a:spcBef>
              <a:spcAft>
                <a:spcPts val="0"/>
              </a:spcAft>
              <a:buNone/>
            </a:pPr>
            <a:r>
              <a:rPr lang="en-US" sz="1250" dirty="0">
                <a:solidFill>
                  <a:srgbClr val="334155"/>
                </a:solidFill>
                <a:latin typeface="Arial"/>
                <a:cs typeface="Arial"/>
              </a:rPr>
              <a:t>Scale engineering is where the hyperscalers diverge most visibly. Google's 130,000-node experiment replaced etcd with a Spanner-based store and handled 13,000 QPS of lease updates.</a:t>
            </a:r>
            <a:endParaRPr lang="en-US" sz="1250" dirty="0"/>
          </a:p>
        </p:txBody>
      </p:sp>
      <p:sp>
        <p:nvSpPr>
          <p:cNvPr id="10" name="Text 10"/>
          <p:cNvSpPr txBox="1"/>
          <p:nvPr/>
        </p:nvSpPr>
        <p:spPr>
          <a:xfrm>
            <a:off x="711200" y="6096000"/>
            <a:ext cx="10769600" cy="177800"/>
          </a:xfrm>
          <a:prstGeom prst="rect">
            <a:avLst/>
          </a:prstGeom>
          <a:noFill/>
          <a:ln>
            <a:noFill/>
          </a:ln>
        </p:spPr>
        <p:txBody>
          <a:bodyPr wrap="square" lIns="0" tIns="0" rIns="0" bIns="0" anchor="t">
            <a:noAutofit/>
          </a:bodyPr>
          <a:lstStyle/>
          <a:p>
            <a:pPr algn="l">
              <a:lnSpc>
                <a:spcPct val="108000"/>
              </a:lnSpc>
              <a:spcBef>
                <a:spcPts val="0"/>
              </a:spcBef>
              <a:spcAft>
                <a:spcPts val="0"/>
              </a:spcAft>
              <a:buNone/>
            </a:pPr>
            <a:r>
              <a:rPr lang="en-US" sz="850" dirty="0">
                <a:solidFill>
                  <a:srgbClr val="64748B"/>
                </a:solidFill>
                <a:latin typeface="Arial"/>
                <a:cs typeface="Arial"/>
              </a:rPr>
              <a:t>Source: [9], [10], [11], [12], [14], [15], [16], [24], [25], [28], [29], [30], [31], [32], [39], [58], [59], [60], [61], [62]. Data as of 2026-09.</a:t>
            </a:r>
            <a:endParaRPr lang="en-US" sz="8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p:nvPr/>
        </p:nvSpPr>
        <p:spPr>
          <a:xfrm>
            <a:off x="711200" y="508000"/>
            <a:ext cx="558800" cy="63500"/>
          </a:xfrm>
          <a:prstGeom prst="roundRect">
            <a:avLst>
              <a:gd name="adj" fmla="val 50000"/>
            </a:avLst>
          </a:prstGeom>
          <a:gradFill rotWithShape="1">
            <a:gsLst>
              <a:gs pos="0">
                <a:srgbClr val="4F46E5"/>
              </a:gs>
              <a:gs pos="50000">
                <a:srgbClr val="7C3AED"/>
              </a:gs>
              <a:gs pos="100000">
                <a:srgbClr val="06B6D4"/>
              </a:gs>
            </a:gsLst>
            <a:lin ang="0" scaled="0"/>
          </a:gradFill>
          <a:ln>
            <a:noFill/>
          </a:ln>
        </p:spPr>
      </p:sp>
      <p:sp>
        <p:nvSpPr>
          <p:cNvPr id="3" name="Text 3"/>
          <p:cNvSpPr txBox="1"/>
          <p:nvPr/>
        </p:nvSpPr>
        <p:spPr>
          <a:xfrm>
            <a:off x="711200" y="685800"/>
            <a:ext cx="10769600" cy="203200"/>
          </a:xfrm>
          <a:prstGeom prst="rect">
            <a:avLst/>
          </a:prstGeom>
          <a:noFill/>
          <a:ln>
            <a:noFill/>
          </a:ln>
        </p:spPr>
        <p:txBody>
          <a:bodyPr wrap="square" lIns="0" tIns="0" rIns="0" bIns="0" anchor="t">
            <a:noAutofit/>
          </a:bodyPr>
          <a:lstStyle/>
          <a:p>
            <a:pPr algn="l">
              <a:lnSpc>
                <a:spcPct val="108000"/>
              </a:lnSpc>
              <a:spcBef>
                <a:spcPts val="0"/>
              </a:spcBef>
              <a:spcAft>
                <a:spcPts val="0"/>
              </a:spcAft>
              <a:buNone/>
            </a:pPr>
            <a:r>
              <a:rPr lang="en-US" sz="950" b="1" spc="140" dirty="0">
                <a:solidFill>
                  <a:srgbClr val="4F46E5"/>
                </a:solidFill>
                <a:latin typeface="Arial"/>
                <a:cs typeface="Arial"/>
              </a:rPr>
              <a:t>SECTION 05 · VENDOR AND MANAGED PLATFORM LANDSCAPE · TABLE 4</a:t>
            </a:r>
            <a:endParaRPr lang="en-US" sz="950" dirty="0"/>
          </a:p>
        </p:txBody>
      </p:sp>
      <p:sp>
        <p:nvSpPr>
          <p:cNvPr id="4" name="Text 4"/>
          <p:cNvSpPr txBox="1"/>
          <p:nvPr/>
        </p:nvSpPr>
        <p:spPr>
          <a:xfrm>
            <a:off x="711200" y="965200"/>
            <a:ext cx="10515600" cy="481584"/>
          </a:xfrm>
          <a:prstGeom prst="rect">
            <a:avLst/>
          </a:prstGeom>
          <a:noFill/>
          <a:ln>
            <a:noFill/>
          </a:ln>
        </p:spPr>
        <p:txBody>
          <a:bodyPr wrap="square" lIns="0" tIns="0" rIns="0" bIns="0" anchor="t">
            <a:noAutofit/>
          </a:bodyPr>
          <a:lstStyle/>
          <a:p>
            <a:pPr algn="l">
              <a:lnSpc>
                <a:spcPct val="96000"/>
              </a:lnSpc>
              <a:spcBef>
                <a:spcPts val="0"/>
              </a:spcBef>
              <a:spcAft>
                <a:spcPts val="0"/>
              </a:spcAft>
              <a:buNone/>
            </a:pPr>
            <a:r>
              <a:rPr lang="en-US" sz="2800" b="1" spc="-30" dirty="0">
                <a:solidFill>
                  <a:srgbClr val="0F172A"/>
                </a:solidFill>
                <a:latin typeface="Arial"/>
                <a:cs typeface="Arial"/>
              </a:rPr>
              <a:t>How major vendors package AI on Kubernetes (continued)</a:t>
            </a:r>
            <a:endParaRPr lang="en-US" sz="2800" dirty="0"/>
          </a:p>
        </p:txBody>
      </p:sp>
      <p:sp>
        <p:nvSpPr>
          <p:cNvPr id="5" name="Shape 5"/>
          <p:cNvSpPr/>
          <p:nvPr/>
        </p:nvSpPr>
        <p:spPr>
          <a:xfrm>
            <a:off x="711200" y="6451600"/>
            <a:ext cx="10769600" cy="9525"/>
          </a:xfrm>
          <a:prstGeom prst="rect">
            <a:avLst/>
          </a:prstGeom>
          <a:solidFill>
            <a:srgbClr val="E2E8F0"/>
          </a:solidFill>
          <a:ln>
            <a:noFill/>
          </a:ln>
        </p:spPr>
      </p:sp>
      <p:sp>
        <p:nvSpPr>
          <p:cNvPr id="6" name="Text 6"/>
          <p:cNvSpPr txBox="1"/>
          <p:nvPr/>
        </p:nvSpPr>
        <p:spPr>
          <a:xfrm>
            <a:off x="711200" y="6527800"/>
            <a:ext cx="9753600" cy="177800"/>
          </a:xfrm>
          <a:prstGeom prst="rect">
            <a:avLst/>
          </a:prstGeom>
          <a:noFill/>
          <a:ln>
            <a:noFill/>
          </a:ln>
        </p:spPr>
        <p:txBody>
          <a:bodyPr wrap="square" lIns="0" tIns="0" rIns="0" bIns="0" anchor="t">
            <a:noAutofit/>
          </a:bodyPr>
          <a:lstStyle/>
          <a:p>
            <a:pPr algn="l">
              <a:lnSpc>
                <a:spcPct val="108000"/>
              </a:lnSpc>
              <a:spcBef>
                <a:spcPts val="0"/>
              </a:spcBef>
              <a:spcAft>
                <a:spcPts val="0"/>
              </a:spcAft>
              <a:buNone/>
            </a:pPr>
            <a:r>
              <a:rPr lang="en-US" sz="800" dirty="0">
                <a:solidFill>
                  <a:srgbClr val="94A3B8"/>
                </a:solidFill>
                <a:latin typeface="Arial"/>
                <a:cs typeface="Arial"/>
              </a:rPr>
              <a:t>Kubernetes as the Platform for AI Infrastructure</a:t>
            </a:r>
            <a:endParaRPr lang="en-US" sz="800" dirty="0"/>
          </a:p>
        </p:txBody>
      </p:sp>
      <p:sp>
        <p:nvSpPr>
          <p:cNvPr id="7" name="Text 7"/>
          <p:cNvSpPr txBox="1"/>
          <p:nvPr/>
        </p:nvSpPr>
        <p:spPr>
          <a:xfrm>
            <a:off x="10718800" y="6527800"/>
            <a:ext cx="762000" cy="177800"/>
          </a:xfrm>
          <a:prstGeom prst="rect">
            <a:avLst/>
          </a:prstGeom>
          <a:noFill/>
          <a:ln>
            <a:noFill/>
          </a:ln>
        </p:spPr>
        <p:txBody>
          <a:bodyPr wrap="square" lIns="0" tIns="0" rIns="0" bIns="0" anchor="t">
            <a:noAutofit/>
          </a:bodyPr>
          <a:lstStyle/>
          <a:p>
            <a:pPr algn="r">
              <a:lnSpc>
                <a:spcPct val="108000"/>
              </a:lnSpc>
              <a:spcBef>
                <a:spcPts val="0"/>
              </a:spcBef>
              <a:spcAft>
                <a:spcPts val="0"/>
              </a:spcAft>
              <a:buNone/>
            </a:pPr>
            <a:r>
              <a:rPr lang="en-US" sz="850" b="1" dirty="0">
                <a:solidFill>
                  <a:srgbClr val="0F172A"/>
                </a:solidFill>
                <a:latin typeface="Arial"/>
                <a:cs typeface="Arial"/>
              </a:rPr>
              <a:t>23</a:t>
            </a:r>
            <a:endParaRPr lang="en-US" sz="850" dirty="0"/>
          </a:p>
        </p:txBody>
      </p:sp>
      <p:graphicFrame>
        <p:nvGraphicFramePr>
          <p:cNvPr id="8" name="Table 8"/>
          <p:cNvGraphicFramePr>
            <a:graphicFrameLocks noGrp="1"/>
          </p:cNvGraphicFramePr>
          <p:nvPr/>
        </p:nvGraphicFramePr>
        <p:xfrm>
          <a:off x="711200" y="1700784"/>
          <a:ext cx="10769600" cy="609600"/>
        </p:xfrm>
        <a:graphic>
          <a:graphicData uri="http://schemas.openxmlformats.org/drawingml/2006/table">
            <a:tbl>
              <a:tblPr firstRow="1"/>
              <a:tblGrid>
                <a:gridCol w="1552826"/>
                <a:gridCol w="2304193"/>
                <a:gridCol w="2304193"/>
                <a:gridCol w="2304193"/>
                <a:gridCol w="2304193"/>
              </a:tblGrid>
              <a:tr h="279400">
                <a:tc>
                  <a:txBody>
                    <a:bodyPr/>
                    <a:lstStyle/>
                    <a:p>
                      <a:pPr algn="l">
                        <a:lnSpc>
                          <a:spcPct val="108000"/>
                        </a:lnSpc>
                        <a:spcBef>
                          <a:spcPts val="0"/>
                        </a:spcBef>
                        <a:spcAft>
                          <a:spcPts val="0"/>
                        </a:spcAft>
                        <a:buNone/>
                      </a:pPr>
                      <a:r>
                        <a:rPr lang="en-US" sz="780" b="1" spc="60" dirty="0">
                          <a:solidFill>
                            <a:srgbClr val="64748B"/>
                          </a:solidFill>
                          <a:latin typeface="Arial"/>
                          <a:cs typeface="Arial"/>
                        </a:rPr>
                        <a:t>VENDOR</a:t>
                      </a:r>
                      <a:endParaRPr lang="en-US" sz="780" dirty="0"/>
                    </a:p>
                  </a:txBody>
                  <a:tcPr marL="101600" marR="101600" marT="69850" marB="69850" anchor="ctr">
                    <a:lnL w="0">
                      <a:noFill/>
                    </a:lnL>
                    <a:lnR w="0">
                      <a:noFill/>
                    </a:lnR>
                    <a:lnT w="0">
                      <a:noFill/>
                    </a:lnT>
                    <a:lnB w="9525">
                      <a:solidFill>
                        <a:srgbClr val="E2E8F0"/>
                      </a:solidFill>
                    </a:lnB>
                    <a:solidFill>
                      <a:srgbClr val="F8FAFC"/>
                    </a:solidFill>
                  </a:tcPr>
                </a:tc>
                <a:tc>
                  <a:txBody>
                    <a:bodyPr/>
                    <a:lstStyle/>
                    <a:p>
                      <a:pPr algn="l">
                        <a:lnSpc>
                          <a:spcPct val="108000"/>
                        </a:lnSpc>
                        <a:spcBef>
                          <a:spcPts val="0"/>
                        </a:spcBef>
                        <a:spcAft>
                          <a:spcPts val="0"/>
                        </a:spcAft>
                        <a:buNone/>
                      </a:pPr>
                      <a:r>
                        <a:rPr lang="en-US" sz="780" b="1" spc="60" dirty="0">
                          <a:solidFill>
                            <a:srgbClr val="64748B"/>
                          </a:solidFill>
                          <a:latin typeface="Arial"/>
                          <a:cs typeface="Arial"/>
                        </a:rPr>
                        <a:t>CLUSTER SCALE</a:t>
                      </a:r>
                      <a:endParaRPr lang="en-US" sz="780" dirty="0"/>
                    </a:p>
                  </a:txBody>
                  <a:tcPr marL="101600" marR="101600" marT="69850" marB="69850" anchor="ctr">
                    <a:lnL w="0">
                      <a:noFill/>
                    </a:lnL>
                    <a:lnR w="0">
                      <a:noFill/>
                    </a:lnR>
                    <a:lnT w="0">
                      <a:noFill/>
                    </a:lnT>
                    <a:lnB w="9525">
                      <a:solidFill>
                        <a:srgbClr val="E2E8F0"/>
                      </a:solidFill>
                    </a:lnB>
                    <a:solidFill>
                      <a:srgbClr val="F8FAFC"/>
                    </a:solidFill>
                  </a:tcPr>
                </a:tc>
                <a:tc>
                  <a:txBody>
                    <a:bodyPr/>
                    <a:lstStyle/>
                    <a:p>
                      <a:pPr algn="l">
                        <a:lnSpc>
                          <a:spcPct val="108000"/>
                        </a:lnSpc>
                        <a:spcBef>
                          <a:spcPts val="0"/>
                        </a:spcBef>
                        <a:spcAft>
                          <a:spcPts val="0"/>
                        </a:spcAft>
                        <a:buNone/>
                      </a:pPr>
                      <a:r>
                        <a:rPr lang="en-US" sz="780" b="1" spc="60" dirty="0">
                          <a:solidFill>
                            <a:srgbClr val="64748B"/>
                          </a:solidFill>
                          <a:latin typeface="Arial"/>
                          <a:cs typeface="Arial"/>
                        </a:rPr>
                        <a:t>INFERENCE LAYER</a:t>
                      </a:r>
                      <a:endParaRPr lang="en-US" sz="780" dirty="0"/>
                    </a:p>
                  </a:txBody>
                  <a:tcPr marL="101600" marR="101600" marT="69850" marB="69850" anchor="ctr">
                    <a:lnL w="0">
                      <a:noFill/>
                    </a:lnL>
                    <a:lnR w="0">
                      <a:noFill/>
                    </a:lnR>
                    <a:lnT w="0">
                      <a:noFill/>
                    </a:lnT>
                    <a:lnB w="9525">
                      <a:solidFill>
                        <a:srgbClr val="E2E8F0"/>
                      </a:solidFill>
                    </a:lnB>
                    <a:solidFill>
                      <a:srgbClr val="F8FAFC"/>
                    </a:solidFill>
                  </a:tcPr>
                </a:tc>
                <a:tc>
                  <a:txBody>
                    <a:bodyPr/>
                    <a:lstStyle/>
                    <a:p>
                      <a:pPr algn="l">
                        <a:lnSpc>
                          <a:spcPct val="108000"/>
                        </a:lnSpc>
                        <a:spcBef>
                          <a:spcPts val="0"/>
                        </a:spcBef>
                        <a:spcAft>
                          <a:spcPts val="0"/>
                        </a:spcAft>
                        <a:buNone/>
                      </a:pPr>
                      <a:r>
                        <a:rPr lang="en-US" sz="780" b="1" spc="60" dirty="0">
                          <a:solidFill>
                            <a:srgbClr val="64748B"/>
                          </a:solidFill>
                          <a:latin typeface="Arial"/>
                          <a:cs typeface="Arial"/>
                        </a:rPr>
                        <a:t>TRAINING / SCHEDULING LAYER</a:t>
                      </a:r>
                      <a:endParaRPr lang="en-US" sz="780" dirty="0"/>
                    </a:p>
                  </a:txBody>
                  <a:tcPr marL="101600" marR="101600" marT="69850" marB="69850" anchor="ctr">
                    <a:lnL w="0">
                      <a:noFill/>
                    </a:lnL>
                    <a:lnR w="0">
                      <a:noFill/>
                    </a:lnR>
                    <a:lnT w="0">
                      <a:noFill/>
                    </a:lnT>
                    <a:lnB w="9525">
                      <a:solidFill>
                        <a:srgbClr val="E2E8F0"/>
                      </a:solidFill>
                    </a:lnB>
                    <a:solidFill>
                      <a:srgbClr val="F8FAFC"/>
                    </a:solidFill>
                  </a:tcPr>
                </a:tc>
                <a:tc>
                  <a:txBody>
                    <a:bodyPr/>
                    <a:lstStyle/>
                    <a:p>
                      <a:pPr algn="l">
                        <a:lnSpc>
                          <a:spcPct val="108000"/>
                        </a:lnSpc>
                        <a:spcBef>
                          <a:spcPts val="0"/>
                        </a:spcBef>
                        <a:spcAft>
                          <a:spcPts val="0"/>
                        </a:spcAft>
                        <a:buNone/>
                      </a:pPr>
                      <a:r>
                        <a:rPr lang="en-US" sz="780" b="1" spc="60" dirty="0">
                          <a:solidFill>
                            <a:srgbClr val="64748B"/>
                          </a:solidFill>
                          <a:latin typeface="Arial"/>
                          <a:cs typeface="Arial"/>
                        </a:rPr>
                        <a:t>NOTABLE DIFFERENTIATOR</a:t>
                      </a:r>
                      <a:endParaRPr lang="en-US" sz="780" dirty="0"/>
                    </a:p>
                  </a:txBody>
                  <a:tcPr marL="101600" marR="101600" marT="69850" marB="69850" anchor="ctr">
                    <a:lnL w="0">
                      <a:noFill/>
                    </a:lnL>
                    <a:lnR w="0">
                      <a:noFill/>
                    </a:lnR>
                    <a:lnT w="0">
                      <a:noFill/>
                    </a:lnT>
                    <a:lnB w="9525">
                      <a:solidFill>
                        <a:srgbClr val="E2E8F0"/>
                      </a:solidFill>
                    </a:lnB>
                    <a:solidFill>
                      <a:srgbClr val="F8FAFC"/>
                    </a:solidFill>
                  </a:tcPr>
                </a:tc>
              </a:tr>
              <a:tr h="279400">
                <a:tc>
                  <a:txBody>
                    <a:bodyPr/>
                    <a:lstStyle/>
                    <a:p>
                      <a:pPr algn="l">
                        <a:lnSpc>
                          <a:spcPct val="108000"/>
                        </a:lnSpc>
                        <a:spcBef>
                          <a:spcPts val="0"/>
                        </a:spcBef>
                        <a:spcAft>
                          <a:spcPts val="0"/>
                        </a:spcAft>
                        <a:buNone/>
                      </a:pPr>
                      <a:r>
                        <a:rPr lang="en-US" sz="1000" b="1" dirty="0">
                          <a:solidFill>
                            <a:srgbClr val="0F172A"/>
                          </a:solidFill>
                          <a:latin typeface="Arial"/>
                          <a:cs typeface="Arial"/>
                        </a:rPr>
                        <a:t>CoreWeave</a:t>
                      </a:r>
                      <a:endParaRPr lang="en-US" sz="1000" dirty="0"/>
                    </a:p>
                  </a:txBody>
                  <a:tcPr marL="101600" marR="101600" marT="69850" marB="69850" anchor="ctr">
                    <a:lnL w="0">
                      <a:noFill/>
                    </a:lnL>
                    <a:lnR w="0">
                      <a:noFill/>
                    </a:lnR>
                    <a:lnT w="0">
                      <a:noFill/>
                    </a:lnT>
                    <a:lnB w="9525">
                      <a:solidFill>
                        <a:srgbClr val="E2E8F0"/>
                      </a:solidFill>
                    </a:lnB>
                    <a:solidFill>
                      <a:srgbClr val="FFFFFF"/>
                    </a:solidFill>
                  </a:tcPr>
                </a:tc>
                <a:tc>
                  <a:txBody>
                    <a:bodyPr/>
                    <a:lstStyle/>
                    <a:p>
                      <a:pPr algn="l">
                        <a:lnSpc>
                          <a:spcPct val="108000"/>
                        </a:lnSpc>
                        <a:spcBef>
                          <a:spcPts val="0"/>
                        </a:spcBef>
                        <a:spcAft>
                          <a:spcPts val="0"/>
                        </a:spcAft>
                        <a:buNone/>
                      </a:pPr>
                      <a:r>
                        <a:rPr lang="en-US" sz="1000" dirty="0">
                          <a:solidFill>
                            <a:srgbClr val="334155"/>
                          </a:solidFill>
                          <a:latin typeface="Arial"/>
                          <a:cs typeface="Arial"/>
                        </a:rPr>
                        <a:t>Not stated in corpus</a:t>
                      </a:r>
                      <a:endParaRPr lang="en-US" sz="1000" dirty="0"/>
                    </a:p>
                  </a:txBody>
                  <a:tcPr marL="101600" marR="101600" marT="69850" marB="69850" anchor="ctr">
                    <a:lnL w="0">
                      <a:noFill/>
                    </a:lnL>
                    <a:lnR w="0">
                      <a:noFill/>
                    </a:lnR>
                    <a:lnT w="0">
                      <a:noFill/>
                    </a:lnT>
                    <a:lnB w="9525">
                      <a:solidFill>
                        <a:srgbClr val="E2E8F0"/>
                      </a:solidFill>
                    </a:lnB>
                    <a:solidFill>
                      <a:srgbClr val="FFFFFF"/>
                    </a:solidFill>
                  </a:tcPr>
                </a:tc>
                <a:tc>
                  <a:txBody>
                    <a:bodyPr/>
                    <a:lstStyle/>
                    <a:p>
                      <a:pPr algn="l">
                        <a:lnSpc>
                          <a:spcPct val="108000"/>
                        </a:lnSpc>
                        <a:spcBef>
                          <a:spcPts val="0"/>
                        </a:spcBef>
                        <a:spcAft>
                          <a:spcPts val="0"/>
                        </a:spcAft>
                        <a:buNone/>
                      </a:pPr>
                      <a:r>
                        <a:rPr lang="en-US" sz="1000" dirty="0">
                          <a:solidFill>
                            <a:srgbClr val="334155"/>
                          </a:solidFill>
                          <a:latin typeface="Arial"/>
                          <a:cs typeface="Arial"/>
                        </a:rPr>
                        <a:t>llm-d founding contributor</a:t>
                      </a:r>
                      <a:endParaRPr lang="en-US" sz="1000" dirty="0"/>
                    </a:p>
                  </a:txBody>
                  <a:tcPr marL="101600" marR="101600" marT="69850" marB="69850" anchor="ctr">
                    <a:lnL w="0">
                      <a:noFill/>
                    </a:lnL>
                    <a:lnR w="0">
                      <a:noFill/>
                    </a:lnR>
                    <a:lnT w="0">
                      <a:noFill/>
                    </a:lnT>
                    <a:lnB w="9525">
                      <a:solidFill>
                        <a:srgbClr val="E2E8F0"/>
                      </a:solidFill>
                    </a:lnB>
                    <a:solidFill>
                      <a:srgbClr val="FFFFFF"/>
                    </a:solidFill>
                  </a:tcPr>
                </a:tc>
                <a:tc>
                  <a:txBody>
                    <a:bodyPr/>
                    <a:lstStyle/>
                    <a:p>
                      <a:pPr algn="l">
                        <a:lnSpc>
                          <a:spcPct val="108000"/>
                        </a:lnSpc>
                        <a:spcBef>
                          <a:spcPts val="0"/>
                        </a:spcBef>
                        <a:spcAft>
                          <a:spcPts val="0"/>
                        </a:spcAft>
                        <a:buNone/>
                      </a:pPr>
                      <a:r>
                        <a:rPr lang="en-US" sz="1000" dirty="0">
                          <a:solidFill>
                            <a:srgbClr val="334155"/>
                          </a:solidFill>
                          <a:latin typeface="Arial"/>
                          <a:cs typeface="Arial"/>
                        </a:rPr>
                        <a:t>SUNK (Slurm on CKS)</a:t>
                      </a:r>
                      <a:endParaRPr lang="en-US" sz="1000" dirty="0"/>
                    </a:p>
                  </a:txBody>
                  <a:tcPr marL="101600" marR="101600" marT="69850" marB="69850" anchor="ctr">
                    <a:lnL w="0">
                      <a:noFill/>
                    </a:lnL>
                    <a:lnR w="0">
                      <a:noFill/>
                    </a:lnR>
                    <a:lnT w="0">
                      <a:noFill/>
                    </a:lnT>
                    <a:lnB w="9525">
                      <a:solidFill>
                        <a:srgbClr val="E2E8F0"/>
                      </a:solidFill>
                    </a:lnB>
                    <a:solidFill>
                      <a:srgbClr val="FFFFFF"/>
                    </a:solidFill>
                  </a:tcPr>
                </a:tc>
                <a:tc>
                  <a:txBody>
                    <a:bodyPr/>
                    <a:lstStyle/>
                    <a:p>
                      <a:pPr algn="l">
                        <a:lnSpc>
                          <a:spcPct val="108000"/>
                        </a:lnSpc>
                        <a:spcBef>
                          <a:spcPts val="0"/>
                        </a:spcBef>
                        <a:spcAft>
                          <a:spcPts val="0"/>
                        </a:spcAft>
                        <a:buNone/>
                      </a:pPr>
                      <a:r>
                        <a:rPr lang="en-US" sz="1000" dirty="0">
                          <a:solidFill>
                            <a:srgbClr val="334155"/>
                          </a:solidFill>
                          <a:latin typeface="Arial"/>
                          <a:cs typeface="Arial"/>
                        </a:rPr>
                        <a:t>Slurm and Kubernetes share one compute pool</a:t>
                      </a:r>
                      <a:endParaRPr lang="en-US" sz="1000" dirty="0"/>
                    </a:p>
                  </a:txBody>
                  <a:tcPr marL="101600" marR="101600" marT="69850" marB="69850" anchor="ctr">
                    <a:lnL w="0">
                      <a:noFill/>
                    </a:lnL>
                    <a:lnR w="0">
                      <a:noFill/>
                    </a:lnR>
                    <a:lnT w="0">
                      <a:noFill/>
                    </a:lnT>
                    <a:lnB w="9525">
                      <a:solidFill>
                        <a:srgbClr val="E2E8F0"/>
                      </a:solidFill>
                    </a:lnB>
                    <a:solidFill>
                      <a:srgbClr val="FFFFFF"/>
                    </a:solidFill>
                  </a:tcPr>
                </a:tc>
              </a:tr>
            </a:tbl>
          </a:graphicData>
        </a:graphic>
      </p:graphicFrame>
      <p:sp>
        <p:nvSpPr>
          <p:cNvPr id="9" name="Text 9"/>
          <p:cNvSpPr txBox="1"/>
          <p:nvPr/>
        </p:nvSpPr>
        <p:spPr>
          <a:xfrm>
            <a:off x="711200" y="6096000"/>
            <a:ext cx="10769600" cy="177800"/>
          </a:xfrm>
          <a:prstGeom prst="rect">
            <a:avLst/>
          </a:prstGeom>
          <a:noFill/>
          <a:ln>
            <a:noFill/>
          </a:ln>
        </p:spPr>
        <p:txBody>
          <a:bodyPr wrap="square" lIns="0" tIns="0" rIns="0" bIns="0" anchor="t">
            <a:noAutofit/>
          </a:bodyPr>
          <a:lstStyle/>
          <a:p>
            <a:pPr algn="l">
              <a:lnSpc>
                <a:spcPct val="108000"/>
              </a:lnSpc>
              <a:spcBef>
                <a:spcPts val="0"/>
              </a:spcBef>
              <a:spcAft>
                <a:spcPts val="0"/>
              </a:spcAft>
              <a:buNone/>
            </a:pPr>
            <a:r>
              <a:rPr lang="en-US" sz="850" dirty="0">
                <a:solidFill>
                  <a:srgbClr val="64748B"/>
                </a:solidFill>
                <a:latin typeface="Arial"/>
                <a:cs typeface="Arial"/>
              </a:rPr>
              <a:t>Source: [9], [10], [11], [12], [14], [15], [16], [24], [25], [28], [29], [30], [31], [32], [39], [58], [59], [60], [61], [62]. Data as of 2026-09.</a:t>
            </a:r>
            <a:endParaRPr lang="en-US" sz="8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p:nvPr/>
        </p:nvSpPr>
        <p:spPr>
          <a:xfrm>
            <a:off x="711200" y="508000"/>
            <a:ext cx="558800" cy="63500"/>
          </a:xfrm>
          <a:prstGeom prst="roundRect">
            <a:avLst>
              <a:gd name="adj" fmla="val 50000"/>
            </a:avLst>
          </a:prstGeom>
          <a:gradFill rotWithShape="1">
            <a:gsLst>
              <a:gs pos="0">
                <a:srgbClr val="4F46E5"/>
              </a:gs>
              <a:gs pos="50000">
                <a:srgbClr val="7C3AED"/>
              </a:gs>
              <a:gs pos="100000">
                <a:srgbClr val="06B6D4"/>
              </a:gs>
            </a:gsLst>
            <a:lin ang="0" scaled="0"/>
          </a:gradFill>
          <a:ln>
            <a:noFill/>
          </a:ln>
        </p:spPr>
      </p:sp>
      <p:sp>
        <p:nvSpPr>
          <p:cNvPr id="3" name="Text 3"/>
          <p:cNvSpPr txBox="1"/>
          <p:nvPr/>
        </p:nvSpPr>
        <p:spPr>
          <a:xfrm>
            <a:off x="711200" y="685800"/>
            <a:ext cx="10769600" cy="203200"/>
          </a:xfrm>
          <a:prstGeom prst="rect">
            <a:avLst/>
          </a:prstGeom>
          <a:noFill/>
          <a:ln>
            <a:noFill/>
          </a:ln>
        </p:spPr>
        <p:txBody>
          <a:bodyPr wrap="square" lIns="0" tIns="0" rIns="0" bIns="0" anchor="t">
            <a:noAutofit/>
          </a:bodyPr>
          <a:lstStyle/>
          <a:p>
            <a:pPr algn="l">
              <a:lnSpc>
                <a:spcPct val="108000"/>
              </a:lnSpc>
              <a:spcBef>
                <a:spcPts val="0"/>
              </a:spcBef>
              <a:spcAft>
                <a:spcPts val="0"/>
              </a:spcAft>
              <a:buNone/>
            </a:pPr>
            <a:r>
              <a:rPr lang="en-US" sz="950" b="1" spc="140" dirty="0">
                <a:solidFill>
                  <a:srgbClr val="4F46E5"/>
                </a:solidFill>
                <a:latin typeface="Arial"/>
                <a:cs typeface="Arial"/>
              </a:rPr>
              <a:t>SECTION 05 · VENDOR AND MANAGED PLATFORM LANDSCAPE</a:t>
            </a:r>
            <a:endParaRPr lang="en-US" sz="950" dirty="0"/>
          </a:p>
        </p:txBody>
      </p:sp>
      <p:sp>
        <p:nvSpPr>
          <p:cNvPr id="4" name="Text 4"/>
          <p:cNvSpPr txBox="1"/>
          <p:nvPr/>
        </p:nvSpPr>
        <p:spPr>
          <a:xfrm>
            <a:off x="711200" y="965200"/>
            <a:ext cx="10515600" cy="481584"/>
          </a:xfrm>
          <a:prstGeom prst="rect">
            <a:avLst/>
          </a:prstGeom>
          <a:noFill/>
          <a:ln>
            <a:noFill/>
          </a:ln>
        </p:spPr>
        <p:txBody>
          <a:bodyPr wrap="square" lIns="0" tIns="0" rIns="0" bIns="0" anchor="t">
            <a:noAutofit/>
          </a:bodyPr>
          <a:lstStyle/>
          <a:p>
            <a:pPr algn="l">
              <a:lnSpc>
                <a:spcPct val="96000"/>
              </a:lnSpc>
              <a:spcBef>
                <a:spcPts val="0"/>
              </a:spcBef>
              <a:spcAft>
                <a:spcPts val="0"/>
              </a:spcAft>
              <a:buNone/>
            </a:pPr>
            <a:r>
              <a:rPr lang="en-US" sz="2800" b="1" spc="-30" dirty="0">
                <a:solidFill>
                  <a:srgbClr val="0F172A"/>
                </a:solidFill>
                <a:latin typeface="Arial"/>
                <a:cs typeface="Arial"/>
              </a:rPr>
              <a:t>Vendor and managed platform landscape</a:t>
            </a:r>
            <a:endParaRPr lang="en-US" sz="2800" dirty="0"/>
          </a:p>
        </p:txBody>
      </p:sp>
      <p:sp>
        <p:nvSpPr>
          <p:cNvPr id="5" name="Shape 5"/>
          <p:cNvSpPr/>
          <p:nvPr/>
        </p:nvSpPr>
        <p:spPr>
          <a:xfrm>
            <a:off x="711200" y="6451600"/>
            <a:ext cx="10769600" cy="9525"/>
          </a:xfrm>
          <a:prstGeom prst="rect">
            <a:avLst/>
          </a:prstGeom>
          <a:solidFill>
            <a:srgbClr val="E2E8F0"/>
          </a:solidFill>
          <a:ln>
            <a:noFill/>
          </a:ln>
        </p:spPr>
      </p:sp>
      <p:sp>
        <p:nvSpPr>
          <p:cNvPr id="6" name="Text 6"/>
          <p:cNvSpPr txBox="1"/>
          <p:nvPr/>
        </p:nvSpPr>
        <p:spPr>
          <a:xfrm>
            <a:off x="711200" y="6527800"/>
            <a:ext cx="9753600" cy="177800"/>
          </a:xfrm>
          <a:prstGeom prst="rect">
            <a:avLst/>
          </a:prstGeom>
          <a:noFill/>
          <a:ln>
            <a:noFill/>
          </a:ln>
        </p:spPr>
        <p:txBody>
          <a:bodyPr wrap="square" lIns="0" tIns="0" rIns="0" bIns="0" anchor="t">
            <a:noAutofit/>
          </a:bodyPr>
          <a:lstStyle/>
          <a:p>
            <a:pPr algn="l">
              <a:lnSpc>
                <a:spcPct val="108000"/>
              </a:lnSpc>
              <a:spcBef>
                <a:spcPts val="0"/>
              </a:spcBef>
              <a:spcAft>
                <a:spcPts val="0"/>
              </a:spcAft>
              <a:buNone/>
            </a:pPr>
            <a:r>
              <a:rPr lang="en-US" sz="800" dirty="0">
                <a:solidFill>
                  <a:srgbClr val="94A3B8"/>
                </a:solidFill>
                <a:latin typeface="Arial"/>
                <a:cs typeface="Arial"/>
              </a:rPr>
              <a:t>Kubernetes as the Platform for AI Infrastructure</a:t>
            </a:r>
            <a:endParaRPr lang="en-US" sz="800" dirty="0"/>
          </a:p>
        </p:txBody>
      </p:sp>
      <p:sp>
        <p:nvSpPr>
          <p:cNvPr id="7" name="Text 7"/>
          <p:cNvSpPr txBox="1"/>
          <p:nvPr/>
        </p:nvSpPr>
        <p:spPr>
          <a:xfrm>
            <a:off x="10718800" y="6527800"/>
            <a:ext cx="762000" cy="177800"/>
          </a:xfrm>
          <a:prstGeom prst="rect">
            <a:avLst/>
          </a:prstGeom>
          <a:noFill/>
          <a:ln>
            <a:noFill/>
          </a:ln>
        </p:spPr>
        <p:txBody>
          <a:bodyPr wrap="square" lIns="0" tIns="0" rIns="0" bIns="0" anchor="t">
            <a:noAutofit/>
          </a:bodyPr>
          <a:lstStyle/>
          <a:p>
            <a:pPr algn="r">
              <a:lnSpc>
                <a:spcPct val="108000"/>
              </a:lnSpc>
              <a:spcBef>
                <a:spcPts val="0"/>
              </a:spcBef>
              <a:spcAft>
                <a:spcPts val="0"/>
              </a:spcAft>
              <a:buNone/>
            </a:pPr>
            <a:r>
              <a:rPr lang="en-US" sz="850" b="1" dirty="0">
                <a:solidFill>
                  <a:srgbClr val="0F172A"/>
                </a:solidFill>
                <a:latin typeface="Arial"/>
                <a:cs typeface="Arial"/>
              </a:rPr>
              <a:t>24</a:t>
            </a:r>
            <a:endParaRPr lang="en-US" sz="850" dirty="0"/>
          </a:p>
        </p:txBody>
      </p:sp>
      <p:sp>
        <p:nvSpPr>
          <p:cNvPr id="8" name="Shape 8"/>
          <p:cNvSpPr/>
          <p:nvPr/>
        </p:nvSpPr>
        <p:spPr>
          <a:xfrm>
            <a:off x="711200" y="5457825"/>
            <a:ext cx="10769600" cy="790575"/>
          </a:xfrm>
          <a:prstGeom prst="roundRect">
            <a:avLst>
              <a:gd name="adj" fmla="val 16064"/>
            </a:avLst>
          </a:prstGeom>
          <a:solidFill>
            <a:srgbClr val="F8FAFC"/>
          </a:solidFill>
          <a:ln>
            <a:noFill/>
          </a:ln>
        </p:spPr>
      </p:sp>
      <p:sp>
        <p:nvSpPr>
          <p:cNvPr id="9" name="Shape 9"/>
          <p:cNvSpPr/>
          <p:nvPr/>
        </p:nvSpPr>
        <p:spPr>
          <a:xfrm>
            <a:off x="711200" y="5457825"/>
            <a:ext cx="50800" cy="790575"/>
          </a:xfrm>
          <a:prstGeom prst="roundRect">
            <a:avLst>
              <a:gd name="adj" fmla="val 50000"/>
            </a:avLst>
          </a:prstGeom>
          <a:solidFill>
            <a:srgbClr val="64748B"/>
          </a:solidFill>
          <a:ln>
            <a:noFill/>
          </a:ln>
        </p:spPr>
      </p:sp>
      <p:sp>
        <p:nvSpPr>
          <p:cNvPr id="10" name="Text 10"/>
          <p:cNvSpPr txBox="1"/>
          <p:nvPr/>
        </p:nvSpPr>
        <p:spPr>
          <a:xfrm>
            <a:off x="990600" y="5610225"/>
            <a:ext cx="10210800" cy="536575"/>
          </a:xfrm>
          <a:prstGeom prst="rect">
            <a:avLst/>
          </a:prstGeom>
          <a:noFill/>
          <a:ln>
            <a:noFill/>
          </a:ln>
        </p:spPr>
        <p:txBody>
          <a:bodyPr wrap="square" lIns="0" tIns="0" rIns="0" bIns="0" anchor="t">
            <a:noAutofit/>
          </a:bodyPr>
          <a:lstStyle/>
          <a:p>
            <a:pPr algn="l">
              <a:lnSpc>
                <a:spcPct val="108000"/>
              </a:lnSpc>
              <a:spcBef>
                <a:spcPts val="0"/>
              </a:spcBef>
              <a:spcAft>
                <a:spcPts val="400"/>
              </a:spcAft>
              <a:buNone/>
            </a:pPr>
            <a:r>
              <a:rPr lang="en-US" sz="850" b="1" spc="130" dirty="0">
                <a:solidFill>
                  <a:srgbClr val="64748B"/>
                </a:solidFill>
                <a:latin typeface="Arial"/>
                <a:cs typeface="Arial"/>
              </a:rPr>
              <a:t>NOTE</a:t>
            </a:r>
            <a:endParaRPr lang="en-US" sz="850" dirty="0"/>
          </a:p>
          <a:p>
            <a:pPr algn="l">
              <a:lnSpc>
                <a:spcPct val="116000"/>
              </a:lnSpc>
              <a:spcBef>
                <a:spcPts val="0"/>
              </a:spcBef>
              <a:spcAft>
                <a:spcPts val="0"/>
              </a:spcAft>
              <a:buNone/>
            </a:pPr>
            <a:r>
              <a:rPr lang="en-US" sz="1250" dirty="0">
                <a:solidFill>
                  <a:srgbClr val="0F172A"/>
                </a:solidFill>
                <a:latin typeface="Arial"/>
                <a:cs typeface="Arial"/>
              </a:rPr>
              <a:t>The corpus contains no cost comparison between managed offerings, and no detail on the EKS and AKS inference gateways.</a:t>
            </a:r>
            <a:endParaRPr lang="en-US" sz="1250" dirty="0"/>
          </a:p>
        </p:txBody>
      </p:sp>
      <p:sp>
        <p:nvSpPr>
          <p:cNvPr id="11" name="Text 11"/>
          <p:cNvSpPr txBox="1"/>
          <p:nvPr/>
        </p:nvSpPr>
        <p:spPr>
          <a:xfrm>
            <a:off x="711200" y="1700784"/>
            <a:ext cx="9261856" cy="3579241"/>
          </a:xfrm>
          <a:prstGeom prst="rect">
            <a:avLst/>
          </a:prstGeom>
          <a:noFill/>
          <a:ln>
            <a:noFill/>
          </a:ln>
        </p:spPr>
        <p:txBody>
          <a:bodyPr wrap="square" lIns="0" tIns="0" rIns="0" bIns="0" anchor="t">
            <a:noAutofit/>
          </a:bodyPr>
          <a:lstStyle/>
          <a:p>
            <a:pPr marL="248285" indent="-248285" algn="l">
              <a:lnSpc>
                <a:spcPct val="118000"/>
              </a:lnSpc>
              <a:spcBef>
                <a:spcPts val="0"/>
              </a:spcBef>
              <a:spcAft>
                <a:spcPts val="1275"/>
              </a:spcAft>
              <a:buClr>
                <a:srgbClr val="4F46E5"/>
              </a:buClr>
              <a:buFont typeface="Arial"/>
              <a:buChar char="•"/>
            </a:pPr>
            <a:r>
              <a:rPr lang="en-US" sz="1700" dirty="0">
                <a:solidFill>
                  <a:srgbClr val="334155"/>
                </a:solidFill>
                <a:latin typeface="Arial"/>
                <a:cs typeface="Arial"/>
              </a:rPr>
              <a:t>Microsoft's Build 2026 announcements follow a strategy of wrapping open source (Kubernetes, Ray, Gateway API) in managed services</a:t>
            </a:r>
            <a:r>
              <a:rPr lang="en-US" sz="1700" baseline="30000" dirty="0">
                <a:solidFill>
                  <a:srgbClr val="64748B"/>
                </a:solidFill>
                <a:latin typeface="Arial"/>
                <a:cs typeface="Arial"/>
              </a:rPr>
              <a:t> 30</a:t>
            </a:r>
            <a:r>
              <a:rPr lang="en-US" sz="1700" dirty="0">
                <a:solidFill>
                  <a:srgbClr val="334155"/>
                </a:solidFill>
                <a:latin typeface="Arial"/>
                <a:cs typeface="Arial"/>
              </a:rPr>
              <a:t>.</a:t>
            </a:r>
            <a:endParaRPr lang="en-US" sz="17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p:nvPr/>
        </p:nvSpPr>
        <p:spPr>
          <a:xfrm>
            <a:off x="711200" y="508000"/>
            <a:ext cx="558800" cy="63500"/>
          </a:xfrm>
          <a:prstGeom prst="roundRect">
            <a:avLst>
              <a:gd name="adj" fmla="val 50000"/>
            </a:avLst>
          </a:prstGeom>
          <a:gradFill rotWithShape="1">
            <a:gsLst>
              <a:gs pos="0">
                <a:srgbClr val="4F46E5"/>
              </a:gs>
              <a:gs pos="50000">
                <a:srgbClr val="7C3AED"/>
              </a:gs>
              <a:gs pos="100000">
                <a:srgbClr val="06B6D4"/>
              </a:gs>
            </a:gsLst>
            <a:lin ang="0" scaled="0"/>
          </a:gradFill>
          <a:ln>
            <a:noFill/>
          </a:ln>
        </p:spPr>
      </p:sp>
      <p:sp>
        <p:nvSpPr>
          <p:cNvPr id="3" name="Text 3"/>
          <p:cNvSpPr txBox="1"/>
          <p:nvPr/>
        </p:nvSpPr>
        <p:spPr>
          <a:xfrm>
            <a:off x="711200" y="685800"/>
            <a:ext cx="10769600" cy="203200"/>
          </a:xfrm>
          <a:prstGeom prst="rect">
            <a:avLst/>
          </a:prstGeom>
          <a:noFill/>
          <a:ln>
            <a:noFill/>
          </a:ln>
        </p:spPr>
        <p:txBody>
          <a:bodyPr wrap="square" lIns="0" tIns="0" rIns="0" bIns="0" anchor="t">
            <a:noAutofit/>
          </a:bodyPr>
          <a:lstStyle/>
          <a:p>
            <a:pPr algn="l">
              <a:lnSpc>
                <a:spcPct val="108000"/>
              </a:lnSpc>
              <a:spcBef>
                <a:spcPts val="0"/>
              </a:spcBef>
              <a:spcAft>
                <a:spcPts val="0"/>
              </a:spcAft>
              <a:buNone/>
            </a:pPr>
            <a:r>
              <a:rPr lang="en-US" sz="950" b="1" spc="140" dirty="0">
                <a:solidFill>
                  <a:srgbClr val="4F46E5"/>
                </a:solidFill>
                <a:latin typeface="Arial"/>
                <a:cs typeface="Arial"/>
              </a:rPr>
              <a:t>SECTION 06 · PRODUCTION CASE STUDIES</a:t>
            </a:r>
            <a:endParaRPr lang="en-US" sz="950" dirty="0"/>
          </a:p>
        </p:txBody>
      </p:sp>
      <p:sp>
        <p:nvSpPr>
          <p:cNvPr id="4" name="Text 4"/>
          <p:cNvSpPr txBox="1"/>
          <p:nvPr/>
        </p:nvSpPr>
        <p:spPr>
          <a:xfrm>
            <a:off x="711200" y="965200"/>
            <a:ext cx="10515600" cy="481584"/>
          </a:xfrm>
          <a:prstGeom prst="rect">
            <a:avLst/>
          </a:prstGeom>
          <a:noFill/>
          <a:ln>
            <a:noFill/>
          </a:ln>
        </p:spPr>
        <p:txBody>
          <a:bodyPr wrap="square" lIns="0" tIns="0" rIns="0" bIns="0" anchor="t">
            <a:noAutofit/>
          </a:bodyPr>
          <a:lstStyle/>
          <a:p>
            <a:pPr algn="l">
              <a:lnSpc>
                <a:spcPct val="96000"/>
              </a:lnSpc>
              <a:spcBef>
                <a:spcPts val="0"/>
              </a:spcBef>
              <a:spcAft>
                <a:spcPts val="0"/>
              </a:spcAft>
              <a:buNone/>
            </a:pPr>
            <a:r>
              <a:rPr lang="en-US" sz="2800" b="1" spc="-30" dirty="0">
                <a:solidFill>
                  <a:srgbClr val="0F172A"/>
                </a:solidFill>
                <a:latin typeface="Arial"/>
                <a:cs typeface="Arial"/>
              </a:rPr>
              <a:t>Production case studies</a:t>
            </a:r>
            <a:endParaRPr lang="en-US" sz="2800" dirty="0"/>
          </a:p>
        </p:txBody>
      </p:sp>
      <p:sp>
        <p:nvSpPr>
          <p:cNvPr id="5" name="Shape 5"/>
          <p:cNvSpPr/>
          <p:nvPr/>
        </p:nvSpPr>
        <p:spPr>
          <a:xfrm>
            <a:off x="711200" y="6451600"/>
            <a:ext cx="10769600" cy="9525"/>
          </a:xfrm>
          <a:prstGeom prst="rect">
            <a:avLst/>
          </a:prstGeom>
          <a:solidFill>
            <a:srgbClr val="E2E8F0"/>
          </a:solidFill>
          <a:ln>
            <a:noFill/>
          </a:ln>
        </p:spPr>
      </p:sp>
      <p:sp>
        <p:nvSpPr>
          <p:cNvPr id="6" name="Text 6"/>
          <p:cNvSpPr txBox="1"/>
          <p:nvPr/>
        </p:nvSpPr>
        <p:spPr>
          <a:xfrm>
            <a:off x="711200" y="6527800"/>
            <a:ext cx="9753600" cy="177800"/>
          </a:xfrm>
          <a:prstGeom prst="rect">
            <a:avLst/>
          </a:prstGeom>
          <a:noFill/>
          <a:ln>
            <a:noFill/>
          </a:ln>
        </p:spPr>
        <p:txBody>
          <a:bodyPr wrap="square" lIns="0" tIns="0" rIns="0" bIns="0" anchor="t">
            <a:noAutofit/>
          </a:bodyPr>
          <a:lstStyle/>
          <a:p>
            <a:pPr algn="l">
              <a:lnSpc>
                <a:spcPct val="108000"/>
              </a:lnSpc>
              <a:spcBef>
                <a:spcPts val="0"/>
              </a:spcBef>
              <a:spcAft>
                <a:spcPts val="0"/>
              </a:spcAft>
              <a:buNone/>
            </a:pPr>
            <a:r>
              <a:rPr lang="en-US" sz="800" dirty="0">
                <a:solidFill>
                  <a:srgbClr val="94A3B8"/>
                </a:solidFill>
                <a:latin typeface="Arial"/>
                <a:cs typeface="Arial"/>
              </a:rPr>
              <a:t>Kubernetes as the Platform for AI Infrastructure</a:t>
            </a:r>
            <a:endParaRPr lang="en-US" sz="800" dirty="0"/>
          </a:p>
        </p:txBody>
      </p:sp>
      <p:sp>
        <p:nvSpPr>
          <p:cNvPr id="7" name="Text 7"/>
          <p:cNvSpPr txBox="1"/>
          <p:nvPr/>
        </p:nvSpPr>
        <p:spPr>
          <a:xfrm>
            <a:off x="10718800" y="6527800"/>
            <a:ext cx="762000" cy="177800"/>
          </a:xfrm>
          <a:prstGeom prst="rect">
            <a:avLst/>
          </a:prstGeom>
          <a:noFill/>
          <a:ln>
            <a:noFill/>
          </a:ln>
        </p:spPr>
        <p:txBody>
          <a:bodyPr wrap="square" lIns="0" tIns="0" rIns="0" bIns="0" anchor="t">
            <a:noAutofit/>
          </a:bodyPr>
          <a:lstStyle/>
          <a:p>
            <a:pPr algn="r">
              <a:lnSpc>
                <a:spcPct val="108000"/>
              </a:lnSpc>
              <a:spcBef>
                <a:spcPts val="0"/>
              </a:spcBef>
              <a:spcAft>
                <a:spcPts val="0"/>
              </a:spcAft>
              <a:buNone/>
            </a:pPr>
            <a:r>
              <a:rPr lang="en-US" sz="850" b="1" dirty="0">
                <a:solidFill>
                  <a:srgbClr val="0F172A"/>
                </a:solidFill>
                <a:latin typeface="Arial"/>
                <a:cs typeface="Arial"/>
              </a:rPr>
              <a:t>25</a:t>
            </a:r>
            <a:endParaRPr lang="en-US" sz="850" dirty="0"/>
          </a:p>
        </p:txBody>
      </p:sp>
      <p:sp>
        <p:nvSpPr>
          <p:cNvPr id="8" name="Text 8"/>
          <p:cNvSpPr txBox="1"/>
          <p:nvPr/>
        </p:nvSpPr>
        <p:spPr>
          <a:xfrm>
            <a:off x="711200" y="1700784"/>
            <a:ext cx="9261856" cy="4547616"/>
          </a:xfrm>
          <a:prstGeom prst="rect">
            <a:avLst/>
          </a:prstGeom>
          <a:noFill/>
          <a:ln>
            <a:noFill/>
          </a:ln>
        </p:spPr>
        <p:txBody>
          <a:bodyPr wrap="square" lIns="0" tIns="0" rIns="0" bIns="0" anchor="t">
            <a:noAutofit/>
          </a:bodyPr>
          <a:lstStyle/>
          <a:p>
            <a:pPr algn="l">
              <a:lnSpc>
                <a:spcPct val="112000"/>
              </a:lnSpc>
              <a:spcBef>
                <a:spcPts val="0"/>
              </a:spcBef>
              <a:spcAft>
                <a:spcPts val="594"/>
              </a:spcAft>
              <a:buNone/>
            </a:pPr>
            <a:r>
              <a:rPr lang="en-US" sz="1564" b="1" dirty="0">
                <a:solidFill>
                  <a:srgbClr val="4F46E5"/>
                </a:solidFill>
                <a:latin typeface="Arial"/>
                <a:cs typeface="Arial"/>
              </a:rPr>
              <a:t>China Merchants Bank: one pool for training and inference</a:t>
            </a:r>
            <a:endParaRPr lang="en-US" sz="1564" dirty="0"/>
          </a:p>
          <a:p>
            <a:pPr marL="248285" indent="-248285" algn="l">
              <a:lnSpc>
                <a:spcPct val="118000"/>
              </a:lnSpc>
              <a:spcBef>
                <a:spcPts val="0"/>
              </a:spcBef>
              <a:spcAft>
                <a:spcPts val="1275"/>
              </a:spcAft>
              <a:buClr>
                <a:srgbClr val="4F46E5"/>
              </a:buClr>
              <a:buFont typeface="Arial"/>
              <a:buChar char="•"/>
            </a:pPr>
            <a:r>
              <a:rPr lang="en-US" sz="1700" dirty="0">
                <a:solidFill>
                  <a:srgbClr val="334155"/>
                </a:solidFill>
                <a:latin typeface="Arial"/>
                <a:cs typeface="Arial"/>
              </a:rPr>
              <a:t>Context and problem: training needs stable reserved capacity while inference needs fast elastic scaling.</a:t>
            </a:r>
            <a:endParaRPr lang="en-US" sz="1700" dirty="0"/>
          </a:p>
          <a:p>
            <a:pPr marL="248285" indent="-248285" algn="l">
              <a:lnSpc>
                <a:spcPct val="118000"/>
              </a:lnSpc>
              <a:spcBef>
                <a:spcPts val="0"/>
              </a:spcBef>
              <a:spcAft>
                <a:spcPts val="1275"/>
              </a:spcAft>
              <a:buClr>
                <a:srgbClr val="4F46E5"/>
              </a:buClr>
              <a:buFont typeface="Arial"/>
              <a:buChar char="•"/>
            </a:pPr>
            <a:r>
              <a:rPr lang="en-US" sz="1700" dirty="0">
                <a:solidFill>
                  <a:srgbClr val="334155"/>
                </a:solidFill>
                <a:latin typeface="Arial"/>
                <a:cs typeface="Arial"/>
              </a:rPr>
              <a:t>Approach: the bank built one Kubernetes control plane. It uses Kueue for admission and quotas, KEDA and Prometheus for inference autoscaling, HAMi for fine-grained accelerator sharing and Fluid for faster…</a:t>
            </a:r>
            <a:r>
              <a:rPr lang="en-US" sz="1700" baseline="30000" dirty="0">
                <a:solidFill>
                  <a:srgbClr val="64748B"/>
                </a:solidFill>
                <a:latin typeface="Arial"/>
                <a:cs typeface="Arial"/>
              </a:rPr>
              <a:t> 33</a:t>
            </a:r>
            <a:endParaRPr lang="en-US" sz="1700" dirty="0"/>
          </a:p>
          <a:p>
            <a:pPr marL="248285" indent="-248285" algn="l">
              <a:lnSpc>
                <a:spcPct val="118000"/>
              </a:lnSpc>
              <a:spcBef>
                <a:spcPts val="0"/>
              </a:spcBef>
              <a:spcAft>
                <a:spcPts val="1275"/>
              </a:spcAft>
              <a:buClr>
                <a:srgbClr val="4F46E5"/>
              </a:buClr>
              <a:buFont typeface="Arial"/>
              <a:buChar char="•"/>
            </a:pPr>
            <a:r>
              <a:rPr lang="en-US" sz="1700" dirty="0">
                <a:solidFill>
                  <a:srgbClr val="334155"/>
                </a:solidFill>
                <a:latin typeface="Arial"/>
                <a:cs typeface="Arial"/>
              </a:rPr>
              <a:t>Results: average accelerator utilisation rose from 35% to over 60%, and inference cost per million tokens fell by more than 60%</a:t>
            </a:r>
            <a:r>
              <a:rPr lang="en-US" sz="1700" baseline="30000" dirty="0">
                <a:solidFill>
                  <a:srgbClr val="64748B"/>
                </a:solidFill>
                <a:latin typeface="Arial"/>
                <a:cs typeface="Arial"/>
              </a:rPr>
              <a:t> 33</a:t>
            </a:r>
            <a:r>
              <a:rPr lang="en-US" sz="1700" dirty="0">
                <a:solidFill>
                  <a:srgbClr val="334155"/>
                </a:solidFill>
                <a:latin typeface="Arial"/>
                <a:cs typeface="Arial"/>
              </a:rPr>
              <a:t>.</a:t>
            </a:r>
            <a:endParaRPr lang="en-US" sz="1700" dirty="0"/>
          </a:p>
          <a:p>
            <a:pPr marL="248285" indent="-248285" algn="l">
              <a:lnSpc>
                <a:spcPct val="118000"/>
              </a:lnSpc>
              <a:spcBef>
                <a:spcPts val="0"/>
              </a:spcBef>
              <a:spcAft>
                <a:spcPts val="1275"/>
              </a:spcAft>
              <a:buClr>
                <a:srgbClr val="4F46E5"/>
              </a:buClr>
              <a:buFont typeface="Arial"/>
              <a:buChar char="•"/>
            </a:pPr>
            <a:r>
              <a:rPr lang="en-US" sz="1700" dirty="0">
                <a:solidFill>
                  <a:srgbClr val="334155"/>
                </a:solidFill>
                <a:latin typeface="Arial"/>
                <a:cs typeface="Arial"/>
              </a:rPr>
              <a:t>Lessons: in this case the gains came from queueing, sharing and pooling, not from new hardware.</a:t>
            </a:r>
            <a:endParaRPr lang="en-US" sz="17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p:nvPr/>
        </p:nvSpPr>
        <p:spPr>
          <a:xfrm>
            <a:off x="711200" y="508000"/>
            <a:ext cx="558800" cy="63500"/>
          </a:xfrm>
          <a:prstGeom prst="roundRect">
            <a:avLst>
              <a:gd name="adj" fmla="val 50000"/>
            </a:avLst>
          </a:prstGeom>
          <a:gradFill rotWithShape="1">
            <a:gsLst>
              <a:gs pos="0">
                <a:srgbClr val="4F46E5"/>
              </a:gs>
              <a:gs pos="50000">
                <a:srgbClr val="7C3AED"/>
              </a:gs>
              <a:gs pos="100000">
                <a:srgbClr val="06B6D4"/>
              </a:gs>
            </a:gsLst>
            <a:lin ang="0" scaled="0"/>
          </a:gradFill>
          <a:ln>
            <a:noFill/>
          </a:ln>
        </p:spPr>
      </p:sp>
      <p:sp>
        <p:nvSpPr>
          <p:cNvPr id="3" name="Text 3"/>
          <p:cNvSpPr txBox="1"/>
          <p:nvPr/>
        </p:nvSpPr>
        <p:spPr>
          <a:xfrm>
            <a:off x="711200" y="685800"/>
            <a:ext cx="10769600" cy="203200"/>
          </a:xfrm>
          <a:prstGeom prst="rect">
            <a:avLst/>
          </a:prstGeom>
          <a:noFill/>
          <a:ln>
            <a:noFill/>
          </a:ln>
        </p:spPr>
        <p:txBody>
          <a:bodyPr wrap="square" lIns="0" tIns="0" rIns="0" bIns="0" anchor="t">
            <a:noAutofit/>
          </a:bodyPr>
          <a:lstStyle/>
          <a:p>
            <a:pPr algn="l">
              <a:lnSpc>
                <a:spcPct val="108000"/>
              </a:lnSpc>
              <a:spcBef>
                <a:spcPts val="0"/>
              </a:spcBef>
              <a:spcAft>
                <a:spcPts val="0"/>
              </a:spcAft>
              <a:buNone/>
            </a:pPr>
            <a:r>
              <a:rPr lang="en-US" sz="950" b="1" spc="140" dirty="0">
                <a:solidFill>
                  <a:srgbClr val="4F46E5"/>
                </a:solidFill>
                <a:latin typeface="Arial"/>
                <a:cs typeface="Arial"/>
              </a:rPr>
              <a:t>SECTION 06 · PRODUCTION CASE STUDIES · TABLE 5</a:t>
            </a:r>
            <a:endParaRPr lang="en-US" sz="950" dirty="0"/>
          </a:p>
        </p:txBody>
      </p:sp>
      <p:sp>
        <p:nvSpPr>
          <p:cNvPr id="4" name="Text 4"/>
          <p:cNvSpPr txBox="1"/>
          <p:nvPr/>
        </p:nvSpPr>
        <p:spPr>
          <a:xfrm>
            <a:off x="711200" y="965200"/>
            <a:ext cx="10515600" cy="886968"/>
          </a:xfrm>
          <a:prstGeom prst="rect">
            <a:avLst/>
          </a:prstGeom>
          <a:noFill/>
          <a:ln>
            <a:noFill/>
          </a:ln>
        </p:spPr>
        <p:txBody>
          <a:bodyPr wrap="square" lIns="0" tIns="0" rIns="0" bIns="0" anchor="t">
            <a:noAutofit/>
          </a:bodyPr>
          <a:lstStyle/>
          <a:p>
            <a:pPr algn="l">
              <a:lnSpc>
                <a:spcPct val="96000"/>
              </a:lnSpc>
              <a:spcBef>
                <a:spcPts val="0"/>
              </a:spcBef>
              <a:spcAft>
                <a:spcPts val="0"/>
              </a:spcAft>
              <a:buNone/>
            </a:pPr>
            <a:r>
              <a:rPr lang="en-US" sz="2800" b="1" spc="-30" dirty="0">
                <a:solidFill>
                  <a:srgbClr val="0F172A"/>
                </a:solidFill>
                <a:latin typeface="Arial"/>
                <a:cs typeface="Arial"/>
              </a:rPr>
              <a:t>Named AI-on-Kubernetes deployments and reported outcomes</a:t>
            </a:r>
            <a:endParaRPr lang="en-US" sz="2800" dirty="0"/>
          </a:p>
        </p:txBody>
      </p:sp>
      <p:sp>
        <p:nvSpPr>
          <p:cNvPr id="5" name="Shape 5"/>
          <p:cNvSpPr/>
          <p:nvPr/>
        </p:nvSpPr>
        <p:spPr>
          <a:xfrm>
            <a:off x="711200" y="6451600"/>
            <a:ext cx="10769600" cy="9525"/>
          </a:xfrm>
          <a:prstGeom prst="rect">
            <a:avLst/>
          </a:prstGeom>
          <a:solidFill>
            <a:srgbClr val="E2E8F0"/>
          </a:solidFill>
          <a:ln>
            <a:noFill/>
          </a:ln>
        </p:spPr>
      </p:sp>
      <p:sp>
        <p:nvSpPr>
          <p:cNvPr id="6" name="Text 6"/>
          <p:cNvSpPr txBox="1"/>
          <p:nvPr/>
        </p:nvSpPr>
        <p:spPr>
          <a:xfrm>
            <a:off x="711200" y="6527800"/>
            <a:ext cx="9753600" cy="177800"/>
          </a:xfrm>
          <a:prstGeom prst="rect">
            <a:avLst/>
          </a:prstGeom>
          <a:noFill/>
          <a:ln>
            <a:noFill/>
          </a:ln>
        </p:spPr>
        <p:txBody>
          <a:bodyPr wrap="square" lIns="0" tIns="0" rIns="0" bIns="0" anchor="t">
            <a:noAutofit/>
          </a:bodyPr>
          <a:lstStyle/>
          <a:p>
            <a:pPr algn="l">
              <a:lnSpc>
                <a:spcPct val="108000"/>
              </a:lnSpc>
              <a:spcBef>
                <a:spcPts val="0"/>
              </a:spcBef>
              <a:spcAft>
                <a:spcPts val="0"/>
              </a:spcAft>
              <a:buNone/>
            </a:pPr>
            <a:r>
              <a:rPr lang="en-US" sz="800" dirty="0">
                <a:solidFill>
                  <a:srgbClr val="94A3B8"/>
                </a:solidFill>
                <a:latin typeface="Arial"/>
                <a:cs typeface="Arial"/>
              </a:rPr>
              <a:t>Kubernetes as the Platform for AI Infrastructure</a:t>
            </a:r>
            <a:endParaRPr lang="en-US" sz="800" dirty="0"/>
          </a:p>
        </p:txBody>
      </p:sp>
      <p:sp>
        <p:nvSpPr>
          <p:cNvPr id="7" name="Text 7"/>
          <p:cNvSpPr txBox="1"/>
          <p:nvPr/>
        </p:nvSpPr>
        <p:spPr>
          <a:xfrm>
            <a:off x="10718800" y="6527800"/>
            <a:ext cx="762000" cy="177800"/>
          </a:xfrm>
          <a:prstGeom prst="rect">
            <a:avLst/>
          </a:prstGeom>
          <a:noFill/>
          <a:ln>
            <a:noFill/>
          </a:ln>
        </p:spPr>
        <p:txBody>
          <a:bodyPr wrap="square" lIns="0" tIns="0" rIns="0" bIns="0" anchor="t">
            <a:noAutofit/>
          </a:bodyPr>
          <a:lstStyle/>
          <a:p>
            <a:pPr algn="r">
              <a:lnSpc>
                <a:spcPct val="108000"/>
              </a:lnSpc>
              <a:spcBef>
                <a:spcPts val="0"/>
              </a:spcBef>
              <a:spcAft>
                <a:spcPts val="0"/>
              </a:spcAft>
              <a:buNone/>
            </a:pPr>
            <a:r>
              <a:rPr lang="en-US" sz="850" b="1" dirty="0">
                <a:solidFill>
                  <a:srgbClr val="0F172A"/>
                </a:solidFill>
                <a:latin typeface="Arial"/>
                <a:cs typeface="Arial"/>
              </a:rPr>
              <a:t>26</a:t>
            </a:r>
            <a:endParaRPr lang="en-US" sz="850" dirty="0"/>
          </a:p>
        </p:txBody>
      </p:sp>
      <p:graphicFrame>
        <p:nvGraphicFramePr>
          <p:cNvPr id="8" name="Table 8"/>
          <p:cNvGraphicFramePr>
            <a:graphicFrameLocks noGrp="1"/>
          </p:cNvGraphicFramePr>
          <p:nvPr/>
        </p:nvGraphicFramePr>
        <p:xfrm>
          <a:off x="711200" y="2106168"/>
          <a:ext cx="10769600" cy="2133600"/>
        </p:xfrm>
        <a:graphic>
          <a:graphicData uri="http://schemas.openxmlformats.org/drawingml/2006/table">
            <a:tbl>
              <a:tblPr firstRow="1"/>
              <a:tblGrid>
                <a:gridCol w="1260272"/>
                <a:gridCol w="2635115"/>
                <a:gridCol w="2635115"/>
                <a:gridCol w="2635115"/>
                <a:gridCol w="1603983"/>
              </a:tblGrid>
              <a:tr h="279400">
                <a:tc>
                  <a:txBody>
                    <a:bodyPr/>
                    <a:lstStyle/>
                    <a:p>
                      <a:pPr algn="l">
                        <a:lnSpc>
                          <a:spcPct val="108000"/>
                        </a:lnSpc>
                        <a:spcBef>
                          <a:spcPts val="0"/>
                        </a:spcBef>
                        <a:spcAft>
                          <a:spcPts val="0"/>
                        </a:spcAft>
                        <a:buNone/>
                      </a:pPr>
                      <a:r>
                        <a:rPr lang="en-US" sz="780" b="1" spc="60" dirty="0">
                          <a:solidFill>
                            <a:srgbClr val="64748B"/>
                          </a:solidFill>
                          <a:latin typeface="Arial"/>
                          <a:cs typeface="Arial"/>
                        </a:rPr>
                        <a:t>ORGANISATION</a:t>
                      </a:r>
                      <a:endParaRPr lang="en-US" sz="780" dirty="0"/>
                    </a:p>
                  </a:txBody>
                  <a:tcPr marL="101600" marR="101600" marT="69850" marB="69850" anchor="ctr">
                    <a:lnL w="0">
                      <a:noFill/>
                    </a:lnL>
                    <a:lnR w="0">
                      <a:noFill/>
                    </a:lnR>
                    <a:lnT w="0">
                      <a:noFill/>
                    </a:lnT>
                    <a:lnB w="9525">
                      <a:solidFill>
                        <a:srgbClr val="E2E8F0"/>
                      </a:solidFill>
                    </a:lnB>
                    <a:solidFill>
                      <a:srgbClr val="F8FAFC"/>
                    </a:solidFill>
                  </a:tcPr>
                </a:tc>
                <a:tc>
                  <a:txBody>
                    <a:bodyPr/>
                    <a:lstStyle/>
                    <a:p>
                      <a:pPr algn="l">
                        <a:lnSpc>
                          <a:spcPct val="108000"/>
                        </a:lnSpc>
                        <a:spcBef>
                          <a:spcPts val="0"/>
                        </a:spcBef>
                        <a:spcAft>
                          <a:spcPts val="0"/>
                        </a:spcAft>
                        <a:buNone/>
                      </a:pPr>
                      <a:r>
                        <a:rPr lang="en-US" sz="780" b="1" spc="60" dirty="0">
                          <a:solidFill>
                            <a:srgbClr val="64748B"/>
                          </a:solidFill>
                          <a:latin typeface="Arial"/>
                          <a:cs typeface="Arial"/>
                        </a:rPr>
                        <a:t>WORKLOAD</a:t>
                      </a:r>
                      <a:endParaRPr lang="en-US" sz="780" dirty="0"/>
                    </a:p>
                  </a:txBody>
                  <a:tcPr marL="101600" marR="101600" marT="69850" marB="69850" anchor="ctr">
                    <a:lnL w="0">
                      <a:noFill/>
                    </a:lnL>
                    <a:lnR w="0">
                      <a:noFill/>
                    </a:lnR>
                    <a:lnT w="0">
                      <a:noFill/>
                    </a:lnT>
                    <a:lnB w="9525">
                      <a:solidFill>
                        <a:srgbClr val="E2E8F0"/>
                      </a:solidFill>
                    </a:lnB>
                    <a:solidFill>
                      <a:srgbClr val="F8FAFC"/>
                    </a:solidFill>
                  </a:tcPr>
                </a:tc>
                <a:tc>
                  <a:txBody>
                    <a:bodyPr/>
                    <a:lstStyle/>
                    <a:p>
                      <a:pPr algn="l">
                        <a:lnSpc>
                          <a:spcPct val="108000"/>
                        </a:lnSpc>
                        <a:spcBef>
                          <a:spcPts val="0"/>
                        </a:spcBef>
                        <a:spcAft>
                          <a:spcPts val="0"/>
                        </a:spcAft>
                        <a:buNone/>
                      </a:pPr>
                      <a:r>
                        <a:rPr lang="en-US" sz="780" b="1" spc="60" dirty="0">
                          <a:solidFill>
                            <a:srgbClr val="64748B"/>
                          </a:solidFill>
                          <a:latin typeface="Arial"/>
                          <a:cs typeface="Arial"/>
                        </a:rPr>
                        <a:t>STACK</a:t>
                      </a:r>
                      <a:endParaRPr lang="en-US" sz="780" dirty="0"/>
                    </a:p>
                  </a:txBody>
                  <a:tcPr marL="101600" marR="101600" marT="69850" marB="69850" anchor="ctr">
                    <a:lnL w="0">
                      <a:noFill/>
                    </a:lnL>
                    <a:lnR w="0">
                      <a:noFill/>
                    </a:lnR>
                    <a:lnT w="0">
                      <a:noFill/>
                    </a:lnT>
                    <a:lnB w="9525">
                      <a:solidFill>
                        <a:srgbClr val="E2E8F0"/>
                      </a:solidFill>
                    </a:lnB>
                    <a:solidFill>
                      <a:srgbClr val="F8FAFC"/>
                    </a:solidFill>
                  </a:tcPr>
                </a:tc>
                <a:tc>
                  <a:txBody>
                    <a:bodyPr/>
                    <a:lstStyle/>
                    <a:p>
                      <a:pPr algn="l">
                        <a:lnSpc>
                          <a:spcPct val="108000"/>
                        </a:lnSpc>
                        <a:spcBef>
                          <a:spcPts val="0"/>
                        </a:spcBef>
                        <a:spcAft>
                          <a:spcPts val="0"/>
                        </a:spcAft>
                        <a:buNone/>
                      </a:pPr>
                      <a:r>
                        <a:rPr lang="en-US" sz="780" b="1" spc="60" dirty="0">
                          <a:solidFill>
                            <a:srgbClr val="64748B"/>
                          </a:solidFill>
                          <a:latin typeface="Arial"/>
                          <a:cs typeface="Arial"/>
                        </a:rPr>
                        <a:t>REPORTED OUTCOME</a:t>
                      </a:r>
                      <a:endParaRPr lang="en-US" sz="780" dirty="0"/>
                    </a:p>
                  </a:txBody>
                  <a:tcPr marL="101600" marR="101600" marT="69850" marB="69850" anchor="ctr">
                    <a:lnL w="0">
                      <a:noFill/>
                    </a:lnL>
                    <a:lnR w="0">
                      <a:noFill/>
                    </a:lnR>
                    <a:lnT w="0">
                      <a:noFill/>
                    </a:lnT>
                    <a:lnB w="9525">
                      <a:solidFill>
                        <a:srgbClr val="E2E8F0"/>
                      </a:solidFill>
                    </a:lnB>
                    <a:solidFill>
                      <a:srgbClr val="F8FAFC"/>
                    </a:solidFill>
                  </a:tcPr>
                </a:tc>
                <a:tc>
                  <a:txBody>
                    <a:bodyPr/>
                    <a:lstStyle/>
                    <a:p>
                      <a:pPr algn="l">
                        <a:lnSpc>
                          <a:spcPct val="108000"/>
                        </a:lnSpc>
                        <a:spcBef>
                          <a:spcPts val="0"/>
                        </a:spcBef>
                        <a:spcAft>
                          <a:spcPts val="0"/>
                        </a:spcAft>
                        <a:buNone/>
                      </a:pPr>
                      <a:r>
                        <a:rPr lang="en-US" sz="780" b="1" spc="60" dirty="0">
                          <a:solidFill>
                            <a:srgbClr val="64748B"/>
                          </a:solidFill>
                          <a:latin typeface="Arial"/>
                          <a:cs typeface="Arial"/>
                        </a:rPr>
                        <a:t>SOURCE / DATE</a:t>
                      </a:r>
                      <a:endParaRPr lang="en-US" sz="780" dirty="0"/>
                    </a:p>
                  </a:txBody>
                  <a:tcPr marL="101600" marR="101600" marT="69850" marB="69850" anchor="ctr">
                    <a:lnL w="0">
                      <a:noFill/>
                    </a:lnL>
                    <a:lnR w="0">
                      <a:noFill/>
                    </a:lnR>
                    <a:lnT w="0">
                      <a:noFill/>
                    </a:lnT>
                    <a:lnB w="9525">
                      <a:solidFill>
                        <a:srgbClr val="E2E8F0"/>
                      </a:solidFill>
                    </a:lnB>
                    <a:solidFill>
                      <a:srgbClr val="F8FAFC"/>
                    </a:solidFill>
                  </a:tcPr>
                </a:tc>
              </a:tr>
              <a:tr h="279400">
                <a:tc>
                  <a:txBody>
                    <a:bodyPr/>
                    <a:lstStyle/>
                    <a:p>
                      <a:pPr algn="l">
                        <a:lnSpc>
                          <a:spcPct val="108000"/>
                        </a:lnSpc>
                        <a:spcBef>
                          <a:spcPts val="0"/>
                        </a:spcBef>
                        <a:spcAft>
                          <a:spcPts val="0"/>
                        </a:spcAft>
                        <a:buNone/>
                      </a:pPr>
                      <a:r>
                        <a:rPr lang="en-US" sz="1000" b="1" dirty="0">
                          <a:solidFill>
                            <a:srgbClr val="0F172A"/>
                          </a:solidFill>
                          <a:latin typeface="Arial"/>
                          <a:cs typeface="Arial"/>
                        </a:rPr>
                        <a:t>Google Vertex AI</a:t>
                      </a:r>
                      <a:endParaRPr lang="en-US" sz="1000" dirty="0"/>
                    </a:p>
                  </a:txBody>
                  <a:tcPr marL="101600" marR="101600" marT="69850" marB="69850" anchor="ctr">
                    <a:lnL w="0">
                      <a:noFill/>
                    </a:lnL>
                    <a:lnR w="0">
                      <a:noFill/>
                    </a:lnR>
                    <a:lnT w="0">
                      <a:noFill/>
                    </a:lnT>
                    <a:lnB w="9525">
                      <a:solidFill>
                        <a:srgbClr val="E2E8F0"/>
                      </a:solidFill>
                    </a:lnB>
                    <a:solidFill>
                      <a:srgbClr val="FFFFFF"/>
                    </a:solidFill>
                  </a:tcPr>
                </a:tc>
                <a:tc>
                  <a:txBody>
                    <a:bodyPr/>
                    <a:lstStyle/>
                    <a:p>
                      <a:pPr algn="l">
                        <a:lnSpc>
                          <a:spcPct val="108000"/>
                        </a:lnSpc>
                        <a:spcBef>
                          <a:spcPts val="0"/>
                        </a:spcBef>
                        <a:spcAft>
                          <a:spcPts val="0"/>
                        </a:spcAft>
                        <a:buNone/>
                      </a:pPr>
                      <a:r>
                        <a:rPr lang="en-US" sz="1000" dirty="0">
                          <a:solidFill>
                            <a:srgbClr val="334155"/>
                          </a:solidFill>
                          <a:latin typeface="Arial"/>
                          <a:cs typeface="Arial"/>
                        </a:rPr>
                        <a:t>LLM inference</a:t>
                      </a:r>
                      <a:endParaRPr lang="en-US" sz="1000" dirty="0"/>
                    </a:p>
                  </a:txBody>
                  <a:tcPr marL="101600" marR="101600" marT="69850" marB="69850" anchor="ctr">
                    <a:lnL w="0">
                      <a:noFill/>
                    </a:lnL>
                    <a:lnR w="0">
                      <a:noFill/>
                    </a:lnR>
                    <a:lnT w="0">
                      <a:noFill/>
                    </a:lnT>
                    <a:lnB w="9525">
                      <a:solidFill>
                        <a:srgbClr val="E2E8F0"/>
                      </a:solidFill>
                    </a:lnB>
                    <a:solidFill>
                      <a:srgbClr val="FFFFFF"/>
                    </a:solidFill>
                  </a:tcPr>
                </a:tc>
                <a:tc>
                  <a:txBody>
                    <a:bodyPr/>
                    <a:lstStyle/>
                    <a:p>
                      <a:pPr algn="l">
                        <a:lnSpc>
                          <a:spcPct val="108000"/>
                        </a:lnSpc>
                        <a:spcBef>
                          <a:spcPts val="0"/>
                        </a:spcBef>
                        <a:spcAft>
                          <a:spcPts val="0"/>
                        </a:spcAft>
                        <a:buNone/>
                      </a:pPr>
                      <a:r>
                        <a:rPr lang="en-US" sz="1000" dirty="0">
                          <a:solidFill>
                            <a:srgbClr val="334155"/>
                          </a:solidFill>
                          <a:latin typeface="Arial"/>
                          <a:cs typeface="Arial"/>
                        </a:rPr>
                        <a:t>GKE Inference Gateway; llm-d predicted-latency scheduling</a:t>
                      </a:r>
                      <a:endParaRPr lang="en-US" sz="1000" dirty="0"/>
                    </a:p>
                  </a:txBody>
                  <a:tcPr marL="101600" marR="101600" marT="69850" marB="69850" anchor="ctr">
                    <a:lnL w="0">
                      <a:noFill/>
                    </a:lnL>
                    <a:lnR w="0">
                      <a:noFill/>
                    </a:lnR>
                    <a:lnT w="0">
                      <a:noFill/>
                    </a:lnT>
                    <a:lnB w="9525">
                      <a:solidFill>
                        <a:srgbClr val="E2E8F0"/>
                      </a:solidFill>
                    </a:lnB>
                    <a:solidFill>
                      <a:srgbClr val="FFFFFF"/>
                    </a:solidFill>
                  </a:tcPr>
                </a:tc>
                <a:tc>
                  <a:txBody>
                    <a:bodyPr/>
                    <a:lstStyle/>
                    <a:p>
                      <a:pPr algn="l">
                        <a:lnSpc>
                          <a:spcPct val="108000"/>
                        </a:lnSpc>
                        <a:spcBef>
                          <a:spcPts val="0"/>
                        </a:spcBef>
                        <a:spcAft>
                          <a:spcPts val="0"/>
                        </a:spcAft>
                        <a:buNone/>
                      </a:pPr>
                      <a:r>
                        <a:rPr lang="en-US" sz="1000" dirty="0">
                          <a:solidFill>
                            <a:srgbClr val="334155"/>
                          </a:solidFill>
                          <a:latin typeface="Arial"/>
                          <a:cs typeface="Arial"/>
                        </a:rPr>
                        <a:t>TTFT −35% (Qwen3-Coder); P95 TTFT −52% (DeepSeek V3.1); up to 40% lower TTFT/ITL</a:t>
                      </a:r>
                      <a:endParaRPr lang="en-US" sz="1000" dirty="0"/>
                    </a:p>
                  </a:txBody>
                  <a:tcPr marL="101600" marR="101600" marT="69850" marB="69850" anchor="ctr">
                    <a:lnL w="0">
                      <a:noFill/>
                    </a:lnL>
                    <a:lnR w="0">
                      <a:noFill/>
                    </a:lnR>
                    <a:lnT w="0">
                      <a:noFill/>
                    </a:lnT>
                    <a:lnB w="9525">
                      <a:solidFill>
                        <a:srgbClr val="E2E8F0"/>
                      </a:solidFill>
                    </a:lnB>
                    <a:solidFill>
                      <a:srgbClr val="FFFFFF"/>
                    </a:solidFill>
                  </a:tcPr>
                </a:tc>
                <a:tc>
                  <a:txBody>
                    <a:bodyPr/>
                    <a:lstStyle/>
                    <a:p>
                      <a:pPr algn="l">
                        <a:lnSpc>
                          <a:spcPct val="108000"/>
                        </a:lnSpc>
                        <a:spcBef>
                          <a:spcPts val="0"/>
                        </a:spcBef>
                        <a:spcAft>
                          <a:spcPts val="0"/>
                        </a:spcAft>
                        <a:buNone/>
                      </a:pPr>
                      <a:r>
                        <a:rPr lang="en-US" sz="1000" dirty="0">
                          <a:solidFill>
                            <a:srgbClr val="334155"/>
                          </a:solidFill>
                          <a:latin typeface="Arial"/>
                          <a:cs typeface="Arial"/>
                        </a:rPr>
                        <a:t>Google, Feb and Mar 2026</a:t>
                      </a:r>
                      <a:endParaRPr lang="en-US" sz="1000" dirty="0"/>
                    </a:p>
                  </a:txBody>
                  <a:tcPr marL="101600" marR="101600" marT="69850" marB="69850" anchor="ctr">
                    <a:lnL w="0">
                      <a:noFill/>
                    </a:lnL>
                    <a:lnR w="0">
                      <a:noFill/>
                    </a:lnR>
                    <a:lnT w="0">
                      <a:noFill/>
                    </a:lnT>
                    <a:lnB w="9525">
                      <a:solidFill>
                        <a:srgbClr val="E2E8F0"/>
                      </a:solidFill>
                    </a:lnB>
                    <a:solidFill>
                      <a:srgbClr val="FFFFFF"/>
                    </a:solidFill>
                  </a:tcPr>
                </a:tc>
              </a:tr>
              <a:tr h="279400">
                <a:tc>
                  <a:txBody>
                    <a:bodyPr/>
                    <a:lstStyle/>
                    <a:p>
                      <a:pPr algn="l">
                        <a:lnSpc>
                          <a:spcPct val="108000"/>
                        </a:lnSpc>
                        <a:spcBef>
                          <a:spcPts val="0"/>
                        </a:spcBef>
                        <a:spcAft>
                          <a:spcPts val="0"/>
                        </a:spcAft>
                        <a:buNone/>
                      </a:pPr>
                      <a:r>
                        <a:rPr lang="en-US" sz="1000" b="1" dirty="0">
                          <a:solidFill>
                            <a:srgbClr val="0F172A"/>
                          </a:solidFill>
                          <a:latin typeface="Arial"/>
                          <a:cs typeface="Arial"/>
                        </a:rPr>
                        <a:t>Tesla</a:t>
                      </a:r>
                      <a:endParaRPr lang="en-US" sz="1000" dirty="0"/>
                    </a:p>
                  </a:txBody>
                  <a:tcPr marL="101600" marR="101600" marT="69850" marB="69850" anchor="ctr">
                    <a:lnL w="0">
                      <a:noFill/>
                    </a:lnL>
                    <a:lnR w="0">
                      <a:noFill/>
                    </a:lnR>
                    <a:lnT w="0">
                      <a:noFill/>
                    </a:lnT>
                    <a:lnB w="9525">
                      <a:solidFill>
                        <a:srgbClr val="E2E8F0"/>
                      </a:solidFill>
                    </a:lnB>
                    <a:solidFill>
                      <a:srgbClr val="FFFFFF"/>
                    </a:solidFill>
                  </a:tcPr>
                </a:tc>
                <a:tc>
                  <a:txBody>
                    <a:bodyPr/>
                    <a:lstStyle/>
                    <a:p>
                      <a:pPr algn="l">
                        <a:lnSpc>
                          <a:spcPct val="108000"/>
                        </a:lnSpc>
                        <a:spcBef>
                          <a:spcPts val="0"/>
                        </a:spcBef>
                        <a:spcAft>
                          <a:spcPts val="0"/>
                        </a:spcAft>
                        <a:buNone/>
                      </a:pPr>
                      <a:r>
                        <a:rPr lang="en-US" sz="1000" dirty="0">
                          <a:solidFill>
                            <a:srgbClr val="334155"/>
                          </a:solidFill>
                          <a:latin typeface="Arial"/>
                          <a:cs typeface="Arial"/>
                        </a:rPr>
                        <a:t>Hundreds of LLMs</a:t>
                      </a:r>
                      <a:endParaRPr lang="en-US" sz="1000" dirty="0"/>
                    </a:p>
                  </a:txBody>
                  <a:tcPr marL="101600" marR="101600" marT="69850" marB="69850" anchor="ctr">
                    <a:lnL w="0">
                      <a:noFill/>
                    </a:lnL>
                    <a:lnR w="0">
                      <a:noFill/>
                    </a:lnR>
                    <a:lnT w="0">
                      <a:noFill/>
                    </a:lnT>
                    <a:lnB w="9525">
                      <a:solidFill>
                        <a:srgbClr val="E2E8F0"/>
                      </a:solidFill>
                    </a:lnB>
                    <a:solidFill>
                      <a:srgbClr val="FFFFFF"/>
                    </a:solidFill>
                  </a:tcPr>
                </a:tc>
                <a:tc>
                  <a:txBody>
                    <a:bodyPr/>
                    <a:lstStyle/>
                    <a:p>
                      <a:pPr algn="l">
                        <a:lnSpc>
                          <a:spcPct val="108000"/>
                        </a:lnSpc>
                        <a:spcBef>
                          <a:spcPts val="0"/>
                        </a:spcBef>
                        <a:spcAft>
                          <a:spcPts val="0"/>
                        </a:spcAft>
                        <a:buNone/>
                      </a:pPr>
                      <a:r>
                        <a:rPr lang="en-US" sz="1000" dirty="0">
                          <a:solidFill>
                            <a:srgbClr val="334155"/>
                          </a:solidFill>
                          <a:latin typeface="Arial"/>
                          <a:cs typeface="Arial"/>
                        </a:rPr>
                        <a:t>KServe LLMInferenceService, llm-d, vLLM, Envoy, Inference Extension</a:t>
                      </a:r>
                      <a:endParaRPr lang="en-US" sz="1000" dirty="0"/>
                    </a:p>
                  </a:txBody>
                  <a:tcPr marL="101600" marR="101600" marT="69850" marB="69850" anchor="ctr">
                    <a:lnL w="0">
                      <a:noFill/>
                    </a:lnL>
                    <a:lnR w="0">
                      <a:noFill/>
                    </a:lnR>
                    <a:lnT w="0">
                      <a:noFill/>
                    </a:lnT>
                    <a:lnB w="9525">
                      <a:solidFill>
                        <a:srgbClr val="E2E8F0"/>
                      </a:solidFill>
                    </a:lnB>
                    <a:solidFill>
                      <a:srgbClr val="FFFFFF"/>
                    </a:solidFill>
                  </a:tcPr>
                </a:tc>
                <a:tc>
                  <a:txBody>
                    <a:bodyPr/>
                    <a:lstStyle/>
                    <a:p>
                      <a:pPr algn="l">
                        <a:lnSpc>
                          <a:spcPct val="108000"/>
                        </a:lnSpc>
                        <a:spcBef>
                          <a:spcPts val="0"/>
                        </a:spcBef>
                        <a:spcAft>
                          <a:spcPts val="0"/>
                        </a:spcAft>
                        <a:buNone/>
                      </a:pPr>
                      <a:r>
                        <a:rPr lang="en-US" sz="1000" dirty="0">
                          <a:solidFill>
                            <a:srgbClr val="334155"/>
                          </a:solidFill>
                          <a:latin typeface="Arial"/>
                          <a:cs typeface="Arial"/>
                        </a:rPr>
                        <a:t>3x output tokens/s, 2x lower TTFT on one deployment (Llama 3.1 70B, 4x MI300X)</a:t>
                      </a:r>
                      <a:endParaRPr lang="en-US" sz="1000" dirty="0"/>
                    </a:p>
                  </a:txBody>
                  <a:tcPr marL="101600" marR="101600" marT="69850" marB="69850" anchor="ctr">
                    <a:lnL w="0">
                      <a:noFill/>
                    </a:lnL>
                    <a:lnR w="0">
                      <a:noFill/>
                    </a:lnR>
                    <a:lnT w="0">
                      <a:noFill/>
                    </a:lnT>
                    <a:lnB w="9525">
                      <a:solidFill>
                        <a:srgbClr val="E2E8F0"/>
                      </a:solidFill>
                    </a:lnB>
                    <a:solidFill>
                      <a:srgbClr val="FFFFFF"/>
                    </a:solidFill>
                  </a:tcPr>
                </a:tc>
                <a:tc>
                  <a:txBody>
                    <a:bodyPr/>
                    <a:lstStyle/>
                    <a:p>
                      <a:pPr algn="l">
                        <a:lnSpc>
                          <a:spcPct val="108000"/>
                        </a:lnSpc>
                        <a:spcBef>
                          <a:spcPts val="0"/>
                        </a:spcBef>
                        <a:spcAft>
                          <a:spcPts val="0"/>
                        </a:spcAft>
                        <a:buNone/>
                      </a:pPr>
                      <a:r>
                        <a:rPr lang="en-US" sz="1000" dirty="0">
                          <a:solidFill>
                            <a:srgbClr val="334155"/>
                          </a:solidFill>
                          <a:latin typeface="Arial"/>
                          <a:cs typeface="Arial"/>
                        </a:rPr>
                        <a:t>KServe/llm-d blog, Apr 2026</a:t>
                      </a:r>
                      <a:endParaRPr lang="en-US" sz="1000" dirty="0"/>
                    </a:p>
                  </a:txBody>
                  <a:tcPr marL="101600" marR="101600" marT="69850" marB="69850" anchor="ctr">
                    <a:lnL w="0">
                      <a:noFill/>
                    </a:lnL>
                    <a:lnR w="0">
                      <a:noFill/>
                    </a:lnR>
                    <a:lnT w="0">
                      <a:noFill/>
                    </a:lnT>
                    <a:lnB w="9525">
                      <a:solidFill>
                        <a:srgbClr val="E2E8F0"/>
                      </a:solidFill>
                    </a:lnB>
                    <a:solidFill>
                      <a:srgbClr val="FFFFFF"/>
                    </a:solidFill>
                  </a:tcPr>
                </a:tc>
              </a:tr>
              <a:tr h="279400">
                <a:tc>
                  <a:txBody>
                    <a:bodyPr/>
                    <a:lstStyle/>
                    <a:p>
                      <a:pPr algn="l">
                        <a:lnSpc>
                          <a:spcPct val="108000"/>
                        </a:lnSpc>
                        <a:spcBef>
                          <a:spcPts val="0"/>
                        </a:spcBef>
                        <a:spcAft>
                          <a:spcPts val="0"/>
                        </a:spcAft>
                        <a:buNone/>
                      </a:pPr>
                      <a:r>
                        <a:rPr lang="en-US" sz="1000" b="1" dirty="0">
                          <a:solidFill>
                            <a:srgbClr val="0F172A"/>
                          </a:solidFill>
                          <a:latin typeface="Arial"/>
                          <a:cs typeface="Arial"/>
                        </a:rPr>
                        <a:t>Baseten</a:t>
                      </a:r>
                      <a:endParaRPr lang="en-US" sz="1000" dirty="0"/>
                    </a:p>
                  </a:txBody>
                  <a:tcPr marL="101600" marR="101600" marT="69850" marB="69850" anchor="ctr">
                    <a:lnL w="0">
                      <a:noFill/>
                    </a:lnL>
                    <a:lnR w="0">
                      <a:noFill/>
                    </a:lnR>
                    <a:lnT w="0">
                      <a:noFill/>
                    </a:lnT>
                    <a:lnB w="9525">
                      <a:solidFill>
                        <a:srgbClr val="E2E8F0"/>
                      </a:solidFill>
                    </a:lnB>
                    <a:solidFill>
                      <a:srgbClr val="FFFFFF"/>
                    </a:solidFill>
                  </a:tcPr>
                </a:tc>
                <a:tc>
                  <a:txBody>
                    <a:bodyPr/>
                    <a:lstStyle/>
                    <a:p>
                      <a:pPr algn="l">
                        <a:lnSpc>
                          <a:spcPct val="108000"/>
                        </a:lnSpc>
                        <a:spcBef>
                          <a:spcPts val="0"/>
                        </a:spcBef>
                        <a:spcAft>
                          <a:spcPts val="0"/>
                        </a:spcAft>
                        <a:buNone/>
                      </a:pPr>
                      <a:r>
                        <a:rPr lang="en-US" sz="1000" dirty="0">
                          <a:solidFill>
                            <a:srgbClr val="334155"/>
                          </a:solidFill>
                          <a:latin typeface="Arial"/>
                          <a:cs typeface="Arial"/>
                        </a:rPr>
                        <a:t>LLM inference (Qwen3 Coder 480B)</a:t>
                      </a:r>
                      <a:endParaRPr lang="en-US" sz="1000" dirty="0"/>
                    </a:p>
                  </a:txBody>
                  <a:tcPr marL="101600" marR="101600" marT="69850" marB="69850" anchor="ctr">
                    <a:lnL w="0">
                      <a:noFill/>
                    </a:lnL>
                    <a:lnR w="0">
                      <a:noFill/>
                    </a:lnR>
                    <a:lnT w="0">
                      <a:noFill/>
                    </a:lnT>
                    <a:lnB w="9525">
                      <a:solidFill>
                        <a:srgbClr val="E2E8F0"/>
                      </a:solidFill>
                    </a:lnB>
                    <a:solidFill>
                      <a:srgbClr val="FFFFFF"/>
                    </a:solidFill>
                  </a:tcPr>
                </a:tc>
                <a:tc>
                  <a:txBody>
                    <a:bodyPr/>
                    <a:lstStyle/>
                    <a:p>
                      <a:pPr algn="l">
                        <a:lnSpc>
                          <a:spcPct val="108000"/>
                        </a:lnSpc>
                        <a:spcBef>
                          <a:spcPts val="0"/>
                        </a:spcBef>
                        <a:spcAft>
                          <a:spcPts val="0"/>
                        </a:spcAft>
                        <a:buNone/>
                      </a:pPr>
                      <a:r>
                        <a:rPr lang="en-US" sz="1000" dirty="0">
                          <a:solidFill>
                            <a:srgbClr val="334155"/>
                          </a:solidFill>
                          <a:latin typeface="Arial"/>
                          <a:cs typeface="Arial"/>
                        </a:rPr>
                        <a:t>NVIDIA Dynamo KV-aware router</a:t>
                      </a:r>
                      <a:endParaRPr lang="en-US" sz="1000" dirty="0"/>
                    </a:p>
                  </a:txBody>
                  <a:tcPr marL="101600" marR="101600" marT="69850" marB="69850" anchor="ctr">
                    <a:lnL w="0">
                      <a:noFill/>
                    </a:lnL>
                    <a:lnR w="0">
                      <a:noFill/>
                    </a:lnR>
                    <a:lnT w="0">
                      <a:noFill/>
                    </a:lnT>
                    <a:lnB w="9525">
                      <a:solidFill>
                        <a:srgbClr val="E2E8F0"/>
                      </a:solidFill>
                    </a:lnB>
                    <a:solidFill>
                      <a:srgbClr val="FFFFFF"/>
                    </a:solidFill>
                  </a:tcPr>
                </a:tc>
                <a:tc>
                  <a:txBody>
                    <a:bodyPr/>
                    <a:lstStyle/>
                    <a:p>
                      <a:pPr algn="l">
                        <a:lnSpc>
                          <a:spcPct val="108000"/>
                        </a:lnSpc>
                        <a:spcBef>
                          <a:spcPts val="0"/>
                        </a:spcBef>
                        <a:spcAft>
                          <a:spcPts val="0"/>
                        </a:spcAft>
                        <a:buNone/>
                      </a:pPr>
                      <a:r>
                        <a:rPr lang="en-US" sz="1000" dirty="0">
                          <a:solidFill>
                            <a:srgbClr val="334155"/>
                          </a:solidFill>
                          <a:latin typeface="Arial"/>
                          <a:cs typeface="Arial"/>
                        </a:rPr>
                        <a:t>P95 −48%, P99 −49% latency on production traffic</a:t>
                      </a:r>
                      <a:endParaRPr lang="en-US" sz="1000" dirty="0"/>
                    </a:p>
                  </a:txBody>
                  <a:tcPr marL="101600" marR="101600" marT="69850" marB="69850" anchor="ctr">
                    <a:lnL w="0">
                      <a:noFill/>
                    </a:lnL>
                    <a:lnR w="0">
                      <a:noFill/>
                    </a:lnR>
                    <a:lnT w="0">
                      <a:noFill/>
                    </a:lnT>
                    <a:lnB w="9525">
                      <a:solidFill>
                        <a:srgbClr val="E2E8F0"/>
                      </a:solidFill>
                    </a:lnB>
                    <a:solidFill>
                      <a:srgbClr val="FFFFFF"/>
                    </a:solidFill>
                  </a:tcPr>
                </a:tc>
                <a:tc>
                  <a:txBody>
                    <a:bodyPr/>
                    <a:lstStyle/>
                    <a:p>
                      <a:pPr algn="l">
                        <a:lnSpc>
                          <a:spcPct val="108000"/>
                        </a:lnSpc>
                        <a:spcBef>
                          <a:spcPts val="0"/>
                        </a:spcBef>
                        <a:spcAft>
                          <a:spcPts val="0"/>
                        </a:spcAft>
                        <a:buNone/>
                      </a:pPr>
                      <a:r>
                        <a:rPr lang="en-US" sz="1000" dirty="0">
                          <a:solidFill>
                            <a:srgbClr val="334155"/>
                          </a:solidFill>
                          <a:latin typeface="Arial"/>
                          <a:cs typeface="Arial"/>
                        </a:rPr>
                        <a:t>Baseten, Mar 2026</a:t>
                      </a:r>
                      <a:endParaRPr lang="en-US" sz="1000" dirty="0"/>
                    </a:p>
                  </a:txBody>
                  <a:tcPr marL="101600" marR="101600" marT="69850" marB="69850" anchor="ctr">
                    <a:lnL w="0">
                      <a:noFill/>
                    </a:lnL>
                    <a:lnR w="0">
                      <a:noFill/>
                    </a:lnR>
                    <a:lnT w="0">
                      <a:noFill/>
                    </a:lnT>
                    <a:lnB w="9525">
                      <a:solidFill>
                        <a:srgbClr val="E2E8F0"/>
                      </a:solidFill>
                    </a:lnB>
                    <a:solidFill>
                      <a:srgbClr val="FFFFFF"/>
                    </a:solidFill>
                  </a:tcPr>
                </a:tc>
              </a:tr>
              <a:tr h="279400">
                <a:tc>
                  <a:txBody>
                    <a:bodyPr/>
                    <a:lstStyle/>
                    <a:p>
                      <a:pPr algn="l">
                        <a:lnSpc>
                          <a:spcPct val="108000"/>
                        </a:lnSpc>
                        <a:spcBef>
                          <a:spcPts val="0"/>
                        </a:spcBef>
                        <a:spcAft>
                          <a:spcPts val="0"/>
                        </a:spcAft>
                        <a:buNone/>
                      </a:pPr>
                      <a:r>
                        <a:rPr lang="en-US" sz="1000" b="1" dirty="0">
                          <a:solidFill>
                            <a:srgbClr val="0F172A"/>
                          </a:solidFill>
                          <a:latin typeface="Arial"/>
                          <a:cs typeface="Arial"/>
                        </a:rPr>
                        <a:t>Wayve</a:t>
                      </a:r>
                      <a:endParaRPr lang="en-US" sz="1000" dirty="0"/>
                    </a:p>
                  </a:txBody>
                  <a:tcPr marL="101600" marR="101600" marT="69850" marB="69850" anchor="ctr">
                    <a:lnL w="0">
                      <a:noFill/>
                    </a:lnL>
                    <a:lnR w="0">
                      <a:noFill/>
                    </a:lnR>
                    <a:lnT w="0">
                      <a:noFill/>
                    </a:lnT>
                    <a:lnB w="9525">
                      <a:solidFill>
                        <a:srgbClr val="E2E8F0"/>
                      </a:solidFill>
                    </a:lnB>
                    <a:solidFill>
                      <a:srgbClr val="FFFFFF"/>
                    </a:solidFill>
                  </a:tcPr>
                </a:tc>
                <a:tc>
                  <a:txBody>
                    <a:bodyPr/>
                    <a:lstStyle/>
                    <a:p>
                      <a:pPr algn="l">
                        <a:lnSpc>
                          <a:spcPct val="108000"/>
                        </a:lnSpc>
                        <a:spcBef>
                          <a:spcPts val="0"/>
                        </a:spcBef>
                        <a:spcAft>
                          <a:spcPts val="0"/>
                        </a:spcAft>
                        <a:buNone/>
                      </a:pPr>
                      <a:r>
                        <a:rPr lang="en-US" sz="1000" dirty="0">
                          <a:solidFill>
                            <a:srgbClr val="334155"/>
                          </a:solidFill>
                          <a:latin typeface="Arial"/>
                          <a:cs typeface="Arial"/>
                        </a:rPr>
                        <a:t>Multi-tenant inference, evaluation, synthetic data</a:t>
                      </a:r>
                      <a:endParaRPr lang="en-US" sz="1000" dirty="0"/>
                    </a:p>
                  </a:txBody>
                  <a:tcPr marL="101600" marR="101600" marT="69850" marB="69850" anchor="ctr">
                    <a:lnL w="0">
                      <a:noFill/>
                    </a:lnL>
                    <a:lnR w="0">
                      <a:noFill/>
                    </a:lnR>
                    <a:lnT w="0">
                      <a:noFill/>
                    </a:lnT>
                    <a:lnB w="9525">
                      <a:solidFill>
                        <a:srgbClr val="E2E8F0"/>
                      </a:solidFill>
                    </a:lnB>
                    <a:solidFill>
                      <a:srgbClr val="FFFFFF"/>
                    </a:solidFill>
                  </a:tcPr>
                </a:tc>
                <a:tc>
                  <a:txBody>
                    <a:bodyPr/>
                    <a:lstStyle/>
                    <a:p>
                      <a:pPr algn="l">
                        <a:lnSpc>
                          <a:spcPct val="108000"/>
                        </a:lnSpc>
                        <a:spcBef>
                          <a:spcPts val="0"/>
                        </a:spcBef>
                        <a:spcAft>
                          <a:spcPts val="0"/>
                        </a:spcAft>
                        <a:buNone/>
                      </a:pPr>
                      <a:r>
                        <a:rPr lang="en-US" sz="1000" dirty="0">
                          <a:solidFill>
                            <a:srgbClr val="334155"/>
                          </a:solidFill>
                          <a:latin typeface="Arial"/>
                          <a:cs typeface="Arial"/>
                        </a:rPr>
                        <a:t>Kueue, Ray</a:t>
                      </a:r>
                      <a:endParaRPr lang="en-US" sz="1000" dirty="0"/>
                    </a:p>
                  </a:txBody>
                  <a:tcPr marL="101600" marR="101600" marT="69850" marB="69850" anchor="ctr">
                    <a:lnL w="0">
                      <a:noFill/>
                    </a:lnL>
                    <a:lnR w="0">
                      <a:noFill/>
                    </a:lnR>
                    <a:lnT w="0">
                      <a:noFill/>
                    </a:lnT>
                    <a:lnB w="9525">
                      <a:solidFill>
                        <a:srgbClr val="E2E8F0"/>
                      </a:solidFill>
                    </a:lnB>
                    <a:solidFill>
                      <a:srgbClr val="FFFFFF"/>
                    </a:solidFill>
                  </a:tcPr>
                </a:tc>
                <a:tc>
                  <a:txBody>
                    <a:bodyPr/>
                    <a:lstStyle/>
                    <a:p>
                      <a:pPr algn="l">
                        <a:lnSpc>
                          <a:spcPct val="108000"/>
                        </a:lnSpc>
                        <a:spcBef>
                          <a:spcPts val="0"/>
                        </a:spcBef>
                        <a:spcAft>
                          <a:spcPts val="0"/>
                        </a:spcAft>
                        <a:buNone/>
                      </a:pPr>
                      <a:r>
                        <a:rPr lang="en-US" sz="1000" dirty="0">
                          <a:solidFill>
                            <a:srgbClr val="334155"/>
                          </a:solidFill>
                          <a:latin typeface="Arial"/>
                          <a:cs typeface="Arial"/>
                        </a:rPr>
                        <a:t>Predictable allocations and better utilisation (qualitative)</a:t>
                      </a:r>
                      <a:endParaRPr lang="en-US" sz="1000" dirty="0"/>
                    </a:p>
                  </a:txBody>
                  <a:tcPr marL="101600" marR="101600" marT="69850" marB="69850" anchor="ctr">
                    <a:lnL w="0">
                      <a:noFill/>
                    </a:lnL>
                    <a:lnR w="0">
                      <a:noFill/>
                    </a:lnR>
                    <a:lnT w="0">
                      <a:noFill/>
                    </a:lnT>
                    <a:lnB w="9525">
                      <a:solidFill>
                        <a:srgbClr val="E2E8F0"/>
                      </a:solidFill>
                    </a:lnB>
                    <a:solidFill>
                      <a:srgbClr val="FFFFFF"/>
                    </a:solidFill>
                  </a:tcPr>
                </a:tc>
                <a:tc>
                  <a:txBody>
                    <a:bodyPr/>
                    <a:lstStyle/>
                    <a:p>
                      <a:pPr algn="l">
                        <a:lnSpc>
                          <a:spcPct val="108000"/>
                        </a:lnSpc>
                        <a:spcBef>
                          <a:spcPts val="0"/>
                        </a:spcBef>
                        <a:spcAft>
                          <a:spcPts val="0"/>
                        </a:spcAft>
                        <a:buNone/>
                      </a:pPr>
                      <a:r>
                        <a:rPr lang="en-US" sz="1000" dirty="0">
                          <a:solidFill>
                            <a:srgbClr val="334155"/>
                          </a:solidFill>
                          <a:latin typeface="Arial"/>
                          <a:cs typeface="Arial"/>
                        </a:rPr>
                        <a:t>KubeCon EU keynote, Mar 2026</a:t>
                      </a:r>
                      <a:endParaRPr lang="en-US" sz="1000" dirty="0"/>
                    </a:p>
                  </a:txBody>
                  <a:tcPr marL="101600" marR="101600" marT="69850" marB="69850" anchor="ctr">
                    <a:lnL w="0">
                      <a:noFill/>
                    </a:lnL>
                    <a:lnR w="0">
                      <a:noFill/>
                    </a:lnR>
                    <a:lnT w="0">
                      <a:noFill/>
                    </a:lnT>
                    <a:lnB w="9525">
                      <a:solidFill>
                        <a:srgbClr val="E2E8F0"/>
                      </a:solidFill>
                    </a:lnB>
                    <a:solidFill>
                      <a:srgbClr val="FFFFFF"/>
                    </a:solidFill>
                  </a:tcPr>
                </a:tc>
              </a:tr>
              <a:tr h="279400">
                <a:tc>
                  <a:txBody>
                    <a:bodyPr/>
                    <a:lstStyle/>
                    <a:p>
                      <a:pPr algn="l">
                        <a:lnSpc>
                          <a:spcPct val="108000"/>
                        </a:lnSpc>
                        <a:spcBef>
                          <a:spcPts val="0"/>
                        </a:spcBef>
                        <a:spcAft>
                          <a:spcPts val="0"/>
                        </a:spcAft>
                        <a:buNone/>
                      </a:pPr>
                      <a:r>
                        <a:rPr lang="en-US" sz="1000" b="1" dirty="0">
                          <a:solidFill>
                            <a:srgbClr val="0F172A"/>
                          </a:solidFill>
                          <a:latin typeface="Arial"/>
                          <a:cs typeface="Arial"/>
                        </a:rPr>
                        <a:t>Subaru</a:t>
                      </a:r>
                      <a:endParaRPr lang="en-US" sz="1000" dirty="0"/>
                    </a:p>
                  </a:txBody>
                  <a:tcPr marL="101600" marR="101600" marT="69850" marB="69850" anchor="ctr">
                    <a:lnL w="0">
                      <a:noFill/>
                    </a:lnL>
                    <a:lnR w="0">
                      <a:noFill/>
                    </a:lnR>
                    <a:lnT w="0">
                      <a:noFill/>
                    </a:lnT>
                    <a:lnB w="9525">
                      <a:solidFill>
                        <a:srgbClr val="E2E8F0"/>
                      </a:solidFill>
                    </a:lnB>
                    <a:solidFill>
                      <a:srgbClr val="FFFFFF"/>
                    </a:solidFill>
                  </a:tcPr>
                </a:tc>
                <a:tc>
                  <a:txBody>
                    <a:bodyPr/>
                    <a:lstStyle/>
                    <a:p>
                      <a:pPr algn="l">
                        <a:lnSpc>
                          <a:spcPct val="108000"/>
                        </a:lnSpc>
                        <a:spcBef>
                          <a:spcPts val="0"/>
                        </a:spcBef>
                        <a:spcAft>
                          <a:spcPts val="0"/>
                        </a:spcAft>
                        <a:buNone/>
                      </a:pPr>
                      <a:r>
                        <a:rPr lang="en-US" sz="1000" dirty="0">
                          <a:solidFill>
                            <a:srgbClr val="334155"/>
                          </a:solidFill>
                          <a:latin typeface="Arial"/>
                          <a:cs typeface="Arial"/>
                        </a:rPr>
                        <a:t>Driver-assistance AI development</a:t>
                      </a:r>
                      <a:endParaRPr lang="en-US" sz="1000" dirty="0"/>
                    </a:p>
                  </a:txBody>
                  <a:tcPr marL="101600" marR="101600" marT="69850" marB="69850" anchor="ctr">
                    <a:lnL w="0">
                      <a:noFill/>
                    </a:lnL>
                    <a:lnR w="0">
                      <a:noFill/>
                    </a:lnR>
                    <a:lnT w="0">
                      <a:noFill/>
                    </a:lnT>
                    <a:lnB w="9525">
                      <a:solidFill>
                        <a:srgbClr val="E2E8F0"/>
                      </a:solidFill>
                    </a:lnB>
                    <a:solidFill>
                      <a:srgbClr val="FFFFFF"/>
                    </a:solidFill>
                  </a:tcPr>
                </a:tc>
                <a:tc>
                  <a:txBody>
                    <a:bodyPr/>
                    <a:lstStyle/>
                    <a:p>
                      <a:pPr algn="l">
                        <a:lnSpc>
                          <a:spcPct val="108000"/>
                        </a:lnSpc>
                        <a:spcBef>
                          <a:spcPts val="0"/>
                        </a:spcBef>
                        <a:spcAft>
                          <a:spcPts val="0"/>
                        </a:spcAft>
                        <a:buNone/>
                      </a:pPr>
                      <a:r>
                        <a:rPr lang="en-US" sz="1000" dirty="0">
                          <a:solidFill>
                            <a:srgbClr val="334155"/>
                          </a:solidFill>
                          <a:latin typeface="Arial"/>
                          <a:cs typeface="Arial"/>
                        </a:rPr>
                        <a:t>On-prem Kubernetes, Gateway API, Harbor, Argo</a:t>
                      </a:r>
                      <a:endParaRPr lang="en-US" sz="1000" dirty="0"/>
                    </a:p>
                  </a:txBody>
                  <a:tcPr marL="101600" marR="101600" marT="69850" marB="69850" anchor="ctr">
                    <a:lnL w="0">
                      <a:noFill/>
                    </a:lnL>
                    <a:lnR w="0">
                      <a:noFill/>
                    </a:lnR>
                    <a:lnT w="0">
                      <a:noFill/>
                    </a:lnT>
                    <a:lnB w="9525">
                      <a:solidFill>
                        <a:srgbClr val="E2E8F0"/>
                      </a:solidFill>
                    </a:lnB>
                    <a:solidFill>
                      <a:srgbClr val="FFFFFF"/>
                    </a:solidFill>
                  </a:tcPr>
                </a:tc>
                <a:tc>
                  <a:txBody>
                    <a:bodyPr/>
                    <a:lstStyle/>
                    <a:p>
                      <a:pPr algn="l">
                        <a:lnSpc>
                          <a:spcPct val="108000"/>
                        </a:lnSpc>
                        <a:spcBef>
                          <a:spcPts val="0"/>
                        </a:spcBef>
                        <a:spcAft>
                          <a:spcPts val="0"/>
                        </a:spcAft>
                        <a:buNone/>
                      </a:pPr>
                      <a:r>
                        <a:rPr lang="en-US" sz="1000" dirty="0">
                          <a:solidFill>
                            <a:srgbClr val="334155"/>
                          </a:solidFill>
                          <a:latin typeface="Arial"/>
                          <a:cs typeface="Arial"/>
                        </a:rPr>
                        <a:t>30 GB+ image pulls from ~3 hours to ~3 minutes</a:t>
                      </a:r>
                      <a:endParaRPr lang="en-US" sz="1000" dirty="0"/>
                    </a:p>
                  </a:txBody>
                  <a:tcPr marL="101600" marR="101600" marT="69850" marB="69850" anchor="ctr">
                    <a:lnL w="0">
                      <a:noFill/>
                    </a:lnL>
                    <a:lnR w="0">
                      <a:noFill/>
                    </a:lnR>
                    <a:lnT w="0">
                      <a:noFill/>
                    </a:lnT>
                    <a:lnB w="9525">
                      <a:solidFill>
                        <a:srgbClr val="E2E8F0"/>
                      </a:solidFill>
                    </a:lnB>
                    <a:solidFill>
                      <a:srgbClr val="FFFFFF"/>
                    </a:solidFill>
                  </a:tcPr>
                </a:tc>
                <a:tc>
                  <a:txBody>
                    <a:bodyPr/>
                    <a:lstStyle/>
                    <a:p>
                      <a:pPr algn="l">
                        <a:lnSpc>
                          <a:spcPct val="108000"/>
                        </a:lnSpc>
                        <a:spcBef>
                          <a:spcPts val="0"/>
                        </a:spcBef>
                        <a:spcAft>
                          <a:spcPts val="0"/>
                        </a:spcAft>
                        <a:buNone/>
                      </a:pPr>
                      <a:r>
                        <a:rPr lang="en-US" sz="1000" dirty="0">
                          <a:solidFill>
                            <a:srgbClr val="334155"/>
                          </a:solidFill>
                          <a:latin typeface="Arial"/>
                          <a:cs typeface="Arial"/>
                        </a:rPr>
                        <a:t>CNCF, Jul 2026</a:t>
                      </a:r>
                      <a:endParaRPr lang="en-US" sz="1000" dirty="0"/>
                    </a:p>
                  </a:txBody>
                  <a:tcPr marL="101600" marR="101600" marT="69850" marB="69850" anchor="ctr">
                    <a:lnL w="0">
                      <a:noFill/>
                    </a:lnL>
                    <a:lnR w="0">
                      <a:noFill/>
                    </a:lnR>
                    <a:lnT w="0">
                      <a:noFill/>
                    </a:lnT>
                    <a:lnB w="9525">
                      <a:solidFill>
                        <a:srgbClr val="E2E8F0"/>
                      </a:solidFill>
                    </a:lnB>
                    <a:solidFill>
                      <a:srgbClr val="FFFFFF"/>
                    </a:solidFill>
                  </a:tcPr>
                </a:tc>
              </a:tr>
              <a:tr h="279400">
                <a:tc>
                  <a:txBody>
                    <a:bodyPr/>
                    <a:lstStyle/>
                    <a:p>
                      <a:pPr algn="l">
                        <a:lnSpc>
                          <a:spcPct val="108000"/>
                        </a:lnSpc>
                        <a:spcBef>
                          <a:spcPts val="0"/>
                        </a:spcBef>
                        <a:spcAft>
                          <a:spcPts val="0"/>
                        </a:spcAft>
                        <a:buNone/>
                      </a:pPr>
                      <a:r>
                        <a:rPr lang="en-US" sz="1000" b="1" dirty="0">
                          <a:solidFill>
                            <a:srgbClr val="0F172A"/>
                          </a:solidFill>
                          <a:latin typeface="Arial"/>
                          <a:cs typeface="Arial"/>
                        </a:rPr>
                        <a:t>Anthropic, Amazon Nova</a:t>
                      </a:r>
                      <a:endParaRPr lang="en-US" sz="1000" dirty="0"/>
                    </a:p>
                  </a:txBody>
                  <a:tcPr marL="101600" marR="101600" marT="69850" marB="69850" anchor="ctr">
                    <a:lnL w="0">
                      <a:noFill/>
                    </a:lnL>
                    <a:lnR w="0">
                      <a:noFill/>
                    </a:lnR>
                    <a:lnT w="0">
                      <a:noFill/>
                    </a:lnT>
                    <a:lnB w="9525">
                      <a:solidFill>
                        <a:srgbClr val="E2E8F0"/>
                      </a:solidFill>
                    </a:lnB>
                    <a:solidFill>
                      <a:srgbClr val="FFFFFF"/>
                    </a:solidFill>
                  </a:tcPr>
                </a:tc>
                <a:tc>
                  <a:txBody>
                    <a:bodyPr/>
                    <a:lstStyle/>
                    <a:p>
                      <a:pPr algn="l">
                        <a:lnSpc>
                          <a:spcPct val="108000"/>
                        </a:lnSpc>
                        <a:spcBef>
                          <a:spcPts val="0"/>
                        </a:spcBef>
                        <a:spcAft>
                          <a:spcPts val="0"/>
                        </a:spcAft>
                        <a:buNone/>
                      </a:pPr>
                      <a:r>
                        <a:rPr lang="en-US" sz="1000" dirty="0">
                          <a:solidFill>
                            <a:srgbClr val="334155"/>
                          </a:solidFill>
                          <a:latin typeface="Arial"/>
                          <a:cs typeface="Arial"/>
                        </a:rPr>
                        <a:t>Ultra-scale workloads on EKS</a:t>
                      </a:r>
                      <a:endParaRPr lang="en-US" sz="1000" dirty="0"/>
                    </a:p>
                  </a:txBody>
                  <a:tcPr marL="101600" marR="101600" marT="69850" marB="69850" anchor="ctr">
                    <a:lnL w="0">
                      <a:noFill/>
                    </a:lnL>
                    <a:lnR w="0">
                      <a:noFill/>
                    </a:lnR>
                    <a:lnT w="0">
                      <a:noFill/>
                    </a:lnT>
                    <a:lnB w="9525">
                      <a:solidFill>
                        <a:srgbClr val="E2E8F0"/>
                      </a:solidFill>
                    </a:lnB>
                    <a:solidFill>
                      <a:srgbClr val="FFFFFF"/>
                    </a:solidFill>
                  </a:tcPr>
                </a:tc>
                <a:tc>
                  <a:txBody>
                    <a:bodyPr/>
                    <a:lstStyle/>
                    <a:p>
                      <a:pPr algn="l">
                        <a:lnSpc>
                          <a:spcPct val="108000"/>
                        </a:lnSpc>
                        <a:spcBef>
                          <a:spcPts val="0"/>
                        </a:spcBef>
                        <a:spcAft>
                          <a:spcPts val="0"/>
                        </a:spcAft>
                        <a:buNone/>
                      </a:pPr>
                      <a:r>
                        <a:rPr lang="en-US" sz="1000" dirty="0">
                          <a:solidFill>
                            <a:srgbClr val="334155"/>
                          </a:solidFill>
                          <a:latin typeface="Arial"/>
                          <a:cs typeface="Arial"/>
                        </a:rPr>
                        <a:t>EKS 100K-node clusters</a:t>
                      </a:r>
                      <a:endParaRPr lang="en-US" sz="1000" dirty="0"/>
                    </a:p>
                  </a:txBody>
                  <a:tcPr marL="101600" marR="101600" marT="69850" marB="69850" anchor="ctr">
                    <a:lnL w="0">
                      <a:noFill/>
                    </a:lnL>
                    <a:lnR w="0">
                      <a:noFill/>
                    </a:lnR>
                    <a:lnT w="0">
                      <a:noFill/>
                    </a:lnT>
                    <a:lnB w="9525">
                      <a:solidFill>
                        <a:srgbClr val="E2E8F0"/>
                      </a:solidFill>
                    </a:lnB>
                    <a:solidFill>
                      <a:srgbClr val="FFFFFF"/>
                    </a:solidFill>
                  </a:tcPr>
                </a:tc>
                <a:tc>
                  <a:txBody>
                    <a:bodyPr/>
                    <a:lstStyle/>
                    <a:p>
                      <a:pPr algn="l">
                        <a:lnSpc>
                          <a:spcPct val="108000"/>
                        </a:lnSpc>
                        <a:spcBef>
                          <a:spcPts val="0"/>
                        </a:spcBef>
                        <a:spcAft>
                          <a:spcPts val="0"/>
                        </a:spcAft>
                        <a:buNone/>
                      </a:pPr>
                      <a:r>
                        <a:rPr lang="en-US" sz="1000" dirty="0">
                          <a:solidFill>
                            <a:srgbClr val="334155"/>
                          </a:solidFill>
                          <a:latin typeface="Arial"/>
                          <a:cs typeface="Arial"/>
                        </a:rPr>
                        <a:t>Anthropic: writes within 15 ms rose from 35% to 90%</a:t>
                      </a:r>
                      <a:endParaRPr lang="en-US" sz="1000" dirty="0"/>
                    </a:p>
                  </a:txBody>
                  <a:tcPr marL="101600" marR="101600" marT="69850" marB="69850" anchor="ctr">
                    <a:lnL w="0">
                      <a:noFill/>
                    </a:lnL>
                    <a:lnR w="0">
                      <a:noFill/>
                    </a:lnR>
                    <a:lnT w="0">
                      <a:noFill/>
                    </a:lnT>
                    <a:lnB w="9525">
                      <a:solidFill>
                        <a:srgbClr val="E2E8F0"/>
                      </a:solidFill>
                    </a:lnB>
                    <a:solidFill>
                      <a:srgbClr val="FFFFFF"/>
                    </a:solidFill>
                  </a:tcPr>
                </a:tc>
                <a:tc>
                  <a:txBody>
                    <a:bodyPr/>
                    <a:lstStyle/>
                    <a:p>
                      <a:pPr algn="l">
                        <a:lnSpc>
                          <a:spcPct val="108000"/>
                        </a:lnSpc>
                        <a:spcBef>
                          <a:spcPts val="0"/>
                        </a:spcBef>
                        <a:spcAft>
                          <a:spcPts val="0"/>
                        </a:spcAft>
                        <a:buNone/>
                      </a:pPr>
                      <a:r>
                        <a:rPr lang="en-US" sz="1000" dirty="0">
                          <a:solidFill>
                            <a:srgbClr val="334155"/>
                          </a:solidFill>
                          <a:latin typeface="Arial"/>
                          <a:cs typeface="Arial"/>
                        </a:rPr>
                        <a:t>AWS, Jul 2025 (historical)</a:t>
                      </a:r>
                      <a:endParaRPr lang="en-US" sz="1000" dirty="0"/>
                    </a:p>
                  </a:txBody>
                  <a:tcPr marL="101600" marR="101600" marT="69850" marB="69850" anchor="ctr">
                    <a:lnL w="0">
                      <a:noFill/>
                    </a:lnL>
                    <a:lnR w="0">
                      <a:noFill/>
                    </a:lnR>
                    <a:lnT w="0">
                      <a:noFill/>
                    </a:lnT>
                    <a:lnB w="9525">
                      <a:solidFill>
                        <a:srgbClr val="E2E8F0"/>
                      </a:solidFill>
                    </a:lnB>
                    <a:solidFill>
                      <a:srgbClr val="FFFFFF"/>
                    </a:solidFill>
                  </a:tcPr>
                </a:tc>
              </a:tr>
            </a:tbl>
          </a:graphicData>
        </a:graphic>
      </p:graphicFrame>
      <p:sp>
        <p:nvSpPr>
          <p:cNvPr id="9" name="Text 9"/>
          <p:cNvSpPr txBox="1"/>
          <p:nvPr/>
        </p:nvSpPr>
        <p:spPr>
          <a:xfrm>
            <a:off x="711200" y="6096000"/>
            <a:ext cx="10769600" cy="177800"/>
          </a:xfrm>
          <a:prstGeom prst="rect">
            <a:avLst/>
          </a:prstGeom>
          <a:noFill/>
          <a:ln>
            <a:noFill/>
          </a:ln>
        </p:spPr>
        <p:txBody>
          <a:bodyPr wrap="square" lIns="0" tIns="0" rIns="0" bIns="0" anchor="t">
            <a:noAutofit/>
          </a:bodyPr>
          <a:lstStyle/>
          <a:p>
            <a:pPr algn="l">
              <a:lnSpc>
                <a:spcPct val="108000"/>
              </a:lnSpc>
              <a:spcBef>
                <a:spcPts val="0"/>
              </a:spcBef>
              <a:spcAft>
                <a:spcPts val="0"/>
              </a:spcAft>
              <a:buNone/>
            </a:pPr>
            <a:r>
              <a:rPr lang="en-US" sz="850" dirty="0">
                <a:solidFill>
                  <a:srgbClr val="64748B"/>
                </a:solidFill>
                <a:latin typeface="Arial"/>
                <a:cs typeface="Arial"/>
              </a:rPr>
              <a:t>Source: [16], [29], [34], [35], [37], [40], [41], [42], [43]. Data as of 2026-09.</a:t>
            </a:r>
            <a:endParaRPr lang="en-US" sz="8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p:nvPr/>
        </p:nvSpPr>
        <p:spPr>
          <a:xfrm>
            <a:off x="711200" y="508000"/>
            <a:ext cx="558800" cy="63500"/>
          </a:xfrm>
          <a:prstGeom prst="roundRect">
            <a:avLst>
              <a:gd name="adj" fmla="val 50000"/>
            </a:avLst>
          </a:prstGeom>
          <a:gradFill rotWithShape="1">
            <a:gsLst>
              <a:gs pos="0">
                <a:srgbClr val="4F46E5"/>
              </a:gs>
              <a:gs pos="50000">
                <a:srgbClr val="7C3AED"/>
              </a:gs>
              <a:gs pos="100000">
                <a:srgbClr val="06B6D4"/>
              </a:gs>
            </a:gsLst>
            <a:lin ang="0" scaled="0"/>
          </a:gradFill>
          <a:ln>
            <a:noFill/>
          </a:ln>
        </p:spPr>
      </p:sp>
      <p:sp>
        <p:nvSpPr>
          <p:cNvPr id="3" name="Text 3"/>
          <p:cNvSpPr txBox="1"/>
          <p:nvPr/>
        </p:nvSpPr>
        <p:spPr>
          <a:xfrm>
            <a:off x="711200" y="685800"/>
            <a:ext cx="10769600" cy="203200"/>
          </a:xfrm>
          <a:prstGeom prst="rect">
            <a:avLst/>
          </a:prstGeom>
          <a:noFill/>
          <a:ln>
            <a:noFill/>
          </a:ln>
        </p:spPr>
        <p:txBody>
          <a:bodyPr wrap="square" lIns="0" tIns="0" rIns="0" bIns="0" anchor="t">
            <a:noAutofit/>
          </a:bodyPr>
          <a:lstStyle/>
          <a:p>
            <a:pPr algn="l">
              <a:lnSpc>
                <a:spcPct val="108000"/>
              </a:lnSpc>
              <a:spcBef>
                <a:spcPts val="0"/>
              </a:spcBef>
              <a:spcAft>
                <a:spcPts val="0"/>
              </a:spcAft>
              <a:buNone/>
            </a:pPr>
            <a:r>
              <a:rPr lang="en-US" sz="950" b="1" spc="140" dirty="0">
                <a:solidFill>
                  <a:srgbClr val="4F46E5"/>
                </a:solidFill>
                <a:latin typeface="Arial"/>
                <a:cs typeface="Arial"/>
              </a:rPr>
              <a:t>SECTION 06 · PRODUCTION CASE STUDIES · TABLE 5</a:t>
            </a:r>
            <a:endParaRPr lang="en-US" sz="950" dirty="0"/>
          </a:p>
        </p:txBody>
      </p:sp>
      <p:sp>
        <p:nvSpPr>
          <p:cNvPr id="4" name="Text 4"/>
          <p:cNvSpPr txBox="1"/>
          <p:nvPr/>
        </p:nvSpPr>
        <p:spPr>
          <a:xfrm>
            <a:off x="711200" y="965200"/>
            <a:ext cx="10515600" cy="886968"/>
          </a:xfrm>
          <a:prstGeom prst="rect">
            <a:avLst/>
          </a:prstGeom>
          <a:noFill/>
          <a:ln>
            <a:noFill/>
          </a:ln>
        </p:spPr>
        <p:txBody>
          <a:bodyPr wrap="square" lIns="0" tIns="0" rIns="0" bIns="0" anchor="t">
            <a:noAutofit/>
          </a:bodyPr>
          <a:lstStyle/>
          <a:p>
            <a:pPr algn="l">
              <a:lnSpc>
                <a:spcPct val="96000"/>
              </a:lnSpc>
              <a:spcBef>
                <a:spcPts val="0"/>
              </a:spcBef>
              <a:spcAft>
                <a:spcPts val="0"/>
              </a:spcAft>
              <a:buNone/>
            </a:pPr>
            <a:r>
              <a:rPr lang="en-US" sz="2800" b="1" spc="-30" dirty="0">
                <a:solidFill>
                  <a:srgbClr val="0F172A"/>
                </a:solidFill>
                <a:latin typeface="Arial"/>
                <a:cs typeface="Arial"/>
              </a:rPr>
              <a:t>Named AI-on-Kubernetes deployments and reported outcomes (continued)</a:t>
            </a:r>
            <a:endParaRPr lang="en-US" sz="2800" dirty="0"/>
          </a:p>
        </p:txBody>
      </p:sp>
      <p:sp>
        <p:nvSpPr>
          <p:cNvPr id="5" name="Shape 5"/>
          <p:cNvSpPr/>
          <p:nvPr/>
        </p:nvSpPr>
        <p:spPr>
          <a:xfrm>
            <a:off x="711200" y="6451600"/>
            <a:ext cx="10769600" cy="9525"/>
          </a:xfrm>
          <a:prstGeom prst="rect">
            <a:avLst/>
          </a:prstGeom>
          <a:solidFill>
            <a:srgbClr val="E2E8F0"/>
          </a:solidFill>
          <a:ln>
            <a:noFill/>
          </a:ln>
        </p:spPr>
      </p:sp>
      <p:sp>
        <p:nvSpPr>
          <p:cNvPr id="6" name="Text 6"/>
          <p:cNvSpPr txBox="1"/>
          <p:nvPr/>
        </p:nvSpPr>
        <p:spPr>
          <a:xfrm>
            <a:off x="711200" y="6527800"/>
            <a:ext cx="9753600" cy="177800"/>
          </a:xfrm>
          <a:prstGeom prst="rect">
            <a:avLst/>
          </a:prstGeom>
          <a:noFill/>
          <a:ln>
            <a:noFill/>
          </a:ln>
        </p:spPr>
        <p:txBody>
          <a:bodyPr wrap="square" lIns="0" tIns="0" rIns="0" bIns="0" anchor="t">
            <a:noAutofit/>
          </a:bodyPr>
          <a:lstStyle/>
          <a:p>
            <a:pPr algn="l">
              <a:lnSpc>
                <a:spcPct val="108000"/>
              </a:lnSpc>
              <a:spcBef>
                <a:spcPts val="0"/>
              </a:spcBef>
              <a:spcAft>
                <a:spcPts val="0"/>
              </a:spcAft>
              <a:buNone/>
            </a:pPr>
            <a:r>
              <a:rPr lang="en-US" sz="800" dirty="0">
                <a:solidFill>
                  <a:srgbClr val="94A3B8"/>
                </a:solidFill>
                <a:latin typeface="Arial"/>
                <a:cs typeface="Arial"/>
              </a:rPr>
              <a:t>Kubernetes as the Platform for AI Infrastructure</a:t>
            </a:r>
            <a:endParaRPr lang="en-US" sz="800" dirty="0"/>
          </a:p>
        </p:txBody>
      </p:sp>
      <p:sp>
        <p:nvSpPr>
          <p:cNvPr id="7" name="Text 7"/>
          <p:cNvSpPr txBox="1"/>
          <p:nvPr/>
        </p:nvSpPr>
        <p:spPr>
          <a:xfrm>
            <a:off x="10718800" y="6527800"/>
            <a:ext cx="762000" cy="177800"/>
          </a:xfrm>
          <a:prstGeom prst="rect">
            <a:avLst/>
          </a:prstGeom>
          <a:noFill/>
          <a:ln>
            <a:noFill/>
          </a:ln>
        </p:spPr>
        <p:txBody>
          <a:bodyPr wrap="square" lIns="0" tIns="0" rIns="0" bIns="0" anchor="t">
            <a:noAutofit/>
          </a:bodyPr>
          <a:lstStyle/>
          <a:p>
            <a:pPr algn="r">
              <a:lnSpc>
                <a:spcPct val="108000"/>
              </a:lnSpc>
              <a:spcBef>
                <a:spcPts val="0"/>
              </a:spcBef>
              <a:spcAft>
                <a:spcPts val="0"/>
              </a:spcAft>
              <a:buNone/>
            </a:pPr>
            <a:r>
              <a:rPr lang="en-US" sz="850" b="1" dirty="0">
                <a:solidFill>
                  <a:srgbClr val="0F172A"/>
                </a:solidFill>
                <a:latin typeface="Arial"/>
                <a:cs typeface="Arial"/>
              </a:rPr>
              <a:t>27</a:t>
            </a:r>
            <a:endParaRPr lang="en-US" sz="850" dirty="0"/>
          </a:p>
        </p:txBody>
      </p:sp>
      <p:graphicFrame>
        <p:nvGraphicFramePr>
          <p:cNvPr id="8" name="Table 8"/>
          <p:cNvGraphicFramePr>
            <a:graphicFrameLocks noGrp="1"/>
          </p:cNvGraphicFramePr>
          <p:nvPr/>
        </p:nvGraphicFramePr>
        <p:xfrm>
          <a:off x="711200" y="2106168"/>
          <a:ext cx="10769600" cy="609600"/>
        </p:xfrm>
        <a:graphic>
          <a:graphicData uri="http://schemas.openxmlformats.org/drawingml/2006/table">
            <a:tbl>
              <a:tblPr firstRow="1"/>
              <a:tblGrid>
                <a:gridCol w="1260272"/>
                <a:gridCol w="2635115"/>
                <a:gridCol w="2635115"/>
                <a:gridCol w="2635115"/>
                <a:gridCol w="1603983"/>
              </a:tblGrid>
              <a:tr h="279400">
                <a:tc>
                  <a:txBody>
                    <a:bodyPr/>
                    <a:lstStyle/>
                    <a:p>
                      <a:pPr algn="l">
                        <a:lnSpc>
                          <a:spcPct val="108000"/>
                        </a:lnSpc>
                        <a:spcBef>
                          <a:spcPts val="0"/>
                        </a:spcBef>
                        <a:spcAft>
                          <a:spcPts val="0"/>
                        </a:spcAft>
                        <a:buNone/>
                      </a:pPr>
                      <a:r>
                        <a:rPr lang="en-US" sz="780" b="1" spc="60" dirty="0">
                          <a:solidFill>
                            <a:srgbClr val="64748B"/>
                          </a:solidFill>
                          <a:latin typeface="Arial"/>
                          <a:cs typeface="Arial"/>
                        </a:rPr>
                        <a:t>ORGANISATION</a:t>
                      </a:r>
                      <a:endParaRPr lang="en-US" sz="780" dirty="0"/>
                    </a:p>
                  </a:txBody>
                  <a:tcPr marL="101600" marR="101600" marT="69850" marB="69850" anchor="ctr">
                    <a:lnL w="0">
                      <a:noFill/>
                    </a:lnL>
                    <a:lnR w="0">
                      <a:noFill/>
                    </a:lnR>
                    <a:lnT w="0">
                      <a:noFill/>
                    </a:lnT>
                    <a:lnB w="9525">
                      <a:solidFill>
                        <a:srgbClr val="E2E8F0"/>
                      </a:solidFill>
                    </a:lnB>
                    <a:solidFill>
                      <a:srgbClr val="F8FAFC"/>
                    </a:solidFill>
                  </a:tcPr>
                </a:tc>
                <a:tc>
                  <a:txBody>
                    <a:bodyPr/>
                    <a:lstStyle/>
                    <a:p>
                      <a:pPr algn="l">
                        <a:lnSpc>
                          <a:spcPct val="108000"/>
                        </a:lnSpc>
                        <a:spcBef>
                          <a:spcPts val="0"/>
                        </a:spcBef>
                        <a:spcAft>
                          <a:spcPts val="0"/>
                        </a:spcAft>
                        <a:buNone/>
                      </a:pPr>
                      <a:r>
                        <a:rPr lang="en-US" sz="780" b="1" spc="60" dirty="0">
                          <a:solidFill>
                            <a:srgbClr val="64748B"/>
                          </a:solidFill>
                          <a:latin typeface="Arial"/>
                          <a:cs typeface="Arial"/>
                        </a:rPr>
                        <a:t>WORKLOAD</a:t>
                      </a:r>
                      <a:endParaRPr lang="en-US" sz="780" dirty="0"/>
                    </a:p>
                  </a:txBody>
                  <a:tcPr marL="101600" marR="101600" marT="69850" marB="69850" anchor="ctr">
                    <a:lnL w="0">
                      <a:noFill/>
                    </a:lnL>
                    <a:lnR w="0">
                      <a:noFill/>
                    </a:lnR>
                    <a:lnT w="0">
                      <a:noFill/>
                    </a:lnT>
                    <a:lnB w="9525">
                      <a:solidFill>
                        <a:srgbClr val="E2E8F0"/>
                      </a:solidFill>
                    </a:lnB>
                    <a:solidFill>
                      <a:srgbClr val="F8FAFC"/>
                    </a:solidFill>
                  </a:tcPr>
                </a:tc>
                <a:tc>
                  <a:txBody>
                    <a:bodyPr/>
                    <a:lstStyle/>
                    <a:p>
                      <a:pPr algn="l">
                        <a:lnSpc>
                          <a:spcPct val="108000"/>
                        </a:lnSpc>
                        <a:spcBef>
                          <a:spcPts val="0"/>
                        </a:spcBef>
                        <a:spcAft>
                          <a:spcPts val="0"/>
                        </a:spcAft>
                        <a:buNone/>
                      </a:pPr>
                      <a:r>
                        <a:rPr lang="en-US" sz="780" b="1" spc="60" dirty="0">
                          <a:solidFill>
                            <a:srgbClr val="64748B"/>
                          </a:solidFill>
                          <a:latin typeface="Arial"/>
                          <a:cs typeface="Arial"/>
                        </a:rPr>
                        <a:t>STACK</a:t>
                      </a:r>
                      <a:endParaRPr lang="en-US" sz="780" dirty="0"/>
                    </a:p>
                  </a:txBody>
                  <a:tcPr marL="101600" marR="101600" marT="69850" marB="69850" anchor="ctr">
                    <a:lnL w="0">
                      <a:noFill/>
                    </a:lnL>
                    <a:lnR w="0">
                      <a:noFill/>
                    </a:lnR>
                    <a:lnT w="0">
                      <a:noFill/>
                    </a:lnT>
                    <a:lnB w="9525">
                      <a:solidFill>
                        <a:srgbClr val="E2E8F0"/>
                      </a:solidFill>
                    </a:lnB>
                    <a:solidFill>
                      <a:srgbClr val="F8FAFC"/>
                    </a:solidFill>
                  </a:tcPr>
                </a:tc>
                <a:tc>
                  <a:txBody>
                    <a:bodyPr/>
                    <a:lstStyle/>
                    <a:p>
                      <a:pPr algn="l">
                        <a:lnSpc>
                          <a:spcPct val="108000"/>
                        </a:lnSpc>
                        <a:spcBef>
                          <a:spcPts val="0"/>
                        </a:spcBef>
                        <a:spcAft>
                          <a:spcPts val="0"/>
                        </a:spcAft>
                        <a:buNone/>
                      </a:pPr>
                      <a:r>
                        <a:rPr lang="en-US" sz="780" b="1" spc="60" dirty="0">
                          <a:solidFill>
                            <a:srgbClr val="64748B"/>
                          </a:solidFill>
                          <a:latin typeface="Arial"/>
                          <a:cs typeface="Arial"/>
                        </a:rPr>
                        <a:t>REPORTED OUTCOME</a:t>
                      </a:r>
                      <a:endParaRPr lang="en-US" sz="780" dirty="0"/>
                    </a:p>
                  </a:txBody>
                  <a:tcPr marL="101600" marR="101600" marT="69850" marB="69850" anchor="ctr">
                    <a:lnL w="0">
                      <a:noFill/>
                    </a:lnL>
                    <a:lnR w="0">
                      <a:noFill/>
                    </a:lnR>
                    <a:lnT w="0">
                      <a:noFill/>
                    </a:lnT>
                    <a:lnB w="9525">
                      <a:solidFill>
                        <a:srgbClr val="E2E8F0"/>
                      </a:solidFill>
                    </a:lnB>
                    <a:solidFill>
                      <a:srgbClr val="F8FAFC"/>
                    </a:solidFill>
                  </a:tcPr>
                </a:tc>
                <a:tc>
                  <a:txBody>
                    <a:bodyPr/>
                    <a:lstStyle/>
                    <a:p>
                      <a:pPr algn="l">
                        <a:lnSpc>
                          <a:spcPct val="108000"/>
                        </a:lnSpc>
                        <a:spcBef>
                          <a:spcPts val="0"/>
                        </a:spcBef>
                        <a:spcAft>
                          <a:spcPts val="0"/>
                        </a:spcAft>
                        <a:buNone/>
                      </a:pPr>
                      <a:r>
                        <a:rPr lang="en-US" sz="780" b="1" spc="60" dirty="0">
                          <a:solidFill>
                            <a:srgbClr val="64748B"/>
                          </a:solidFill>
                          <a:latin typeface="Arial"/>
                          <a:cs typeface="Arial"/>
                        </a:rPr>
                        <a:t>SOURCE / DATE</a:t>
                      </a:r>
                      <a:endParaRPr lang="en-US" sz="780" dirty="0"/>
                    </a:p>
                  </a:txBody>
                  <a:tcPr marL="101600" marR="101600" marT="69850" marB="69850" anchor="ctr">
                    <a:lnL w="0">
                      <a:noFill/>
                    </a:lnL>
                    <a:lnR w="0">
                      <a:noFill/>
                    </a:lnR>
                    <a:lnT w="0">
                      <a:noFill/>
                    </a:lnT>
                    <a:lnB w="9525">
                      <a:solidFill>
                        <a:srgbClr val="E2E8F0"/>
                      </a:solidFill>
                    </a:lnB>
                    <a:solidFill>
                      <a:srgbClr val="F8FAFC"/>
                    </a:solidFill>
                  </a:tcPr>
                </a:tc>
              </a:tr>
              <a:tr h="279400">
                <a:tc>
                  <a:txBody>
                    <a:bodyPr/>
                    <a:lstStyle/>
                    <a:p>
                      <a:pPr algn="l">
                        <a:lnSpc>
                          <a:spcPct val="108000"/>
                        </a:lnSpc>
                        <a:spcBef>
                          <a:spcPts val="0"/>
                        </a:spcBef>
                        <a:spcAft>
                          <a:spcPts val="0"/>
                        </a:spcAft>
                        <a:buNone/>
                      </a:pPr>
                      <a:r>
                        <a:rPr lang="en-US" sz="1000" b="1" dirty="0">
                          <a:solidFill>
                            <a:srgbClr val="0F172A"/>
                          </a:solidFill>
                          <a:latin typeface="Arial"/>
                          <a:cs typeface="Arial"/>
                        </a:rPr>
                        <a:t>Uber</a:t>
                      </a:r>
                      <a:endParaRPr lang="en-US" sz="1000" dirty="0"/>
                    </a:p>
                  </a:txBody>
                  <a:tcPr marL="101600" marR="101600" marT="69850" marB="69850" anchor="ctr">
                    <a:lnL w="0">
                      <a:noFill/>
                    </a:lnL>
                    <a:lnR w="0">
                      <a:noFill/>
                    </a:lnR>
                    <a:lnT w="0">
                      <a:noFill/>
                    </a:lnT>
                    <a:lnB w="9525">
                      <a:solidFill>
                        <a:srgbClr val="E2E8F0"/>
                      </a:solidFill>
                    </a:lnB>
                    <a:solidFill>
                      <a:srgbClr val="FFFFFF"/>
                    </a:solidFill>
                  </a:tcPr>
                </a:tc>
                <a:tc>
                  <a:txBody>
                    <a:bodyPr/>
                    <a:lstStyle/>
                    <a:p>
                      <a:pPr algn="l">
                        <a:lnSpc>
                          <a:spcPct val="108000"/>
                        </a:lnSpc>
                        <a:spcBef>
                          <a:spcPts val="0"/>
                        </a:spcBef>
                        <a:spcAft>
                          <a:spcPts val="0"/>
                        </a:spcAft>
                        <a:buNone/>
                      </a:pPr>
                      <a:r>
                        <a:rPr lang="en-US" sz="1000" dirty="0">
                          <a:solidFill>
                            <a:srgbClr val="334155"/>
                          </a:solidFill>
                          <a:latin typeface="Arial"/>
                          <a:cs typeface="Arial"/>
                        </a:rPr>
                        <a:t>Michelangelo ML training</a:t>
                      </a:r>
                      <a:endParaRPr lang="en-US" sz="1000" dirty="0"/>
                    </a:p>
                  </a:txBody>
                  <a:tcPr marL="101600" marR="101600" marT="69850" marB="69850" anchor="ctr">
                    <a:lnL w="0">
                      <a:noFill/>
                    </a:lnL>
                    <a:lnR w="0">
                      <a:noFill/>
                    </a:lnR>
                    <a:lnT w="0">
                      <a:noFill/>
                    </a:lnT>
                    <a:lnB w="9525">
                      <a:solidFill>
                        <a:srgbClr val="E2E8F0"/>
                      </a:solidFill>
                    </a:lnB>
                    <a:solidFill>
                      <a:srgbClr val="FFFFFF"/>
                    </a:solidFill>
                  </a:tcPr>
                </a:tc>
                <a:tc>
                  <a:txBody>
                    <a:bodyPr/>
                    <a:lstStyle/>
                    <a:p>
                      <a:pPr algn="l">
                        <a:lnSpc>
                          <a:spcPct val="108000"/>
                        </a:lnSpc>
                        <a:spcBef>
                          <a:spcPts val="0"/>
                        </a:spcBef>
                        <a:spcAft>
                          <a:spcPts val="0"/>
                        </a:spcAft>
                        <a:buNone/>
                      </a:pPr>
                      <a:r>
                        <a:rPr lang="en-US" sz="1000" dirty="0">
                          <a:solidFill>
                            <a:srgbClr val="334155"/>
                          </a:solidFill>
                          <a:latin typeface="Arial"/>
                          <a:cs typeface="Arial"/>
                        </a:rPr>
                        <a:t>Ray on Kubernetes, federated scheduler</a:t>
                      </a:r>
                      <a:endParaRPr lang="en-US" sz="1000" dirty="0"/>
                    </a:p>
                  </a:txBody>
                  <a:tcPr marL="101600" marR="101600" marT="69850" marB="69850" anchor="ctr">
                    <a:lnL w="0">
                      <a:noFill/>
                    </a:lnL>
                    <a:lnR w="0">
                      <a:noFill/>
                    </a:lnR>
                    <a:lnT w="0">
                      <a:noFill/>
                    </a:lnT>
                    <a:lnB w="9525">
                      <a:solidFill>
                        <a:srgbClr val="E2E8F0"/>
                      </a:solidFill>
                    </a:lnB>
                    <a:solidFill>
                      <a:srgbClr val="FFFFFF"/>
                    </a:solidFill>
                  </a:tcPr>
                </a:tc>
                <a:tc>
                  <a:txBody>
                    <a:bodyPr/>
                    <a:lstStyle/>
                    <a:p>
                      <a:pPr algn="l">
                        <a:lnSpc>
                          <a:spcPct val="108000"/>
                        </a:lnSpc>
                        <a:spcBef>
                          <a:spcPts val="0"/>
                        </a:spcBef>
                        <a:spcAft>
                          <a:spcPts val="0"/>
                        </a:spcAft>
                        <a:buNone/>
                      </a:pPr>
                      <a:r>
                        <a:rPr lang="en-US" sz="1000" dirty="0">
                          <a:solidFill>
                            <a:srgbClr val="334155"/>
                          </a:solidFill>
                          <a:latin typeface="Arial"/>
                          <a:cs typeface="Arial"/>
                        </a:rPr>
                        <a:t>1.5–4x faster training</a:t>
                      </a:r>
                      <a:endParaRPr lang="en-US" sz="1000" dirty="0"/>
                    </a:p>
                  </a:txBody>
                  <a:tcPr marL="101600" marR="101600" marT="69850" marB="69850" anchor="ctr">
                    <a:lnL w="0">
                      <a:noFill/>
                    </a:lnL>
                    <a:lnR w="0">
                      <a:noFill/>
                    </a:lnR>
                    <a:lnT w="0">
                      <a:noFill/>
                    </a:lnT>
                    <a:lnB w="9525">
                      <a:solidFill>
                        <a:srgbClr val="E2E8F0"/>
                      </a:solidFill>
                    </a:lnB>
                    <a:solidFill>
                      <a:srgbClr val="FFFFFF"/>
                    </a:solidFill>
                  </a:tcPr>
                </a:tc>
                <a:tc>
                  <a:txBody>
                    <a:bodyPr/>
                    <a:lstStyle/>
                    <a:p>
                      <a:pPr algn="l">
                        <a:lnSpc>
                          <a:spcPct val="108000"/>
                        </a:lnSpc>
                        <a:spcBef>
                          <a:spcPts val="0"/>
                        </a:spcBef>
                        <a:spcAft>
                          <a:spcPts val="0"/>
                        </a:spcAft>
                        <a:buNone/>
                      </a:pPr>
                      <a:r>
                        <a:rPr lang="en-US" sz="1000" dirty="0">
                          <a:solidFill>
                            <a:srgbClr val="334155"/>
                          </a:solidFill>
                          <a:latin typeface="Arial"/>
                          <a:cs typeface="Arial"/>
                        </a:rPr>
                        <a:t>Uber, Apr 2025 (historical)</a:t>
                      </a:r>
                      <a:endParaRPr lang="en-US" sz="1000" dirty="0"/>
                    </a:p>
                  </a:txBody>
                  <a:tcPr marL="101600" marR="101600" marT="69850" marB="69850" anchor="ctr">
                    <a:lnL w="0">
                      <a:noFill/>
                    </a:lnL>
                    <a:lnR w="0">
                      <a:noFill/>
                    </a:lnR>
                    <a:lnT w="0">
                      <a:noFill/>
                    </a:lnT>
                    <a:lnB w="9525">
                      <a:solidFill>
                        <a:srgbClr val="E2E8F0"/>
                      </a:solidFill>
                    </a:lnB>
                    <a:solidFill>
                      <a:srgbClr val="FFFFFF"/>
                    </a:solidFill>
                  </a:tcPr>
                </a:tc>
              </a:tr>
            </a:tbl>
          </a:graphicData>
        </a:graphic>
      </p:graphicFrame>
      <p:sp>
        <p:nvSpPr>
          <p:cNvPr id="9" name="Text 9"/>
          <p:cNvSpPr txBox="1"/>
          <p:nvPr/>
        </p:nvSpPr>
        <p:spPr>
          <a:xfrm>
            <a:off x="711200" y="6096000"/>
            <a:ext cx="10769600" cy="177800"/>
          </a:xfrm>
          <a:prstGeom prst="rect">
            <a:avLst/>
          </a:prstGeom>
          <a:noFill/>
          <a:ln>
            <a:noFill/>
          </a:ln>
        </p:spPr>
        <p:txBody>
          <a:bodyPr wrap="square" lIns="0" tIns="0" rIns="0" bIns="0" anchor="t">
            <a:noAutofit/>
          </a:bodyPr>
          <a:lstStyle/>
          <a:p>
            <a:pPr algn="l">
              <a:lnSpc>
                <a:spcPct val="108000"/>
              </a:lnSpc>
              <a:spcBef>
                <a:spcPts val="0"/>
              </a:spcBef>
              <a:spcAft>
                <a:spcPts val="0"/>
              </a:spcAft>
              <a:buNone/>
            </a:pPr>
            <a:r>
              <a:rPr lang="en-US" sz="850" dirty="0">
                <a:solidFill>
                  <a:srgbClr val="64748B"/>
                </a:solidFill>
                <a:latin typeface="Arial"/>
                <a:cs typeface="Arial"/>
              </a:rPr>
              <a:t>Source: [16], [29], [34], [35], [37], [40], [41], [42], [43]. Data as of 2026-09.</a:t>
            </a:r>
            <a:endParaRPr lang="en-US" sz="8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p:nvPr/>
        </p:nvSpPr>
        <p:spPr>
          <a:xfrm>
            <a:off x="711200" y="508000"/>
            <a:ext cx="558800" cy="63500"/>
          </a:xfrm>
          <a:prstGeom prst="roundRect">
            <a:avLst>
              <a:gd name="adj" fmla="val 50000"/>
            </a:avLst>
          </a:prstGeom>
          <a:gradFill rotWithShape="1">
            <a:gsLst>
              <a:gs pos="0">
                <a:srgbClr val="4F46E5"/>
              </a:gs>
              <a:gs pos="50000">
                <a:srgbClr val="7C3AED"/>
              </a:gs>
              <a:gs pos="100000">
                <a:srgbClr val="06B6D4"/>
              </a:gs>
            </a:gsLst>
            <a:lin ang="0" scaled="0"/>
          </a:gradFill>
          <a:ln>
            <a:noFill/>
          </a:ln>
        </p:spPr>
      </p:sp>
      <p:sp>
        <p:nvSpPr>
          <p:cNvPr id="3" name="Text 3"/>
          <p:cNvSpPr txBox="1"/>
          <p:nvPr/>
        </p:nvSpPr>
        <p:spPr>
          <a:xfrm>
            <a:off x="711200" y="685800"/>
            <a:ext cx="10769600" cy="203200"/>
          </a:xfrm>
          <a:prstGeom prst="rect">
            <a:avLst/>
          </a:prstGeom>
          <a:noFill/>
          <a:ln>
            <a:noFill/>
          </a:ln>
        </p:spPr>
        <p:txBody>
          <a:bodyPr wrap="square" lIns="0" tIns="0" rIns="0" bIns="0" anchor="t">
            <a:noAutofit/>
          </a:bodyPr>
          <a:lstStyle/>
          <a:p>
            <a:pPr algn="l">
              <a:lnSpc>
                <a:spcPct val="108000"/>
              </a:lnSpc>
              <a:spcBef>
                <a:spcPts val="0"/>
              </a:spcBef>
              <a:spcAft>
                <a:spcPts val="0"/>
              </a:spcAft>
              <a:buNone/>
            </a:pPr>
            <a:r>
              <a:rPr lang="en-US" sz="950" b="1" spc="140" dirty="0">
                <a:solidFill>
                  <a:srgbClr val="4F46E5"/>
                </a:solidFill>
                <a:latin typeface="Arial"/>
                <a:cs typeface="Arial"/>
              </a:rPr>
              <a:t>SECTION 06 · PRODUCTION CASE STUDIES · FIGURE 3</a:t>
            </a:r>
            <a:endParaRPr lang="en-US" sz="950" dirty="0"/>
          </a:p>
        </p:txBody>
      </p:sp>
      <p:sp>
        <p:nvSpPr>
          <p:cNvPr id="4" name="Text 4"/>
          <p:cNvSpPr txBox="1"/>
          <p:nvPr/>
        </p:nvSpPr>
        <p:spPr>
          <a:xfrm>
            <a:off x="711200" y="965200"/>
            <a:ext cx="10515600" cy="886968"/>
          </a:xfrm>
          <a:prstGeom prst="rect">
            <a:avLst/>
          </a:prstGeom>
          <a:noFill/>
          <a:ln>
            <a:noFill/>
          </a:ln>
        </p:spPr>
        <p:txBody>
          <a:bodyPr wrap="square" lIns="0" tIns="0" rIns="0" bIns="0" anchor="t">
            <a:noAutofit/>
          </a:bodyPr>
          <a:lstStyle/>
          <a:p>
            <a:pPr algn="l">
              <a:lnSpc>
                <a:spcPct val="96000"/>
              </a:lnSpc>
              <a:spcBef>
                <a:spcPts val="0"/>
              </a:spcBef>
              <a:spcAft>
                <a:spcPts val="0"/>
              </a:spcAft>
              <a:buNone/>
            </a:pPr>
            <a:r>
              <a:rPr lang="en-US" sz="2800" b="1" spc="-30" dirty="0">
                <a:solidFill>
                  <a:srgbClr val="0F172A"/>
                </a:solidFill>
                <a:latin typeface="Arial"/>
                <a:cs typeface="Arial"/>
              </a:rPr>
              <a:t>Self-reported latency reductions from model-aware routing</a:t>
            </a:r>
            <a:endParaRPr lang="en-US" sz="2800" dirty="0"/>
          </a:p>
        </p:txBody>
      </p:sp>
      <p:sp>
        <p:nvSpPr>
          <p:cNvPr id="5" name="Shape 5"/>
          <p:cNvSpPr/>
          <p:nvPr/>
        </p:nvSpPr>
        <p:spPr>
          <a:xfrm>
            <a:off x="711200" y="6451600"/>
            <a:ext cx="10769600" cy="9525"/>
          </a:xfrm>
          <a:prstGeom prst="rect">
            <a:avLst/>
          </a:prstGeom>
          <a:solidFill>
            <a:srgbClr val="E2E8F0"/>
          </a:solidFill>
          <a:ln>
            <a:noFill/>
          </a:ln>
        </p:spPr>
      </p:sp>
      <p:sp>
        <p:nvSpPr>
          <p:cNvPr id="6" name="Text 6"/>
          <p:cNvSpPr txBox="1"/>
          <p:nvPr/>
        </p:nvSpPr>
        <p:spPr>
          <a:xfrm>
            <a:off x="711200" y="6527800"/>
            <a:ext cx="9753600" cy="177800"/>
          </a:xfrm>
          <a:prstGeom prst="rect">
            <a:avLst/>
          </a:prstGeom>
          <a:noFill/>
          <a:ln>
            <a:noFill/>
          </a:ln>
        </p:spPr>
        <p:txBody>
          <a:bodyPr wrap="square" lIns="0" tIns="0" rIns="0" bIns="0" anchor="t">
            <a:noAutofit/>
          </a:bodyPr>
          <a:lstStyle/>
          <a:p>
            <a:pPr algn="l">
              <a:lnSpc>
                <a:spcPct val="108000"/>
              </a:lnSpc>
              <a:spcBef>
                <a:spcPts val="0"/>
              </a:spcBef>
              <a:spcAft>
                <a:spcPts val="0"/>
              </a:spcAft>
              <a:buNone/>
            </a:pPr>
            <a:r>
              <a:rPr lang="en-US" sz="800" dirty="0">
                <a:solidFill>
                  <a:srgbClr val="94A3B8"/>
                </a:solidFill>
                <a:latin typeface="Arial"/>
                <a:cs typeface="Arial"/>
              </a:rPr>
              <a:t>Kubernetes as the Platform for AI Infrastructure</a:t>
            </a:r>
            <a:endParaRPr lang="en-US" sz="800" dirty="0"/>
          </a:p>
        </p:txBody>
      </p:sp>
      <p:sp>
        <p:nvSpPr>
          <p:cNvPr id="7" name="Text 7"/>
          <p:cNvSpPr txBox="1"/>
          <p:nvPr/>
        </p:nvSpPr>
        <p:spPr>
          <a:xfrm>
            <a:off x="10718800" y="6527800"/>
            <a:ext cx="762000" cy="177800"/>
          </a:xfrm>
          <a:prstGeom prst="rect">
            <a:avLst/>
          </a:prstGeom>
          <a:noFill/>
          <a:ln>
            <a:noFill/>
          </a:ln>
        </p:spPr>
        <p:txBody>
          <a:bodyPr wrap="square" lIns="0" tIns="0" rIns="0" bIns="0" anchor="t">
            <a:noAutofit/>
          </a:bodyPr>
          <a:lstStyle/>
          <a:p>
            <a:pPr algn="r">
              <a:lnSpc>
                <a:spcPct val="108000"/>
              </a:lnSpc>
              <a:spcBef>
                <a:spcPts val="0"/>
              </a:spcBef>
              <a:spcAft>
                <a:spcPts val="0"/>
              </a:spcAft>
              <a:buNone/>
            </a:pPr>
            <a:r>
              <a:rPr lang="en-US" sz="850" b="1" dirty="0">
                <a:solidFill>
                  <a:srgbClr val="0F172A"/>
                </a:solidFill>
                <a:latin typeface="Arial"/>
                <a:cs typeface="Arial"/>
              </a:rPr>
              <a:t>28</a:t>
            </a:r>
            <a:endParaRPr lang="en-US" sz="850" dirty="0"/>
          </a:p>
        </p:txBody>
      </p:sp>
      <p:sp>
        <p:nvSpPr>
          <p:cNvPr id="8" name="Text 8"/>
          <p:cNvSpPr txBox="1"/>
          <p:nvPr/>
        </p:nvSpPr>
        <p:spPr>
          <a:xfrm>
            <a:off x="711200" y="1852168"/>
            <a:ext cx="10769600" cy="203200"/>
          </a:xfrm>
          <a:prstGeom prst="rect">
            <a:avLst/>
          </a:prstGeom>
          <a:noFill/>
          <a:ln>
            <a:noFill/>
          </a:ln>
        </p:spPr>
        <p:txBody>
          <a:bodyPr wrap="square" lIns="0" tIns="0" rIns="0" bIns="0" anchor="t">
            <a:noAutofit/>
          </a:bodyPr>
          <a:lstStyle/>
          <a:p>
            <a:pPr algn="l">
              <a:lnSpc>
                <a:spcPct val="108000"/>
              </a:lnSpc>
              <a:spcBef>
                <a:spcPts val="0"/>
              </a:spcBef>
              <a:spcAft>
                <a:spcPts val="0"/>
              </a:spcAft>
              <a:buNone/>
            </a:pPr>
            <a:r>
              <a:rPr lang="en-US" sz="1100" dirty="0">
                <a:solidFill>
                  <a:srgbClr val="64748B"/>
                </a:solidFill>
                <a:latin typeface="Arial"/>
                <a:cs typeface="Arial"/>
              </a:rPr>
              <a:t>% reduction</a:t>
            </a:r>
            <a:endParaRPr lang="en-US" sz="1100" dirty="0"/>
          </a:p>
        </p:txBody>
      </p:sp>
      <p:sp>
        <p:nvSpPr>
          <p:cNvPr id="9" name="Shape 9"/>
          <p:cNvSpPr/>
          <p:nvPr/>
        </p:nvSpPr>
        <p:spPr>
          <a:xfrm>
            <a:off x="8305800" y="2156968"/>
            <a:ext cx="3175000" cy="3786632"/>
          </a:xfrm>
          <a:prstGeom prst="roundRect">
            <a:avLst>
              <a:gd name="adj" fmla="val 4800"/>
            </a:avLst>
          </a:prstGeom>
          <a:solidFill>
            <a:srgbClr val="F6F6FE"/>
          </a:solidFill>
          <a:ln>
            <a:noFill/>
          </a:ln>
        </p:spPr>
      </p:sp>
      <p:sp>
        <p:nvSpPr>
          <p:cNvPr id="10" name="Text 10"/>
          <p:cNvSpPr txBox="1"/>
          <p:nvPr/>
        </p:nvSpPr>
        <p:spPr>
          <a:xfrm>
            <a:off x="8534400" y="2385568"/>
            <a:ext cx="2717800" cy="3329432"/>
          </a:xfrm>
          <a:prstGeom prst="rect">
            <a:avLst/>
          </a:prstGeom>
          <a:noFill/>
          <a:ln>
            <a:noFill/>
          </a:ln>
        </p:spPr>
        <p:txBody>
          <a:bodyPr wrap="square" lIns="0" tIns="0" rIns="0" bIns="0" anchor="t">
            <a:noAutofit/>
          </a:bodyPr>
          <a:lstStyle/>
          <a:p>
            <a:pPr algn="l">
              <a:lnSpc>
                <a:spcPct val="108000"/>
              </a:lnSpc>
              <a:spcBef>
                <a:spcPts val="0"/>
              </a:spcBef>
              <a:spcAft>
                <a:spcPts val="800"/>
              </a:spcAft>
              <a:buNone/>
            </a:pPr>
            <a:r>
              <a:rPr lang="en-US" sz="850" b="1" spc="130" dirty="0">
                <a:solidFill>
                  <a:srgbClr val="4F46E5"/>
                </a:solidFill>
                <a:latin typeface="Arial"/>
                <a:cs typeface="Arial"/>
              </a:rPr>
              <a:t>WEAKER-SOURCED FIGURES</a:t>
            </a:r>
            <a:endParaRPr lang="en-US" sz="850" dirty="0"/>
          </a:p>
          <a:p>
            <a:pPr algn="l">
              <a:lnSpc>
                <a:spcPct val="122000"/>
              </a:lnSpc>
              <a:spcBef>
                <a:spcPts val="0"/>
              </a:spcBef>
              <a:spcAft>
                <a:spcPts val="0"/>
              </a:spcAft>
              <a:buNone/>
            </a:pPr>
            <a:r>
              <a:rPr lang="en-US" sz="1300" dirty="0">
                <a:solidFill>
                  <a:srgbClr val="0F172A"/>
                </a:solidFill>
                <a:latin typeface="Arial"/>
                <a:cs typeface="Arial"/>
              </a:rPr>
              <a:t>HAMi's KubeCon China recap reports that ICBC's GPU utilisation rose from 20% to 70% and that SF Express cut its GPUs from 1,400 to 1,000.</a:t>
            </a:r>
            <a:endParaRPr lang="en-US" sz="1300" dirty="0"/>
          </a:p>
        </p:txBody>
      </p:sp>
      <p:grpSp>
        <p:nvGrpSpPr>
          <p:cNvPr id="11" name="Figure 11"/>
          <p:cNvGrpSpPr/>
          <p:nvPr/>
        </p:nvGrpSpPr>
        <p:grpSpPr>
          <a:xfrm>
            <a:off x="711200" y="2827314"/>
            <a:ext cx="7239000" cy="2420541"/>
            <a:chOff x="711200" y="2827314"/>
            <a:chExt cx="7239000" cy="2420541"/>
          </a:xfrm>
        </p:grpSpPr>
        <p:cxnSp>
          <p:nvCxnSpPr>
            <p:cNvPr id="12" name="Line 12"/>
            <p:cNvCxnSpPr/>
            <p:nvPr/>
          </p:nvCxnSpPr>
          <p:spPr>
            <a:xfrm>
              <a:off x="3154363" y="2917801"/>
              <a:ext cx="0" cy="2081213"/>
            </a:xfrm>
            <a:prstGeom prst="line">
              <a:avLst/>
            </a:prstGeom>
            <a:ln w="11311" cap="rnd">
              <a:solidFill>
                <a:srgbClr val="94A3B8"/>
              </a:solidFill>
              <a:round/>
            </a:ln>
          </p:spPr>
        </p:cxnSp>
        <p:sp>
          <p:nvSpPr>
            <p:cNvPr id="13" name="Text 13"/>
            <p:cNvSpPr txBox="1"/>
            <p:nvPr/>
          </p:nvSpPr>
          <p:spPr>
            <a:xfrm>
              <a:off x="3072260" y="5065974"/>
              <a:ext cx="164205" cy="148456"/>
            </a:xfrm>
            <a:prstGeom prst="rect">
              <a:avLst/>
            </a:prstGeom>
            <a:noFill/>
            <a:ln>
              <a:noFill/>
            </a:ln>
          </p:spPr>
          <p:txBody>
            <a:bodyPr wrap="none" lIns="0" tIns="0" rIns="0" bIns="0" anchor="t">
              <a:noAutofit/>
            </a:bodyPr>
            <a:lstStyle/>
            <a:p>
              <a:pPr algn="ctr">
                <a:lnSpc>
                  <a:spcPct val="100000"/>
                </a:lnSpc>
                <a:spcBef>
                  <a:spcPts val="0"/>
                </a:spcBef>
                <a:spcAft>
                  <a:spcPts val="0"/>
                </a:spcAft>
                <a:buNone/>
              </a:pPr>
              <a:r>
                <a:rPr lang="en-US" sz="935" dirty="0">
                  <a:solidFill>
                    <a:srgbClr val="64748B"/>
                  </a:solidFill>
                  <a:latin typeface="Arial"/>
                  <a:cs typeface="Arial"/>
                </a:rPr>
                <a:t>0</a:t>
              </a:r>
              <a:endParaRPr lang="en-US" sz="935" dirty="0"/>
            </a:p>
          </p:txBody>
        </p:sp>
        <p:cxnSp>
          <p:nvCxnSpPr>
            <p:cNvPr id="14" name="Line 14"/>
            <p:cNvCxnSpPr/>
            <p:nvPr/>
          </p:nvCxnSpPr>
          <p:spPr>
            <a:xfrm>
              <a:off x="4556919" y="2917801"/>
              <a:ext cx="0" cy="2081213"/>
            </a:xfrm>
            <a:prstGeom prst="line">
              <a:avLst/>
            </a:prstGeom>
            <a:ln w="9049" cap="rnd">
              <a:solidFill>
                <a:srgbClr val="E2E8F0"/>
              </a:solidFill>
              <a:round/>
            </a:ln>
          </p:spPr>
        </p:cxnSp>
        <p:sp>
          <p:nvSpPr>
            <p:cNvPr id="15" name="Text 15"/>
            <p:cNvSpPr txBox="1"/>
            <p:nvPr/>
          </p:nvSpPr>
          <p:spPr>
            <a:xfrm>
              <a:off x="4430814" y="5065974"/>
              <a:ext cx="252209" cy="148456"/>
            </a:xfrm>
            <a:prstGeom prst="rect">
              <a:avLst/>
            </a:prstGeom>
            <a:noFill/>
            <a:ln>
              <a:noFill/>
            </a:ln>
          </p:spPr>
          <p:txBody>
            <a:bodyPr wrap="none" lIns="0" tIns="0" rIns="0" bIns="0" anchor="t">
              <a:noAutofit/>
            </a:bodyPr>
            <a:lstStyle/>
            <a:p>
              <a:pPr algn="ctr">
                <a:lnSpc>
                  <a:spcPct val="100000"/>
                </a:lnSpc>
                <a:spcBef>
                  <a:spcPts val="0"/>
                </a:spcBef>
                <a:spcAft>
                  <a:spcPts val="0"/>
                </a:spcAft>
                <a:buNone/>
              </a:pPr>
              <a:r>
                <a:rPr lang="en-US" sz="935" dirty="0">
                  <a:solidFill>
                    <a:srgbClr val="64748B"/>
                  </a:solidFill>
                  <a:latin typeface="Arial"/>
                  <a:cs typeface="Arial"/>
                </a:rPr>
                <a:t>20</a:t>
              </a:r>
              <a:endParaRPr lang="en-US" sz="935" dirty="0"/>
            </a:p>
          </p:txBody>
        </p:sp>
        <p:cxnSp>
          <p:nvCxnSpPr>
            <p:cNvPr id="16" name="Line 16"/>
            <p:cNvCxnSpPr/>
            <p:nvPr/>
          </p:nvCxnSpPr>
          <p:spPr>
            <a:xfrm>
              <a:off x="5959475" y="2917801"/>
              <a:ext cx="0" cy="2081213"/>
            </a:xfrm>
            <a:prstGeom prst="line">
              <a:avLst/>
            </a:prstGeom>
            <a:ln w="9049" cap="rnd">
              <a:solidFill>
                <a:srgbClr val="E2E8F0"/>
              </a:solidFill>
              <a:round/>
            </a:ln>
          </p:spPr>
        </p:cxnSp>
        <p:sp>
          <p:nvSpPr>
            <p:cNvPr id="17" name="Text 17"/>
            <p:cNvSpPr txBox="1"/>
            <p:nvPr/>
          </p:nvSpPr>
          <p:spPr>
            <a:xfrm>
              <a:off x="5833370" y="5065974"/>
              <a:ext cx="252209" cy="148456"/>
            </a:xfrm>
            <a:prstGeom prst="rect">
              <a:avLst/>
            </a:prstGeom>
            <a:noFill/>
            <a:ln>
              <a:noFill/>
            </a:ln>
          </p:spPr>
          <p:txBody>
            <a:bodyPr wrap="none" lIns="0" tIns="0" rIns="0" bIns="0" anchor="t">
              <a:noAutofit/>
            </a:bodyPr>
            <a:lstStyle/>
            <a:p>
              <a:pPr algn="ctr">
                <a:lnSpc>
                  <a:spcPct val="100000"/>
                </a:lnSpc>
                <a:spcBef>
                  <a:spcPts val="0"/>
                </a:spcBef>
                <a:spcAft>
                  <a:spcPts val="0"/>
                </a:spcAft>
                <a:buNone/>
              </a:pPr>
              <a:r>
                <a:rPr lang="en-US" sz="935" dirty="0">
                  <a:solidFill>
                    <a:srgbClr val="64748B"/>
                  </a:solidFill>
                  <a:latin typeface="Arial"/>
                  <a:cs typeface="Arial"/>
                </a:rPr>
                <a:t>40</a:t>
              </a:r>
              <a:endParaRPr lang="en-US" sz="935" dirty="0"/>
            </a:p>
          </p:txBody>
        </p:sp>
        <p:cxnSp>
          <p:nvCxnSpPr>
            <p:cNvPr id="18" name="Line 18"/>
            <p:cNvCxnSpPr/>
            <p:nvPr/>
          </p:nvCxnSpPr>
          <p:spPr>
            <a:xfrm>
              <a:off x="7362031" y="2917801"/>
              <a:ext cx="0" cy="2081213"/>
            </a:xfrm>
            <a:prstGeom prst="line">
              <a:avLst/>
            </a:prstGeom>
            <a:ln w="9049" cap="rnd">
              <a:solidFill>
                <a:srgbClr val="E2E8F0"/>
              </a:solidFill>
              <a:round/>
            </a:ln>
          </p:spPr>
        </p:cxnSp>
        <p:sp>
          <p:nvSpPr>
            <p:cNvPr id="19" name="Text 19"/>
            <p:cNvSpPr txBox="1"/>
            <p:nvPr/>
          </p:nvSpPr>
          <p:spPr>
            <a:xfrm>
              <a:off x="7235927" y="5065974"/>
              <a:ext cx="252209" cy="148456"/>
            </a:xfrm>
            <a:prstGeom prst="rect">
              <a:avLst/>
            </a:prstGeom>
            <a:noFill/>
            <a:ln>
              <a:noFill/>
            </a:ln>
          </p:spPr>
          <p:txBody>
            <a:bodyPr wrap="none" lIns="0" tIns="0" rIns="0" bIns="0" anchor="t">
              <a:noAutofit/>
            </a:bodyPr>
            <a:lstStyle/>
            <a:p>
              <a:pPr algn="ctr">
                <a:lnSpc>
                  <a:spcPct val="100000"/>
                </a:lnSpc>
                <a:spcBef>
                  <a:spcPts val="0"/>
                </a:spcBef>
                <a:spcAft>
                  <a:spcPts val="0"/>
                </a:spcAft>
                <a:buNone/>
              </a:pPr>
              <a:r>
                <a:rPr lang="en-US" sz="935" dirty="0">
                  <a:solidFill>
                    <a:srgbClr val="64748B"/>
                  </a:solidFill>
                  <a:latin typeface="Arial"/>
                  <a:cs typeface="Arial"/>
                </a:rPr>
                <a:t>60</a:t>
              </a:r>
              <a:endParaRPr lang="en-US" sz="935" dirty="0"/>
            </a:p>
          </p:txBody>
        </p:sp>
        <p:sp>
          <p:nvSpPr>
            <p:cNvPr id="20" name="Text 20"/>
            <p:cNvSpPr txBox="1"/>
            <p:nvPr/>
          </p:nvSpPr>
          <p:spPr>
            <a:xfrm>
              <a:off x="453154" y="2939744"/>
              <a:ext cx="2565477" cy="155525"/>
            </a:xfrm>
            <a:prstGeom prst="rect">
              <a:avLst/>
            </a:prstGeom>
            <a:noFill/>
            <a:ln>
              <a:noFill/>
            </a:ln>
          </p:spPr>
          <p:txBody>
            <a:bodyPr wrap="none" lIns="0" tIns="0" rIns="0" bIns="0" anchor="t">
              <a:noAutofit/>
            </a:bodyPr>
            <a:lstStyle/>
            <a:p>
              <a:pPr algn="r">
                <a:lnSpc>
                  <a:spcPct val="100000"/>
                </a:lnSpc>
                <a:spcBef>
                  <a:spcPts val="0"/>
                </a:spcBef>
                <a:spcAft>
                  <a:spcPts val="0"/>
                </a:spcAft>
                <a:buNone/>
              </a:pPr>
              <a:r>
                <a:rPr lang="en-US" sz="980" dirty="0">
                  <a:solidFill>
                    <a:srgbClr val="0F172A"/>
                  </a:solidFill>
                  <a:latin typeface="Arial"/>
                  <a:cs typeface="Arial"/>
                </a:rPr>
                <a:t>Vertex AI TTFT, Qwen3-Coder</a:t>
              </a:r>
              <a:endParaRPr lang="en-US" sz="980" dirty="0"/>
            </a:p>
          </p:txBody>
        </p:sp>
        <p:sp>
          <p:nvSpPr>
            <p:cNvPr id="21" name="Text 21"/>
            <p:cNvSpPr txBox="1"/>
            <p:nvPr/>
          </p:nvSpPr>
          <p:spPr>
            <a:xfrm>
              <a:off x="1666252" y="3086787"/>
              <a:ext cx="1352379" cy="155525"/>
            </a:xfrm>
            <a:prstGeom prst="rect">
              <a:avLst/>
            </a:prstGeom>
            <a:noFill/>
            <a:ln>
              <a:noFill/>
            </a:ln>
          </p:spPr>
          <p:txBody>
            <a:bodyPr wrap="none" lIns="0" tIns="0" rIns="0" bIns="0" anchor="t">
              <a:noAutofit/>
            </a:bodyPr>
            <a:lstStyle/>
            <a:p>
              <a:pPr algn="r">
                <a:lnSpc>
                  <a:spcPct val="100000"/>
                </a:lnSpc>
                <a:spcBef>
                  <a:spcPts val="0"/>
                </a:spcBef>
                <a:spcAft>
                  <a:spcPts val="0"/>
                </a:spcAft>
                <a:buNone/>
              </a:pPr>
              <a:r>
                <a:rPr lang="en-US" sz="980" dirty="0">
                  <a:solidFill>
                    <a:srgbClr val="0F172A"/>
                  </a:solidFill>
                  <a:latin typeface="Arial"/>
                  <a:cs typeface="Arial"/>
                </a:rPr>
                <a:t>(GKE Gateway)</a:t>
              </a:r>
              <a:endParaRPr lang="en-US" sz="980" dirty="0"/>
            </a:p>
          </p:txBody>
        </p:sp>
        <p:sp>
          <p:nvSpPr>
            <p:cNvPr id="22" name="Rect 22"/>
            <p:cNvSpPr/>
            <p:nvPr/>
          </p:nvSpPr>
          <p:spPr>
            <a:xfrm>
              <a:off x="3154363" y="2985667"/>
              <a:ext cx="2454473" cy="180975"/>
            </a:xfrm>
            <a:prstGeom prst="roundRect">
              <a:avLst>
                <a:gd name="adj" fmla="val 18750"/>
              </a:avLst>
            </a:prstGeom>
            <a:solidFill>
              <a:srgbClr val="4F46E5"/>
            </a:solidFill>
            <a:ln>
              <a:noFill/>
            </a:ln>
          </p:spPr>
        </p:sp>
        <p:sp>
          <p:nvSpPr>
            <p:cNvPr id="23" name="Text 23"/>
            <p:cNvSpPr txBox="1"/>
            <p:nvPr/>
          </p:nvSpPr>
          <p:spPr>
            <a:xfrm>
              <a:off x="5676702" y="3005122"/>
              <a:ext cx="252209" cy="148456"/>
            </a:xfrm>
            <a:prstGeom prst="rect">
              <a:avLst/>
            </a:prstGeom>
            <a:noFill/>
            <a:ln>
              <a:noFill/>
            </a:ln>
          </p:spPr>
          <p:txBody>
            <a:bodyPr wrap="none" lIns="0" tIns="0" rIns="0" bIns="0" anchor="t">
              <a:noAutofit/>
            </a:bodyPr>
            <a:lstStyle/>
            <a:p>
              <a:pPr algn="l">
                <a:lnSpc>
                  <a:spcPct val="100000"/>
                </a:lnSpc>
                <a:spcBef>
                  <a:spcPts val="0"/>
                </a:spcBef>
                <a:spcAft>
                  <a:spcPts val="0"/>
                </a:spcAft>
                <a:buNone/>
              </a:pPr>
              <a:r>
                <a:rPr lang="en-US" sz="935" b="1" dirty="0">
                  <a:solidFill>
                    <a:srgbClr val="0F172A"/>
                  </a:solidFill>
                  <a:latin typeface="Arial"/>
                  <a:cs typeface="Arial"/>
                </a:rPr>
                <a:t>35</a:t>
              </a:r>
              <a:endParaRPr lang="en-US" sz="935" dirty="0"/>
            </a:p>
          </p:txBody>
        </p:sp>
        <p:sp>
          <p:nvSpPr>
            <p:cNvPr id="24" name="Text 24"/>
            <p:cNvSpPr txBox="1"/>
            <p:nvPr/>
          </p:nvSpPr>
          <p:spPr>
            <a:xfrm>
              <a:off x="50406" y="3279073"/>
              <a:ext cx="2968226" cy="155525"/>
            </a:xfrm>
            <a:prstGeom prst="rect">
              <a:avLst/>
            </a:prstGeom>
            <a:noFill/>
            <a:ln>
              <a:noFill/>
            </a:ln>
          </p:spPr>
          <p:txBody>
            <a:bodyPr wrap="none" lIns="0" tIns="0" rIns="0" bIns="0" anchor="t">
              <a:noAutofit/>
            </a:bodyPr>
            <a:lstStyle/>
            <a:p>
              <a:pPr algn="r">
                <a:lnSpc>
                  <a:spcPct val="100000"/>
                </a:lnSpc>
                <a:spcBef>
                  <a:spcPts val="0"/>
                </a:spcBef>
                <a:spcAft>
                  <a:spcPts val="0"/>
                </a:spcAft>
                <a:buNone/>
              </a:pPr>
              <a:r>
                <a:rPr lang="en-US" sz="980" dirty="0">
                  <a:solidFill>
                    <a:srgbClr val="0F172A"/>
                  </a:solidFill>
                  <a:latin typeface="Arial"/>
                  <a:cs typeface="Arial"/>
                </a:rPr>
                <a:t>Vertex AI P95 TTFT, DeepSeek V3.1</a:t>
              </a:r>
              <a:endParaRPr lang="en-US" sz="980" dirty="0"/>
            </a:p>
          </p:txBody>
        </p:sp>
        <p:sp>
          <p:nvSpPr>
            <p:cNvPr id="25" name="Text 25"/>
            <p:cNvSpPr txBox="1"/>
            <p:nvPr/>
          </p:nvSpPr>
          <p:spPr>
            <a:xfrm>
              <a:off x="1666252" y="3426115"/>
              <a:ext cx="1352379" cy="155525"/>
            </a:xfrm>
            <a:prstGeom prst="rect">
              <a:avLst/>
            </a:prstGeom>
            <a:noFill/>
            <a:ln>
              <a:noFill/>
            </a:ln>
          </p:spPr>
          <p:txBody>
            <a:bodyPr wrap="none" lIns="0" tIns="0" rIns="0" bIns="0" anchor="t">
              <a:noAutofit/>
            </a:bodyPr>
            <a:lstStyle/>
            <a:p>
              <a:pPr algn="r">
                <a:lnSpc>
                  <a:spcPct val="100000"/>
                </a:lnSpc>
                <a:spcBef>
                  <a:spcPts val="0"/>
                </a:spcBef>
                <a:spcAft>
                  <a:spcPts val="0"/>
                </a:spcAft>
                <a:buNone/>
              </a:pPr>
              <a:r>
                <a:rPr lang="en-US" sz="980" dirty="0">
                  <a:solidFill>
                    <a:srgbClr val="0F172A"/>
                  </a:solidFill>
                  <a:latin typeface="Arial"/>
                  <a:cs typeface="Arial"/>
                </a:rPr>
                <a:t>(GKE Gateway)</a:t>
              </a:r>
              <a:endParaRPr lang="en-US" sz="980" dirty="0"/>
            </a:p>
          </p:txBody>
        </p:sp>
        <p:sp>
          <p:nvSpPr>
            <p:cNvPr id="26" name="Rect 26"/>
            <p:cNvSpPr/>
            <p:nvPr/>
          </p:nvSpPr>
          <p:spPr>
            <a:xfrm>
              <a:off x="3154363" y="3324995"/>
              <a:ext cx="3646646" cy="180975"/>
            </a:xfrm>
            <a:prstGeom prst="roundRect">
              <a:avLst>
                <a:gd name="adj" fmla="val 18750"/>
              </a:avLst>
            </a:prstGeom>
            <a:solidFill>
              <a:srgbClr val="4F46E5"/>
            </a:solidFill>
            <a:ln>
              <a:noFill/>
            </a:ln>
          </p:spPr>
        </p:sp>
        <p:sp>
          <p:nvSpPr>
            <p:cNvPr id="27" name="Text 27"/>
            <p:cNvSpPr txBox="1"/>
            <p:nvPr/>
          </p:nvSpPr>
          <p:spPr>
            <a:xfrm>
              <a:off x="6868874" y="3344450"/>
              <a:ext cx="252209" cy="148456"/>
            </a:xfrm>
            <a:prstGeom prst="rect">
              <a:avLst/>
            </a:prstGeom>
            <a:noFill/>
            <a:ln>
              <a:noFill/>
            </a:ln>
          </p:spPr>
          <p:txBody>
            <a:bodyPr wrap="none" lIns="0" tIns="0" rIns="0" bIns="0" anchor="t">
              <a:noAutofit/>
            </a:bodyPr>
            <a:lstStyle/>
            <a:p>
              <a:pPr algn="l">
                <a:lnSpc>
                  <a:spcPct val="100000"/>
                </a:lnSpc>
                <a:spcBef>
                  <a:spcPts val="0"/>
                </a:spcBef>
                <a:spcAft>
                  <a:spcPts val="0"/>
                </a:spcAft>
                <a:buNone/>
              </a:pPr>
              <a:r>
                <a:rPr lang="en-US" sz="935" b="1" dirty="0">
                  <a:solidFill>
                    <a:srgbClr val="0F172A"/>
                  </a:solidFill>
                  <a:latin typeface="Arial"/>
                  <a:cs typeface="Arial"/>
                </a:rPr>
                <a:t>52</a:t>
              </a:r>
              <a:endParaRPr lang="en-US" sz="935" dirty="0"/>
            </a:p>
          </p:txBody>
        </p:sp>
        <p:sp>
          <p:nvSpPr>
            <p:cNvPr id="28" name="Text 28"/>
            <p:cNvSpPr txBox="1"/>
            <p:nvPr/>
          </p:nvSpPr>
          <p:spPr>
            <a:xfrm>
              <a:off x="118339" y="3691922"/>
              <a:ext cx="2900292" cy="155525"/>
            </a:xfrm>
            <a:prstGeom prst="rect">
              <a:avLst/>
            </a:prstGeom>
            <a:noFill/>
            <a:ln>
              <a:noFill/>
            </a:ln>
          </p:spPr>
          <p:txBody>
            <a:bodyPr wrap="none" lIns="0" tIns="0" rIns="0" bIns="0" anchor="t">
              <a:noAutofit/>
            </a:bodyPr>
            <a:lstStyle/>
            <a:p>
              <a:pPr algn="r">
                <a:lnSpc>
                  <a:spcPct val="100000"/>
                </a:lnSpc>
                <a:spcBef>
                  <a:spcPts val="0"/>
                </a:spcBef>
                <a:spcAft>
                  <a:spcPts val="0"/>
                </a:spcAft>
                <a:buNone/>
              </a:pPr>
              <a:r>
                <a:rPr lang="en-US" sz="980" dirty="0">
                  <a:solidFill>
                    <a:srgbClr val="0F172A"/>
                  </a:solidFill>
                  <a:latin typeface="Arial"/>
                  <a:cs typeface="Arial"/>
                </a:rPr>
                <a:t>Vertex AI TTFT/ITL, up to (llm-d)</a:t>
              </a:r>
              <a:endParaRPr lang="en-US" sz="980" dirty="0"/>
            </a:p>
          </p:txBody>
        </p:sp>
        <p:sp>
          <p:nvSpPr>
            <p:cNvPr id="29" name="Rect 29"/>
            <p:cNvSpPr/>
            <p:nvPr/>
          </p:nvSpPr>
          <p:spPr>
            <a:xfrm>
              <a:off x="3154363" y="3664323"/>
              <a:ext cx="2805113" cy="180975"/>
            </a:xfrm>
            <a:prstGeom prst="roundRect">
              <a:avLst>
                <a:gd name="adj" fmla="val 18750"/>
              </a:avLst>
            </a:prstGeom>
            <a:solidFill>
              <a:srgbClr val="4F46E5"/>
            </a:solidFill>
            <a:ln>
              <a:noFill/>
            </a:ln>
          </p:spPr>
        </p:sp>
        <p:sp>
          <p:nvSpPr>
            <p:cNvPr id="30" name="Text 30"/>
            <p:cNvSpPr txBox="1"/>
            <p:nvPr/>
          </p:nvSpPr>
          <p:spPr>
            <a:xfrm>
              <a:off x="6027341" y="3683778"/>
              <a:ext cx="252209" cy="148456"/>
            </a:xfrm>
            <a:prstGeom prst="rect">
              <a:avLst/>
            </a:prstGeom>
            <a:noFill/>
            <a:ln>
              <a:noFill/>
            </a:ln>
          </p:spPr>
          <p:txBody>
            <a:bodyPr wrap="none" lIns="0" tIns="0" rIns="0" bIns="0" anchor="t">
              <a:noAutofit/>
            </a:bodyPr>
            <a:lstStyle/>
            <a:p>
              <a:pPr algn="l">
                <a:lnSpc>
                  <a:spcPct val="100000"/>
                </a:lnSpc>
                <a:spcBef>
                  <a:spcPts val="0"/>
                </a:spcBef>
                <a:spcAft>
                  <a:spcPts val="0"/>
                </a:spcAft>
                <a:buNone/>
              </a:pPr>
              <a:r>
                <a:rPr lang="en-US" sz="935" b="1" dirty="0">
                  <a:solidFill>
                    <a:srgbClr val="0F172A"/>
                  </a:solidFill>
                  <a:latin typeface="Arial"/>
                  <a:cs typeface="Arial"/>
                </a:rPr>
                <a:t>40</a:t>
              </a:r>
              <a:endParaRPr lang="en-US" sz="935" dirty="0"/>
            </a:p>
          </p:txBody>
        </p:sp>
        <p:sp>
          <p:nvSpPr>
            <p:cNvPr id="31" name="Text 31"/>
            <p:cNvSpPr txBox="1"/>
            <p:nvPr/>
          </p:nvSpPr>
          <p:spPr>
            <a:xfrm>
              <a:off x="598726" y="3957729"/>
              <a:ext cx="2419905" cy="155525"/>
            </a:xfrm>
            <a:prstGeom prst="rect">
              <a:avLst/>
            </a:prstGeom>
            <a:noFill/>
            <a:ln>
              <a:noFill/>
            </a:ln>
          </p:spPr>
          <p:txBody>
            <a:bodyPr wrap="none" lIns="0" tIns="0" rIns="0" bIns="0" anchor="t">
              <a:noAutofit/>
            </a:bodyPr>
            <a:lstStyle/>
            <a:p>
              <a:pPr algn="r">
                <a:lnSpc>
                  <a:spcPct val="100000"/>
                </a:lnSpc>
                <a:spcBef>
                  <a:spcPts val="0"/>
                </a:spcBef>
                <a:spcAft>
                  <a:spcPts val="0"/>
                </a:spcAft>
                <a:buNone/>
              </a:pPr>
              <a:r>
                <a:rPr lang="en-US" sz="980" dirty="0">
                  <a:solidFill>
                    <a:srgbClr val="0F172A"/>
                  </a:solidFill>
                  <a:latin typeface="Arial"/>
                  <a:cs typeface="Arial"/>
                </a:rPr>
                <a:t>llm-d p50 end-to-end vs best</a:t>
              </a:r>
              <a:endParaRPr lang="en-US" sz="980" dirty="0"/>
            </a:p>
          </p:txBody>
        </p:sp>
        <p:sp>
          <p:nvSpPr>
            <p:cNvPr id="32" name="Text 32"/>
            <p:cNvSpPr txBox="1"/>
            <p:nvPr/>
          </p:nvSpPr>
          <p:spPr>
            <a:xfrm>
              <a:off x="2200015" y="4104771"/>
              <a:ext cx="818616" cy="155525"/>
            </a:xfrm>
            <a:prstGeom prst="rect">
              <a:avLst/>
            </a:prstGeom>
            <a:noFill/>
            <a:ln>
              <a:noFill/>
            </a:ln>
          </p:spPr>
          <p:txBody>
            <a:bodyPr wrap="none" lIns="0" tIns="0" rIns="0" bIns="0" anchor="t">
              <a:noAutofit/>
            </a:bodyPr>
            <a:lstStyle/>
            <a:p>
              <a:pPr algn="r">
                <a:lnSpc>
                  <a:spcPct val="100000"/>
                </a:lnSpc>
                <a:spcBef>
                  <a:spcPts val="0"/>
                </a:spcBef>
                <a:spcAft>
                  <a:spcPts val="0"/>
                </a:spcAft>
                <a:buNone/>
              </a:pPr>
              <a:r>
                <a:rPr lang="en-US" sz="980" dirty="0">
                  <a:solidFill>
                    <a:srgbClr val="0F172A"/>
                  </a:solidFill>
                  <a:latin typeface="Arial"/>
                  <a:cs typeface="Arial"/>
                </a:rPr>
                <a:t>heuristic</a:t>
              </a:r>
              <a:endParaRPr lang="en-US" sz="980" dirty="0"/>
            </a:p>
          </p:txBody>
        </p:sp>
        <p:sp>
          <p:nvSpPr>
            <p:cNvPr id="33" name="Rect 33"/>
            <p:cNvSpPr/>
            <p:nvPr/>
          </p:nvSpPr>
          <p:spPr>
            <a:xfrm>
              <a:off x="3154363" y="4003651"/>
              <a:ext cx="3015496" cy="180975"/>
            </a:xfrm>
            <a:prstGeom prst="roundRect">
              <a:avLst>
                <a:gd name="adj" fmla="val 18750"/>
              </a:avLst>
            </a:prstGeom>
            <a:solidFill>
              <a:srgbClr val="4F46E5"/>
            </a:solidFill>
            <a:ln>
              <a:noFill/>
            </a:ln>
          </p:spPr>
        </p:sp>
        <p:sp>
          <p:nvSpPr>
            <p:cNvPr id="34" name="Text 34"/>
            <p:cNvSpPr txBox="1"/>
            <p:nvPr/>
          </p:nvSpPr>
          <p:spPr>
            <a:xfrm>
              <a:off x="6237724" y="4023106"/>
              <a:ext cx="252209" cy="148456"/>
            </a:xfrm>
            <a:prstGeom prst="rect">
              <a:avLst/>
            </a:prstGeom>
            <a:noFill/>
            <a:ln>
              <a:noFill/>
            </a:ln>
          </p:spPr>
          <p:txBody>
            <a:bodyPr wrap="none" lIns="0" tIns="0" rIns="0" bIns="0" anchor="t">
              <a:noAutofit/>
            </a:bodyPr>
            <a:lstStyle/>
            <a:p>
              <a:pPr algn="l">
                <a:lnSpc>
                  <a:spcPct val="100000"/>
                </a:lnSpc>
                <a:spcBef>
                  <a:spcPts val="0"/>
                </a:spcBef>
                <a:spcAft>
                  <a:spcPts val="0"/>
                </a:spcAft>
                <a:buNone/>
              </a:pPr>
              <a:r>
                <a:rPr lang="en-US" sz="935" b="1" dirty="0">
                  <a:solidFill>
                    <a:srgbClr val="0F172A"/>
                  </a:solidFill>
                  <a:latin typeface="Arial"/>
                  <a:cs typeface="Arial"/>
                </a:rPr>
                <a:t>43</a:t>
              </a:r>
              <a:endParaRPr lang="en-US" sz="935" dirty="0"/>
            </a:p>
          </p:txBody>
        </p:sp>
        <p:sp>
          <p:nvSpPr>
            <p:cNvPr id="35" name="Text 35"/>
            <p:cNvSpPr txBox="1"/>
            <p:nvPr/>
          </p:nvSpPr>
          <p:spPr>
            <a:xfrm>
              <a:off x="438597" y="4370578"/>
              <a:ext cx="2580034" cy="155525"/>
            </a:xfrm>
            <a:prstGeom prst="rect">
              <a:avLst/>
            </a:prstGeom>
            <a:noFill/>
            <a:ln>
              <a:noFill/>
            </a:ln>
          </p:spPr>
          <p:txBody>
            <a:bodyPr wrap="none" lIns="0" tIns="0" rIns="0" bIns="0" anchor="t">
              <a:noAutofit/>
            </a:bodyPr>
            <a:lstStyle/>
            <a:p>
              <a:pPr algn="r">
                <a:lnSpc>
                  <a:spcPct val="100000"/>
                </a:lnSpc>
                <a:spcBef>
                  <a:spcPts val="0"/>
                </a:spcBef>
                <a:spcAft>
                  <a:spcPts val="0"/>
                </a:spcAft>
                <a:buNone/>
              </a:pPr>
              <a:r>
                <a:rPr lang="en-US" sz="980" dirty="0">
                  <a:solidFill>
                    <a:srgbClr val="0F172A"/>
                  </a:solidFill>
                  <a:latin typeface="Arial"/>
                  <a:cs typeface="Arial"/>
                </a:rPr>
                <a:t>Baseten P95 latency (Dynamo)</a:t>
              </a:r>
              <a:endParaRPr lang="en-US" sz="980" dirty="0"/>
            </a:p>
          </p:txBody>
        </p:sp>
        <p:sp>
          <p:nvSpPr>
            <p:cNvPr id="36" name="Rect 36"/>
            <p:cNvSpPr/>
            <p:nvPr/>
          </p:nvSpPr>
          <p:spPr>
            <a:xfrm>
              <a:off x="3154363" y="4342979"/>
              <a:ext cx="3366135" cy="180975"/>
            </a:xfrm>
            <a:prstGeom prst="roundRect">
              <a:avLst>
                <a:gd name="adj" fmla="val 18750"/>
              </a:avLst>
            </a:prstGeom>
            <a:solidFill>
              <a:srgbClr val="4F46E5"/>
            </a:solidFill>
            <a:ln>
              <a:noFill/>
            </a:ln>
          </p:spPr>
        </p:sp>
        <p:sp>
          <p:nvSpPr>
            <p:cNvPr id="37" name="Text 37"/>
            <p:cNvSpPr txBox="1"/>
            <p:nvPr/>
          </p:nvSpPr>
          <p:spPr>
            <a:xfrm>
              <a:off x="6588363" y="4362434"/>
              <a:ext cx="252209" cy="148456"/>
            </a:xfrm>
            <a:prstGeom prst="rect">
              <a:avLst/>
            </a:prstGeom>
            <a:noFill/>
            <a:ln>
              <a:noFill/>
            </a:ln>
          </p:spPr>
          <p:txBody>
            <a:bodyPr wrap="none" lIns="0" tIns="0" rIns="0" bIns="0" anchor="t">
              <a:noAutofit/>
            </a:bodyPr>
            <a:lstStyle/>
            <a:p>
              <a:pPr algn="l">
                <a:lnSpc>
                  <a:spcPct val="100000"/>
                </a:lnSpc>
                <a:spcBef>
                  <a:spcPts val="0"/>
                </a:spcBef>
                <a:spcAft>
                  <a:spcPts val="0"/>
                </a:spcAft>
                <a:buNone/>
              </a:pPr>
              <a:r>
                <a:rPr lang="en-US" sz="935" b="1" dirty="0">
                  <a:solidFill>
                    <a:srgbClr val="0F172A"/>
                  </a:solidFill>
                  <a:latin typeface="Arial"/>
                  <a:cs typeface="Arial"/>
                </a:rPr>
                <a:t>48</a:t>
              </a:r>
              <a:endParaRPr lang="en-US" sz="935" dirty="0"/>
            </a:p>
          </p:txBody>
        </p:sp>
        <p:sp>
          <p:nvSpPr>
            <p:cNvPr id="38" name="Text 38"/>
            <p:cNvSpPr txBox="1"/>
            <p:nvPr/>
          </p:nvSpPr>
          <p:spPr>
            <a:xfrm>
              <a:off x="438597" y="4709906"/>
              <a:ext cx="2580034" cy="155525"/>
            </a:xfrm>
            <a:prstGeom prst="rect">
              <a:avLst/>
            </a:prstGeom>
            <a:noFill/>
            <a:ln>
              <a:noFill/>
            </a:ln>
          </p:spPr>
          <p:txBody>
            <a:bodyPr wrap="none" lIns="0" tIns="0" rIns="0" bIns="0" anchor="t">
              <a:noAutofit/>
            </a:bodyPr>
            <a:lstStyle/>
            <a:p>
              <a:pPr algn="r">
                <a:lnSpc>
                  <a:spcPct val="100000"/>
                </a:lnSpc>
                <a:spcBef>
                  <a:spcPts val="0"/>
                </a:spcBef>
                <a:spcAft>
                  <a:spcPts val="0"/>
                </a:spcAft>
                <a:buNone/>
              </a:pPr>
              <a:r>
                <a:rPr lang="en-US" sz="980" dirty="0">
                  <a:solidFill>
                    <a:srgbClr val="0F172A"/>
                  </a:solidFill>
                  <a:latin typeface="Arial"/>
                  <a:cs typeface="Arial"/>
                </a:rPr>
                <a:t>Baseten P99 latency (Dynamo)</a:t>
              </a:r>
              <a:endParaRPr lang="en-US" sz="980" dirty="0"/>
            </a:p>
          </p:txBody>
        </p:sp>
        <p:sp>
          <p:nvSpPr>
            <p:cNvPr id="39" name="Rect 39"/>
            <p:cNvSpPr/>
            <p:nvPr/>
          </p:nvSpPr>
          <p:spPr>
            <a:xfrm>
              <a:off x="3154363" y="4682307"/>
              <a:ext cx="3436263" cy="180975"/>
            </a:xfrm>
            <a:prstGeom prst="roundRect">
              <a:avLst>
                <a:gd name="adj" fmla="val 18750"/>
              </a:avLst>
            </a:prstGeom>
            <a:solidFill>
              <a:srgbClr val="4F46E5"/>
            </a:solidFill>
            <a:ln>
              <a:noFill/>
            </a:ln>
          </p:spPr>
        </p:sp>
        <p:sp>
          <p:nvSpPr>
            <p:cNvPr id="40" name="Text 40"/>
            <p:cNvSpPr txBox="1"/>
            <p:nvPr/>
          </p:nvSpPr>
          <p:spPr>
            <a:xfrm>
              <a:off x="6658491" y="4701762"/>
              <a:ext cx="252209" cy="148456"/>
            </a:xfrm>
            <a:prstGeom prst="rect">
              <a:avLst/>
            </a:prstGeom>
            <a:noFill/>
            <a:ln>
              <a:noFill/>
            </a:ln>
          </p:spPr>
          <p:txBody>
            <a:bodyPr wrap="none" lIns="0" tIns="0" rIns="0" bIns="0" anchor="t">
              <a:noAutofit/>
            </a:bodyPr>
            <a:lstStyle/>
            <a:p>
              <a:pPr algn="l">
                <a:lnSpc>
                  <a:spcPct val="100000"/>
                </a:lnSpc>
                <a:spcBef>
                  <a:spcPts val="0"/>
                </a:spcBef>
                <a:spcAft>
                  <a:spcPts val="0"/>
                </a:spcAft>
                <a:buNone/>
              </a:pPr>
              <a:r>
                <a:rPr lang="en-US" sz="935" b="1" dirty="0">
                  <a:solidFill>
                    <a:srgbClr val="0F172A"/>
                  </a:solidFill>
                  <a:latin typeface="Arial"/>
                  <a:cs typeface="Arial"/>
                </a:rPr>
                <a:t>49</a:t>
              </a:r>
              <a:endParaRPr lang="en-US" sz="935" dirty="0"/>
            </a:p>
          </p:txBody>
        </p:sp>
      </p:grpSp>
      <p:sp>
        <p:nvSpPr>
          <p:cNvPr id="41" name="Text 41"/>
          <p:cNvSpPr txBox="1"/>
          <p:nvPr/>
        </p:nvSpPr>
        <p:spPr>
          <a:xfrm>
            <a:off x="711200" y="6096000"/>
            <a:ext cx="10769600" cy="177800"/>
          </a:xfrm>
          <a:prstGeom prst="rect">
            <a:avLst/>
          </a:prstGeom>
          <a:noFill/>
          <a:ln>
            <a:noFill/>
          </a:ln>
        </p:spPr>
        <p:txBody>
          <a:bodyPr wrap="square" lIns="0" tIns="0" rIns="0" bIns="0" anchor="t">
            <a:noAutofit/>
          </a:bodyPr>
          <a:lstStyle/>
          <a:p>
            <a:pPr algn="l">
              <a:lnSpc>
                <a:spcPct val="108000"/>
              </a:lnSpc>
              <a:spcBef>
                <a:spcPts val="0"/>
              </a:spcBef>
              <a:spcAft>
                <a:spcPts val="0"/>
              </a:spcAft>
              <a:buNone/>
            </a:pPr>
            <a:r>
              <a:rPr lang="en-US" sz="850" dirty="0">
                <a:solidFill>
                  <a:srgbClr val="64748B"/>
                </a:solidFill>
                <a:latin typeface="Arial"/>
                <a:cs typeface="Arial"/>
              </a:rPr>
              <a:t>Source: [16], [40], [41]. Data as of 2026-02 to 2026-03. Different models, workloads and baselines. Not directly comparable.</a:t>
            </a:r>
            <a:endParaRPr lang="en-US" sz="8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p:nvPr/>
        </p:nvSpPr>
        <p:spPr>
          <a:xfrm>
            <a:off x="711200" y="508000"/>
            <a:ext cx="558800" cy="63500"/>
          </a:xfrm>
          <a:prstGeom prst="roundRect">
            <a:avLst>
              <a:gd name="adj" fmla="val 50000"/>
            </a:avLst>
          </a:prstGeom>
          <a:gradFill rotWithShape="1">
            <a:gsLst>
              <a:gs pos="0">
                <a:srgbClr val="4F46E5"/>
              </a:gs>
              <a:gs pos="50000">
                <a:srgbClr val="7C3AED"/>
              </a:gs>
              <a:gs pos="100000">
                <a:srgbClr val="06B6D4"/>
              </a:gs>
            </a:gsLst>
            <a:lin ang="0" scaled="0"/>
          </a:gradFill>
          <a:ln>
            <a:noFill/>
          </a:ln>
        </p:spPr>
      </p:sp>
      <p:sp>
        <p:nvSpPr>
          <p:cNvPr id="3" name="Text 3"/>
          <p:cNvSpPr txBox="1"/>
          <p:nvPr/>
        </p:nvSpPr>
        <p:spPr>
          <a:xfrm>
            <a:off x="711200" y="685800"/>
            <a:ext cx="10769600" cy="203200"/>
          </a:xfrm>
          <a:prstGeom prst="rect">
            <a:avLst/>
          </a:prstGeom>
          <a:noFill/>
          <a:ln>
            <a:noFill/>
          </a:ln>
        </p:spPr>
        <p:txBody>
          <a:bodyPr wrap="square" lIns="0" tIns="0" rIns="0" bIns="0" anchor="t">
            <a:noAutofit/>
          </a:bodyPr>
          <a:lstStyle/>
          <a:p>
            <a:pPr algn="l">
              <a:lnSpc>
                <a:spcPct val="108000"/>
              </a:lnSpc>
              <a:spcBef>
                <a:spcPts val="0"/>
              </a:spcBef>
              <a:spcAft>
                <a:spcPts val="0"/>
              </a:spcAft>
              <a:buNone/>
            </a:pPr>
            <a:r>
              <a:rPr lang="en-US" sz="950" b="1" spc="140" dirty="0">
                <a:solidFill>
                  <a:srgbClr val="4F46E5"/>
                </a:solidFill>
                <a:latin typeface="Arial"/>
                <a:cs typeface="Arial"/>
              </a:rPr>
              <a:t>SECTION 06 · PRODUCTION CASE STUDIES</a:t>
            </a:r>
            <a:endParaRPr lang="en-US" sz="950" dirty="0"/>
          </a:p>
        </p:txBody>
      </p:sp>
      <p:sp>
        <p:nvSpPr>
          <p:cNvPr id="4" name="Text 4"/>
          <p:cNvSpPr txBox="1"/>
          <p:nvPr/>
        </p:nvSpPr>
        <p:spPr>
          <a:xfrm>
            <a:off x="711200" y="965200"/>
            <a:ext cx="10515600" cy="481584"/>
          </a:xfrm>
          <a:prstGeom prst="rect">
            <a:avLst/>
          </a:prstGeom>
          <a:noFill/>
          <a:ln>
            <a:noFill/>
          </a:ln>
        </p:spPr>
        <p:txBody>
          <a:bodyPr wrap="square" lIns="0" tIns="0" rIns="0" bIns="0" anchor="t">
            <a:noAutofit/>
          </a:bodyPr>
          <a:lstStyle/>
          <a:p>
            <a:pPr algn="l">
              <a:lnSpc>
                <a:spcPct val="96000"/>
              </a:lnSpc>
              <a:spcBef>
                <a:spcPts val="0"/>
              </a:spcBef>
              <a:spcAft>
                <a:spcPts val="0"/>
              </a:spcAft>
              <a:buNone/>
            </a:pPr>
            <a:r>
              <a:rPr lang="en-US" sz="2800" b="1" spc="-30" dirty="0">
                <a:solidFill>
                  <a:srgbClr val="0F172A"/>
                </a:solidFill>
                <a:latin typeface="Arial"/>
                <a:cs typeface="Arial"/>
              </a:rPr>
              <a:t>Production case studies</a:t>
            </a:r>
            <a:endParaRPr lang="en-US" sz="2800" dirty="0"/>
          </a:p>
        </p:txBody>
      </p:sp>
      <p:sp>
        <p:nvSpPr>
          <p:cNvPr id="5" name="Shape 5"/>
          <p:cNvSpPr/>
          <p:nvPr/>
        </p:nvSpPr>
        <p:spPr>
          <a:xfrm>
            <a:off x="711200" y="6451600"/>
            <a:ext cx="10769600" cy="9525"/>
          </a:xfrm>
          <a:prstGeom prst="rect">
            <a:avLst/>
          </a:prstGeom>
          <a:solidFill>
            <a:srgbClr val="E2E8F0"/>
          </a:solidFill>
          <a:ln>
            <a:noFill/>
          </a:ln>
        </p:spPr>
      </p:sp>
      <p:sp>
        <p:nvSpPr>
          <p:cNvPr id="6" name="Text 6"/>
          <p:cNvSpPr txBox="1"/>
          <p:nvPr/>
        </p:nvSpPr>
        <p:spPr>
          <a:xfrm>
            <a:off x="711200" y="6527800"/>
            <a:ext cx="9753600" cy="177800"/>
          </a:xfrm>
          <a:prstGeom prst="rect">
            <a:avLst/>
          </a:prstGeom>
          <a:noFill/>
          <a:ln>
            <a:noFill/>
          </a:ln>
        </p:spPr>
        <p:txBody>
          <a:bodyPr wrap="square" lIns="0" tIns="0" rIns="0" bIns="0" anchor="t">
            <a:noAutofit/>
          </a:bodyPr>
          <a:lstStyle/>
          <a:p>
            <a:pPr algn="l">
              <a:lnSpc>
                <a:spcPct val="108000"/>
              </a:lnSpc>
              <a:spcBef>
                <a:spcPts val="0"/>
              </a:spcBef>
              <a:spcAft>
                <a:spcPts val="0"/>
              </a:spcAft>
              <a:buNone/>
            </a:pPr>
            <a:r>
              <a:rPr lang="en-US" sz="800" dirty="0">
                <a:solidFill>
                  <a:srgbClr val="94A3B8"/>
                </a:solidFill>
                <a:latin typeface="Arial"/>
                <a:cs typeface="Arial"/>
              </a:rPr>
              <a:t>Kubernetes as the Platform for AI Infrastructure</a:t>
            </a:r>
            <a:endParaRPr lang="en-US" sz="800" dirty="0"/>
          </a:p>
        </p:txBody>
      </p:sp>
      <p:sp>
        <p:nvSpPr>
          <p:cNvPr id="7" name="Text 7"/>
          <p:cNvSpPr txBox="1"/>
          <p:nvPr/>
        </p:nvSpPr>
        <p:spPr>
          <a:xfrm>
            <a:off x="10718800" y="6527800"/>
            <a:ext cx="762000" cy="177800"/>
          </a:xfrm>
          <a:prstGeom prst="rect">
            <a:avLst/>
          </a:prstGeom>
          <a:noFill/>
          <a:ln>
            <a:noFill/>
          </a:ln>
        </p:spPr>
        <p:txBody>
          <a:bodyPr wrap="square" lIns="0" tIns="0" rIns="0" bIns="0" anchor="t">
            <a:noAutofit/>
          </a:bodyPr>
          <a:lstStyle/>
          <a:p>
            <a:pPr algn="r">
              <a:lnSpc>
                <a:spcPct val="108000"/>
              </a:lnSpc>
              <a:spcBef>
                <a:spcPts val="0"/>
              </a:spcBef>
              <a:spcAft>
                <a:spcPts val="0"/>
              </a:spcAft>
              <a:buNone/>
            </a:pPr>
            <a:r>
              <a:rPr lang="en-US" sz="850" b="1" dirty="0">
                <a:solidFill>
                  <a:srgbClr val="0F172A"/>
                </a:solidFill>
                <a:latin typeface="Arial"/>
                <a:cs typeface="Arial"/>
              </a:rPr>
              <a:t>29</a:t>
            </a:r>
            <a:endParaRPr lang="en-US" sz="850" dirty="0"/>
          </a:p>
        </p:txBody>
      </p:sp>
      <p:sp>
        <p:nvSpPr>
          <p:cNvPr id="8" name="Text 8"/>
          <p:cNvSpPr txBox="1"/>
          <p:nvPr/>
        </p:nvSpPr>
        <p:spPr>
          <a:xfrm>
            <a:off x="711200" y="1700784"/>
            <a:ext cx="9261856" cy="4547616"/>
          </a:xfrm>
          <a:prstGeom prst="rect">
            <a:avLst/>
          </a:prstGeom>
          <a:noFill/>
          <a:ln>
            <a:noFill/>
          </a:ln>
        </p:spPr>
        <p:txBody>
          <a:bodyPr wrap="square" lIns="0" tIns="0" rIns="0" bIns="0" anchor="t">
            <a:noAutofit/>
          </a:bodyPr>
          <a:lstStyle/>
          <a:p>
            <a:pPr marL="248285" indent="-248285" algn="l">
              <a:lnSpc>
                <a:spcPct val="118000"/>
              </a:lnSpc>
              <a:spcBef>
                <a:spcPts val="0"/>
              </a:spcBef>
              <a:spcAft>
                <a:spcPts val="1275"/>
              </a:spcAft>
              <a:buClr>
                <a:srgbClr val="4F46E5"/>
              </a:buClr>
              <a:buFont typeface="Arial"/>
              <a:buChar char="•"/>
            </a:pPr>
            <a:r>
              <a:rPr lang="en-US" sz="1700" dirty="0">
                <a:solidFill>
                  <a:srgbClr val="334155"/>
                </a:solidFill>
                <a:latin typeface="Arial"/>
                <a:cs typeface="Arial"/>
              </a:rPr>
              <a:t>Earlier milestones are historical. OpenAI reported scaling one Kubernetes cluster to 7,500 nodes in January 2021, per a secondary summary</a:t>
            </a:r>
            <a:r>
              <a:rPr lang="en-US" sz="1700" baseline="30000" dirty="0">
                <a:solidFill>
                  <a:srgbClr val="64748B"/>
                </a:solidFill>
                <a:latin typeface="Arial"/>
                <a:cs typeface="Arial"/>
              </a:rPr>
              <a:t> 67</a:t>
            </a:r>
            <a:r>
              <a:rPr lang="en-US" sz="1700" dirty="0">
                <a:solidFill>
                  <a:srgbClr val="334155"/>
                </a:solidFill>
                <a:latin typeface="Arial"/>
                <a:cs typeface="Arial"/>
              </a:rPr>
              <a:t>.</a:t>
            </a:r>
            <a:endParaRPr lang="en-US" sz="17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p:nvPr/>
        </p:nvSpPr>
        <p:spPr>
          <a:xfrm>
            <a:off x="711200" y="508000"/>
            <a:ext cx="558800" cy="63500"/>
          </a:xfrm>
          <a:prstGeom prst="roundRect">
            <a:avLst>
              <a:gd name="adj" fmla="val 50000"/>
            </a:avLst>
          </a:prstGeom>
          <a:gradFill rotWithShape="1">
            <a:gsLst>
              <a:gs pos="0">
                <a:srgbClr val="4F46E5"/>
              </a:gs>
              <a:gs pos="50000">
                <a:srgbClr val="7C3AED"/>
              </a:gs>
              <a:gs pos="100000">
                <a:srgbClr val="06B6D4"/>
              </a:gs>
            </a:gsLst>
            <a:lin ang="0" scaled="0"/>
          </a:gradFill>
          <a:ln>
            <a:noFill/>
          </a:ln>
        </p:spPr>
      </p:sp>
      <p:sp>
        <p:nvSpPr>
          <p:cNvPr id="3" name="Text 3"/>
          <p:cNvSpPr txBox="1"/>
          <p:nvPr/>
        </p:nvSpPr>
        <p:spPr>
          <a:xfrm>
            <a:off x="711200" y="685800"/>
            <a:ext cx="10769600" cy="203200"/>
          </a:xfrm>
          <a:prstGeom prst="rect">
            <a:avLst/>
          </a:prstGeom>
          <a:noFill/>
          <a:ln>
            <a:noFill/>
          </a:ln>
        </p:spPr>
        <p:txBody>
          <a:bodyPr wrap="square" lIns="0" tIns="0" rIns="0" bIns="0" anchor="t">
            <a:noAutofit/>
          </a:bodyPr>
          <a:lstStyle/>
          <a:p>
            <a:pPr algn="l">
              <a:lnSpc>
                <a:spcPct val="108000"/>
              </a:lnSpc>
              <a:spcBef>
                <a:spcPts val="0"/>
              </a:spcBef>
              <a:spcAft>
                <a:spcPts val="0"/>
              </a:spcAft>
              <a:buNone/>
            </a:pPr>
            <a:r>
              <a:rPr lang="en-US" sz="950" b="1" spc="140" dirty="0">
                <a:solidFill>
                  <a:srgbClr val="4F46E5"/>
                </a:solidFill>
                <a:latin typeface="Arial"/>
                <a:cs typeface="Arial"/>
              </a:rPr>
              <a:t>SECTION 07 · LIMITATIONS, OPERATIONAL CHALLENGES AND OPEN PROBLEMS</a:t>
            </a:r>
            <a:endParaRPr lang="en-US" sz="950" dirty="0"/>
          </a:p>
        </p:txBody>
      </p:sp>
      <p:sp>
        <p:nvSpPr>
          <p:cNvPr id="4" name="Text 4"/>
          <p:cNvSpPr txBox="1"/>
          <p:nvPr/>
        </p:nvSpPr>
        <p:spPr>
          <a:xfrm>
            <a:off x="711200" y="965200"/>
            <a:ext cx="10515600" cy="481584"/>
          </a:xfrm>
          <a:prstGeom prst="rect">
            <a:avLst/>
          </a:prstGeom>
          <a:noFill/>
          <a:ln>
            <a:noFill/>
          </a:ln>
        </p:spPr>
        <p:txBody>
          <a:bodyPr wrap="square" lIns="0" tIns="0" rIns="0" bIns="0" anchor="t">
            <a:noAutofit/>
          </a:bodyPr>
          <a:lstStyle/>
          <a:p>
            <a:pPr algn="l">
              <a:lnSpc>
                <a:spcPct val="96000"/>
              </a:lnSpc>
              <a:spcBef>
                <a:spcPts val="0"/>
              </a:spcBef>
              <a:spcAft>
                <a:spcPts val="0"/>
              </a:spcAft>
              <a:buNone/>
            </a:pPr>
            <a:r>
              <a:rPr lang="en-US" sz="2800" b="1" spc="-30" dirty="0">
                <a:solidFill>
                  <a:srgbClr val="0F172A"/>
                </a:solidFill>
                <a:latin typeface="Arial"/>
                <a:cs typeface="Arial"/>
              </a:rPr>
              <a:t>Limitations, operational challenges and open problems</a:t>
            </a:r>
            <a:endParaRPr lang="en-US" sz="2800" dirty="0"/>
          </a:p>
        </p:txBody>
      </p:sp>
      <p:sp>
        <p:nvSpPr>
          <p:cNvPr id="5" name="Shape 5"/>
          <p:cNvSpPr/>
          <p:nvPr/>
        </p:nvSpPr>
        <p:spPr>
          <a:xfrm>
            <a:off x="711200" y="6451600"/>
            <a:ext cx="10769600" cy="9525"/>
          </a:xfrm>
          <a:prstGeom prst="rect">
            <a:avLst/>
          </a:prstGeom>
          <a:solidFill>
            <a:srgbClr val="E2E8F0"/>
          </a:solidFill>
          <a:ln>
            <a:noFill/>
          </a:ln>
        </p:spPr>
      </p:sp>
      <p:sp>
        <p:nvSpPr>
          <p:cNvPr id="6" name="Text 6"/>
          <p:cNvSpPr txBox="1"/>
          <p:nvPr/>
        </p:nvSpPr>
        <p:spPr>
          <a:xfrm>
            <a:off x="711200" y="6527800"/>
            <a:ext cx="9753600" cy="177800"/>
          </a:xfrm>
          <a:prstGeom prst="rect">
            <a:avLst/>
          </a:prstGeom>
          <a:noFill/>
          <a:ln>
            <a:noFill/>
          </a:ln>
        </p:spPr>
        <p:txBody>
          <a:bodyPr wrap="square" lIns="0" tIns="0" rIns="0" bIns="0" anchor="t">
            <a:noAutofit/>
          </a:bodyPr>
          <a:lstStyle/>
          <a:p>
            <a:pPr algn="l">
              <a:lnSpc>
                <a:spcPct val="108000"/>
              </a:lnSpc>
              <a:spcBef>
                <a:spcPts val="0"/>
              </a:spcBef>
              <a:spcAft>
                <a:spcPts val="0"/>
              </a:spcAft>
              <a:buNone/>
            </a:pPr>
            <a:r>
              <a:rPr lang="en-US" sz="800" dirty="0">
                <a:solidFill>
                  <a:srgbClr val="94A3B8"/>
                </a:solidFill>
                <a:latin typeface="Arial"/>
                <a:cs typeface="Arial"/>
              </a:rPr>
              <a:t>Kubernetes as the Platform for AI Infrastructure</a:t>
            </a:r>
            <a:endParaRPr lang="en-US" sz="800" dirty="0"/>
          </a:p>
        </p:txBody>
      </p:sp>
      <p:sp>
        <p:nvSpPr>
          <p:cNvPr id="7" name="Text 7"/>
          <p:cNvSpPr txBox="1"/>
          <p:nvPr/>
        </p:nvSpPr>
        <p:spPr>
          <a:xfrm>
            <a:off x="10718800" y="6527800"/>
            <a:ext cx="762000" cy="177800"/>
          </a:xfrm>
          <a:prstGeom prst="rect">
            <a:avLst/>
          </a:prstGeom>
          <a:noFill/>
          <a:ln>
            <a:noFill/>
          </a:ln>
        </p:spPr>
        <p:txBody>
          <a:bodyPr wrap="square" lIns="0" tIns="0" rIns="0" bIns="0" anchor="t">
            <a:noAutofit/>
          </a:bodyPr>
          <a:lstStyle/>
          <a:p>
            <a:pPr algn="r">
              <a:lnSpc>
                <a:spcPct val="108000"/>
              </a:lnSpc>
              <a:spcBef>
                <a:spcPts val="0"/>
              </a:spcBef>
              <a:spcAft>
                <a:spcPts val="0"/>
              </a:spcAft>
              <a:buNone/>
            </a:pPr>
            <a:r>
              <a:rPr lang="en-US" sz="850" b="1" dirty="0">
                <a:solidFill>
                  <a:srgbClr val="0F172A"/>
                </a:solidFill>
                <a:latin typeface="Arial"/>
                <a:cs typeface="Arial"/>
              </a:rPr>
              <a:t>30</a:t>
            </a:r>
            <a:endParaRPr lang="en-US" sz="850" dirty="0"/>
          </a:p>
        </p:txBody>
      </p:sp>
      <p:sp>
        <p:nvSpPr>
          <p:cNvPr id="8" name="Shape 8"/>
          <p:cNvSpPr/>
          <p:nvPr/>
        </p:nvSpPr>
        <p:spPr>
          <a:xfrm>
            <a:off x="711200" y="5251450"/>
            <a:ext cx="10769600" cy="996950"/>
          </a:xfrm>
          <a:prstGeom prst="roundRect">
            <a:avLst>
              <a:gd name="adj" fmla="val 12738"/>
            </a:avLst>
          </a:prstGeom>
          <a:solidFill>
            <a:srgbClr val="F8FAFC"/>
          </a:solidFill>
          <a:ln>
            <a:noFill/>
          </a:ln>
        </p:spPr>
      </p:sp>
      <p:sp>
        <p:nvSpPr>
          <p:cNvPr id="9" name="Shape 9"/>
          <p:cNvSpPr/>
          <p:nvPr/>
        </p:nvSpPr>
        <p:spPr>
          <a:xfrm>
            <a:off x="711200" y="5251450"/>
            <a:ext cx="50800" cy="996950"/>
          </a:xfrm>
          <a:prstGeom prst="roundRect">
            <a:avLst>
              <a:gd name="adj" fmla="val 50000"/>
            </a:avLst>
          </a:prstGeom>
          <a:solidFill>
            <a:srgbClr val="64748B"/>
          </a:solidFill>
          <a:ln>
            <a:noFill/>
          </a:ln>
        </p:spPr>
      </p:sp>
      <p:sp>
        <p:nvSpPr>
          <p:cNvPr id="10" name="Text 10"/>
          <p:cNvSpPr txBox="1"/>
          <p:nvPr/>
        </p:nvSpPr>
        <p:spPr>
          <a:xfrm>
            <a:off x="990600" y="5403850"/>
            <a:ext cx="10210800" cy="742950"/>
          </a:xfrm>
          <a:prstGeom prst="rect">
            <a:avLst/>
          </a:prstGeom>
          <a:noFill/>
          <a:ln>
            <a:noFill/>
          </a:ln>
        </p:spPr>
        <p:txBody>
          <a:bodyPr wrap="square" lIns="0" tIns="0" rIns="0" bIns="0" anchor="t">
            <a:noAutofit/>
          </a:bodyPr>
          <a:lstStyle/>
          <a:p>
            <a:pPr algn="l">
              <a:lnSpc>
                <a:spcPct val="108000"/>
              </a:lnSpc>
              <a:spcBef>
                <a:spcPts val="0"/>
              </a:spcBef>
              <a:spcAft>
                <a:spcPts val="400"/>
              </a:spcAft>
              <a:buNone/>
            </a:pPr>
            <a:r>
              <a:rPr lang="en-US" sz="850" b="1" spc="130" dirty="0">
                <a:solidFill>
                  <a:srgbClr val="64748B"/>
                </a:solidFill>
                <a:latin typeface="Arial"/>
                <a:cs typeface="Arial"/>
              </a:rPr>
              <a:t>NOTE</a:t>
            </a:r>
            <a:endParaRPr lang="en-US" sz="850" dirty="0"/>
          </a:p>
          <a:p>
            <a:pPr algn="l">
              <a:lnSpc>
                <a:spcPct val="116000"/>
              </a:lnSpc>
              <a:spcBef>
                <a:spcPts val="0"/>
              </a:spcBef>
              <a:spcAft>
                <a:spcPts val="0"/>
              </a:spcAft>
              <a:buNone/>
            </a:pPr>
            <a:r>
              <a:rPr lang="en-US" sz="1250" dirty="0">
                <a:solidFill>
                  <a:srgbClr val="0F172A"/>
                </a:solidFill>
                <a:latin typeface="Arial"/>
                <a:cs typeface="Arial"/>
              </a:rPr>
              <a:t>Non-NVIDIA accelerators are under-documented. Apart from release notes, such as llm-d v0.9 support for ROCm, Intel XPU and TPU v7</a:t>
            </a:r>
            <a:r>
              <a:rPr lang="en-US" sz="1250" baseline="30000" dirty="0">
                <a:solidFill>
                  <a:srgbClr val="64748B"/>
                </a:solidFill>
                <a:latin typeface="Arial"/>
                <a:cs typeface="Arial"/>
              </a:rPr>
              <a:t> 9,10,11,12</a:t>
            </a:r>
            <a:r>
              <a:rPr lang="en-US" sz="1250" dirty="0">
                <a:solidFill>
                  <a:srgbClr val="0F172A"/>
                </a:solidFill>
                <a:latin typeface="Arial"/>
                <a:cs typeface="Arial"/>
              </a:rPr>
              <a:t>, the corpus has one AMD production data point (Tesla on MI300X)</a:t>
            </a:r>
            <a:r>
              <a:rPr lang="en-US" sz="1250" baseline="30000" dirty="0">
                <a:solidFill>
                  <a:srgbClr val="64748B"/>
                </a:solidFill>
                <a:latin typeface="Arial"/>
                <a:cs typeface="Arial"/>
              </a:rPr>
              <a:t> 42,43</a:t>
            </a:r>
            <a:r>
              <a:rPr lang="en-US" sz="1250" dirty="0">
                <a:solidFill>
                  <a:srgbClr val="0F172A"/>
                </a:solidFill>
                <a:latin typeface="Arial"/>
                <a:cs typeface="Arial"/>
              </a:rPr>
              <a:t>.</a:t>
            </a:r>
            <a:endParaRPr lang="en-US" sz="1250" dirty="0"/>
          </a:p>
        </p:txBody>
      </p:sp>
      <p:sp>
        <p:nvSpPr>
          <p:cNvPr id="11" name="Text 11"/>
          <p:cNvSpPr txBox="1"/>
          <p:nvPr/>
        </p:nvSpPr>
        <p:spPr>
          <a:xfrm>
            <a:off x="711200" y="1700784"/>
            <a:ext cx="9261856" cy="3372866"/>
          </a:xfrm>
          <a:prstGeom prst="rect">
            <a:avLst/>
          </a:prstGeom>
          <a:noFill/>
          <a:ln>
            <a:noFill/>
          </a:ln>
        </p:spPr>
        <p:txBody>
          <a:bodyPr wrap="square" lIns="0" tIns="0" rIns="0" bIns="0" anchor="t">
            <a:noAutofit/>
          </a:bodyPr>
          <a:lstStyle/>
          <a:p>
            <a:pPr marL="189865" indent="-189865" algn="l">
              <a:lnSpc>
                <a:spcPct val="118000"/>
              </a:lnSpc>
              <a:spcBef>
                <a:spcPts val="0"/>
              </a:spcBef>
              <a:spcAft>
                <a:spcPts val="975"/>
              </a:spcAft>
              <a:buClr>
                <a:srgbClr val="4F46E5"/>
              </a:buClr>
              <a:buFont typeface="Arial"/>
              <a:buChar char="•"/>
            </a:pPr>
            <a:r>
              <a:rPr lang="en-US" sz="1300" dirty="0">
                <a:solidFill>
                  <a:srgbClr val="334155"/>
                </a:solidFill>
                <a:latin typeface="Arial"/>
                <a:cs typeface="Arial"/>
              </a:rPr>
              <a:t>Gang scheduling is not native yet. Workload Aware Scheduling and PodGroup are alpha in v1.36, and LeaderWorkerSet gang scheduling is alpha</a:t>
            </a:r>
            <a:r>
              <a:rPr lang="en-US" sz="1300" baseline="30000" dirty="0">
                <a:solidFill>
                  <a:srgbClr val="64748B"/>
                </a:solidFill>
                <a:latin typeface="Arial"/>
                <a:cs typeface="Arial"/>
              </a:rPr>
              <a:t> 19,20,22</a:t>
            </a:r>
            <a:r>
              <a:rPr lang="en-US" sz="1300" dirty="0">
                <a:solidFill>
                  <a:srgbClr val="334155"/>
                </a:solidFill>
                <a:latin typeface="Arial"/>
                <a:cs typeface="Arial"/>
              </a:rPr>
              <a:t>.</a:t>
            </a:r>
            <a:endParaRPr lang="en-US" sz="1300" dirty="0"/>
          </a:p>
          <a:p>
            <a:pPr marL="189865" indent="-189865" algn="l">
              <a:lnSpc>
                <a:spcPct val="118000"/>
              </a:lnSpc>
              <a:spcBef>
                <a:spcPts val="0"/>
              </a:spcBef>
              <a:spcAft>
                <a:spcPts val="975"/>
              </a:spcAft>
              <a:buClr>
                <a:srgbClr val="4F46E5"/>
              </a:buClr>
              <a:buFont typeface="Arial"/>
              <a:buChar char="•"/>
            </a:pPr>
            <a:r>
              <a:rPr lang="en-US" sz="1300" dirty="0">
                <a:solidFill>
                  <a:srgbClr val="334155"/>
                </a:solidFill>
                <a:latin typeface="Arial"/>
                <a:cs typeface="Arial"/>
              </a:rPr>
              <a:t>GPU allocation through DRA is not production-ready from NVIDIA. The driver's GPU-allocation path is experimental and off by default, and dynamic MIG is still planned</a:t>
            </a:r>
            <a:r>
              <a:rPr lang="en-US" sz="1300" baseline="30000" dirty="0">
                <a:solidFill>
                  <a:srgbClr val="64748B"/>
                </a:solidFill>
                <a:latin typeface="Arial"/>
                <a:cs typeface="Arial"/>
              </a:rPr>
              <a:t> 21</a:t>
            </a:r>
            <a:r>
              <a:rPr lang="en-US" sz="1300" dirty="0">
                <a:solidFill>
                  <a:srgbClr val="334155"/>
                </a:solidFill>
                <a:latin typeface="Arial"/>
                <a:cs typeface="Arial"/>
              </a:rPr>
              <a:t>.</a:t>
            </a:r>
            <a:endParaRPr lang="en-US" sz="1300" dirty="0"/>
          </a:p>
          <a:p>
            <a:pPr marL="189865" indent="-189865" algn="l">
              <a:lnSpc>
                <a:spcPct val="118000"/>
              </a:lnSpc>
              <a:spcBef>
                <a:spcPts val="0"/>
              </a:spcBef>
              <a:spcAft>
                <a:spcPts val="975"/>
              </a:spcAft>
              <a:buClr>
                <a:srgbClr val="4F46E5"/>
              </a:buClr>
              <a:buFont typeface="Arial"/>
              <a:buChar char="•"/>
            </a:pPr>
            <a:r>
              <a:rPr lang="en-US" sz="1300" dirty="0">
                <a:solidFill>
                  <a:srgbClr val="334155"/>
                </a:solidFill>
                <a:latin typeface="Arial"/>
                <a:cs typeface="Arial"/>
              </a:rPr>
              <a:t>Utilisation and multi-tenancy are the main cost levers. Default scheduling falls short for shared GPUs</a:t>
            </a:r>
            <a:r>
              <a:rPr lang="en-US" sz="1300" baseline="30000" dirty="0">
                <a:solidFill>
                  <a:srgbClr val="64748B"/>
                </a:solidFill>
                <a:latin typeface="Arial"/>
                <a:cs typeface="Arial"/>
              </a:rPr>
              <a:t> 35</a:t>
            </a:r>
            <a:r>
              <a:rPr lang="en-US" sz="1300" dirty="0">
                <a:solidFill>
                  <a:srgbClr val="334155"/>
                </a:solidFill>
                <a:latin typeface="Arial"/>
                <a:cs typeface="Arial"/>
              </a:rPr>
              <a:t>, and China Merchants Bank started from 35% average utilisation</a:t>
            </a:r>
            <a:r>
              <a:rPr lang="en-US" sz="1300" baseline="30000" dirty="0">
                <a:solidFill>
                  <a:srgbClr val="64748B"/>
                </a:solidFill>
                <a:latin typeface="Arial"/>
                <a:cs typeface="Arial"/>
              </a:rPr>
              <a:t> 33</a:t>
            </a:r>
            <a:r>
              <a:rPr lang="en-US" sz="1300" dirty="0">
                <a:solidFill>
                  <a:srgbClr val="334155"/>
                </a:solidFill>
                <a:latin typeface="Arial"/>
                <a:cs typeface="Arial"/>
              </a:rPr>
              <a:t>.</a:t>
            </a:r>
            <a:endParaRPr lang="en-US" sz="1300" dirty="0"/>
          </a:p>
          <a:p>
            <a:pPr marL="189865" indent="-189865" algn="l">
              <a:lnSpc>
                <a:spcPct val="118000"/>
              </a:lnSpc>
              <a:spcBef>
                <a:spcPts val="0"/>
              </a:spcBef>
              <a:spcAft>
                <a:spcPts val="975"/>
              </a:spcAft>
              <a:buClr>
                <a:srgbClr val="4F46E5"/>
              </a:buClr>
              <a:buFont typeface="Arial"/>
              <a:buChar char="•"/>
            </a:pPr>
            <a:r>
              <a:rPr lang="en-US" sz="1300" dirty="0">
                <a:solidFill>
                  <a:srgbClr val="334155"/>
                </a:solidFill>
                <a:latin typeface="Arial"/>
                <a:cs typeface="Arial"/>
              </a:rPr>
              <a:t>Moving weights and images is a bottleneck. Tesla cited storage problems with multi-hundred-GB models and manual recovery from local-PV affinity</a:t>
            </a:r>
            <a:r>
              <a:rPr lang="en-US" sz="1300" baseline="30000" dirty="0">
                <a:solidFill>
                  <a:srgbClr val="64748B"/>
                </a:solidFill>
                <a:latin typeface="Arial"/>
                <a:cs typeface="Arial"/>
              </a:rPr>
              <a:t> 42,43</a:t>
            </a:r>
            <a:r>
              <a:rPr lang="en-US" sz="1300" dirty="0">
                <a:solidFill>
                  <a:srgbClr val="334155"/>
                </a:solidFill>
                <a:latin typeface="Arial"/>
                <a:cs typeface="Arial"/>
              </a:rPr>
              <a:t>.</a:t>
            </a:r>
            <a:endParaRPr lang="en-US" sz="1300" dirty="0"/>
          </a:p>
          <a:p>
            <a:pPr marL="189865" indent="-189865" algn="l">
              <a:lnSpc>
                <a:spcPct val="118000"/>
              </a:lnSpc>
              <a:spcBef>
                <a:spcPts val="0"/>
              </a:spcBef>
              <a:spcAft>
                <a:spcPts val="975"/>
              </a:spcAft>
              <a:buClr>
                <a:srgbClr val="4F46E5"/>
              </a:buClr>
              <a:buFont typeface="Arial"/>
              <a:buChar char="•"/>
            </a:pPr>
            <a:r>
              <a:rPr lang="en-US" sz="1300" dirty="0">
                <a:solidFill>
                  <a:srgbClr val="334155"/>
                </a:solidFill>
                <a:latin typeface="Arial"/>
                <a:cs typeface="Arial"/>
              </a:rPr>
              <a:t>At the frontier, the limits are power, networking and multi-cluster operation.</a:t>
            </a:r>
            <a:endParaRPr lang="en-US" sz="1300" dirty="0"/>
          </a:p>
          <a:p>
            <a:pPr marL="189865" indent="-189865" algn="l">
              <a:lnSpc>
                <a:spcPct val="118000"/>
              </a:lnSpc>
              <a:spcBef>
                <a:spcPts val="0"/>
              </a:spcBef>
              <a:spcAft>
                <a:spcPts val="975"/>
              </a:spcAft>
              <a:buClr>
                <a:srgbClr val="4F46E5"/>
              </a:buClr>
              <a:buFont typeface="Arial"/>
              <a:buChar char="•"/>
            </a:pPr>
            <a:r>
              <a:rPr lang="en-US" sz="1300" dirty="0">
                <a:solidFill>
                  <a:srgbClr val="334155"/>
                </a:solidFill>
                <a:latin typeface="Arial"/>
                <a:cs typeface="Arial"/>
              </a:rPr>
              <a:t>Evidence on failure handling and goodput is thin. Beyond NVIDIA's finding that Slinky adds no measurable NCCL overhead, we found no quantitative comparison of large-run resilience…</a:t>
            </a:r>
            <a:r>
              <a:rPr lang="en-US" sz="1300" baseline="30000" dirty="0">
                <a:solidFill>
                  <a:srgbClr val="64748B"/>
                </a:solidFill>
                <a:latin typeface="Arial"/>
                <a:cs typeface="Arial"/>
              </a:rPr>
              <a:t> 25</a:t>
            </a:r>
            <a:endParaRPr lang="en-US" sz="13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p:nvPr/>
        </p:nvSpPr>
        <p:spPr>
          <a:xfrm>
            <a:off x="711200" y="508000"/>
            <a:ext cx="558800" cy="63500"/>
          </a:xfrm>
          <a:prstGeom prst="roundRect">
            <a:avLst>
              <a:gd name="adj" fmla="val 50000"/>
            </a:avLst>
          </a:prstGeom>
          <a:gradFill rotWithShape="1">
            <a:gsLst>
              <a:gs pos="0">
                <a:srgbClr val="4F46E5"/>
              </a:gs>
              <a:gs pos="50000">
                <a:srgbClr val="7C3AED"/>
              </a:gs>
              <a:gs pos="100000">
                <a:srgbClr val="06B6D4"/>
              </a:gs>
            </a:gsLst>
            <a:lin ang="0" scaled="0"/>
          </a:gradFill>
          <a:ln>
            <a:noFill/>
          </a:ln>
        </p:spPr>
      </p:sp>
      <p:sp>
        <p:nvSpPr>
          <p:cNvPr id="3" name="Text 3"/>
          <p:cNvSpPr txBox="1"/>
          <p:nvPr/>
        </p:nvSpPr>
        <p:spPr>
          <a:xfrm>
            <a:off x="711200" y="685800"/>
            <a:ext cx="10769600" cy="203200"/>
          </a:xfrm>
          <a:prstGeom prst="rect">
            <a:avLst/>
          </a:prstGeom>
          <a:noFill/>
          <a:ln>
            <a:noFill/>
          </a:ln>
        </p:spPr>
        <p:txBody>
          <a:bodyPr wrap="square" lIns="0" tIns="0" rIns="0" bIns="0" anchor="t">
            <a:noAutofit/>
          </a:bodyPr>
          <a:lstStyle/>
          <a:p>
            <a:pPr algn="l">
              <a:lnSpc>
                <a:spcPct val="108000"/>
              </a:lnSpc>
              <a:spcBef>
                <a:spcPts val="0"/>
              </a:spcBef>
              <a:spcAft>
                <a:spcPts val="0"/>
              </a:spcAft>
              <a:buNone/>
            </a:pPr>
            <a:r>
              <a:rPr lang="en-US" sz="950" b="1" spc="140" dirty="0">
                <a:solidFill>
                  <a:srgbClr val="4F46E5"/>
                </a:solidFill>
                <a:latin typeface="Arial"/>
                <a:cs typeface="Arial"/>
              </a:rPr>
              <a:t>SECTION 08 · STANDARDS AND COMMUNITY DIRECTION</a:t>
            </a:r>
            <a:endParaRPr lang="en-US" sz="950" dirty="0"/>
          </a:p>
        </p:txBody>
      </p:sp>
      <p:sp>
        <p:nvSpPr>
          <p:cNvPr id="4" name="Text 4"/>
          <p:cNvSpPr txBox="1"/>
          <p:nvPr/>
        </p:nvSpPr>
        <p:spPr>
          <a:xfrm>
            <a:off x="711200" y="965200"/>
            <a:ext cx="10515600" cy="481584"/>
          </a:xfrm>
          <a:prstGeom prst="rect">
            <a:avLst/>
          </a:prstGeom>
          <a:noFill/>
          <a:ln>
            <a:noFill/>
          </a:ln>
        </p:spPr>
        <p:txBody>
          <a:bodyPr wrap="square" lIns="0" tIns="0" rIns="0" bIns="0" anchor="t">
            <a:noAutofit/>
          </a:bodyPr>
          <a:lstStyle/>
          <a:p>
            <a:pPr algn="l">
              <a:lnSpc>
                <a:spcPct val="96000"/>
              </a:lnSpc>
              <a:spcBef>
                <a:spcPts val="0"/>
              </a:spcBef>
              <a:spcAft>
                <a:spcPts val="0"/>
              </a:spcAft>
              <a:buNone/>
            </a:pPr>
            <a:r>
              <a:rPr lang="en-US" sz="2800" b="1" spc="-30" dirty="0">
                <a:solidFill>
                  <a:srgbClr val="0F172A"/>
                </a:solidFill>
                <a:latin typeface="Arial"/>
                <a:cs typeface="Arial"/>
              </a:rPr>
              <a:t>Standards and community direction</a:t>
            </a:r>
            <a:endParaRPr lang="en-US" sz="2800" dirty="0"/>
          </a:p>
        </p:txBody>
      </p:sp>
      <p:sp>
        <p:nvSpPr>
          <p:cNvPr id="5" name="Shape 5"/>
          <p:cNvSpPr/>
          <p:nvPr/>
        </p:nvSpPr>
        <p:spPr>
          <a:xfrm>
            <a:off x="711200" y="6451600"/>
            <a:ext cx="10769600" cy="9525"/>
          </a:xfrm>
          <a:prstGeom prst="rect">
            <a:avLst/>
          </a:prstGeom>
          <a:solidFill>
            <a:srgbClr val="E2E8F0"/>
          </a:solidFill>
          <a:ln>
            <a:noFill/>
          </a:ln>
        </p:spPr>
      </p:sp>
      <p:sp>
        <p:nvSpPr>
          <p:cNvPr id="6" name="Text 6"/>
          <p:cNvSpPr txBox="1"/>
          <p:nvPr/>
        </p:nvSpPr>
        <p:spPr>
          <a:xfrm>
            <a:off x="711200" y="6527800"/>
            <a:ext cx="9753600" cy="177800"/>
          </a:xfrm>
          <a:prstGeom prst="rect">
            <a:avLst/>
          </a:prstGeom>
          <a:noFill/>
          <a:ln>
            <a:noFill/>
          </a:ln>
        </p:spPr>
        <p:txBody>
          <a:bodyPr wrap="square" lIns="0" tIns="0" rIns="0" bIns="0" anchor="t">
            <a:noAutofit/>
          </a:bodyPr>
          <a:lstStyle/>
          <a:p>
            <a:pPr algn="l">
              <a:lnSpc>
                <a:spcPct val="108000"/>
              </a:lnSpc>
              <a:spcBef>
                <a:spcPts val="0"/>
              </a:spcBef>
              <a:spcAft>
                <a:spcPts val="0"/>
              </a:spcAft>
              <a:buNone/>
            </a:pPr>
            <a:r>
              <a:rPr lang="en-US" sz="800" dirty="0">
                <a:solidFill>
                  <a:srgbClr val="94A3B8"/>
                </a:solidFill>
                <a:latin typeface="Arial"/>
                <a:cs typeface="Arial"/>
              </a:rPr>
              <a:t>Kubernetes as the Platform for AI Infrastructure</a:t>
            </a:r>
            <a:endParaRPr lang="en-US" sz="800" dirty="0"/>
          </a:p>
        </p:txBody>
      </p:sp>
      <p:sp>
        <p:nvSpPr>
          <p:cNvPr id="7" name="Text 7"/>
          <p:cNvSpPr txBox="1"/>
          <p:nvPr/>
        </p:nvSpPr>
        <p:spPr>
          <a:xfrm>
            <a:off x="10718800" y="6527800"/>
            <a:ext cx="762000" cy="177800"/>
          </a:xfrm>
          <a:prstGeom prst="rect">
            <a:avLst/>
          </a:prstGeom>
          <a:noFill/>
          <a:ln>
            <a:noFill/>
          </a:ln>
        </p:spPr>
        <p:txBody>
          <a:bodyPr wrap="square" lIns="0" tIns="0" rIns="0" bIns="0" anchor="t">
            <a:noAutofit/>
          </a:bodyPr>
          <a:lstStyle/>
          <a:p>
            <a:pPr algn="r">
              <a:lnSpc>
                <a:spcPct val="108000"/>
              </a:lnSpc>
              <a:spcBef>
                <a:spcPts val="0"/>
              </a:spcBef>
              <a:spcAft>
                <a:spcPts val="0"/>
              </a:spcAft>
              <a:buNone/>
            </a:pPr>
            <a:r>
              <a:rPr lang="en-US" sz="850" b="1" dirty="0">
                <a:solidFill>
                  <a:srgbClr val="0F172A"/>
                </a:solidFill>
                <a:latin typeface="Arial"/>
                <a:cs typeface="Arial"/>
              </a:rPr>
              <a:t>31</a:t>
            </a:r>
            <a:endParaRPr lang="en-US" sz="850" dirty="0"/>
          </a:p>
        </p:txBody>
      </p:sp>
      <p:sp>
        <p:nvSpPr>
          <p:cNvPr id="8" name="Text 8"/>
          <p:cNvSpPr txBox="1"/>
          <p:nvPr/>
        </p:nvSpPr>
        <p:spPr>
          <a:xfrm>
            <a:off x="711200" y="1700784"/>
            <a:ext cx="9261856" cy="4547616"/>
          </a:xfrm>
          <a:prstGeom prst="rect">
            <a:avLst/>
          </a:prstGeom>
          <a:noFill/>
          <a:ln>
            <a:noFill/>
          </a:ln>
        </p:spPr>
        <p:txBody>
          <a:bodyPr wrap="square" lIns="0" tIns="0" rIns="0" bIns="0" anchor="t">
            <a:noAutofit/>
          </a:bodyPr>
          <a:lstStyle/>
          <a:p>
            <a:pPr marL="248285" indent="-248285" algn="l">
              <a:lnSpc>
                <a:spcPct val="118000"/>
              </a:lnSpc>
              <a:spcBef>
                <a:spcPts val="0"/>
              </a:spcBef>
              <a:spcAft>
                <a:spcPts val="1275"/>
              </a:spcAft>
              <a:buClr>
                <a:srgbClr val="4F46E5"/>
              </a:buClr>
              <a:buFont typeface="Arial"/>
              <a:buChar char="•"/>
            </a:pPr>
            <a:r>
              <a:rPr lang="en-US" sz="1700" dirty="0">
                <a:solidFill>
                  <a:srgbClr val="334155"/>
                </a:solidFill>
                <a:latin typeface="Arial"/>
                <a:cs typeface="Arial"/>
              </a:rPr>
              <a:t>CNCF's Certified Kubernetes AI Conformance programme launched on 11 November 2025.</a:t>
            </a:r>
            <a:endParaRPr lang="en-US" sz="17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p:nvPr/>
        </p:nvSpPr>
        <p:spPr>
          <a:xfrm>
            <a:off x="711200" y="508000"/>
            <a:ext cx="558800" cy="63500"/>
          </a:xfrm>
          <a:prstGeom prst="roundRect">
            <a:avLst>
              <a:gd name="adj" fmla="val 50000"/>
            </a:avLst>
          </a:prstGeom>
          <a:gradFill rotWithShape="1">
            <a:gsLst>
              <a:gs pos="0">
                <a:srgbClr val="4F46E5"/>
              </a:gs>
              <a:gs pos="50000">
                <a:srgbClr val="7C3AED"/>
              </a:gs>
              <a:gs pos="100000">
                <a:srgbClr val="06B6D4"/>
              </a:gs>
            </a:gsLst>
            <a:lin ang="0" scaled="0"/>
          </a:gradFill>
          <a:ln>
            <a:noFill/>
          </a:ln>
        </p:spPr>
      </p:sp>
      <p:sp>
        <p:nvSpPr>
          <p:cNvPr id="3" name="Text 3"/>
          <p:cNvSpPr txBox="1"/>
          <p:nvPr/>
        </p:nvSpPr>
        <p:spPr>
          <a:xfrm>
            <a:off x="711200" y="685800"/>
            <a:ext cx="10769600" cy="203200"/>
          </a:xfrm>
          <a:prstGeom prst="rect">
            <a:avLst/>
          </a:prstGeom>
          <a:noFill/>
          <a:ln>
            <a:noFill/>
          </a:ln>
        </p:spPr>
        <p:txBody>
          <a:bodyPr wrap="square" lIns="0" tIns="0" rIns="0" bIns="0" anchor="t">
            <a:noAutofit/>
          </a:bodyPr>
          <a:lstStyle/>
          <a:p>
            <a:pPr algn="l">
              <a:lnSpc>
                <a:spcPct val="108000"/>
              </a:lnSpc>
              <a:spcBef>
                <a:spcPts val="0"/>
              </a:spcBef>
              <a:spcAft>
                <a:spcPts val="0"/>
              </a:spcAft>
              <a:buNone/>
            </a:pPr>
            <a:r>
              <a:rPr lang="en-US" sz="950" b="1" spc="140" dirty="0">
                <a:solidFill>
                  <a:srgbClr val="4F46E5"/>
                </a:solidFill>
                <a:latin typeface="Arial"/>
                <a:cs typeface="Arial"/>
              </a:rPr>
              <a:t>SECTION 08 · STANDARDS AND COMMUNITY DIRECTION · FIGURE 4</a:t>
            </a:r>
            <a:endParaRPr lang="en-US" sz="950" dirty="0"/>
          </a:p>
        </p:txBody>
      </p:sp>
      <p:sp>
        <p:nvSpPr>
          <p:cNvPr id="4" name="Text 4"/>
          <p:cNvSpPr txBox="1"/>
          <p:nvPr/>
        </p:nvSpPr>
        <p:spPr>
          <a:xfrm>
            <a:off x="711200" y="965200"/>
            <a:ext cx="10515600" cy="481584"/>
          </a:xfrm>
          <a:prstGeom prst="rect">
            <a:avLst/>
          </a:prstGeom>
          <a:noFill/>
          <a:ln>
            <a:noFill/>
          </a:ln>
        </p:spPr>
        <p:txBody>
          <a:bodyPr wrap="square" lIns="0" tIns="0" rIns="0" bIns="0" anchor="t">
            <a:noAutofit/>
          </a:bodyPr>
          <a:lstStyle/>
          <a:p>
            <a:pPr algn="l">
              <a:lnSpc>
                <a:spcPct val="96000"/>
              </a:lnSpc>
              <a:spcBef>
                <a:spcPts val="0"/>
              </a:spcBef>
              <a:spcAft>
                <a:spcPts val="0"/>
              </a:spcAft>
              <a:buNone/>
            </a:pPr>
            <a:r>
              <a:rPr lang="en-US" sz="2800" b="1" spc="-30" dirty="0">
                <a:solidFill>
                  <a:srgbClr val="0F172A"/>
                </a:solidFill>
                <a:latin typeface="Arial"/>
                <a:cs typeface="Arial"/>
              </a:rPr>
              <a:t>Key milestones for AI on Kubernetes</a:t>
            </a:r>
            <a:endParaRPr lang="en-US" sz="2800" dirty="0"/>
          </a:p>
        </p:txBody>
      </p:sp>
      <p:sp>
        <p:nvSpPr>
          <p:cNvPr id="5" name="Shape 5"/>
          <p:cNvSpPr/>
          <p:nvPr/>
        </p:nvSpPr>
        <p:spPr>
          <a:xfrm>
            <a:off x="711200" y="6451600"/>
            <a:ext cx="10769600" cy="9525"/>
          </a:xfrm>
          <a:prstGeom prst="rect">
            <a:avLst/>
          </a:prstGeom>
          <a:solidFill>
            <a:srgbClr val="E2E8F0"/>
          </a:solidFill>
          <a:ln>
            <a:noFill/>
          </a:ln>
        </p:spPr>
      </p:sp>
      <p:sp>
        <p:nvSpPr>
          <p:cNvPr id="6" name="Text 6"/>
          <p:cNvSpPr txBox="1"/>
          <p:nvPr/>
        </p:nvSpPr>
        <p:spPr>
          <a:xfrm>
            <a:off x="711200" y="6527800"/>
            <a:ext cx="9753600" cy="177800"/>
          </a:xfrm>
          <a:prstGeom prst="rect">
            <a:avLst/>
          </a:prstGeom>
          <a:noFill/>
          <a:ln>
            <a:noFill/>
          </a:ln>
        </p:spPr>
        <p:txBody>
          <a:bodyPr wrap="square" lIns="0" tIns="0" rIns="0" bIns="0" anchor="t">
            <a:noAutofit/>
          </a:bodyPr>
          <a:lstStyle/>
          <a:p>
            <a:pPr algn="l">
              <a:lnSpc>
                <a:spcPct val="108000"/>
              </a:lnSpc>
              <a:spcBef>
                <a:spcPts val="0"/>
              </a:spcBef>
              <a:spcAft>
                <a:spcPts val="0"/>
              </a:spcAft>
              <a:buNone/>
            </a:pPr>
            <a:r>
              <a:rPr lang="en-US" sz="800" dirty="0">
                <a:solidFill>
                  <a:srgbClr val="94A3B8"/>
                </a:solidFill>
                <a:latin typeface="Arial"/>
                <a:cs typeface="Arial"/>
              </a:rPr>
              <a:t>Kubernetes as the Platform for AI Infrastructure</a:t>
            </a:r>
            <a:endParaRPr lang="en-US" sz="800" dirty="0"/>
          </a:p>
        </p:txBody>
      </p:sp>
      <p:sp>
        <p:nvSpPr>
          <p:cNvPr id="7" name="Text 7"/>
          <p:cNvSpPr txBox="1"/>
          <p:nvPr/>
        </p:nvSpPr>
        <p:spPr>
          <a:xfrm>
            <a:off x="10718800" y="6527800"/>
            <a:ext cx="762000" cy="177800"/>
          </a:xfrm>
          <a:prstGeom prst="rect">
            <a:avLst/>
          </a:prstGeom>
          <a:noFill/>
          <a:ln>
            <a:noFill/>
          </a:ln>
        </p:spPr>
        <p:txBody>
          <a:bodyPr wrap="square" lIns="0" tIns="0" rIns="0" bIns="0" anchor="t">
            <a:noAutofit/>
          </a:bodyPr>
          <a:lstStyle/>
          <a:p>
            <a:pPr algn="r">
              <a:lnSpc>
                <a:spcPct val="108000"/>
              </a:lnSpc>
              <a:spcBef>
                <a:spcPts val="0"/>
              </a:spcBef>
              <a:spcAft>
                <a:spcPts val="0"/>
              </a:spcAft>
              <a:buNone/>
            </a:pPr>
            <a:r>
              <a:rPr lang="en-US" sz="850" b="1" dirty="0">
                <a:solidFill>
                  <a:srgbClr val="0F172A"/>
                </a:solidFill>
                <a:latin typeface="Arial"/>
                <a:cs typeface="Arial"/>
              </a:rPr>
              <a:t>32</a:t>
            </a:r>
            <a:endParaRPr lang="en-US" sz="850" dirty="0"/>
          </a:p>
        </p:txBody>
      </p:sp>
      <p:sp>
        <p:nvSpPr>
          <p:cNvPr id="8" name="Shape 8"/>
          <p:cNvSpPr/>
          <p:nvPr/>
        </p:nvSpPr>
        <p:spPr>
          <a:xfrm>
            <a:off x="8305800" y="1700784"/>
            <a:ext cx="3175000" cy="4242816"/>
          </a:xfrm>
          <a:prstGeom prst="roundRect">
            <a:avLst>
              <a:gd name="adj" fmla="val 4800"/>
            </a:avLst>
          </a:prstGeom>
          <a:solidFill>
            <a:srgbClr val="F6F6FE"/>
          </a:solidFill>
          <a:ln>
            <a:noFill/>
          </a:ln>
        </p:spPr>
      </p:sp>
      <p:sp>
        <p:nvSpPr>
          <p:cNvPr id="9" name="Text 9"/>
          <p:cNvSpPr txBox="1"/>
          <p:nvPr/>
        </p:nvSpPr>
        <p:spPr>
          <a:xfrm>
            <a:off x="8534400" y="1929384"/>
            <a:ext cx="2717800" cy="3785616"/>
          </a:xfrm>
          <a:prstGeom prst="rect">
            <a:avLst/>
          </a:prstGeom>
          <a:noFill/>
          <a:ln>
            <a:noFill/>
          </a:ln>
        </p:spPr>
        <p:txBody>
          <a:bodyPr wrap="square" lIns="0" tIns="0" rIns="0" bIns="0" anchor="t">
            <a:noAutofit/>
          </a:bodyPr>
          <a:lstStyle/>
          <a:p>
            <a:pPr algn="l">
              <a:lnSpc>
                <a:spcPct val="108000"/>
              </a:lnSpc>
              <a:spcBef>
                <a:spcPts val="0"/>
              </a:spcBef>
              <a:spcAft>
                <a:spcPts val="800"/>
              </a:spcAft>
              <a:buNone/>
            </a:pPr>
            <a:r>
              <a:rPr lang="en-US" sz="850" b="1" spc="130" dirty="0">
                <a:solidFill>
                  <a:srgbClr val="4F46E5"/>
                </a:solidFill>
                <a:latin typeface="Arial"/>
                <a:cs typeface="Arial"/>
              </a:rPr>
              <a:t>WHAT IT SHOWS</a:t>
            </a:r>
            <a:endParaRPr lang="en-US" sz="850" dirty="0"/>
          </a:p>
          <a:p>
            <a:pPr algn="l">
              <a:lnSpc>
                <a:spcPct val="122000"/>
              </a:lnSpc>
              <a:spcBef>
                <a:spcPts val="0"/>
              </a:spcBef>
              <a:spcAft>
                <a:spcPts val="0"/>
              </a:spcAft>
              <a:buNone/>
            </a:pPr>
            <a:r>
              <a:rPr lang="en-US" sz="1300" dirty="0">
                <a:solidFill>
                  <a:srgbClr val="0F172A"/>
                </a:solidFill>
                <a:latin typeface="Arial"/>
                <a:cs typeface="Arial"/>
              </a:rPr>
              <a:t>Community governance has spread out from a single working group. WG Serving concluded on 26 February 2026 and handed its work to SIG Node, Scheduling, Apps, Network and Scalability and to WG Device Management</a:t>
            </a:r>
            <a:r>
              <a:rPr lang="en-US" sz="1300" baseline="30000" dirty="0">
                <a:solidFill>
                  <a:srgbClr val="64748B"/>
                </a:solidFill>
                <a:latin typeface="Arial"/>
                <a:cs typeface="Arial"/>
              </a:rPr>
              <a:t> 70</a:t>
            </a:r>
            <a:r>
              <a:rPr lang="en-US" sz="1300" dirty="0">
                <a:solidFill>
                  <a:srgbClr val="0F172A"/>
                </a:solidFill>
                <a:latin typeface="Arial"/>
                <a:cs typeface="Arial"/>
              </a:rPr>
              <a:t>.</a:t>
            </a:r>
            <a:endParaRPr lang="en-US" sz="1300" dirty="0"/>
          </a:p>
        </p:txBody>
      </p:sp>
      <p:grpSp>
        <p:nvGrpSpPr>
          <p:cNvPr id="10" name="Figure 10"/>
          <p:cNvGrpSpPr/>
          <p:nvPr/>
        </p:nvGrpSpPr>
        <p:grpSpPr>
          <a:xfrm>
            <a:off x="711200" y="2734953"/>
            <a:ext cx="7239000" cy="2149078"/>
            <a:chOff x="711200" y="2734953"/>
            <a:chExt cx="7239000" cy="2149078"/>
          </a:xfrm>
        </p:grpSpPr>
        <p:cxnSp>
          <p:nvCxnSpPr>
            <p:cNvPr id="11" name="Line 11"/>
            <p:cNvCxnSpPr/>
            <p:nvPr/>
          </p:nvCxnSpPr>
          <p:spPr>
            <a:xfrm>
              <a:off x="1073150" y="3809492"/>
              <a:ext cx="6515100" cy="0"/>
            </a:xfrm>
            <a:prstGeom prst="line">
              <a:avLst/>
            </a:prstGeom>
            <a:ln w="27146" cap="rnd">
              <a:solidFill>
                <a:srgbClr val="E2E8F0"/>
              </a:solidFill>
              <a:round/>
            </a:ln>
          </p:spPr>
        </p:cxnSp>
        <p:cxnSp>
          <p:nvCxnSpPr>
            <p:cNvPr id="12" name="Line 12"/>
            <p:cNvCxnSpPr/>
            <p:nvPr/>
          </p:nvCxnSpPr>
          <p:spPr>
            <a:xfrm>
              <a:off x="1344613" y="3538030"/>
              <a:ext cx="0" cy="180975"/>
            </a:xfrm>
            <a:prstGeom prst="line">
              <a:avLst/>
            </a:prstGeom>
            <a:ln w="13573" cap="rnd">
              <a:solidFill>
                <a:srgbClr val="E2E8F0"/>
              </a:solidFill>
              <a:round/>
            </a:ln>
          </p:spPr>
        </p:cxnSp>
        <p:sp>
          <p:nvSpPr>
            <p:cNvPr id="13" name="Dot 13"/>
            <p:cNvSpPr/>
            <p:nvPr/>
          </p:nvSpPr>
          <p:spPr>
            <a:xfrm>
              <a:off x="1282402" y="3747282"/>
              <a:ext cx="124420" cy="124420"/>
            </a:xfrm>
            <a:prstGeom prst="ellipse">
              <a:avLst/>
            </a:prstGeom>
            <a:solidFill>
              <a:srgbClr val="4F46E5"/>
            </a:solidFill>
            <a:ln w="22622" cap="rnd">
              <a:solidFill>
                <a:srgbClr val="FFFFFF"/>
              </a:solidFill>
              <a:round/>
            </a:ln>
          </p:spPr>
        </p:sp>
        <p:sp>
          <p:nvSpPr>
            <p:cNvPr id="14" name="Text 14"/>
            <p:cNvSpPr txBox="1"/>
            <p:nvPr/>
          </p:nvSpPr>
          <p:spPr>
            <a:xfrm>
              <a:off x="996401" y="3033335"/>
              <a:ext cx="696424" cy="134317"/>
            </a:xfrm>
            <a:prstGeom prst="rect">
              <a:avLst/>
            </a:prstGeom>
            <a:noFill/>
            <a:ln>
              <a:noFill/>
            </a:ln>
          </p:spPr>
          <p:txBody>
            <a:bodyPr wrap="none" lIns="0" tIns="0" rIns="0" bIns="0" anchor="t">
              <a:noAutofit/>
            </a:bodyPr>
            <a:lstStyle/>
            <a:p>
              <a:pPr algn="ctr">
                <a:lnSpc>
                  <a:spcPct val="100000"/>
                </a:lnSpc>
                <a:spcBef>
                  <a:spcPts val="0"/>
                </a:spcBef>
                <a:spcAft>
                  <a:spcPts val="0"/>
                </a:spcAft>
                <a:buNone/>
              </a:pPr>
              <a:r>
                <a:rPr lang="en-US" sz="846" b="1" dirty="0">
                  <a:solidFill>
                    <a:srgbClr val="4F46E5"/>
                  </a:solidFill>
                  <a:latin typeface="Arial"/>
                  <a:cs typeface="Arial"/>
                </a:rPr>
                <a:t>Sep 2025</a:t>
              </a:r>
              <a:endParaRPr lang="en-US" sz="846" dirty="0"/>
            </a:p>
          </p:txBody>
        </p:sp>
        <p:sp>
          <p:nvSpPr>
            <p:cNvPr id="15" name="Text 15"/>
            <p:cNvSpPr txBox="1"/>
            <p:nvPr/>
          </p:nvSpPr>
          <p:spPr>
            <a:xfrm>
              <a:off x="806275" y="3192141"/>
              <a:ext cx="1076675" cy="148456"/>
            </a:xfrm>
            <a:prstGeom prst="rect">
              <a:avLst/>
            </a:prstGeom>
            <a:noFill/>
            <a:ln>
              <a:noFill/>
            </a:ln>
          </p:spPr>
          <p:txBody>
            <a:bodyPr wrap="none" lIns="0" tIns="0" rIns="0" bIns="0" anchor="t">
              <a:noAutofit/>
            </a:bodyPr>
            <a:lstStyle/>
            <a:p>
              <a:pPr algn="ctr">
                <a:lnSpc>
                  <a:spcPct val="100000"/>
                </a:lnSpc>
                <a:spcBef>
                  <a:spcPts val="0"/>
                </a:spcBef>
                <a:spcAft>
                  <a:spcPts val="0"/>
                </a:spcAft>
                <a:buNone/>
              </a:pPr>
              <a:r>
                <a:rPr lang="en-US" sz="935" dirty="0">
                  <a:solidFill>
                    <a:srgbClr val="0F172A"/>
                  </a:solidFill>
                  <a:latin typeface="Arial"/>
                  <a:cs typeface="Arial"/>
                </a:rPr>
                <a:t>DRA core GA</a:t>
              </a:r>
              <a:endParaRPr lang="en-US" sz="935" dirty="0"/>
            </a:p>
          </p:txBody>
        </p:sp>
        <p:sp>
          <p:nvSpPr>
            <p:cNvPr id="16" name="Text 16"/>
            <p:cNvSpPr txBox="1"/>
            <p:nvPr/>
          </p:nvSpPr>
          <p:spPr>
            <a:xfrm>
              <a:off x="1040182" y="3333528"/>
              <a:ext cx="608860" cy="148456"/>
            </a:xfrm>
            <a:prstGeom prst="rect">
              <a:avLst/>
            </a:prstGeom>
            <a:noFill/>
            <a:ln>
              <a:noFill/>
            </a:ln>
          </p:spPr>
          <p:txBody>
            <a:bodyPr wrap="none" lIns="0" tIns="0" rIns="0" bIns="0" anchor="t">
              <a:noAutofit/>
            </a:bodyPr>
            <a:lstStyle/>
            <a:p>
              <a:pPr algn="ctr">
                <a:lnSpc>
                  <a:spcPct val="100000"/>
                </a:lnSpc>
                <a:spcBef>
                  <a:spcPts val="0"/>
                </a:spcBef>
                <a:spcAft>
                  <a:spcPts val="0"/>
                </a:spcAft>
                <a:buNone/>
              </a:pPr>
              <a:r>
                <a:rPr lang="en-US" sz="935" dirty="0">
                  <a:solidFill>
                    <a:srgbClr val="0F172A"/>
                  </a:solidFill>
                  <a:latin typeface="Arial"/>
                  <a:cs typeface="Arial"/>
                </a:rPr>
                <a:t>(v1.34)</a:t>
              </a:r>
              <a:endParaRPr lang="en-US" sz="935" dirty="0"/>
            </a:p>
          </p:txBody>
        </p:sp>
        <p:cxnSp>
          <p:nvCxnSpPr>
            <p:cNvPr id="17" name="Line 17"/>
            <p:cNvCxnSpPr/>
            <p:nvPr/>
          </p:nvCxnSpPr>
          <p:spPr>
            <a:xfrm>
              <a:off x="1941830" y="3899980"/>
              <a:ext cx="0" cy="180975"/>
            </a:xfrm>
            <a:prstGeom prst="line">
              <a:avLst/>
            </a:prstGeom>
            <a:ln w="13573" cap="rnd">
              <a:solidFill>
                <a:srgbClr val="E2E8F0"/>
              </a:solidFill>
              <a:round/>
            </a:ln>
          </p:spPr>
        </p:cxnSp>
        <p:sp>
          <p:nvSpPr>
            <p:cNvPr id="18" name="Dot 18"/>
            <p:cNvSpPr/>
            <p:nvPr/>
          </p:nvSpPr>
          <p:spPr>
            <a:xfrm>
              <a:off x="1879620" y="3747282"/>
              <a:ext cx="124420" cy="124420"/>
            </a:xfrm>
            <a:prstGeom prst="ellipse">
              <a:avLst/>
            </a:prstGeom>
            <a:solidFill>
              <a:srgbClr val="4F46E5"/>
            </a:solidFill>
            <a:ln w="22622" cap="rnd">
              <a:solidFill>
                <a:srgbClr val="FFFFFF"/>
              </a:solidFill>
              <a:round/>
            </a:ln>
          </p:spPr>
        </p:sp>
        <p:sp>
          <p:nvSpPr>
            <p:cNvPr id="19" name="Text 19"/>
            <p:cNvSpPr txBox="1"/>
            <p:nvPr/>
          </p:nvSpPr>
          <p:spPr>
            <a:xfrm>
              <a:off x="1593618" y="4158774"/>
              <a:ext cx="696424" cy="134317"/>
            </a:xfrm>
            <a:prstGeom prst="rect">
              <a:avLst/>
            </a:prstGeom>
            <a:noFill/>
            <a:ln>
              <a:noFill/>
            </a:ln>
          </p:spPr>
          <p:txBody>
            <a:bodyPr wrap="none" lIns="0" tIns="0" rIns="0" bIns="0" anchor="t">
              <a:noAutofit/>
            </a:bodyPr>
            <a:lstStyle/>
            <a:p>
              <a:pPr algn="ctr">
                <a:lnSpc>
                  <a:spcPct val="100000"/>
                </a:lnSpc>
                <a:spcBef>
                  <a:spcPts val="0"/>
                </a:spcBef>
                <a:spcAft>
                  <a:spcPts val="0"/>
                </a:spcAft>
                <a:buNone/>
              </a:pPr>
              <a:r>
                <a:rPr lang="en-US" sz="846" b="1" dirty="0">
                  <a:solidFill>
                    <a:srgbClr val="4F46E5"/>
                  </a:solidFill>
                  <a:latin typeface="Arial"/>
                  <a:cs typeface="Arial"/>
                </a:rPr>
                <a:t>Oct 2025</a:t>
              </a:r>
              <a:endParaRPr lang="en-US" sz="846" dirty="0"/>
            </a:p>
          </p:txBody>
        </p:sp>
        <p:sp>
          <p:nvSpPr>
            <p:cNvPr id="20" name="Text 20"/>
            <p:cNvSpPr txBox="1"/>
            <p:nvPr/>
          </p:nvSpPr>
          <p:spPr>
            <a:xfrm>
              <a:off x="1313172" y="4317579"/>
              <a:ext cx="1257316" cy="148456"/>
            </a:xfrm>
            <a:prstGeom prst="rect">
              <a:avLst/>
            </a:prstGeom>
            <a:noFill/>
            <a:ln>
              <a:noFill/>
            </a:ln>
          </p:spPr>
          <p:txBody>
            <a:bodyPr wrap="none" lIns="0" tIns="0" rIns="0" bIns="0" anchor="t">
              <a:noAutofit/>
            </a:bodyPr>
            <a:lstStyle/>
            <a:p>
              <a:pPr algn="ctr">
                <a:lnSpc>
                  <a:spcPct val="100000"/>
                </a:lnSpc>
                <a:spcBef>
                  <a:spcPts val="0"/>
                </a:spcBef>
                <a:spcAft>
                  <a:spcPts val="0"/>
                </a:spcAft>
                <a:buNone/>
              </a:pPr>
              <a:r>
                <a:rPr lang="en-US" sz="935" dirty="0">
                  <a:solidFill>
                    <a:srgbClr val="0F172A"/>
                  </a:solidFill>
                  <a:latin typeface="Arial"/>
                  <a:cs typeface="Arial"/>
                </a:rPr>
                <a:t>OpenShift AI 3,</a:t>
              </a:r>
              <a:endParaRPr lang="en-US" sz="935" dirty="0"/>
            </a:p>
          </p:txBody>
        </p:sp>
        <p:sp>
          <p:nvSpPr>
            <p:cNvPr id="21" name="Text 21"/>
            <p:cNvSpPr txBox="1"/>
            <p:nvPr/>
          </p:nvSpPr>
          <p:spPr>
            <a:xfrm>
              <a:off x="1579502" y="4458966"/>
              <a:ext cx="724656" cy="148456"/>
            </a:xfrm>
            <a:prstGeom prst="rect">
              <a:avLst/>
            </a:prstGeom>
            <a:noFill/>
            <a:ln>
              <a:noFill/>
            </a:ln>
          </p:spPr>
          <p:txBody>
            <a:bodyPr wrap="none" lIns="0" tIns="0" rIns="0" bIns="0" anchor="t">
              <a:noAutofit/>
            </a:bodyPr>
            <a:lstStyle/>
            <a:p>
              <a:pPr algn="ctr">
                <a:lnSpc>
                  <a:spcPct val="100000"/>
                </a:lnSpc>
                <a:spcBef>
                  <a:spcPts val="0"/>
                </a:spcBef>
                <a:spcAft>
                  <a:spcPts val="0"/>
                </a:spcAft>
                <a:buNone/>
              </a:pPr>
              <a:r>
                <a:rPr lang="en-US" sz="935" dirty="0">
                  <a:solidFill>
                    <a:srgbClr val="0F172A"/>
                  </a:solidFill>
                  <a:latin typeface="Arial"/>
                  <a:cs typeface="Arial"/>
                </a:rPr>
                <a:t>llm-d GA</a:t>
              </a:r>
              <a:endParaRPr lang="en-US" sz="935" dirty="0"/>
            </a:p>
          </p:txBody>
        </p:sp>
        <p:cxnSp>
          <p:nvCxnSpPr>
            <p:cNvPr id="22" name="Line 22"/>
            <p:cNvCxnSpPr/>
            <p:nvPr/>
          </p:nvCxnSpPr>
          <p:spPr>
            <a:xfrm>
              <a:off x="2539048" y="3538030"/>
              <a:ext cx="0" cy="180975"/>
            </a:xfrm>
            <a:prstGeom prst="line">
              <a:avLst/>
            </a:prstGeom>
            <a:ln w="13573" cap="rnd">
              <a:solidFill>
                <a:srgbClr val="E2E8F0"/>
              </a:solidFill>
              <a:round/>
            </a:ln>
          </p:spPr>
        </p:cxnSp>
        <p:sp>
          <p:nvSpPr>
            <p:cNvPr id="23" name="Dot 23"/>
            <p:cNvSpPr/>
            <p:nvPr/>
          </p:nvSpPr>
          <p:spPr>
            <a:xfrm>
              <a:off x="2476837" y="3747282"/>
              <a:ext cx="124420" cy="124420"/>
            </a:xfrm>
            <a:prstGeom prst="ellipse">
              <a:avLst/>
            </a:prstGeom>
            <a:solidFill>
              <a:srgbClr val="4F46E5"/>
            </a:solidFill>
            <a:ln w="22622" cap="rnd">
              <a:solidFill>
                <a:srgbClr val="FFFFFF"/>
              </a:solidFill>
              <a:round/>
            </a:ln>
          </p:spPr>
        </p:sp>
        <p:sp>
          <p:nvSpPr>
            <p:cNvPr id="24" name="Text 24"/>
            <p:cNvSpPr txBox="1"/>
            <p:nvPr/>
          </p:nvSpPr>
          <p:spPr>
            <a:xfrm>
              <a:off x="2190836" y="3033335"/>
              <a:ext cx="696424" cy="134317"/>
            </a:xfrm>
            <a:prstGeom prst="rect">
              <a:avLst/>
            </a:prstGeom>
            <a:noFill/>
            <a:ln>
              <a:noFill/>
            </a:ln>
          </p:spPr>
          <p:txBody>
            <a:bodyPr wrap="none" lIns="0" tIns="0" rIns="0" bIns="0" anchor="t">
              <a:noAutofit/>
            </a:bodyPr>
            <a:lstStyle/>
            <a:p>
              <a:pPr algn="ctr">
                <a:lnSpc>
                  <a:spcPct val="100000"/>
                </a:lnSpc>
                <a:spcBef>
                  <a:spcPts val="0"/>
                </a:spcBef>
                <a:spcAft>
                  <a:spcPts val="0"/>
                </a:spcAft>
                <a:buNone/>
              </a:pPr>
              <a:r>
                <a:rPr lang="en-US" sz="846" b="1" dirty="0">
                  <a:solidFill>
                    <a:srgbClr val="4F46E5"/>
                  </a:solidFill>
                  <a:latin typeface="Arial"/>
                  <a:cs typeface="Arial"/>
                </a:rPr>
                <a:t>Nov 2025</a:t>
              </a:r>
              <a:endParaRPr lang="en-US" sz="846" dirty="0"/>
            </a:p>
          </p:txBody>
        </p:sp>
        <p:sp>
          <p:nvSpPr>
            <p:cNvPr id="25" name="Text 25"/>
            <p:cNvSpPr txBox="1"/>
            <p:nvPr/>
          </p:nvSpPr>
          <p:spPr>
            <a:xfrm>
              <a:off x="1891862" y="3192141"/>
              <a:ext cx="1294371" cy="148456"/>
            </a:xfrm>
            <a:prstGeom prst="rect">
              <a:avLst/>
            </a:prstGeom>
            <a:noFill/>
            <a:ln>
              <a:noFill/>
            </a:ln>
          </p:spPr>
          <p:txBody>
            <a:bodyPr wrap="none" lIns="0" tIns="0" rIns="0" bIns="0" anchor="t">
              <a:noAutofit/>
            </a:bodyPr>
            <a:lstStyle/>
            <a:p>
              <a:pPr algn="ctr">
                <a:lnSpc>
                  <a:spcPct val="100000"/>
                </a:lnSpc>
                <a:spcBef>
                  <a:spcPts val="0"/>
                </a:spcBef>
                <a:spcAft>
                  <a:spcPts val="0"/>
                </a:spcAft>
                <a:buNone/>
              </a:pPr>
              <a:r>
                <a:rPr lang="en-US" sz="935" dirty="0">
                  <a:solidFill>
                    <a:srgbClr val="0F172A"/>
                  </a:solidFill>
                  <a:latin typeface="Arial"/>
                  <a:cs typeface="Arial"/>
                </a:rPr>
                <a:t>AI Conformance</a:t>
              </a:r>
              <a:endParaRPr lang="en-US" sz="935" dirty="0"/>
            </a:p>
          </p:txBody>
        </p:sp>
        <p:sp>
          <p:nvSpPr>
            <p:cNvPr id="26" name="Text 26"/>
            <p:cNvSpPr txBox="1"/>
            <p:nvPr/>
          </p:nvSpPr>
          <p:spPr>
            <a:xfrm>
              <a:off x="2169772" y="3333528"/>
              <a:ext cx="738552" cy="148456"/>
            </a:xfrm>
            <a:prstGeom prst="rect">
              <a:avLst/>
            </a:prstGeom>
            <a:noFill/>
            <a:ln>
              <a:noFill/>
            </a:ln>
          </p:spPr>
          <p:txBody>
            <a:bodyPr wrap="none" lIns="0" tIns="0" rIns="0" bIns="0" anchor="t">
              <a:noAutofit/>
            </a:bodyPr>
            <a:lstStyle/>
            <a:p>
              <a:pPr algn="ctr">
                <a:lnSpc>
                  <a:spcPct val="100000"/>
                </a:lnSpc>
                <a:spcBef>
                  <a:spcPts val="0"/>
                </a:spcBef>
                <a:spcAft>
                  <a:spcPts val="0"/>
                </a:spcAft>
                <a:buNone/>
              </a:pPr>
              <a:r>
                <a:rPr lang="en-US" sz="935" dirty="0">
                  <a:solidFill>
                    <a:srgbClr val="0F172A"/>
                  </a:solidFill>
                  <a:latin typeface="Arial"/>
                  <a:cs typeface="Arial"/>
                </a:rPr>
                <a:t>launches</a:t>
              </a:r>
              <a:endParaRPr lang="en-US" sz="935" dirty="0"/>
            </a:p>
          </p:txBody>
        </p:sp>
        <p:cxnSp>
          <p:nvCxnSpPr>
            <p:cNvPr id="27" name="Line 27"/>
            <p:cNvCxnSpPr/>
            <p:nvPr/>
          </p:nvCxnSpPr>
          <p:spPr>
            <a:xfrm>
              <a:off x="3136265" y="3899980"/>
              <a:ext cx="0" cy="180975"/>
            </a:xfrm>
            <a:prstGeom prst="line">
              <a:avLst/>
            </a:prstGeom>
            <a:ln w="13573" cap="rnd">
              <a:solidFill>
                <a:srgbClr val="E2E8F0"/>
              </a:solidFill>
              <a:round/>
            </a:ln>
          </p:spPr>
        </p:cxnSp>
        <p:sp>
          <p:nvSpPr>
            <p:cNvPr id="28" name="Dot 28"/>
            <p:cNvSpPr/>
            <p:nvPr/>
          </p:nvSpPr>
          <p:spPr>
            <a:xfrm>
              <a:off x="3074055" y="3747282"/>
              <a:ext cx="124420" cy="124420"/>
            </a:xfrm>
            <a:prstGeom prst="ellipse">
              <a:avLst/>
            </a:prstGeom>
            <a:solidFill>
              <a:srgbClr val="4F46E5"/>
            </a:solidFill>
            <a:ln w="22622" cap="rnd">
              <a:solidFill>
                <a:srgbClr val="FFFFFF"/>
              </a:solidFill>
              <a:round/>
            </a:ln>
          </p:spPr>
        </p:sp>
        <p:sp>
          <p:nvSpPr>
            <p:cNvPr id="29" name="Text 29"/>
            <p:cNvSpPr txBox="1"/>
            <p:nvPr/>
          </p:nvSpPr>
          <p:spPr>
            <a:xfrm>
              <a:off x="2788053" y="4158774"/>
              <a:ext cx="696424" cy="134317"/>
            </a:xfrm>
            <a:prstGeom prst="rect">
              <a:avLst/>
            </a:prstGeom>
            <a:noFill/>
            <a:ln>
              <a:noFill/>
            </a:ln>
          </p:spPr>
          <p:txBody>
            <a:bodyPr wrap="none" lIns="0" tIns="0" rIns="0" bIns="0" anchor="t">
              <a:noAutofit/>
            </a:bodyPr>
            <a:lstStyle/>
            <a:p>
              <a:pPr algn="ctr">
                <a:lnSpc>
                  <a:spcPct val="100000"/>
                </a:lnSpc>
                <a:spcBef>
                  <a:spcPts val="0"/>
                </a:spcBef>
                <a:spcAft>
                  <a:spcPts val="0"/>
                </a:spcAft>
                <a:buNone/>
              </a:pPr>
              <a:r>
                <a:rPr lang="en-US" sz="846" b="1" dirty="0">
                  <a:solidFill>
                    <a:srgbClr val="4F46E5"/>
                  </a:solidFill>
                  <a:latin typeface="Arial"/>
                  <a:cs typeface="Arial"/>
                </a:rPr>
                <a:t>Dec 2025</a:t>
              </a:r>
              <a:endParaRPr lang="en-US" sz="846" dirty="0"/>
            </a:p>
          </p:txBody>
        </p:sp>
        <p:sp>
          <p:nvSpPr>
            <p:cNvPr id="30" name="Text 30"/>
            <p:cNvSpPr txBox="1"/>
            <p:nvPr/>
          </p:nvSpPr>
          <p:spPr>
            <a:xfrm>
              <a:off x="2475184" y="4317579"/>
              <a:ext cx="1322162" cy="148456"/>
            </a:xfrm>
            <a:prstGeom prst="rect">
              <a:avLst/>
            </a:prstGeom>
            <a:noFill/>
            <a:ln>
              <a:noFill/>
            </a:ln>
          </p:spPr>
          <p:txBody>
            <a:bodyPr wrap="none" lIns="0" tIns="0" rIns="0" bIns="0" anchor="t">
              <a:noAutofit/>
            </a:bodyPr>
            <a:lstStyle/>
            <a:p>
              <a:pPr algn="ctr">
                <a:lnSpc>
                  <a:spcPct val="100000"/>
                </a:lnSpc>
                <a:spcBef>
                  <a:spcPts val="0"/>
                </a:spcBef>
                <a:spcAft>
                  <a:spcPts val="0"/>
                </a:spcAft>
                <a:buNone/>
              </a:pPr>
              <a:r>
                <a:rPr lang="en-US" sz="935" dirty="0">
                  <a:solidFill>
                    <a:srgbClr val="0F172A"/>
                  </a:solidFill>
                  <a:latin typeface="Arial"/>
                  <a:cs typeface="Arial"/>
                </a:rPr>
                <a:t>v1.35, gang alpha</a:t>
              </a:r>
              <a:endParaRPr lang="en-US" sz="935" dirty="0"/>
            </a:p>
          </p:txBody>
        </p:sp>
        <p:cxnSp>
          <p:nvCxnSpPr>
            <p:cNvPr id="31" name="Line 31"/>
            <p:cNvCxnSpPr/>
            <p:nvPr/>
          </p:nvCxnSpPr>
          <p:spPr>
            <a:xfrm>
              <a:off x="3733482" y="3538030"/>
              <a:ext cx="0" cy="180975"/>
            </a:xfrm>
            <a:prstGeom prst="line">
              <a:avLst/>
            </a:prstGeom>
            <a:ln w="13573" cap="rnd">
              <a:solidFill>
                <a:srgbClr val="E2E8F0"/>
              </a:solidFill>
              <a:round/>
            </a:ln>
          </p:spPr>
        </p:cxnSp>
        <p:sp>
          <p:nvSpPr>
            <p:cNvPr id="32" name="Dot 32"/>
            <p:cNvSpPr/>
            <p:nvPr/>
          </p:nvSpPr>
          <p:spPr>
            <a:xfrm>
              <a:off x="3671272" y="3747282"/>
              <a:ext cx="124420" cy="124420"/>
            </a:xfrm>
            <a:prstGeom prst="ellipse">
              <a:avLst/>
            </a:prstGeom>
            <a:solidFill>
              <a:srgbClr val="4F46E5"/>
            </a:solidFill>
            <a:ln w="22622" cap="rnd">
              <a:solidFill>
                <a:srgbClr val="FFFFFF"/>
              </a:solidFill>
              <a:round/>
            </a:ln>
          </p:spPr>
        </p:sp>
        <p:sp>
          <p:nvSpPr>
            <p:cNvPr id="33" name="Text 33"/>
            <p:cNvSpPr txBox="1"/>
            <p:nvPr/>
          </p:nvSpPr>
          <p:spPr>
            <a:xfrm>
              <a:off x="3385271" y="3033335"/>
              <a:ext cx="696424" cy="134317"/>
            </a:xfrm>
            <a:prstGeom prst="rect">
              <a:avLst/>
            </a:prstGeom>
            <a:noFill/>
            <a:ln>
              <a:noFill/>
            </a:ln>
          </p:spPr>
          <p:txBody>
            <a:bodyPr wrap="none" lIns="0" tIns="0" rIns="0" bIns="0" anchor="t">
              <a:noAutofit/>
            </a:bodyPr>
            <a:lstStyle/>
            <a:p>
              <a:pPr algn="ctr">
                <a:lnSpc>
                  <a:spcPct val="100000"/>
                </a:lnSpc>
                <a:spcBef>
                  <a:spcPts val="0"/>
                </a:spcBef>
                <a:spcAft>
                  <a:spcPts val="0"/>
                </a:spcAft>
                <a:buNone/>
              </a:pPr>
              <a:r>
                <a:rPr lang="en-US" sz="846" b="1" dirty="0">
                  <a:solidFill>
                    <a:srgbClr val="4F46E5"/>
                  </a:solidFill>
                  <a:latin typeface="Arial"/>
                  <a:cs typeface="Arial"/>
                </a:rPr>
                <a:t>Feb 2026</a:t>
              </a:r>
              <a:endParaRPr lang="en-US" sz="846" dirty="0"/>
            </a:p>
          </p:txBody>
        </p:sp>
        <p:sp>
          <p:nvSpPr>
            <p:cNvPr id="34" name="Text 34"/>
            <p:cNvSpPr txBox="1"/>
            <p:nvPr/>
          </p:nvSpPr>
          <p:spPr>
            <a:xfrm>
              <a:off x="3262306" y="3192141"/>
              <a:ext cx="942352" cy="148456"/>
            </a:xfrm>
            <a:prstGeom prst="rect">
              <a:avLst/>
            </a:prstGeom>
            <a:noFill/>
            <a:ln>
              <a:noFill/>
            </a:ln>
          </p:spPr>
          <p:txBody>
            <a:bodyPr wrap="none" lIns="0" tIns="0" rIns="0" bIns="0" anchor="t">
              <a:noAutofit/>
            </a:bodyPr>
            <a:lstStyle/>
            <a:p>
              <a:pPr algn="ctr">
                <a:lnSpc>
                  <a:spcPct val="100000"/>
                </a:lnSpc>
                <a:spcBef>
                  <a:spcPts val="0"/>
                </a:spcBef>
                <a:spcAft>
                  <a:spcPts val="0"/>
                </a:spcAft>
                <a:buNone/>
              </a:pPr>
              <a:r>
                <a:rPr lang="en-US" sz="935" dirty="0">
                  <a:solidFill>
                    <a:srgbClr val="0F172A"/>
                  </a:solidFill>
                  <a:latin typeface="Arial"/>
                  <a:cs typeface="Arial"/>
                </a:rPr>
                <a:t>WG Serving</a:t>
              </a:r>
              <a:endParaRPr lang="en-US" sz="935" dirty="0"/>
            </a:p>
          </p:txBody>
        </p:sp>
        <p:sp>
          <p:nvSpPr>
            <p:cNvPr id="35" name="Text 35"/>
            <p:cNvSpPr txBox="1"/>
            <p:nvPr/>
          </p:nvSpPr>
          <p:spPr>
            <a:xfrm>
              <a:off x="3320204" y="3333528"/>
              <a:ext cx="826556" cy="148456"/>
            </a:xfrm>
            <a:prstGeom prst="rect">
              <a:avLst/>
            </a:prstGeom>
            <a:noFill/>
            <a:ln>
              <a:noFill/>
            </a:ln>
          </p:spPr>
          <p:txBody>
            <a:bodyPr wrap="none" lIns="0" tIns="0" rIns="0" bIns="0" anchor="t">
              <a:noAutofit/>
            </a:bodyPr>
            <a:lstStyle/>
            <a:p>
              <a:pPr algn="ctr">
                <a:lnSpc>
                  <a:spcPct val="100000"/>
                </a:lnSpc>
                <a:spcBef>
                  <a:spcPts val="0"/>
                </a:spcBef>
                <a:spcAft>
                  <a:spcPts val="0"/>
                </a:spcAft>
                <a:buNone/>
              </a:pPr>
              <a:r>
                <a:rPr lang="en-US" sz="935" dirty="0">
                  <a:solidFill>
                    <a:srgbClr val="0F172A"/>
                  </a:solidFill>
                  <a:latin typeface="Arial"/>
                  <a:cs typeface="Arial"/>
                </a:rPr>
                <a:t>concludes</a:t>
              </a:r>
              <a:endParaRPr lang="en-US" sz="935" dirty="0"/>
            </a:p>
          </p:txBody>
        </p:sp>
        <p:cxnSp>
          <p:nvCxnSpPr>
            <p:cNvPr id="36" name="Line 36"/>
            <p:cNvCxnSpPr/>
            <p:nvPr/>
          </p:nvCxnSpPr>
          <p:spPr>
            <a:xfrm>
              <a:off x="4330700" y="3899980"/>
              <a:ext cx="0" cy="180975"/>
            </a:xfrm>
            <a:prstGeom prst="line">
              <a:avLst/>
            </a:prstGeom>
            <a:ln w="13573" cap="rnd">
              <a:solidFill>
                <a:srgbClr val="E2E8F0"/>
              </a:solidFill>
              <a:round/>
            </a:ln>
          </p:spPr>
        </p:cxnSp>
        <p:sp>
          <p:nvSpPr>
            <p:cNvPr id="37" name="Dot 37"/>
            <p:cNvSpPr/>
            <p:nvPr/>
          </p:nvSpPr>
          <p:spPr>
            <a:xfrm>
              <a:off x="4268490" y="3747282"/>
              <a:ext cx="124420" cy="124420"/>
            </a:xfrm>
            <a:prstGeom prst="ellipse">
              <a:avLst/>
            </a:prstGeom>
            <a:solidFill>
              <a:srgbClr val="4F46E5"/>
            </a:solidFill>
            <a:ln w="22622" cap="rnd">
              <a:solidFill>
                <a:srgbClr val="FFFFFF"/>
              </a:solidFill>
              <a:round/>
            </a:ln>
          </p:spPr>
        </p:sp>
        <p:sp>
          <p:nvSpPr>
            <p:cNvPr id="38" name="Text 38"/>
            <p:cNvSpPr txBox="1"/>
            <p:nvPr/>
          </p:nvSpPr>
          <p:spPr>
            <a:xfrm>
              <a:off x="3982488" y="4158774"/>
              <a:ext cx="696424" cy="134317"/>
            </a:xfrm>
            <a:prstGeom prst="rect">
              <a:avLst/>
            </a:prstGeom>
            <a:noFill/>
            <a:ln>
              <a:noFill/>
            </a:ln>
          </p:spPr>
          <p:txBody>
            <a:bodyPr wrap="none" lIns="0" tIns="0" rIns="0" bIns="0" anchor="t">
              <a:noAutofit/>
            </a:bodyPr>
            <a:lstStyle/>
            <a:p>
              <a:pPr algn="ctr">
                <a:lnSpc>
                  <a:spcPct val="100000"/>
                </a:lnSpc>
                <a:spcBef>
                  <a:spcPts val="0"/>
                </a:spcBef>
                <a:spcAft>
                  <a:spcPts val="0"/>
                </a:spcAft>
                <a:buNone/>
              </a:pPr>
              <a:r>
                <a:rPr lang="en-US" sz="846" b="1" dirty="0">
                  <a:solidFill>
                    <a:srgbClr val="4F46E5"/>
                  </a:solidFill>
                  <a:latin typeface="Arial"/>
                  <a:cs typeface="Arial"/>
                </a:rPr>
                <a:t>Mar 2026</a:t>
              </a:r>
              <a:endParaRPr lang="en-US" sz="846" dirty="0"/>
            </a:p>
          </p:txBody>
        </p:sp>
        <p:sp>
          <p:nvSpPr>
            <p:cNvPr id="39" name="Text 39"/>
            <p:cNvSpPr txBox="1"/>
            <p:nvPr/>
          </p:nvSpPr>
          <p:spPr>
            <a:xfrm>
              <a:off x="3725201" y="4317579"/>
              <a:ext cx="1210998" cy="148456"/>
            </a:xfrm>
            <a:prstGeom prst="rect">
              <a:avLst/>
            </a:prstGeom>
            <a:noFill/>
            <a:ln>
              <a:noFill/>
            </a:ln>
          </p:spPr>
          <p:txBody>
            <a:bodyPr wrap="none" lIns="0" tIns="0" rIns="0" bIns="0" anchor="t">
              <a:noAutofit/>
            </a:bodyPr>
            <a:lstStyle/>
            <a:p>
              <a:pPr algn="ctr">
                <a:lnSpc>
                  <a:spcPct val="100000"/>
                </a:lnSpc>
                <a:spcBef>
                  <a:spcPts val="0"/>
                </a:spcBef>
                <a:spcAft>
                  <a:spcPts val="0"/>
                </a:spcAft>
                <a:buNone/>
              </a:pPr>
              <a:r>
                <a:rPr lang="en-US" sz="935" dirty="0">
                  <a:solidFill>
                    <a:srgbClr val="0F172A"/>
                  </a:solidFill>
                  <a:latin typeface="Arial"/>
                  <a:cs typeface="Arial"/>
                </a:rPr>
                <a:t>AI Gateway WG</a:t>
              </a:r>
              <a:endParaRPr lang="en-US" sz="935" dirty="0"/>
            </a:p>
          </p:txBody>
        </p:sp>
        <p:sp>
          <p:nvSpPr>
            <p:cNvPr id="40" name="Text 40"/>
            <p:cNvSpPr txBox="1"/>
            <p:nvPr/>
          </p:nvSpPr>
          <p:spPr>
            <a:xfrm>
              <a:off x="4017006" y="4458966"/>
              <a:ext cx="627388" cy="148456"/>
            </a:xfrm>
            <a:prstGeom prst="rect">
              <a:avLst/>
            </a:prstGeom>
            <a:noFill/>
            <a:ln>
              <a:noFill/>
            </a:ln>
          </p:spPr>
          <p:txBody>
            <a:bodyPr wrap="none" lIns="0" tIns="0" rIns="0" bIns="0" anchor="t">
              <a:noAutofit/>
            </a:bodyPr>
            <a:lstStyle/>
            <a:p>
              <a:pPr algn="ctr">
                <a:lnSpc>
                  <a:spcPct val="100000"/>
                </a:lnSpc>
                <a:spcBef>
                  <a:spcPts val="0"/>
                </a:spcBef>
                <a:spcAft>
                  <a:spcPts val="0"/>
                </a:spcAft>
                <a:buNone/>
              </a:pPr>
              <a:r>
                <a:rPr lang="en-US" sz="935" dirty="0">
                  <a:solidFill>
                    <a:srgbClr val="0F172A"/>
                  </a:solidFill>
                  <a:latin typeface="Arial"/>
                  <a:cs typeface="Arial"/>
                </a:rPr>
                <a:t>formed</a:t>
              </a:r>
              <a:endParaRPr lang="en-US" sz="935" dirty="0"/>
            </a:p>
          </p:txBody>
        </p:sp>
        <p:cxnSp>
          <p:nvCxnSpPr>
            <p:cNvPr id="41" name="Line 41"/>
            <p:cNvCxnSpPr/>
            <p:nvPr/>
          </p:nvCxnSpPr>
          <p:spPr>
            <a:xfrm>
              <a:off x="4927918" y="3538030"/>
              <a:ext cx="0" cy="180975"/>
            </a:xfrm>
            <a:prstGeom prst="line">
              <a:avLst/>
            </a:prstGeom>
            <a:ln w="13573" cap="rnd">
              <a:solidFill>
                <a:srgbClr val="E2E8F0"/>
              </a:solidFill>
              <a:round/>
            </a:ln>
          </p:spPr>
        </p:cxnSp>
        <p:sp>
          <p:nvSpPr>
            <p:cNvPr id="42" name="Dot 42"/>
            <p:cNvSpPr/>
            <p:nvPr/>
          </p:nvSpPr>
          <p:spPr>
            <a:xfrm>
              <a:off x="4865707" y="3747282"/>
              <a:ext cx="124420" cy="124420"/>
            </a:xfrm>
            <a:prstGeom prst="ellipse">
              <a:avLst/>
            </a:prstGeom>
            <a:solidFill>
              <a:srgbClr val="4F46E5"/>
            </a:solidFill>
            <a:ln w="22622" cap="rnd">
              <a:solidFill>
                <a:srgbClr val="FFFFFF"/>
              </a:solidFill>
              <a:round/>
            </a:ln>
          </p:spPr>
        </p:sp>
        <p:sp>
          <p:nvSpPr>
            <p:cNvPr id="43" name="Text 43"/>
            <p:cNvSpPr txBox="1"/>
            <p:nvPr/>
          </p:nvSpPr>
          <p:spPr>
            <a:xfrm>
              <a:off x="4579706" y="3033335"/>
              <a:ext cx="696424" cy="134317"/>
            </a:xfrm>
            <a:prstGeom prst="rect">
              <a:avLst/>
            </a:prstGeom>
            <a:noFill/>
            <a:ln>
              <a:noFill/>
            </a:ln>
          </p:spPr>
          <p:txBody>
            <a:bodyPr wrap="none" lIns="0" tIns="0" rIns="0" bIns="0" anchor="t">
              <a:noAutofit/>
            </a:bodyPr>
            <a:lstStyle/>
            <a:p>
              <a:pPr algn="ctr">
                <a:lnSpc>
                  <a:spcPct val="100000"/>
                </a:lnSpc>
                <a:spcBef>
                  <a:spcPts val="0"/>
                </a:spcBef>
                <a:spcAft>
                  <a:spcPts val="0"/>
                </a:spcAft>
                <a:buNone/>
              </a:pPr>
              <a:r>
                <a:rPr lang="en-US" sz="846" b="1" dirty="0">
                  <a:solidFill>
                    <a:srgbClr val="4F46E5"/>
                  </a:solidFill>
                  <a:latin typeface="Arial"/>
                  <a:cs typeface="Arial"/>
                </a:rPr>
                <a:t>Mar 2026</a:t>
              </a:r>
              <a:endParaRPr lang="en-US" sz="846" dirty="0"/>
            </a:p>
          </p:txBody>
        </p:sp>
        <p:sp>
          <p:nvSpPr>
            <p:cNvPr id="44" name="Text 44"/>
            <p:cNvSpPr txBox="1"/>
            <p:nvPr/>
          </p:nvSpPr>
          <p:spPr>
            <a:xfrm>
              <a:off x="4361789" y="3192141"/>
              <a:ext cx="1132257" cy="148456"/>
            </a:xfrm>
            <a:prstGeom prst="rect">
              <a:avLst/>
            </a:prstGeom>
            <a:noFill/>
            <a:ln>
              <a:noFill/>
            </a:ln>
          </p:spPr>
          <p:txBody>
            <a:bodyPr wrap="none" lIns="0" tIns="0" rIns="0" bIns="0" anchor="t">
              <a:noAutofit/>
            </a:bodyPr>
            <a:lstStyle/>
            <a:p>
              <a:pPr algn="ctr">
                <a:lnSpc>
                  <a:spcPct val="100000"/>
                </a:lnSpc>
                <a:spcBef>
                  <a:spcPts val="0"/>
                </a:spcBef>
                <a:spcAft>
                  <a:spcPts val="0"/>
                </a:spcAft>
                <a:buNone/>
              </a:pPr>
              <a:r>
                <a:rPr lang="en-US" sz="935" dirty="0">
                  <a:solidFill>
                    <a:srgbClr val="0F172A"/>
                  </a:solidFill>
                  <a:latin typeface="Arial"/>
                  <a:cs typeface="Arial"/>
                </a:rPr>
                <a:t>llm-d, KAI join</a:t>
              </a:r>
              <a:endParaRPr lang="en-US" sz="935" dirty="0"/>
            </a:p>
          </p:txBody>
        </p:sp>
        <p:sp>
          <p:nvSpPr>
            <p:cNvPr id="45" name="Text 45"/>
            <p:cNvSpPr txBox="1"/>
            <p:nvPr/>
          </p:nvSpPr>
          <p:spPr>
            <a:xfrm>
              <a:off x="4570221" y="3333528"/>
              <a:ext cx="715392" cy="148456"/>
            </a:xfrm>
            <a:prstGeom prst="rect">
              <a:avLst/>
            </a:prstGeom>
            <a:noFill/>
            <a:ln>
              <a:noFill/>
            </a:ln>
          </p:spPr>
          <p:txBody>
            <a:bodyPr wrap="none" lIns="0" tIns="0" rIns="0" bIns="0" anchor="t">
              <a:noAutofit/>
            </a:bodyPr>
            <a:lstStyle/>
            <a:p>
              <a:pPr algn="ctr">
                <a:lnSpc>
                  <a:spcPct val="100000"/>
                </a:lnSpc>
                <a:spcBef>
                  <a:spcPts val="0"/>
                </a:spcBef>
                <a:spcAft>
                  <a:spcPts val="0"/>
                </a:spcAft>
                <a:buNone/>
              </a:pPr>
              <a:r>
                <a:rPr lang="en-US" sz="935" dirty="0">
                  <a:solidFill>
                    <a:srgbClr val="0F172A"/>
                  </a:solidFill>
                  <a:latin typeface="Arial"/>
                  <a:cs typeface="Arial"/>
                </a:rPr>
                <a:t>Sandbox</a:t>
              </a:r>
              <a:endParaRPr lang="en-US" sz="935" dirty="0"/>
            </a:p>
          </p:txBody>
        </p:sp>
        <p:cxnSp>
          <p:nvCxnSpPr>
            <p:cNvPr id="46" name="Line 46"/>
            <p:cNvCxnSpPr/>
            <p:nvPr/>
          </p:nvCxnSpPr>
          <p:spPr>
            <a:xfrm>
              <a:off x="5525135" y="3899980"/>
              <a:ext cx="0" cy="180975"/>
            </a:xfrm>
            <a:prstGeom prst="line">
              <a:avLst/>
            </a:prstGeom>
            <a:ln w="13573" cap="rnd">
              <a:solidFill>
                <a:srgbClr val="E2E8F0"/>
              </a:solidFill>
              <a:round/>
            </a:ln>
          </p:spPr>
        </p:cxnSp>
        <p:sp>
          <p:nvSpPr>
            <p:cNvPr id="47" name="Dot 47"/>
            <p:cNvSpPr/>
            <p:nvPr/>
          </p:nvSpPr>
          <p:spPr>
            <a:xfrm>
              <a:off x="5462925" y="3747282"/>
              <a:ext cx="124420" cy="124420"/>
            </a:xfrm>
            <a:prstGeom prst="ellipse">
              <a:avLst/>
            </a:prstGeom>
            <a:solidFill>
              <a:srgbClr val="4F46E5"/>
            </a:solidFill>
            <a:ln w="22622" cap="rnd">
              <a:solidFill>
                <a:srgbClr val="FFFFFF"/>
              </a:solidFill>
              <a:round/>
            </a:ln>
          </p:spPr>
        </p:sp>
        <p:sp>
          <p:nvSpPr>
            <p:cNvPr id="48" name="Text 48"/>
            <p:cNvSpPr txBox="1"/>
            <p:nvPr/>
          </p:nvSpPr>
          <p:spPr>
            <a:xfrm>
              <a:off x="5176923" y="4158774"/>
              <a:ext cx="696424" cy="134317"/>
            </a:xfrm>
            <a:prstGeom prst="rect">
              <a:avLst/>
            </a:prstGeom>
            <a:noFill/>
            <a:ln>
              <a:noFill/>
            </a:ln>
          </p:spPr>
          <p:txBody>
            <a:bodyPr wrap="none" lIns="0" tIns="0" rIns="0" bIns="0" anchor="t">
              <a:noAutofit/>
            </a:bodyPr>
            <a:lstStyle/>
            <a:p>
              <a:pPr algn="ctr">
                <a:lnSpc>
                  <a:spcPct val="100000"/>
                </a:lnSpc>
                <a:spcBef>
                  <a:spcPts val="0"/>
                </a:spcBef>
                <a:spcAft>
                  <a:spcPts val="0"/>
                </a:spcAft>
                <a:buNone/>
              </a:pPr>
              <a:r>
                <a:rPr lang="en-US" sz="846" b="1" dirty="0">
                  <a:solidFill>
                    <a:srgbClr val="4F46E5"/>
                  </a:solidFill>
                  <a:latin typeface="Arial"/>
                  <a:cs typeface="Arial"/>
                </a:rPr>
                <a:t>Mar 2026</a:t>
              </a:r>
              <a:endParaRPr lang="en-US" sz="846" dirty="0"/>
            </a:p>
          </p:txBody>
        </p:sp>
        <p:sp>
          <p:nvSpPr>
            <p:cNvPr id="49" name="Text 49"/>
            <p:cNvSpPr txBox="1"/>
            <p:nvPr/>
          </p:nvSpPr>
          <p:spPr>
            <a:xfrm>
              <a:off x="5042379" y="4317579"/>
              <a:ext cx="965511" cy="148456"/>
            </a:xfrm>
            <a:prstGeom prst="rect">
              <a:avLst/>
            </a:prstGeom>
            <a:noFill/>
            <a:ln>
              <a:noFill/>
            </a:ln>
          </p:spPr>
          <p:txBody>
            <a:bodyPr wrap="none" lIns="0" tIns="0" rIns="0" bIns="0" anchor="t">
              <a:noAutofit/>
            </a:bodyPr>
            <a:lstStyle/>
            <a:p>
              <a:pPr algn="ctr">
                <a:lnSpc>
                  <a:spcPct val="100000"/>
                </a:lnSpc>
                <a:spcBef>
                  <a:spcPts val="0"/>
                </a:spcBef>
                <a:spcAft>
                  <a:spcPts val="0"/>
                </a:spcAft>
                <a:buNone/>
              </a:pPr>
              <a:r>
                <a:rPr lang="en-US" sz="935" dirty="0">
                  <a:solidFill>
                    <a:srgbClr val="0F172A"/>
                  </a:solidFill>
                  <a:latin typeface="Arial"/>
                  <a:cs typeface="Arial"/>
                </a:rPr>
                <a:t>31 certified</a:t>
              </a:r>
              <a:endParaRPr lang="en-US" sz="935" dirty="0"/>
            </a:p>
          </p:txBody>
        </p:sp>
        <p:sp>
          <p:nvSpPr>
            <p:cNvPr id="50" name="Text 50"/>
            <p:cNvSpPr txBox="1"/>
            <p:nvPr/>
          </p:nvSpPr>
          <p:spPr>
            <a:xfrm>
              <a:off x="5100277" y="4458966"/>
              <a:ext cx="849715" cy="148456"/>
            </a:xfrm>
            <a:prstGeom prst="rect">
              <a:avLst/>
            </a:prstGeom>
            <a:noFill/>
            <a:ln>
              <a:noFill/>
            </a:ln>
          </p:spPr>
          <p:txBody>
            <a:bodyPr wrap="none" lIns="0" tIns="0" rIns="0" bIns="0" anchor="t">
              <a:noAutofit/>
            </a:bodyPr>
            <a:lstStyle/>
            <a:p>
              <a:pPr algn="ctr">
                <a:lnSpc>
                  <a:spcPct val="100000"/>
                </a:lnSpc>
                <a:spcBef>
                  <a:spcPts val="0"/>
                </a:spcBef>
                <a:spcAft>
                  <a:spcPts val="0"/>
                </a:spcAft>
                <a:buNone/>
              </a:pPr>
              <a:r>
                <a:rPr lang="en-US" sz="935" dirty="0">
                  <a:solidFill>
                    <a:srgbClr val="0F172A"/>
                  </a:solidFill>
                  <a:latin typeface="Arial"/>
                  <a:cs typeface="Arial"/>
                </a:rPr>
                <a:t>platforms</a:t>
              </a:r>
              <a:endParaRPr lang="en-US" sz="935" dirty="0"/>
            </a:p>
          </p:txBody>
        </p:sp>
        <p:cxnSp>
          <p:nvCxnSpPr>
            <p:cNvPr id="51" name="Line 51"/>
            <p:cNvCxnSpPr/>
            <p:nvPr/>
          </p:nvCxnSpPr>
          <p:spPr>
            <a:xfrm>
              <a:off x="6122353" y="3538030"/>
              <a:ext cx="0" cy="180975"/>
            </a:xfrm>
            <a:prstGeom prst="line">
              <a:avLst/>
            </a:prstGeom>
            <a:ln w="13573" cap="rnd">
              <a:solidFill>
                <a:srgbClr val="E2E8F0"/>
              </a:solidFill>
              <a:round/>
            </a:ln>
          </p:spPr>
        </p:cxnSp>
        <p:sp>
          <p:nvSpPr>
            <p:cNvPr id="52" name="Dot 52"/>
            <p:cNvSpPr/>
            <p:nvPr/>
          </p:nvSpPr>
          <p:spPr>
            <a:xfrm>
              <a:off x="6060142" y="3747282"/>
              <a:ext cx="124420" cy="124420"/>
            </a:xfrm>
            <a:prstGeom prst="ellipse">
              <a:avLst/>
            </a:prstGeom>
            <a:solidFill>
              <a:srgbClr val="4F46E5"/>
            </a:solidFill>
            <a:ln w="22622" cap="rnd">
              <a:solidFill>
                <a:srgbClr val="FFFFFF"/>
              </a:solidFill>
              <a:round/>
            </a:ln>
          </p:spPr>
        </p:sp>
        <p:sp>
          <p:nvSpPr>
            <p:cNvPr id="53" name="Text 53"/>
            <p:cNvSpPr txBox="1"/>
            <p:nvPr/>
          </p:nvSpPr>
          <p:spPr>
            <a:xfrm>
              <a:off x="5774141" y="3033335"/>
              <a:ext cx="696424" cy="134317"/>
            </a:xfrm>
            <a:prstGeom prst="rect">
              <a:avLst/>
            </a:prstGeom>
            <a:noFill/>
            <a:ln>
              <a:noFill/>
            </a:ln>
          </p:spPr>
          <p:txBody>
            <a:bodyPr wrap="none" lIns="0" tIns="0" rIns="0" bIns="0" anchor="t">
              <a:noAutofit/>
            </a:bodyPr>
            <a:lstStyle/>
            <a:p>
              <a:pPr algn="ctr">
                <a:lnSpc>
                  <a:spcPct val="100000"/>
                </a:lnSpc>
                <a:spcBef>
                  <a:spcPts val="0"/>
                </a:spcBef>
                <a:spcAft>
                  <a:spcPts val="0"/>
                </a:spcAft>
                <a:buNone/>
              </a:pPr>
              <a:r>
                <a:rPr lang="en-US" sz="846" b="1" dirty="0">
                  <a:solidFill>
                    <a:srgbClr val="4F46E5"/>
                  </a:solidFill>
                  <a:latin typeface="Arial"/>
                  <a:cs typeface="Arial"/>
                </a:rPr>
                <a:t>Apr 2026</a:t>
              </a:r>
              <a:endParaRPr lang="en-US" sz="846" dirty="0"/>
            </a:p>
          </p:txBody>
        </p:sp>
        <p:sp>
          <p:nvSpPr>
            <p:cNvPr id="54" name="Text 54"/>
            <p:cNvSpPr txBox="1"/>
            <p:nvPr/>
          </p:nvSpPr>
          <p:spPr>
            <a:xfrm>
              <a:off x="5382530" y="3192141"/>
              <a:ext cx="1479644" cy="148456"/>
            </a:xfrm>
            <a:prstGeom prst="rect">
              <a:avLst/>
            </a:prstGeom>
            <a:noFill/>
            <a:ln>
              <a:noFill/>
            </a:ln>
          </p:spPr>
          <p:txBody>
            <a:bodyPr wrap="none" lIns="0" tIns="0" rIns="0" bIns="0" anchor="t">
              <a:noAutofit/>
            </a:bodyPr>
            <a:lstStyle/>
            <a:p>
              <a:pPr algn="ctr">
                <a:lnSpc>
                  <a:spcPct val="100000"/>
                </a:lnSpc>
                <a:spcBef>
                  <a:spcPts val="0"/>
                </a:spcBef>
                <a:spcAft>
                  <a:spcPts val="0"/>
                </a:spcAft>
                <a:buNone/>
              </a:pPr>
              <a:r>
                <a:rPr lang="en-US" sz="935" dirty="0">
                  <a:solidFill>
                    <a:srgbClr val="0F172A"/>
                  </a:solidFill>
                  <a:latin typeface="Arial"/>
                  <a:cs typeface="Arial"/>
                </a:rPr>
                <a:t>v1.36, DRA sharing</a:t>
              </a:r>
              <a:endParaRPr lang="en-US" sz="935" dirty="0"/>
            </a:p>
          </p:txBody>
        </p:sp>
        <p:sp>
          <p:nvSpPr>
            <p:cNvPr id="55" name="Text 55"/>
            <p:cNvSpPr txBox="1"/>
            <p:nvPr/>
          </p:nvSpPr>
          <p:spPr>
            <a:xfrm>
              <a:off x="5908243" y="3333528"/>
              <a:ext cx="428219" cy="148456"/>
            </a:xfrm>
            <a:prstGeom prst="rect">
              <a:avLst/>
            </a:prstGeom>
            <a:noFill/>
            <a:ln>
              <a:noFill/>
            </a:ln>
          </p:spPr>
          <p:txBody>
            <a:bodyPr wrap="none" lIns="0" tIns="0" rIns="0" bIns="0" anchor="t">
              <a:noAutofit/>
            </a:bodyPr>
            <a:lstStyle/>
            <a:p>
              <a:pPr algn="ctr">
                <a:lnSpc>
                  <a:spcPct val="100000"/>
                </a:lnSpc>
                <a:spcBef>
                  <a:spcPts val="0"/>
                </a:spcBef>
                <a:spcAft>
                  <a:spcPts val="0"/>
                </a:spcAft>
                <a:buNone/>
              </a:pPr>
              <a:r>
                <a:rPr lang="en-US" sz="935" dirty="0">
                  <a:solidFill>
                    <a:srgbClr val="0F172A"/>
                  </a:solidFill>
                  <a:latin typeface="Arial"/>
                  <a:cs typeface="Arial"/>
                </a:rPr>
                <a:t>beta</a:t>
              </a:r>
              <a:endParaRPr lang="en-US" sz="935" dirty="0"/>
            </a:p>
          </p:txBody>
        </p:sp>
        <p:cxnSp>
          <p:nvCxnSpPr>
            <p:cNvPr id="56" name="Line 56"/>
            <p:cNvCxnSpPr/>
            <p:nvPr/>
          </p:nvCxnSpPr>
          <p:spPr>
            <a:xfrm>
              <a:off x="6719570" y="3899980"/>
              <a:ext cx="0" cy="180975"/>
            </a:xfrm>
            <a:prstGeom prst="line">
              <a:avLst/>
            </a:prstGeom>
            <a:ln w="13573" cap="rnd">
              <a:solidFill>
                <a:srgbClr val="E2E8F0"/>
              </a:solidFill>
              <a:round/>
            </a:ln>
          </p:spPr>
        </p:cxnSp>
        <p:sp>
          <p:nvSpPr>
            <p:cNvPr id="57" name="Dot 57"/>
            <p:cNvSpPr/>
            <p:nvPr/>
          </p:nvSpPr>
          <p:spPr>
            <a:xfrm>
              <a:off x="6657360" y="3747282"/>
              <a:ext cx="124420" cy="124420"/>
            </a:xfrm>
            <a:prstGeom prst="ellipse">
              <a:avLst/>
            </a:prstGeom>
            <a:solidFill>
              <a:srgbClr val="4F46E5"/>
            </a:solidFill>
            <a:ln w="22622" cap="rnd">
              <a:solidFill>
                <a:srgbClr val="FFFFFF"/>
              </a:solidFill>
              <a:round/>
            </a:ln>
          </p:spPr>
        </p:sp>
        <p:sp>
          <p:nvSpPr>
            <p:cNvPr id="58" name="Text 58"/>
            <p:cNvSpPr txBox="1"/>
            <p:nvPr/>
          </p:nvSpPr>
          <p:spPr>
            <a:xfrm>
              <a:off x="6371358" y="4158774"/>
              <a:ext cx="696424" cy="134317"/>
            </a:xfrm>
            <a:prstGeom prst="rect">
              <a:avLst/>
            </a:prstGeom>
            <a:noFill/>
            <a:ln>
              <a:noFill/>
            </a:ln>
          </p:spPr>
          <p:txBody>
            <a:bodyPr wrap="none" lIns="0" tIns="0" rIns="0" bIns="0" anchor="t">
              <a:noAutofit/>
            </a:bodyPr>
            <a:lstStyle/>
            <a:p>
              <a:pPr algn="ctr">
                <a:lnSpc>
                  <a:spcPct val="100000"/>
                </a:lnSpc>
                <a:spcBef>
                  <a:spcPts val="0"/>
                </a:spcBef>
                <a:spcAft>
                  <a:spcPts val="0"/>
                </a:spcAft>
                <a:buNone/>
              </a:pPr>
              <a:r>
                <a:rPr lang="en-US" sz="846" b="1" dirty="0">
                  <a:solidFill>
                    <a:srgbClr val="4F46E5"/>
                  </a:solidFill>
                  <a:latin typeface="Arial"/>
                  <a:cs typeface="Arial"/>
                </a:rPr>
                <a:t>Jun 2026</a:t>
              </a:r>
              <a:endParaRPr lang="en-US" sz="846" dirty="0"/>
            </a:p>
          </p:txBody>
        </p:sp>
        <p:sp>
          <p:nvSpPr>
            <p:cNvPr id="59" name="Text 59"/>
            <p:cNvSpPr txBox="1"/>
            <p:nvPr/>
          </p:nvSpPr>
          <p:spPr>
            <a:xfrm>
              <a:off x="6070069" y="4317579"/>
              <a:ext cx="1299003" cy="148456"/>
            </a:xfrm>
            <a:prstGeom prst="rect">
              <a:avLst/>
            </a:prstGeom>
            <a:noFill/>
            <a:ln>
              <a:noFill/>
            </a:ln>
          </p:spPr>
          <p:txBody>
            <a:bodyPr wrap="none" lIns="0" tIns="0" rIns="0" bIns="0" anchor="t">
              <a:noAutofit/>
            </a:bodyPr>
            <a:lstStyle/>
            <a:p>
              <a:pPr algn="ctr">
                <a:lnSpc>
                  <a:spcPct val="100000"/>
                </a:lnSpc>
                <a:spcBef>
                  <a:spcPts val="0"/>
                </a:spcBef>
                <a:spcAft>
                  <a:spcPts val="0"/>
                </a:spcAft>
                <a:buNone/>
              </a:pPr>
              <a:r>
                <a:rPr lang="en-US" sz="935" dirty="0">
                  <a:solidFill>
                    <a:srgbClr val="0F172A"/>
                  </a:solidFill>
                  <a:latin typeface="Arial"/>
                  <a:cs typeface="Arial"/>
                </a:rPr>
                <a:t>WG Device Mgmt</a:t>
              </a:r>
              <a:endParaRPr lang="en-US" sz="935" dirty="0"/>
            </a:p>
          </p:txBody>
        </p:sp>
        <p:sp>
          <p:nvSpPr>
            <p:cNvPr id="60" name="Text 60"/>
            <p:cNvSpPr txBox="1"/>
            <p:nvPr/>
          </p:nvSpPr>
          <p:spPr>
            <a:xfrm>
              <a:off x="6303976" y="4458966"/>
              <a:ext cx="831188" cy="148456"/>
            </a:xfrm>
            <a:prstGeom prst="rect">
              <a:avLst/>
            </a:prstGeom>
            <a:noFill/>
            <a:ln>
              <a:noFill/>
            </a:ln>
          </p:spPr>
          <p:txBody>
            <a:bodyPr wrap="none" lIns="0" tIns="0" rIns="0" bIns="0" anchor="t">
              <a:noAutofit/>
            </a:bodyPr>
            <a:lstStyle/>
            <a:p>
              <a:pPr algn="ctr">
                <a:lnSpc>
                  <a:spcPct val="100000"/>
                </a:lnSpc>
                <a:spcBef>
                  <a:spcPts val="0"/>
                </a:spcBef>
                <a:spcAft>
                  <a:spcPts val="0"/>
                </a:spcAft>
                <a:buNone/>
              </a:pPr>
              <a:r>
                <a:rPr lang="en-US" sz="935" dirty="0">
                  <a:solidFill>
                    <a:srgbClr val="0F172A"/>
                  </a:solidFill>
                  <a:latin typeface="Arial"/>
                  <a:cs typeface="Arial"/>
                </a:rPr>
                <a:t>priorities</a:t>
              </a:r>
              <a:endParaRPr lang="en-US" sz="935" dirty="0"/>
            </a:p>
          </p:txBody>
        </p:sp>
        <p:cxnSp>
          <p:nvCxnSpPr>
            <p:cNvPr id="61" name="Line 61"/>
            <p:cNvCxnSpPr/>
            <p:nvPr/>
          </p:nvCxnSpPr>
          <p:spPr>
            <a:xfrm>
              <a:off x="7316788" y="3538030"/>
              <a:ext cx="0" cy="180975"/>
            </a:xfrm>
            <a:prstGeom prst="line">
              <a:avLst/>
            </a:prstGeom>
            <a:ln w="13573" cap="rnd">
              <a:solidFill>
                <a:srgbClr val="E2E8F0"/>
              </a:solidFill>
              <a:round/>
            </a:ln>
          </p:spPr>
        </p:cxnSp>
        <p:sp>
          <p:nvSpPr>
            <p:cNvPr id="62" name="Dot 62"/>
            <p:cNvSpPr/>
            <p:nvPr/>
          </p:nvSpPr>
          <p:spPr>
            <a:xfrm>
              <a:off x="7254577" y="3747282"/>
              <a:ext cx="124420" cy="124420"/>
            </a:xfrm>
            <a:prstGeom prst="ellipse">
              <a:avLst/>
            </a:prstGeom>
            <a:solidFill>
              <a:srgbClr val="4F46E5"/>
            </a:solidFill>
            <a:ln w="22622" cap="rnd">
              <a:solidFill>
                <a:srgbClr val="FFFFFF"/>
              </a:solidFill>
              <a:round/>
            </a:ln>
          </p:spPr>
        </p:sp>
        <p:sp>
          <p:nvSpPr>
            <p:cNvPr id="63" name="Text 63"/>
            <p:cNvSpPr txBox="1"/>
            <p:nvPr/>
          </p:nvSpPr>
          <p:spPr>
            <a:xfrm>
              <a:off x="6459405" y="3033335"/>
              <a:ext cx="1714765" cy="134317"/>
            </a:xfrm>
            <a:prstGeom prst="rect">
              <a:avLst/>
            </a:prstGeom>
            <a:noFill/>
            <a:ln>
              <a:noFill/>
            </a:ln>
          </p:spPr>
          <p:txBody>
            <a:bodyPr wrap="none" lIns="0" tIns="0" rIns="0" bIns="0" anchor="t">
              <a:noAutofit/>
            </a:bodyPr>
            <a:lstStyle/>
            <a:p>
              <a:pPr algn="ctr">
                <a:lnSpc>
                  <a:spcPct val="100000"/>
                </a:lnSpc>
                <a:spcBef>
                  <a:spcPts val="0"/>
                </a:spcBef>
                <a:spcAft>
                  <a:spcPts val="0"/>
                </a:spcAft>
                <a:buNone/>
              </a:pPr>
              <a:r>
                <a:rPr lang="en-US" sz="846" b="1" dirty="0">
                  <a:solidFill>
                    <a:srgbClr val="4F46E5"/>
                  </a:solidFill>
                  <a:latin typeface="Arial"/>
                  <a:cs typeface="Arial"/>
                </a:rPr>
                <a:t>2026 (date not stated)</a:t>
              </a:r>
              <a:endParaRPr lang="en-US" sz="846" dirty="0"/>
            </a:p>
          </p:txBody>
        </p:sp>
        <p:sp>
          <p:nvSpPr>
            <p:cNvPr id="64" name="Text 64"/>
            <p:cNvSpPr txBox="1"/>
            <p:nvPr/>
          </p:nvSpPr>
          <p:spPr>
            <a:xfrm>
              <a:off x="6834032" y="3192141"/>
              <a:ext cx="965511" cy="148456"/>
            </a:xfrm>
            <a:prstGeom prst="rect">
              <a:avLst/>
            </a:prstGeom>
            <a:noFill/>
            <a:ln>
              <a:noFill/>
            </a:ln>
          </p:spPr>
          <p:txBody>
            <a:bodyPr wrap="none" lIns="0" tIns="0" rIns="0" bIns="0" anchor="t">
              <a:noAutofit/>
            </a:bodyPr>
            <a:lstStyle/>
            <a:p>
              <a:pPr algn="ctr">
                <a:lnSpc>
                  <a:spcPct val="100000"/>
                </a:lnSpc>
                <a:spcBef>
                  <a:spcPts val="0"/>
                </a:spcBef>
                <a:spcAft>
                  <a:spcPts val="0"/>
                </a:spcAft>
                <a:buNone/>
              </a:pPr>
              <a:r>
                <a:rPr lang="en-US" sz="935" dirty="0">
                  <a:solidFill>
                    <a:srgbClr val="0F172A"/>
                  </a:solidFill>
                  <a:latin typeface="Arial"/>
                  <a:cs typeface="Arial"/>
                </a:rPr>
                <a:t>v1.37 hybrid</a:t>
              </a:r>
              <a:endParaRPr lang="en-US" sz="935" dirty="0"/>
            </a:p>
          </p:txBody>
        </p:sp>
        <p:sp>
          <p:nvSpPr>
            <p:cNvPr id="65" name="Text 65"/>
            <p:cNvSpPr txBox="1"/>
            <p:nvPr/>
          </p:nvSpPr>
          <p:spPr>
            <a:xfrm>
              <a:off x="6783082" y="3333528"/>
              <a:ext cx="1067411" cy="148456"/>
            </a:xfrm>
            <a:prstGeom prst="rect">
              <a:avLst/>
            </a:prstGeom>
            <a:noFill/>
            <a:ln>
              <a:noFill/>
            </a:ln>
          </p:spPr>
          <p:txBody>
            <a:bodyPr wrap="none" lIns="0" tIns="0" rIns="0" bIns="0" anchor="t">
              <a:noAutofit/>
            </a:bodyPr>
            <a:lstStyle/>
            <a:p>
              <a:pPr algn="ctr">
                <a:lnSpc>
                  <a:spcPct val="100000"/>
                </a:lnSpc>
                <a:spcBef>
                  <a:spcPts val="0"/>
                </a:spcBef>
                <a:spcAft>
                  <a:spcPts val="0"/>
                </a:spcAft>
                <a:buNone/>
              </a:pPr>
              <a:r>
                <a:rPr lang="en-US" sz="935" dirty="0">
                  <a:solidFill>
                    <a:srgbClr val="0F172A"/>
                  </a:solidFill>
                  <a:latin typeface="Arial"/>
                  <a:cs typeface="Arial"/>
                </a:rPr>
                <a:t>conformance</a:t>
              </a:r>
              <a:endParaRPr lang="en-US" sz="935" dirty="0"/>
            </a:p>
          </p:txBody>
        </p:sp>
      </p:grpSp>
      <p:sp>
        <p:nvSpPr>
          <p:cNvPr id="66" name="Text 66"/>
          <p:cNvSpPr txBox="1"/>
          <p:nvPr/>
        </p:nvSpPr>
        <p:spPr>
          <a:xfrm>
            <a:off x="711200" y="6096000"/>
            <a:ext cx="10769600" cy="177800"/>
          </a:xfrm>
          <a:prstGeom prst="rect">
            <a:avLst/>
          </a:prstGeom>
          <a:noFill/>
          <a:ln>
            <a:noFill/>
          </a:ln>
        </p:spPr>
        <p:txBody>
          <a:bodyPr wrap="square" lIns="0" tIns="0" rIns="0" bIns="0" anchor="t">
            <a:noAutofit/>
          </a:bodyPr>
          <a:lstStyle/>
          <a:p>
            <a:pPr algn="l">
              <a:lnSpc>
                <a:spcPct val="108000"/>
              </a:lnSpc>
              <a:spcBef>
                <a:spcPts val="0"/>
              </a:spcBef>
              <a:spcAft>
                <a:spcPts val="0"/>
              </a:spcAft>
              <a:buNone/>
            </a:pPr>
            <a:r>
              <a:rPr lang="en-US" sz="850" dirty="0">
                <a:solidFill>
                  <a:srgbClr val="64748B"/>
                </a:solidFill>
                <a:latin typeface="Arial"/>
                <a:cs typeface="Arial"/>
              </a:rPr>
              <a:t>Source: [9], [10], [11], [12], [17], [18], [19], [20], [26], [27], [31], [32], [39], [50], [51], [52], [53], [69], [70], [71].</a:t>
            </a:r>
            <a:endParaRPr lang="en-US" sz="8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p:nvPr/>
        </p:nvSpPr>
        <p:spPr>
          <a:xfrm>
            <a:off x="711200" y="508000"/>
            <a:ext cx="558800" cy="63500"/>
          </a:xfrm>
          <a:prstGeom prst="roundRect">
            <a:avLst>
              <a:gd name="adj" fmla="val 50000"/>
            </a:avLst>
          </a:prstGeom>
          <a:gradFill rotWithShape="1">
            <a:gsLst>
              <a:gs pos="0">
                <a:srgbClr val="4F46E5"/>
              </a:gs>
              <a:gs pos="50000">
                <a:srgbClr val="7C3AED"/>
              </a:gs>
              <a:gs pos="100000">
                <a:srgbClr val="06B6D4"/>
              </a:gs>
            </a:gsLst>
            <a:lin ang="0" scaled="0"/>
          </a:gradFill>
          <a:ln>
            <a:noFill/>
          </a:ln>
        </p:spPr>
      </p:sp>
      <p:sp>
        <p:nvSpPr>
          <p:cNvPr id="3" name="Text 3"/>
          <p:cNvSpPr txBox="1"/>
          <p:nvPr/>
        </p:nvSpPr>
        <p:spPr>
          <a:xfrm>
            <a:off x="711200" y="685800"/>
            <a:ext cx="10769600" cy="203200"/>
          </a:xfrm>
          <a:prstGeom prst="rect">
            <a:avLst/>
          </a:prstGeom>
          <a:noFill/>
          <a:ln>
            <a:noFill/>
          </a:ln>
        </p:spPr>
        <p:txBody>
          <a:bodyPr wrap="square" lIns="0" tIns="0" rIns="0" bIns="0" anchor="t">
            <a:noAutofit/>
          </a:bodyPr>
          <a:lstStyle/>
          <a:p>
            <a:pPr algn="l">
              <a:lnSpc>
                <a:spcPct val="108000"/>
              </a:lnSpc>
              <a:spcBef>
                <a:spcPts val="0"/>
              </a:spcBef>
              <a:spcAft>
                <a:spcPts val="0"/>
              </a:spcAft>
              <a:buNone/>
            </a:pPr>
            <a:r>
              <a:rPr lang="en-US" sz="950" b="1" spc="140" dirty="0">
                <a:solidFill>
                  <a:srgbClr val="4F46E5"/>
                </a:solidFill>
                <a:latin typeface="Arial"/>
                <a:cs typeface="Arial"/>
              </a:rPr>
              <a:t>SECTION 09 · OUTLOOK AND RECOMMENDATIONS FOR PLATFORM TEAMS</a:t>
            </a:r>
            <a:endParaRPr lang="en-US" sz="950" dirty="0"/>
          </a:p>
        </p:txBody>
      </p:sp>
      <p:sp>
        <p:nvSpPr>
          <p:cNvPr id="4" name="Text 4"/>
          <p:cNvSpPr txBox="1"/>
          <p:nvPr/>
        </p:nvSpPr>
        <p:spPr>
          <a:xfrm>
            <a:off x="711200" y="965200"/>
            <a:ext cx="10515600" cy="481584"/>
          </a:xfrm>
          <a:prstGeom prst="rect">
            <a:avLst/>
          </a:prstGeom>
          <a:noFill/>
          <a:ln>
            <a:noFill/>
          </a:ln>
        </p:spPr>
        <p:txBody>
          <a:bodyPr wrap="square" lIns="0" tIns="0" rIns="0" bIns="0" anchor="t">
            <a:noAutofit/>
          </a:bodyPr>
          <a:lstStyle/>
          <a:p>
            <a:pPr algn="l">
              <a:lnSpc>
                <a:spcPct val="96000"/>
              </a:lnSpc>
              <a:spcBef>
                <a:spcPts val="0"/>
              </a:spcBef>
              <a:spcAft>
                <a:spcPts val="0"/>
              </a:spcAft>
              <a:buNone/>
            </a:pPr>
            <a:r>
              <a:rPr lang="en-US" sz="2800" b="1" spc="-30" dirty="0">
                <a:solidFill>
                  <a:srgbClr val="0F172A"/>
                </a:solidFill>
                <a:latin typeface="Arial"/>
                <a:cs typeface="Arial"/>
              </a:rPr>
              <a:t>Outlook and recommendations for platform teams</a:t>
            </a:r>
            <a:endParaRPr lang="en-US" sz="2800" dirty="0"/>
          </a:p>
        </p:txBody>
      </p:sp>
      <p:sp>
        <p:nvSpPr>
          <p:cNvPr id="5" name="Shape 5"/>
          <p:cNvSpPr/>
          <p:nvPr/>
        </p:nvSpPr>
        <p:spPr>
          <a:xfrm>
            <a:off x="711200" y="6451600"/>
            <a:ext cx="10769600" cy="9525"/>
          </a:xfrm>
          <a:prstGeom prst="rect">
            <a:avLst/>
          </a:prstGeom>
          <a:solidFill>
            <a:srgbClr val="E2E8F0"/>
          </a:solidFill>
          <a:ln>
            <a:noFill/>
          </a:ln>
        </p:spPr>
      </p:sp>
      <p:sp>
        <p:nvSpPr>
          <p:cNvPr id="6" name="Text 6"/>
          <p:cNvSpPr txBox="1"/>
          <p:nvPr/>
        </p:nvSpPr>
        <p:spPr>
          <a:xfrm>
            <a:off x="711200" y="6527800"/>
            <a:ext cx="9753600" cy="177800"/>
          </a:xfrm>
          <a:prstGeom prst="rect">
            <a:avLst/>
          </a:prstGeom>
          <a:noFill/>
          <a:ln>
            <a:noFill/>
          </a:ln>
        </p:spPr>
        <p:txBody>
          <a:bodyPr wrap="square" lIns="0" tIns="0" rIns="0" bIns="0" anchor="t">
            <a:noAutofit/>
          </a:bodyPr>
          <a:lstStyle/>
          <a:p>
            <a:pPr algn="l">
              <a:lnSpc>
                <a:spcPct val="108000"/>
              </a:lnSpc>
              <a:spcBef>
                <a:spcPts val="0"/>
              </a:spcBef>
              <a:spcAft>
                <a:spcPts val="0"/>
              </a:spcAft>
              <a:buNone/>
            </a:pPr>
            <a:r>
              <a:rPr lang="en-US" sz="800" dirty="0">
                <a:solidFill>
                  <a:srgbClr val="94A3B8"/>
                </a:solidFill>
                <a:latin typeface="Arial"/>
                <a:cs typeface="Arial"/>
              </a:rPr>
              <a:t>Kubernetes as the Platform for AI Infrastructure</a:t>
            </a:r>
            <a:endParaRPr lang="en-US" sz="800" dirty="0"/>
          </a:p>
        </p:txBody>
      </p:sp>
      <p:sp>
        <p:nvSpPr>
          <p:cNvPr id="7" name="Text 7"/>
          <p:cNvSpPr txBox="1"/>
          <p:nvPr/>
        </p:nvSpPr>
        <p:spPr>
          <a:xfrm>
            <a:off x="10718800" y="6527800"/>
            <a:ext cx="762000" cy="177800"/>
          </a:xfrm>
          <a:prstGeom prst="rect">
            <a:avLst/>
          </a:prstGeom>
          <a:noFill/>
          <a:ln>
            <a:noFill/>
          </a:ln>
        </p:spPr>
        <p:txBody>
          <a:bodyPr wrap="square" lIns="0" tIns="0" rIns="0" bIns="0" anchor="t">
            <a:noAutofit/>
          </a:bodyPr>
          <a:lstStyle/>
          <a:p>
            <a:pPr algn="r">
              <a:lnSpc>
                <a:spcPct val="108000"/>
              </a:lnSpc>
              <a:spcBef>
                <a:spcPts val="0"/>
              </a:spcBef>
              <a:spcAft>
                <a:spcPts val="0"/>
              </a:spcAft>
              <a:buNone/>
            </a:pPr>
            <a:r>
              <a:rPr lang="en-US" sz="850" b="1" dirty="0">
                <a:solidFill>
                  <a:srgbClr val="0F172A"/>
                </a:solidFill>
                <a:latin typeface="Arial"/>
                <a:cs typeface="Arial"/>
              </a:rPr>
              <a:t>33</a:t>
            </a:r>
            <a:endParaRPr lang="en-US" sz="850" dirty="0"/>
          </a:p>
        </p:txBody>
      </p:sp>
      <p:sp>
        <p:nvSpPr>
          <p:cNvPr id="8" name="Text 8"/>
          <p:cNvSpPr txBox="1"/>
          <p:nvPr/>
        </p:nvSpPr>
        <p:spPr>
          <a:xfrm>
            <a:off x="711200" y="1700784"/>
            <a:ext cx="9261856" cy="4547616"/>
          </a:xfrm>
          <a:prstGeom prst="rect">
            <a:avLst/>
          </a:prstGeom>
          <a:noFill/>
          <a:ln>
            <a:noFill/>
          </a:ln>
        </p:spPr>
        <p:txBody>
          <a:bodyPr wrap="square" lIns="0" tIns="0" rIns="0" bIns="0" anchor="t">
            <a:noAutofit/>
          </a:bodyPr>
          <a:lstStyle/>
          <a:p>
            <a:pPr marL="219075" indent="-219075" algn="l">
              <a:lnSpc>
                <a:spcPct val="118000"/>
              </a:lnSpc>
              <a:spcBef>
                <a:spcPts val="0"/>
              </a:spcBef>
              <a:spcAft>
                <a:spcPts val="1125"/>
              </a:spcAft>
              <a:buClr>
                <a:srgbClr val="4F46E5"/>
              </a:buClr>
              <a:buFont typeface="Arial"/>
              <a:buChar char="•"/>
            </a:pPr>
            <a:r>
              <a:rPr lang="en-US" sz="1500" dirty="0">
                <a:solidFill>
                  <a:srgbClr val="334155"/>
                </a:solidFill>
                <a:latin typeface="Arial"/>
                <a:cs typeface="Arial"/>
              </a:rPr>
              <a:t>The recommendations below are our interpretation of the evidence, ordered by how mature the underlying components are.</a:t>
            </a:r>
            <a:endParaRPr lang="en-US" sz="1500" dirty="0"/>
          </a:p>
          <a:p>
            <a:pPr marL="219075" indent="-219075" algn="l">
              <a:lnSpc>
                <a:spcPct val="118000"/>
              </a:lnSpc>
              <a:spcBef>
                <a:spcPts val="0"/>
              </a:spcBef>
              <a:spcAft>
                <a:spcPts val="1125"/>
              </a:spcAft>
              <a:buClr>
                <a:srgbClr val="4F46E5"/>
              </a:buClr>
              <a:buFont typeface="Arial"/>
              <a:buChar char="•"/>
            </a:pPr>
            <a:r>
              <a:rPr lang="en-US" sz="1500" dirty="0">
                <a:solidFill>
                  <a:srgbClr val="334155"/>
                </a:solidFill>
                <a:latin typeface="Arial"/>
                <a:cs typeface="Arial"/>
              </a:rPr>
              <a:t>Adopt Kueue now for queueing, quotas and all-or-nothing admission. Its core features and MultiKueue are GA, and it underpins the China Merchants Bank, Wayve and Google…</a:t>
            </a:r>
            <a:r>
              <a:rPr lang="en-US" sz="1500" baseline="30000" dirty="0">
                <a:solidFill>
                  <a:srgbClr val="64748B"/>
                </a:solidFill>
                <a:latin typeface="Arial"/>
                <a:cs typeface="Arial"/>
              </a:rPr>
              <a:t> 54,55,28,33,35</a:t>
            </a:r>
            <a:endParaRPr lang="en-US" sz="1500" dirty="0"/>
          </a:p>
          <a:p>
            <a:pPr marL="219075" indent="-219075" algn="l">
              <a:lnSpc>
                <a:spcPct val="118000"/>
              </a:lnSpc>
              <a:spcBef>
                <a:spcPts val="0"/>
              </a:spcBef>
              <a:spcAft>
                <a:spcPts val="1125"/>
              </a:spcAft>
              <a:buClr>
                <a:srgbClr val="4F46E5"/>
              </a:buClr>
              <a:buFont typeface="Arial"/>
              <a:buChar char="•"/>
            </a:pPr>
            <a:r>
              <a:rPr lang="en-US" sz="1500" dirty="0">
                <a:solidFill>
                  <a:srgbClr val="334155"/>
                </a:solidFill>
                <a:latin typeface="Arial"/>
                <a:cs typeface="Arial"/>
              </a:rPr>
              <a:t>Plan device management around DRA. Use the v1.36 beta sharing and health features, and keep device plugins or vendor tooling for NVIDIA GPU allocation until the driver's path…</a:t>
            </a:r>
            <a:r>
              <a:rPr lang="en-US" sz="1500" baseline="30000" dirty="0">
                <a:solidFill>
                  <a:srgbClr val="64748B"/>
                </a:solidFill>
                <a:latin typeface="Arial"/>
                <a:cs typeface="Arial"/>
              </a:rPr>
              <a:t> 18,19,21</a:t>
            </a:r>
            <a:endParaRPr lang="en-US" sz="1500" dirty="0"/>
          </a:p>
          <a:p>
            <a:pPr marL="219075" indent="-219075" algn="l">
              <a:lnSpc>
                <a:spcPct val="118000"/>
              </a:lnSpc>
              <a:spcBef>
                <a:spcPts val="0"/>
              </a:spcBef>
              <a:spcAft>
                <a:spcPts val="1125"/>
              </a:spcAft>
              <a:buClr>
                <a:srgbClr val="4F46E5"/>
              </a:buClr>
              <a:buFont typeface="Arial"/>
              <a:buChar char="•"/>
            </a:pPr>
            <a:r>
              <a:rPr lang="en-US" sz="1500" dirty="0">
                <a:solidFill>
                  <a:srgbClr val="334155"/>
                </a:solidFill>
                <a:latin typeface="Arial"/>
                <a:cs typeface="Arial"/>
              </a:rPr>
              <a:t>Standardise inference routing on InferencePool with a production EPP. Choose llm-d/KServe or Dynamo for the serving layer, and design autoscaling around KV-cache and queue signals…</a:t>
            </a:r>
            <a:r>
              <a:rPr lang="en-US" sz="1500" baseline="30000" dirty="0">
                <a:solidFill>
                  <a:srgbClr val="64748B"/>
                </a:solidFill>
                <a:latin typeface="Arial"/>
                <a:cs typeface="Arial"/>
              </a:rPr>
              <a:t> 6,7,8,9,10,11,12,13</a:t>
            </a:r>
            <a:endParaRPr lang="en-US" sz="1500" dirty="0"/>
          </a:p>
          <a:p>
            <a:pPr marL="219075" indent="-219075" algn="l">
              <a:lnSpc>
                <a:spcPct val="118000"/>
              </a:lnSpc>
              <a:spcBef>
                <a:spcPts val="0"/>
              </a:spcBef>
              <a:spcAft>
                <a:spcPts val="1125"/>
              </a:spcAft>
              <a:buClr>
                <a:srgbClr val="4F46E5"/>
              </a:buClr>
              <a:buFont typeface="Arial"/>
              <a:buChar char="•"/>
            </a:pPr>
            <a:r>
              <a:rPr lang="en-US" sz="1500" dirty="0">
                <a:solidFill>
                  <a:srgbClr val="334155"/>
                </a:solidFill>
                <a:latin typeface="Arial"/>
                <a:cs typeface="Arial"/>
              </a:rPr>
              <a:t>Treat native gang scheduling as upcoming, not available. Workload Aware Scheduling is alpha, and Kueue and Volcano API versions are still changing (Kueue v0.20 stops serving…</a:t>
            </a:r>
            <a:r>
              <a:rPr lang="en-US" sz="1500" baseline="30000" dirty="0">
                <a:solidFill>
                  <a:srgbClr val="64748B"/>
                </a:solidFill>
                <a:latin typeface="Arial"/>
                <a:cs typeface="Arial"/>
              </a:rPr>
              <a:t> 19,20,54,55</a:t>
            </a:r>
            <a:endParaRPr lang="en-US" sz="1500" dirty="0"/>
          </a:p>
          <a:p>
            <a:pPr marL="219075" indent="-219075" algn="l">
              <a:lnSpc>
                <a:spcPct val="118000"/>
              </a:lnSpc>
              <a:spcBef>
                <a:spcPts val="0"/>
              </a:spcBef>
              <a:spcAft>
                <a:spcPts val="1125"/>
              </a:spcAft>
              <a:buClr>
                <a:srgbClr val="4F46E5"/>
              </a:buClr>
              <a:buFont typeface="Arial"/>
              <a:buChar char="•"/>
            </a:pPr>
            <a:r>
              <a:rPr lang="en-US" sz="1500" dirty="0">
                <a:solidFill>
                  <a:srgbClr val="334155"/>
                </a:solidFill>
                <a:latin typeface="Arial"/>
                <a:cs typeface="Arial"/>
              </a:rPr>
              <a:t>Budget for weight distribution. Evaluate OCI image volumes, now stable</a:t>
            </a:r>
            <a:r>
              <a:rPr lang="en-US" sz="1500" baseline="30000" dirty="0">
                <a:solidFill>
                  <a:srgbClr val="64748B"/>
                </a:solidFill>
                <a:latin typeface="Arial"/>
                <a:cs typeface="Arial"/>
              </a:rPr>
              <a:t> 19</a:t>
            </a:r>
            <a:r>
              <a:rPr lang="en-US" sz="1500" dirty="0">
                <a:solidFill>
                  <a:srgbClr val="334155"/>
                </a:solidFill>
                <a:latin typeface="Arial"/>
                <a:cs typeface="Arial"/>
              </a:rPr>
              <a:t>, and storage-side acceleration such as GKE's FUSE serving profile</a:t>
            </a:r>
            <a:r>
              <a:rPr lang="en-US" sz="1500" baseline="30000" dirty="0">
                <a:solidFill>
                  <a:srgbClr val="64748B"/>
                </a:solidFill>
                <a:latin typeface="Arial"/>
                <a:cs typeface="Arial"/>
              </a:rPr>
              <a:t> 61</a:t>
            </a:r>
            <a:r>
              <a:rPr lang="en-US" sz="1500" dirty="0">
                <a:solidFill>
                  <a:srgbClr val="334155"/>
                </a:solidFill>
                <a:latin typeface="Arial"/>
                <a:cs typeface="Arial"/>
              </a:rPr>
              <a:t>.</a:t>
            </a:r>
            <a:endParaRPr lang="en-US" sz="15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p:nvPr/>
        </p:nvSpPr>
        <p:spPr>
          <a:xfrm>
            <a:off x="711200" y="508000"/>
            <a:ext cx="558800" cy="63500"/>
          </a:xfrm>
          <a:prstGeom prst="roundRect">
            <a:avLst>
              <a:gd name="adj" fmla="val 50000"/>
            </a:avLst>
          </a:prstGeom>
          <a:gradFill rotWithShape="1">
            <a:gsLst>
              <a:gs pos="0">
                <a:srgbClr val="4F46E5"/>
              </a:gs>
              <a:gs pos="50000">
                <a:srgbClr val="7C3AED"/>
              </a:gs>
              <a:gs pos="100000">
                <a:srgbClr val="06B6D4"/>
              </a:gs>
            </a:gsLst>
            <a:lin ang="0" scaled="0"/>
          </a:gradFill>
          <a:ln>
            <a:noFill/>
          </a:ln>
        </p:spPr>
      </p:sp>
      <p:sp>
        <p:nvSpPr>
          <p:cNvPr id="3" name="Text 3"/>
          <p:cNvSpPr txBox="1"/>
          <p:nvPr/>
        </p:nvSpPr>
        <p:spPr>
          <a:xfrm>
            <a:off x="711200" y="685800"/>
            <a:ext cx="10769600" cy="203200"/>
          </a:xfrm>
          <a:prstGeom prst="rect">
            <a:avLst/>
          </a:prstGeom>
          <a:noFill/>
          <a:ln>
            <a:noFill/>
          </a:ln>
        </p:spPr>
        <p:txBody>
          <a:bodyPr wrap="square" lIns="0" tIns="0" rIns="0" bIns="0" anchor="t">
            <a:noAutofit/>
          </a:bodyPr>
          <a:lstStyle/>
          <a:p>
            <a:pPr algn="l">
              <a:lnSpc>
                <a:spcPct val="108000"/>
              </a:lnSpc>
              <a:spcBef>
                <a:spcPts val="0"/>
              </a:spcBef>
              <a:spcAft>
                <a:spcPts val="0"/>
              </a:spcAft>
              <a:buNone/>
            </a:pPr>
            <a:r>
              <a:rPr lang="en-US" sz="950" b="1" spc="140" dirty="0">
                <a:solidFill>
                  <a:srgbClr val="4F46E5"/>
                </a:solidFill>
                <a:latin typeface="Arial"/>
                <a:cs typeface="Arial"/>
              </a:rPr>
              <a:t>SECTION 09 · OUTLOOK AND RECOMMENDATIONS FOR PLATFORM TEAMS</a:t>
            </a:r>
            <a:endParaRPr lang="en-US" sz="950" dirty="0"/>
          </a:p>
        </p:txBody>
      </p:sp>
      <p:sp>
        <p:nvSpPr>
          <p:cNvPr id="4" name="Text 4"/>
          <p:cNvSpPr txBox="1"/>
          <p:nvPr/>
        </p:nvSpPr>
        <p:spPr>
          <a:xfrm>
            <a:off x="711200" y="965200"/>
            <a:ext cx="10515600" cy="481584"/>
          </a:xfrm>
          <a:prstGeom prst="rect">
            <a:avLst/>
          </a:prstGeom>
          <a:noFill/>
          <a:ln>
            <a:noFill/>
          </a:ln>
        </p:spPr>
        <p:txBody>
          <a:bodyPr wrap="square" lIns="0" tIns="0" rIns="0" bIns="0" anchor="t">
            <a:noAutofit/>
          </a:bodyPr>
          <a:lstStyle/>
          <a:p>
            <a:pPr algn="l">
              <a:lnSpc>
                <a:spcPct val="96000"/>
              </a:lnSpc>
              <a:spcBef>
                <a:spcPts val="0"/>
              </a:spcBef>
              <a:spcAft>
                <a:spcPts val="0"/>
              </a:spcAft>
              <a:buNone/>
            </a:pPr>
            <a:r>
              <a:rPr lang="en-US" sz="2800" b="1" spc="-30" dirty="0">
                <a:solidFill>
                  <a:srgbClr val="0F172A"/>
                </a:solidFill>
                <a:latin typeface="Arial"/>
                <a:cs typeface="Arial"/>
              </a:rPr>
              <a:t>Outlook and recommendations for platform teams</a:t>
            </a:r>
            <a:endParaRPr lang="en-US" sz="2800" dirty="0"/>
          </a:p>
        </p:txBody>
      </p:sp>
      <p:sp>
        <p:nvSpPr>
          <p:cNvPr id="5" name="Shape 5"/>
          <p:cNvSpPr/>
          <p:nvPr/>
        </p:nvSpPr>
        <p:spPr>
          <a:xfrm>
            <a:off x="711200" y="6451600"/>
            <a:ext cx="10769600" cy="9525"/>
          </a:xfrm>
          <a:prstGeom prst="rect">
            <a:avLst/>
          </a:prstGeom>
          <a:solidFill>
            <a:srgbClr val="E2E8F0"/>
          </a:solidFill>
          <a:ln>
            <a:noFill/>
          </a:ln>
        </p:spPr>
      </p:sp>
      <p:sp>
        <p:nvSpPr>
          <p:cNvPr id="6" name="Text 6"/>
          <p:cNvSpPr txBox="1"/>
          <p:nvPr/>
        </p:nvSpPr>
        <p:spPr>
          <a:xfrm>
            <a:off x="711200" y="6527800"/>
            <a:ext cx="9753600" cy="177800"/>
          </a:xfrm>
          <a:prstGeom prst="rect">
            <a:avLst/>
          </a:prstGeom>
          <a:noFill/>
          <a:ln>
            <a:noFill/>
          </a:ln>
        </p:spPr>
        <p:txBody>
          <a:bodyPr wrap="square" lIns="0" tIns="0" rIns="0" bIns="0" anchor="t">
            <a:noAutofit/>
          </a:bodyPr>
          <a:lstStyle/>
          <a:p>
            <a:pPr algn="l">
              <a:lnSpc>
                <a:spcPct val="108000"/>
              </a:lnSpc>
              <a:spcBef>
                <a:spcPts val="0"/>
              </a:spcBef>
              <a:spcAft>
                <a:spcPts val="0"/>
              </a:spcAft>
              <a:buNone/>
            </a:pPr>
            <a:r>
              <a:rPr lang="en-US" sz="800" dirty="0">
                <a:solidFill>
                  <a:srgbClr val="94A3B8"/>
                </a:solidFill>
                <a:latin typeface="Arial"/>
                <a:cs typeface="Arial"/>
              </a:rPr>
              <a:t>Kubernetes as the Platform for AI Infrastructure</a:t>
            </a:r>
            <a:endParaRPr lang="en-US" sz="800" dirty="0"/>
          </a:p>
        </p:txBody>
      </p:sp>
      <p:sp>
        <p:nvSpPr>
          <p:cNvPr id="7" name="Text 7"/>
          <p:cNvSpPr txBox="1"/>
          <p:nvPr/>
        </p:nvSpPr>
        <p:spPr>
          <a:xfrm>
            <a:off x="10718800" y="6527800"/>
            <a:ext cx="762000" cy="177800"/>
          </a:xfrm>
          <a:prstGeom prst="rect">
            <a:avLst/>
          </a:prstGeom>
          <a:noFill/>
          <a:ln>
            <a:noFill/>
          </a:ln>
        </p:spPr>
        <p:txBody>
          <a:bodyPr wrap="square" lIns="0" tIns="0" rIns="0" bIns="0" anchor="t">
            <a:noAutofit/>
          </a:bodyPr>
          <a:lstStyle/>
          <a:p>
            <a:pPr algn="r">
              <a:lnSpc>
                <a:spcPct val="108000"/>
              </a:lnSpc>
              <a:spcBef>
                <a:spcPts val="0"/>
              </a:spcBef>
              <a:spcAft>
                <a:spcPts val="0"/>
              </a:spcAft>
              <a:buNone/>
            </a:pPr>
            <a:r>
              <a:rPr lang="en-US" sz="850" b="1" dirty="0">
                <a:solidFill>
                  <a:srgbClr val="0F172A"/>
                </a:solidFill>
                <a:latin typeface="Arial"/>
                <a:cs typeface="Arial"/>
              </a:rPr>
              <a:t>34</a:t>
            </a:r>
            <a:endParaRPr lang="en-US" sz="850" dirty="0"/>
          </a:p>
        </p:txBody>
      </p:sp>
      <p:sp>
        <p:nvSpPr>
          <p:cNvPr id="8" name="Shape 8"/>
          <p:cNvSpPr/>
          <p:nvPr/>
        </p:nvSpPr>
        <p:spPr>
          <a:xfrm>
            <a:off x="711200" y="5251450"/>
            <a:ext cx="10769600" cy="996950"/>
          </a:xfrm>
          <a:prstGeom prst="roundRect">
            <a:avLst>
              <a:gd name="adj" fmla="val 12738"/>
            </a:avLst>
          </a:prstGeom>
          <a:solidFill>
            <a:srgbClr val="F3F2FD"/>
          </a:solidFill>
          <a:ln>
            <a:noFill/>
          </a:ln>
        </p:spPr>
      </p:sp>
      <p:sp>
        <p:nvSpPr>
          <p:cNvPr id="9" name="Shape 9"/>
          <p:cNvSpPr/>
          <p:nvPr/>
        </p:nvSpPr>
        <p:spPr>
          <a:xfrm>
            <a:off x="711200" y="5251450"/>
            <a:ext cx="50800" cy="996950"/>
          </a:xfrm>
          <a:prstGeom prst="roundRect">
            <a:avLst>
              <a:gd name="adj" fmla="val 50000"/>
            </a:avLst>
          </a:prstGeom>
          <a:solidFill>
            <a:srgbClr val="4F46E5"/>
          </a:solidFill>
          <a:ln>
            <a:noFill/>
          </a:ln>
        </p:spPr>
      </p:sp>
      <p:sp>
        <p:nvSpPr>
          <p:cNvPr id="10" name="Text 10"/>
          <p:cNvSpPr txBox="1"/>
          <p:nvPr/>
        </p:nvSpPr>
        <p:spPr>
          <a:xfrm>
            <a:off x="990600" y="5403850"/>
            <a:ext cx="10210800" cy="742950"/>
          </a:xfrm>
          <a:prstGeom prst="rect">
            <a:avLst/>
          </a:prstGeom>
          <a:noFill/>
          <a:ln>
            <a:noFill/>
          </a:ln>
        </p:spPr>
        <p:txBody>
          <a:bodyPr wrap="square" lIns="0" tIns="0" rIns="0" bIns="0" anchor="t">
            <a:noAutofit/>
          </a:bodyPr>
          <a:lstStyle/>
          <a:p>
            <a:pPr algn="l">
              <a:lnSpc>
                <a:spcPct val="108000"/>
              </a:lnSpc>
              <a:spcBef>
                <a:spcPts val="0"/>
              </a:spcBef>
              <a:spcAft>
                <a:spcPts val="400"/>
              </a:spcAft>
              <a:buNone/>
            </a:pPr>
            <a:r>
              <a:rPr lang="en-US" sz="850" b="1" spc="130" dirty="0">
                <a:solidFill>
                  <a:srgbClr val="4F46E5"/>
                </a:solidFill>
                <a:latin typeface="Arial"/>
                <a:cs typeface="Arial"/>
              </a:rPr>
              <a:t>INSIGHT</a:t>
            </a:r>
            <a:endParaRPr lang="en-US" sz="850" dirty="0"/>
          </a:p>
          <a:p>
            <a:pPr algn="l">
              <a:lnSpc>
                <a:spcPct val="116000"/>
              </a:lnSpc>
              <a:spcBef>
                <a:spcPts val="0"/>
              </a:spcBef>
              <a:spcAft>
                <a:spcPts val="0"/>
              </a:spcAft>
              <a:buNone/>
            </a:pPr>
            <a:r>
              <a:rPr lang="en-US" sz="1250" dirty="0">
                <a:solidFill>
                  <a:srgbClr val="0F172A"/>
                </a:solidFill>
                <a:latin typeface="Arial"/>
                <a:cs typeface="Arial"/>
              </a:rPr>
              <a:t>The largest reported gains come from pooling and sharing GPUs across tenants and workload types, not from swapping serving frameworks</a:t>
            </a:r>
            <a:r>
              <a:rPr lang="en-US" sz="1250" baseline="30000" dirty="0">
                <a:solidFill>
                  <a:srgbClr val="64748B"/>
                </a:solidFill>
                <a:latin typeface="Arial"/>
                <a:cs typeface="Arial"/>
              </a:rPr>
              <a:t> 33,34,35,36,37</a:t>
            </a:r>
            <a:r>
              <a:rPr lang="en-US" sz="1250" dirty="0">
                <a:solidFill>
                  <a:srgbClr val="0F172A"/>
                </a:solidFill>
                <a:latin typeface="Arial"/>
                <a:cs typeface="Arial"/>
              </a:rPr>
              <a:t>.</a:t>
            </a:r>
            <a:endParaRPr lang="en-US" sz="1250" dirty="0"/>
          </a:p>
        </p:txBody>
      </p:sp>
      <p:sp>
        <p:nvSpPr>
          <p:cNvPr id="11" name="Text 11"/>
          <p:cNvSpPr txBox="1"/>
          <p:nvPr/>
        </p:nvSpPr>
        <p:spPr>
          <a:xfrm>
            <a:off x="711200" y="1700784"/>
            <a:ext cx="9261856" cy="3372866"/>
          </a:xfrm>
          <a:prstGeom prst="rect">
            <a:avLst/>
          </a:prstGeom>
          <a:noFill/>
          <a:ln>
            <a:noFill/>
          </a:ln>
        </p:spPr>
        <p:txBody>
          <a:bodyPr wrap="square" lIns="0" tIns="0" rIns="0" bIns="0" anchor="t">
            <a:noAutofit/>
          </a:bodyPr>
          <a:lstStyle/>
          <a:p>
            <a:pPr marL="248285" indent="-248285" algn="l">
              <a:lnSpc>
                <a:spcPct val="118000"/>
              </a:lnSpc>
              <a:spcBef>
                <a:spcPts val="0"/>
              </a:spcBef>
              <a:spcAft>
                <a:spcPts val="1275"/>
              </a:spcAft>
              <a:buClr>
                <a:srgbClr val="4F46E5"/>
              </a:buClr>
              <a:buFont typeface="Arial"/>
              <a:buChar char="•"/>
            </a:pPr>
            <a:r>
              <a:rPr lang="en-US" sz="1700" dirty="0">
                <a:solidFill>
                  <a:srgbClr val="334155"/>
                </a:solidFill>
                <a:latin typeface="Arial"/>
                <a:cs typeface="Arial"/>
              </a:rPr>
              <a:t>Require current AI Conformance certification from vendors, and check the Kubernetes version it covers</a:t>
            </a:r>
            <a:r>
              <a:rPr lang="en-US" sz="1700" baseline="30000" dirty="0">
                <a:solidFill>
                  <a:srgbClr val="64748B"/>
                </a:solidFill>
                <a:latin typeface="Arial"/>
                <a:cs typeface="Arial"/>
              </a:rPr>
              <a:t> 69</a:t>
            </a:r>
            <a:r>
              <a:rPr lang="en-US" sz="1700" dirty="0">
                <a:solidFill>
                  <a:srgbClr val="334155"/>
                </a:solidFill>
                <a:latin typeface="Arial"/>
                <a:cs typeface="Arial"/>
              </a:rPr>
              <a:t>.</a:t>
            </a:r>
            <a:endParaRPr lang="en-US" sz="17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p:nvPr/>
        </p:nvSpPr>
        <p:spPr>
          <a:xfrm>
            <a:off x="711200" y="508000"/>
            <a:ext cx="558800" cy="63500"/>
          </a:xfrm>
          <a:prstGeom prst="roundRect">
            <a:avLst>
              <a:gd name="adj" fmla="val 50000"/>
            </a:avLst>
          </a:prstGeom>
          <a:gradFill rotWithShape="1">
            <a:gsLst>
              <a:gs pos="0">
                <a:srgbClr val="4F46E5"/>
              </a:gs>
              <a:gs pos="50000">
                <a:srgbClr val="7C3AED"/>
              </a:gs>
              <a:gs pos="100000">
                <a:srgbClr val="06B6D4"/>
              </a:gs>
            </a:gsLst>
            <a:lin ang="0" scaled="0"/>
          </a:gradFill>
          <a:ln>
            <a:noFill/>
          </a:ln>
        </p:spPr>
      </p:sp>
      <p:sp>
        <p:nvSpPr>
          <p:cNvPr id="3" name="Text 3"/>
          <p:cNvSpPr txBox="1"/>
          <p:nvPr/>
        </p:nvSpPr>
        <p:spPr>
          <a:xfrm>
            <a:off x="711200" y="685800"/>
            <a:ext cx="10769600" cy="203200"/>
          </a:xfrm>
          <a:prstGeom prst="rect">
            <a:avLst/>
          </a:prstGeom>
          <a:noFill/>
          <a:ln>
            <a:noFill/>
          </a:ln>
        </p:spPr>
        <p:txBody>
          <a:bodyPr wrap="square" lIns="0" tIns="0" rIns="0" bIns="0" anchor="t">
            <a:noAutofit/>
          </a:bodyPr>
          <a:lstStyle/>
          <a:p>
            <a:pPr algn="l">
              <a:lnSpc>
                <a:spcPct val="108000"/>
              </a:lnSpc>
              <a:spcBef>
                <a:spcPts val="0"/>
              </a:spcBef>
              <a:spcAft>
                <a:spcPts val="0"/>
              </a:spcAft>
              <a:buNone/>
            </a:pPr>
            <a:r>
              <a:rPr lang="en-US" sz="950" b="1" spc="140" dirty="0">
                <a:solidFill>
                  <a:srgbClr val="4F46E5"/>
                </a:solidFill>
                <a:latin typeface="Arial"/>
                <a:cs typeface="Arial"/>
              </a:rPr>
              <a:t>CONCLUSION</a:t>
            </a:r>
            <a:endParaRPr lang="en-US" sz="950" dirty="0"/>
          </a:p>
        </p:txBody>
      </p:sp>
      <p:sp>
        <p:nvSpPr>
          <p:cNvPr id="4" name="Text 4"/>
          <p:cNvSpPr txBox="1"/>
          <p:nvPr/>
        </p:nvSpPr>
        <p:spPr>
          <a:xfrm>
            <a:off x="711200" y="965200"/>
            <a:ext cx="10515600" cy="481584"/>
          </a:xfrm>
          <a:prstGeom prst="rect">
            <a:avLst/>
          </a:prstGeom>
          <a:noFill/>
          <a:ln>
            <a:noFill/>
          </a:ln>
        </p:spPr>
        <p:txBody>
          <a:bodyPr wrap="square" lIns="0" tIns="0" rIns="0" bIns="0" anchor="t">
            <a:noAutofit/>
          </a:bodyPr>
          <a:lstStyle/>
          <a:p>
            <a:pPr algn="l">
              <a:lnSpc>
                <a:spcPct val="96000"/>
              </a:lnSpc>
              <a:spcBef>
                <a:spcPts val="0"/>
              </a:spcBef>
              <a:spcAft>
                <a:spcPts val="0"/>
              </a:spcAft>
              <a:buNone/>
            </a:pPr>
            <a:r>
              <a:rPr lang="en-US" sz="2800" b="1" spc="-30" dirty="0">
                <a:solidFill>
                  <a:srgbClr val="0F172A"/>
                </a:solidFill>
                <a:latin typeface="Arial"/>
                <a:cs typeface="Arial"/>
              </a:rPr>
              <a:t>Conclusion</a:t>
            </a:r>
            <a:endParaRPr lang="en-US" sz="2800" dirty="0"/>
          </a:p>
        </p:txBody>
      </p:sp>
      <p:sp>
        <p:nvSpPr>
          <p:cNvPr id="5" name="Shape 5"/>
          <p:cNvSpPr/>
          <p:nvPr/>
        </p:nvSpPr>
        <p:spPr>
          <a:xfrm>
            <a:off x="711200" y="6451600"/>
            <a:ext cx="10769600" cy="9525"/>
          </a:xfrm>
          <a:prstGeom prst="rect">
            <a:avLst/>
          </a:prstGeom>
          <a:solidFill>
            <a:srgbClr val="E2E8F0"/>
          </a:solidFill>
          <a:ln>
            <a:noFill/>
          </a:ln>
        </p:spPr>
      </p:sp>
      <p:sp>
        <p:nvSpPr>
          <p:cNvPr id="6" name="Text 6"/>
          <p:cNvSpPr txBox="1"/>
          <p:nvPr/>
        </p:nvSpPr>
        <p:spPr>
          <a:xfrm>
            <a:off x="711200" y="6527800"/>
            <a:ext cx="9753600" cy="177800"/>
          </a:xfrm>
          <a:prstGeom prst="rect">
            <a:avLst/>
          </a:prstGeom>
          <a:noFill/>
          <a:ln>
            <a:noFill/>
          </a:ln>
        </p:spPr>
        <p:txBody>
          <a:bodyPr wrap="square" lIns="0" tIns="0" rIns="0" bIns="0" anchor="t">
            <a:noAutofit/>
          </a:bodyPr>
          <a:lstStyle/>
          <a:p>
            <a:pPr algn="l">
              <a:lnSpc>
                <a:spcPct val="108000"/>
              </a:lnSpc>
              <a:spcBef>
                <a:spcPts val="0"/>
              </a:spcBef>
              <a:spcAft>
                <a:spcPts val="0"/>
              </a:spcAft>
              <a:buNone/>
            </a:pPr>
            <a:r>
              <a:rPr lang="en-US" sz="800" dirty="0">
                <a:solidFill>
                  <a:srgbClr val="94A3B8"/>
                </a:solidFill>
                <a:latin typeface="Arial"/>
                <a:cs typeface="Arial"/>
              </a:rPr>
              <a:t>Kubernetes as the Platform for AI Infrastructure</a:t>
            </a:r>
            <a:endParaRPr lang="en-US" sz="800" dirty="0"/>
          </a:p>
        </p:txBody>
      </p:sp>
      <p:sp>
        <p:nvSpPr>
          <p:cNvPr id="7" name="Text 7"/>
          <p:cNvSpPr txBox="1"/>
          <p:nvPr/>
        </p:nvSpPr>
        <p:spPr>
          <a:xfrm>
            <a:off x="10718800" y="6527800"/>
            <a:ext cx="762000" cy="177800"/>
          </a:xfrm>
          <a:prstGeom prst="rect">
            <a:avLst/>
          </a:prstGeom>
          <a:noFill/>
          <a:ln>
            <a:noFill/>
          </a:ln>
        </p:spPr>
        <p:txBody>
          <a:bodyPr wrap="square" lIns="0" tIns="0" rIns="0" bIns="0" anchor="t">
            <a:noAutofit/>
          </a:bodyPr>
          <a:lstStyle/>
          <a:p>
            <a:pPr algn="r">
              <a:lnSpc>
                <a:spcPct val="108000"/>
              </a:lnSpc>
              <a:spcBef>
                <a:spcPts val="0"/>
              </a:spcBef>
              <a:spcAft>
                <a:spcPts val="0"/>
              </a:spcAft>
              <a:buNone/>
            </a:pPr>
            <a:r>
              <a:rPr lang="en-US" sz="850" b="1" dirty="0">
                <a:solidFill>
                  <a:srgbClr val="0F172A"/>
                </a:solidFill>
                <a:latin typeface="Arial"/>
                <a:cs typeface="Arial"/>
              </a:rPr>
              <a:t>35</a:t>
            </a:r>
            <a:endParaRPr lang="en-US" sz="850" dirty="0"/>
          </a:p>
        </p:txBody>
      </p:sp>
      <p:sp>
        <p:nvSpPr>
          <p:cNvPr id="8" name="Text 8"/>
          <p:cNvSpPr txBox="1"/>
          <p:nvPr/>
        </p:nvSpPr>
        <p:spPr>
          <a:xfrm>
            <a:off x="711200" y="1700784"/>
            <a:ext cx="8831072" cy="4547616"/>
          </a:xfrm>
          <a:prstGeom prst="rect">
            <a:avLst/>
          </a:prstGeom>
          <a:noFill/>
          <a:ln>
            <a:noFill/>
          </a:ln>
        </p:spPr>
        <p:txBody>
          <a:bodyPr wrap="square" lIns="0" tIns="0" rIns="0" bIns="0" anchor="t">
            <a:noAutofit/>
          </a:bodyPr>
          <a:lstStyle/>
          <a:p>
            <a:pPr marL="248285" indent="-248285" algn="l">
              <a:lnSpc>
                <a:spcPct val="118000"/>
              </a:lnSpc>
              <a:spcBef>
                <a:spcPts val="0"/>
              </a:spcBef>
              <a:spcAft>
                <a:spcPts val="1275"/>
              </a:spcAft>
              <a:buClr>
                <a:srgbClr val="4F46E5"/>
              </a:buClr>
              <a:buFont typeface="Arial"/>
              <a:buChar char="•"/>
            </a:pPr>
            <a:r>
              <a:rPr lang="en-US" sz="1700" dirty="0">
                <a:solidFill>
                  <a:srgbClr val="334155"/>
                </a:solidFill>
                <a:latin typeface="Arial"/>
                <a:cs typeface="Arial"/>
              </a:rPr>
              <a:t>For most organisations, the question is no longer whether to run AI inference on Kubernetes.</a:t>
            </a:r>
            <a:endParaRPr lang="en-US" sz="1700" dirty="0"/>
          </a:p>
          <a:p>
            <a:pPr marL="248285" indent="-248285" algn="l">
              <a:lnSpc>
                <a:spcPct val="118000"/>
              </a:lnSpc>
              <a:spcBef>
                <a:spcPts val="0"/>
              </a:spcBef>
              <a:spcAft>
                <a:spcPts val="1275"/>
              </a:spcAft>
              <a:buClr>
                <a:srgbClr val="4F46E5"/>
              </a:buClr>
              <a:buFont typeface="Arial"/>
              <a:buChar char="•"/>
            </a:pPr>
            <a:r>
              <a:rPr lang="en-US" sz="1700" dirty="0">
                <a:solidFill>
                  <a:srgbClr val="334155"/>
                </a:solidFill>
                <a:latin typeface="Arial"/>
                <a:cs typeface="Arial"/>
              </a:rPr>
              <a:t>Three developments will decide whether Kubernetes also becomes the default for large-scale training.</a:t>
            </a:r>
            <a:endParaRPr lang="en-US" sz="1700" dirty="0"/>
          </a:p>
          <a:p>
            <a:pPr marL="248285" indent="-248285" algn="l">
              <a:lnSpc>
                <a:spcPct val="118000"/>
              </a:lnSpc>
              <a:spcBef>
                <a:spcPts val="0"/>
              </a:spcBef>
              <a:spcAft>
                <a:spcPts val="1275"/>
              </a:spcAft>
              <a:buClr>
                <a:srgbClr val="4F46E5"/>
              </a:buClr>
              <a:buFont typeface="Arial"/>
              <a:buChar char="•"/>
            </a:pPr>
            <a:r>
              <a:rPr lang="en-US" sz="1700" dirty="0">
                <a:solidFill>
                  <a:srgbClr val="334155"/>
                </a:solidFill>
                <a:latin typeface="Arial"/>
                <a:cs typeface="Arial"/>
              </a:rPr>
              <a:t>On inference, watch whether Grove's integration with llm-d merges the two leading stacks</a:t>
            </a:r>
            <a:r>
              <a:rPr lang="en-US" sz="1700" baseline="30000" dirty="0">
                <a:solidFill>
                  <a:srgbClr val="64748B"/>
                </a:solidFill>
                <a:latin typeface="Arial"/>
                <a:cs typeface="Arial"/>
              </a:rPr>
              <a:t> 31,39</a:t>
            </a:r>
            <a:r>
              <a:rPr lang="en-US" sz="1700" dirty="0">
                <a:solidFill>
                  <a:srgbClr val="334155"/>
                </a:solidFill>
                <a:latin typeface="Arial"/>
                <a:cs typeface="Arial"/>
              </a:rPr>
              <a:t>, and whether the AI Gateway Working Group standardises traffic handling beyond single-model routing</a:t>
            </a:r>
            <a:r>
              <a:rPr lang="en-US" sz="1700" baseline="30000" dirty="0">
                <a:solidFill>
                  <a:srgbClr val="64748B"/>
                </a:solidFill>
                <a:latin typeface="Arial"/>
                <a:cs typeface="Arial"/>
              </a:rPr>
              <a:t> 71</a:t>
            </a:r>
            <a:r>
              <a:rPr lang="en-US" sz="1700" dirty="0">
                <a:solidFill>
                  <a:srgbClr val="334155"/>
                </a:solidFill>
                <a:latin typeface="Arial"/>
                <a:cs typeface="Arial"/>
              </a:rPr>
              <a:t>.</a:t>
            </a:r>
            <a:endParaRPr lang="en-US" sz="17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p:nvPr/>
        </p:nvSpPr>
        <p:spPr>
          <a:xfrm>
            <a:off x="711200" y="508000"/>
            <a:ext cx="558800" cy="63500"/>
          </a:xfrm>
          <a:prstGeom prst="roundRect">
            <a:avLst>
              <a:gd name="adj" fmla="val 50000"/>
            </a:avLst>
          </a:prstGeom>
          <a:gradFill rotWithShape="1">
            <a:gsLst>
              <a:gs pos="0">
                <a:srgbClr val="4F46E5"/>
              </a:gs>
              <a:gs pos="50000">
                <a:srgbClr val="7C3AED"/>
              </a:gs>
              <a:gs pos="100000">
                <a:srgbClr val="06B6D4"/>
              </a:gs>
            </a:gsLst>
            <a:lin ang="0" scaled="0"/>
          </a:gradFill>
          <a:ln>
            <a:noFill/>
          </a:ln>
        </p:spPr>
      </p:sp>
      <p:sp>
        <p:nvSpPr>
          <p:cNvPr id="3" name="Text 3"/>
          <p:cNvSpPr txBox="1"/>
          <p:nvPr/>
        </p:nvSpPr>
        <p:spPr>
          <a:xfrm>
            <a:off x="711200" y="685800"/>
            <a:ext cx="10769600" cy="203200"/>
          </a:xfrm>
          <a:prstGeom prst="rect">
            <a:avLst/>
          </a:prstGeom>
          <a:noFill/>
          <a:ln>
            <a:noFill/>
          </a:ln>
        </p:spPr>
        <p:txBody>
          <a:bodyPr wrap="square" lIns="0" tIns="0" rIns="0" bIns="0" anchor="t">
            <a:noAutofit/>
          </a:bodyPr>
          <a:lstStyle/>
          <a:p>
            <a:pPr algn="l">
              <a:lnSpc>
                <a:spcPct val="108000"/>
              </a:lnSpc>
              <a:spcBef>
                <a:spcPts val="0"/>
              </a:spcBef>
              <a:spcAft>
                <a:spcPts val="0"/>
              </a:spcAft>
              <a:buNone/>
            </a:pPr>
            <a:r>
              <a:rPr lang="en-US" sz="950" b="1" spc="140" dirty="0">
                <a:solidFill>
                  <a:srgbClr val="4F46E5"/>
                </a:solidFill>
                <a:latin typeface="Arial"/>
                <a:cs typeface="Arial"/>
              </a:rPr>
              <a:t>ABOUT THIS DECK</a:t>
            </a:r>
            <a:endParaRPr lang="en-US" sz="950" dirty="0"/>
          </a:p>
        </p:txBody>
      </p:sp>
      <p:sp>
        <p:nvSpPr>
          <p:cNvPr id="4" name="Text 4"/>
          <p:cNvSpPr txBox="1"/>
          <p:nvPr/>
        </p:nvSpPr>
        <p:spPr>
          <a:xfrm>
            <a:off x="711200" y="965200"/>
            <a:ext cx="10515600" cy="481584"/>
          </a:xfrm>
          <a:prstGeom prst="rect">
            <a:avLst/>
          </a:prstGeom>
          <a:noFill/>
          <a:ln>
            <a:noFill/>
          </a:ln>
        </p:spPr>
        <p:txBody>
          <a:bodyPr wrap="square" lIns="0" tIns="0" rIns="0" bIns="0" anchor="t">
            <a:noAutofit/>
          </a:bodyPr>
          <a:lstStyle/>
          <a:p>
            <a:pPr algn="l">
              <a:lnSpc>
                <a:spcPct val="96000"/>
              </a:lnSpc>
              <a:spcBef>
                <a:spcPts val="0"/>
              </a:spcBef>
              <a:spcAft>
                <a:spcPts val="0"/>
              </a:spcAft>
              <a:buNone/>
            </a:pPr>
            <a:r>
              <a:rPr lang="en-US" sz="2800" b="1" spc="-30" dirty="0">
                <a:solidFill>
                  <a:srgbClr val="0F172A"/>
                </a:solidFill>
                <a:latin typeface="Arial"/>
                <a:cs typeface="Arial"/>
              </a:rPr>
              <a:t>Method and evidence</a:t>
            </a:r>
            <a:endParaRPr lang="en-US" sz="2800" dirty="0"/>
          </a:p>
        </p:txBody>
      </p:sp>
      <p:sp>
        <p:nvSpPr>
          <p:cNvPr id="5" name="Shape 5"/>
          <p:cNvSpPr/>
          <p:nvPr/>
        </p:nvSpPr>
        <p:spPr>
          <a:xfrm>
            <a:off x="711200" y="6451600"/>
            <a:ext cx="10769600" cy="9525"/>
          </a:xfrm>
          <a:prstGeom prst="rect">
            <a:avLst/>
          </a:prstGeom>
          <a:solidFill>
            <a:srgbClr val="E2E8F0"/>
          </a:solidFill>
          <a:ln>
            <a:noFill/>
          </a:ln>
        </p:spPr>
      </p:sp>
      <p:sp>
        <p:nvSpPr>
          <p:cNvPr id="6" name="Text 6"/>
          <p:cNvSpPr txBox="1"/>
          <p:nvPr/>
        </p:nvSpPr>
        <p:spPr>
          <a:xfrm>
            <a:off x="711200" y="6527800"/>
            <a:ext cx="9753600" cy="177800"/>
          </a:xfrm>
          <a:prstGeom prst="rect">
            <a:avLst/>
          </a:prstGeom>
          <a:noFill/>
          <a:ln>
            <a:noFill/>
          </a:ln>
        </p:spPr>
        <p:txBody>
          <a:bodyPr wrap="square" lIns="0" tIns="0" rIns="0" bIns="0" anchor="t">
            <a:noAutofit/>
          </a:bodyPr>
          <a:lstStyle/>
          <a:p>
            <a:pPr algn="l">
              <a:lnSpc>
                <a:spcPct val="108000"/>
              </a:lnSpc>
              <a:spcBef>
                <a:spcPts val="0"/>
              </a:spcBef>
              <a:spcAft>
                <a:spcPts val="0"/>
              </a:spcAft>
              <a:buNone/>
            </a:pPr>
            <a:r>
              <a:rPr lang="en-US" sz="800" dirty="0">
                <a:solidFill>
                  <a:srgbClr val="94A3B8"/>
                </a:solidFill>
                <a:latin typeface="Arial"/>
                <a:cs typeface="Arial"/>
              </a:rPr>
              <a:t>Kubernetes as the Platform for AI Infrastructure</a:t>
            </a:r>
            <a:endParaRPr lang="en-US" sz="800" dirty="0"/>
          </a:p>
        </p:txBody>
      </p:sp>
      <p:sp>
        <p:nvSpPr>
          <p:cNvPr id="7" name="Text 7"/>
          <p:cNvSpPr txBox="1"/>
          <p:nvPr/>
        </p:nvSpPr>
        <p:spPr>
          <a:xfrm>
            <a:off x="10718800" y="6527800"/>
            <a:ext cx="762000" cy="177800"/>
          </a:xfrm>
          <a:prstGeom prst="rect">
            <a:avLst/>
          </a:prstGeom>
          <a:noFill/>
          <a:ln>
            <a:noFill/>
          </a:ln>
        </p:spPr>
        <p:txBody>
          <a:bodyPr wrap="square" lIns="0" tIns="0" rIns="0" bIns="0" anchor="t">
            <a:noAutofit/>
          </a:bodyPr>
          <a:lstStyle/>
          <a:p>
            <a:pPr algn="r">
              <a:lnSpc>
                <a:spcPct val="108000"/>
              </a:lnSpc>
              <a:spcBef>
                <a:spcPts val="0"/>
              </a:spcBef>
              <a:spcAft>
                <a:spcPts val="0"/>
              </a:spcAft>
              <a:buNone/>
            </a:pPr>
            <a:r>
              <a:rPr lang="en-US" sz="850" b="1" dirty="0">
                <a:solidFill>
                  <a:srgbClr val="0F172A"/>
                </a:solidFill>
                <a:latin typeface="Arial"/>
                <a:cs typeface="Arial"/>
              </a:rPr>
              <a:t>36</a:t>
            </a:r>
            <a:endParaRPr lang="en-US" sz="850" dirty="0"/>
          </a:p>
        </p:txBody>
      </p:sp>
      <p:sp>
        <p:nvSpPr>
          <p:cNvPr id="8" name="Shape 8"/>
          <p:cNvSpPr/>
          <p:nvPr/>
        </p:nvSpPr>
        <p:spPr>
          <a:xfrm>
            <a:off x="711200" y="1751584"/>
            <a:ext cx="2252133" cy="1219200"/>
          </a:xfrm>
          <a:prstGeom prst="roundRect">
            <a:avLst>
              <a:gd name="adj" fmla="val 12500"/>
            </a:avLst>
          </a:prstGeom>
          <a:solidFill>
            <a:srgbClr val="F6F6FE"/>
          </a:solidFill>
          <a:ln w="9525" cap="rnd">
            <a:solidFill>
              <a:srgbClr val="E2E8F0"/>
            </a:solidFill>
            <a:round/>
          </a:ln>
        </p:spPr>
      </p:sp>
      <p:sp>
        <p:nvSpPr>
          <p:cNvPr id="9" name="Shape 9"/>
          <p:cNvSpPr/>
          <p:nvPr/>
        </p:nvSpPr>
        <p:spPr>
          <a:xfrm>
            <a:off x="914400" y="1954784"/>
            <a:ext cx="355600" cy="50800"/>
          </a:xfrm>
          <a:prstGeom prst="roundRect">
            <a:avLst>
              <a:gd name="adj" fmla="val 50000"/>
            </a:avLst>
          </a:prstGeom>
          <a:gradFill rotWithShape="1">
            <a:gsLst>
              <a:gs pos="0">
                <a:srgbClr val="4F46E5"/>
              </a:gs>
              <a:gs pos="100000">
                <a:srgbClr val="7C3AED"/>
              </a:gs>
            </a:gsLst>
            <a:lin ang="0" scaled="0"/>
          </a:gradFill>
          <a:ln>
            <a:noFill/>
          </a:ln>
        </p:spPr>
      </p:sp>
      <p:sp>
        <p:nvSpPr>
          <p:cNvPr id="10" name="Text 10"/>
          <p:cNvSpPr txBox="1"/>
          <p:nvPr/>
        </p:nvSpPr>
        <p:spPr>
          <a:xfrm>
            <a:off x="914400" y="2107184"/>
            <a:ext cx="1845733" cy="762000"/>
          </a:xfrm>
          <a:prstGeom prst="rect">
            <a:avLst/>
          </a:prstGeom>
          <a:noFill/>
          <a:ln>
            <a:noFill/>
          </a:ln>
        </p:spPr>
        <p:txBody>
          <a:bodyPr wrap="square" lIns="0" tIns="0" rIns="0" bIns="0" anchor="t">
            <a:noAutofit/>
          </a:bodyPr>
          <a:lstStyle/>
          <a:p>
            <a:pPr algn="l">
              <a:lnSpc>
                <a:spcPct val="100000"/>
              </a:lnSpc>
              <a:spcBef>
                <a:spcPts val="0"/>
              </a:spcBef>
              <a:spcAft>
                <a:spcPts val="400"/>
              </a:spcAft>
              <a:buNone/>
            </a:pPr>
            <a:r>
              <a:rPr lang="en-US" sz="3000" b="1" spc="-40" dirty="0">
                <a:solidFill>
                  <a:srgbClr val="0F172A"/>
                </a:solidFill>
                <a:latin typeface="Arial"/>
                <a:cs typeface="Arial"/>
              </a:rPr>
              <a:t>71</a:t>
            </a:r>
            <a:endParaRPr lang="en-US" sz="3000" dirty="0"/>
          </a:p>
          <a:p>
            <a:pPr algn="l">
              <a:lnSpc>
                <a:spcPct val="110000"/>
              </a:lnSpc>
              <a:spcBef>
                <a:spcPts val="0"/>
              </a:spcBef>
              <a:spcAft>
                <a:spcPts val="300"/>
              </a:spcAft>
              <a:buNone/>
            </a:pPr>
            <a:r>
              <a:rPr lang="en-US" sz="1100" b="1" dirty="0">
                <a:solidFill>
                  <a:srgbClr val="0F172A"/>
                </a:solidFill>
                <a:latin typeface="Arial"/>
                <a:cs typeface="Arial"/>
              </a:rPr>
              <a:t>sources cited</a:t>
            </a:r>
            <a:endParaRPr lang="en-US" sz="1100" dirty="0"/>
          </a:p>
        </p:txBody>
      </p:sp>
      <p:sp>
        <p:nvSpPr>
          <p:cNvPr id="11" name="Shape 11"/>
          <p:cNvSpPr/>
          <p:nvPr/>
        </p:nvSpPr>
        <p:spPr>
          <a:xfrm>
            <a:off x="3141133" y="1751584"/>
            <a:ext cx="2252133" cy="1219200"/>
          </a:xfrm>
          <a:prstGeom prst="roundRect">
            <a:avLst>
              <a:gd name="adj" fmla="val 12500"/>
            </a:avLst>
          </a:prstGeom>
          <a:solidFill>
            <a:srgbClr val="F6F6FE"/>
          </a:solidFill>
          <a:ln w="9525" cap="rnd">
            <a:solidFill>
              <a:srgbClr val="E2E8F0"/>
            </a:solidFill>
            <a:round/>
          </a:ln>
        </p:spPr>
      </p:sp>
      <p:sp>
        <p:nvSpPr>
          <p:cNvPr id="12" name="Shape 12"/>
          <p:cNvSpPr/>
          <p:nvPr/>
        </p:nvSpPr>
        <p:spPr>
          <a:xfrm>
            <a:off x="3344333" y="1954784"/>
            <a:ext cx="355600" cy="50800"/>
          </a:xfrm>
          <a:prstGeom prst="roundRect">
            <a:avLst>
              <a:gd name="adj" fmla="val 50000"/>
            </a:avLst>
          </a:prstGeom>
          <a:gradFill rotWithShape="1">
            <a:gsLst>
              <a:gs pos="0">
                <a:srgbClr val="4F46E5"/>
              </a:gs>
              <a:gs pos="100000">
                <a:srgbClr val="7C3AED"/>
              </a:gs>
            </a:gsLst>
            <a:lin ang="0" scaled="0"/>
          </a:gradFill>
          <a:ln>
            <a:noFill/>
          </a:ln>
        </p:spPr>
      </p:sp>
      <p:sp>
        <p:nvSpPr>
          <p:cNvPr id="13" name="Text 13"/>
          <p:cNvSpPr txBox="1"/>
          <p:nvPr/>
        </p:nvSpPr>
        <p:spPr>
          <a:xfrm>
            <a:off x="3344333" y="2107184"/>
            <a:ext cx="1845733" cy="762000"/>
          </a:xfrm>
          <a:prstGeom prst="rect">
            <a:avLst/>
          </a:prstGeom>
          <a:noFill/>
          <a:ln>
            <a:noFill/>
          </a:ln>
        </p:spPr>
        <p:txBody>
          <a:bodyPr wrap="square" lIns="0" tIns="0" rIns="0" bIns="0" anchor="t">
            <a:noAutofit/>
          </a:bodyPr>
          <a:lstStyle/>
          <a:p>
            <a:pPr algn="l">
              <a:lnSpc>
                <a:spcPct val="100000"/>
              </a:lnSpc>
              <a:spcBef>
                <a:spcPts val="0"/>
              </a:spcBef>
              <a:spcAft>
                <a:spcPts val="400"/>
              </a:spcAft>
              <a:buNone/>
            </a:pPr>
            <a:r>
              <a:rPr lang="en-US" sz="3000" b="1" spc="-40" dirty="0">
                <a:solidFill>
                  <a:srgbClr val="0F172A"/>
                </a:solidFill>
                <a:latin typeface="Arial"/>
                <a:cs typeface="Arial"/>
              </a:rPr>
              <a:t>65</a:t>
            </a:r>
            <a:endParaRPr lang="en-US" sz="3000" dirty="0"/>
          </a:p>
          <a:p>
            <a:pPr algn="l">
              <a:lnSpc>
                <a:spcPct val="110000"/>
              </a:lnSpc>
              <a:spcBef>
                <a:spcPts val="0"/>
              </a:spcBef>
              <a:spcAft>
                <a:spcPts val="300"/>
              </a:spcAft>
              <a:buNone/>
            </a:pPr>
            <a:r>
              <a:rPr lang="en-US" sz="1100" b="1" dirty="0">
                <a:solidFill>
                  <a:srgbClr val="0F172A"/>
                </a:solidFill>
                <a:latin typeface="Arial"/>
                <a:cs typeface="Arial"/>
              </a:rPr>
              <a:t>findings cited</a:t>
            </a:r>
            <a:endParaRPr lang="en-US" sz="1100" dirty="0"/>
          </a:p>
        </p:txBody>
      </p:sp>
      <p:sp>
        <p:nvSpPr>
          <p:cNvPr id="14" name="Shape 14"/>
          <p:cNvSpPr/>
          <p:nvPr/>
        </p:nvSpPr>
        <p:spPr>
          <a:xfrm>
            <a:off x="5571067" y="1751584"/>
            <a:ext cx="2252133" cy="1219200"/>
          </a:xfrm>
          <a:prstGeom prst="roundRect">
            <a:avLst>
              <a:gd name="adj" fmla="val 12500"/>
            </a:avLst>
          </a:prstGeom>
          <a:solidFill>
            <a:srgbClr val="F6F6FE"/>
          </a:solidFill>
          <a:ln w="9525" cap="rnd">
            <a:solidFill>
              <a:srgbClr val="E2E8F0"/>
            </a:solidFill>
            <a:round/>
          </a:ln>
        </p:spPr>
      </p:sp>
      <p:sp>
        <p:nvSpPr>
          <p:cNvPr id="15" name="Shape 15"/>
          <p:cNvSpPr/>
          <p:nvPr/>
        </p:nvSpPr>
        <p:spPr>
          <a:xfrm>
            <a:off x="5774267" y="1954784"/>
            <a:ext cx="355600" cy="50800"/>
          </a:xfrm>
          <a:prstGeom prst="roundRect">
            <a:avLst>
              <a:gd name="adj" fmla="val 50000"/>
            </a:avLst>
          </a:prstGeom>
          <a:gradFill rotWithShape="1">
            <a:gsLst>
              <a:gs pos="0">
                <a:srgbClr val="4F46E5"/>
              </a:gs>
              <a:gs pos="100000">
                <a:srgbClr val="7C3AED"/>
              </a:gs>
            </a:gsLst>
            <a:lin ang="0" scaled="0"/>
          </a:gradFill>
          <a:ln>
            <a:noFill/>
          </a:ln>
        </p:spPr>
      </p:sp>
      <p:sp>
        <p:nvSpPr>
          <p:cNvPr id="16" name="Text 16"/>
          <p:cNvSpPr txBox="1"/>
          <p:nvPr/>
        </p:nvSpPr>
        <p:spPr>
          <a:xfrm>
            <a:off x="5774267" y="2107184"/>
            <a:ext cx="1845733" cy="762000"/>
          </a:xfrm>
          <a:prstGeom prst="rect">
            <a:avLst/>
          </a:prstGeom>
          <a:noFill/>
          <a:ln>
            <a:noFill/>
          </a:ln>
        </p:spPr>
        <p:txBody>
          <a:bodyPr wrap="square" lIns="0" tIns="0" rIns="0" bIns="0" anchor="t">
            <a:noAutofit/>
          </a:bodyPr>
          <a:lstStyle/>
          <a:p>
            <a:pPr algn="l">
              <a:lnSpc>
                <a:spcPct val="100000"/>
              </a:lnSpc>
              <a:spcBef>
                <a:spcPts val="0"/>
              </a:spcBef>
              <a:spcAft>
                <a:spcPts val="400"/>
              </a:spcAft>
              <a:buNone/>
            </a:pPr>
            <a:r>
              <a:rPr lang="en-US" sz="3000" b="1" spc="-40" dirty="0">
                <a:solidFill>
                  <a:srgbClr val="0F172A"/>
                </a:solidFill>
                <a:latin typeface="Arial"/>
                <a:cs typeface="Arial"/>
              </a:rPr>
              <a:t>9</a:t>
            </a:r>
            <a:endParaRPr lang="en-US" sz="3000" dirty="0"/>
          </a:p>
          <a:p>
            <a:pPr algn="l">
              <a:lnSpc>
                <a:spcPct val="110000"/>
              </a:lnSpc>
              <a:spcBef>
                <a:spcPts val="0"/>
              </a:spcBef>
              <a:spcAft>
                <a:spcPts val="300"/>
              </a:spcAft>
              <a:buNone/>
            </a:pPr>
            <a:r>
              <a:rPr lang="en-US" sz="1100" b="1" dirty="0">
                <a:solidFill>
                  <a:srgbClr val="0F172A"/>
                </a:solidFill>
                <a:latin typeface="Arial"/>
                <a:cs typeface="Arial"/>
              </a:rPr>
              <a:t>sections</a:t>
            </a:r>
            <a:endParaRPr lang="en-US" sz="1100" dirty="0"/>
          </a:p>
        </p:txBody>
      </p:sp>
      <p:sp>
        <p:nvSpPr>
          <p:cNvPr id="17" name="Text 17"/>
          <p:cNvSpPr txBox="1"/>
          <p:nvPr/>
        </p:nvSpPr>
        <p:spPr>
          <a:xfrm>
            <a:off x="711200" y="3275584"/>
            <a:ext cx="9046464" cy="2896616"/>
          </a:xfrm>
          <a:prstGeom prst="rect">
            <a:avLst/>
          </a:prstGeom>
          <a:noFill/>
          <a:ln>
            <a:noFill/>
          </a:ln>
        </p:spPr>
        <p:txBody>
          <a:bodyPr wrap="square" lIns="0" tIns="0" rIns="0" bIns="0" anchor="t">
            <a:noAutofit/>
          </a:bodyPr>
          <a:lstStyle/>
          <a:p>
            <a:pPr algn="l">
              <a:lnSpc>
                <a:spcPct val="120000"/>
              </a:lnSpc>
              <a:spcBef>
                <a:spcPts val="0"/>
              </a:spcBef>
              <a:spcAft>
                <a:spcPts val="1000"/>
              </a:spcAft>
              <a:buNone/>
            </a:pPr>
            <a:r>
              <a:rPr lang="en-US" sz="1250" dirty="0">
                <a:solidFill>
                  <a:srgbClr val="0F172A"/>
                </a:solidFill>
                <a:latin typeface="Arial"/>
                <a:cs typeface="Arial"/>
              </a:rPr>
              <a:t>Research question: “How Kubernetes is being used for AI infrastructure”</a:t>
            </a:r>
            <a:endParaRPr lang="en-US" sz="1250" dirty="0"/>
          </a:p>
          <a:p>
            <a:pPr algn="l">
              <a:lnSpc>
                <a:spcPct val="124000"/>
              </a:lnSpc>
              <a:spcBef>
                <a:spcPts val="0"/>
              </a:spcBef>
              <a:spcAft>
                <a:spcPts val="1000"/>
              </a:spcAft>
              <a:buNone/>
            </a:pPr>
            <a:r>
              <a:rPr lang="en-US" sz="1150" dirty="0">
                <a:solidFill>
                  <a:srgbClr val="334155"/>
                </a:solidFill>
                <a:latin typeface="Arial"/>
                <a:cs typeface="Arial"/>
              </a:rPr>
              <a:t>Compiled from public sources by Boku, an automated multi-agent research pipeline: parallel researchers, an independent fact-checker, synthesis and an editor. Every figure on these slides traces to a cited finding. Numbered citations refer to the companion file kubernetes-platform-ai-infrastructure.references.json. Speaker notes carry the full text behind each slide.</a:t>
            </a:r>
            <a:endParaRPr lang="en-US" sz="1150" dirty="0"/>
          </a:p>
          <a:p>
            <a:pPr algn="l">
              <a:lnSpc>
                <a:spcPct val="124000"/>
              </a:lnSpc>
              <a:spcBef>
                <a:spcPts val="0"/>
              </a:spcBef>
              <a:spcAft>
                <a:spcPts val="0"/>
              </a:spcAft>
              <a:buNone/>
            </a:pPr>
            <a:r>
              <a:rPr lang="en-US" sz="1150" dirty="0">
                <a:solidFill>
                  <a:srgbClr val="64748B"/>
                </a:solidFill>
                <a:latin typeface="Arial"/>
                <a:cs typeface="Arial"/>
              </a:rPr>
              <a:t>Verify material facts before relying on them.</a:t>
            </a:r>
            <a:endParaRPr lang="en-US" sz="1150" dirty="0"/>
          </a:p>
        </p:txBody>
      </p:sp>
      <p:sp>
        <p:nvSpPr>
          <p:cNvPr id="18" name="Text 18"/>
          <p:cNvSpPr txBox="1"/>
          <p:nvPr/>
        </p:nvSpPr>
        <p:spPr>
          <a:xfrm>
            <a:off x="711200" y="6121400"/>
            <a:ext cx="10769600" cy="177800"/>
          </a:xfrm>
          <a:prstGeom prst="rect">
            <a:avLst/>
          </a:prstGeom>
          <a:noFill/>
          <a:ln>
            <a:noFill/>
          </a:ln>
        </p:spPr>
        <p:txBody>
          <a:bodyPr wrap="square" lIns="0" tIns="0" rIns="0" bIns="0" anchor="t">
            <a:noAutofit/>
          </a:bodyPr>
          <a:lstStyle/>
          <a:p>
            <a:pPr algn="l">
              <a:lnSpc>
                <a:spcPct val="108000"/>
              </a:lnSpc>
              <a:spcBef>
                <a:spcPts val="0"/>
              </a:spcBef>
              <a:spcAft>
                <a:spcPts val="0"/>
              </a:spcAft>
              <a:buNone/>
            </a:pPr>
            <a:r>
              <a:rPr lang="en-US" sz="850" dirty="0">
                <a:solidFill>
                  <a:srgbClr val="94A3B8"/>
                </a:solidFill>
                <a:latin typeface="Arial"/>
                <a:cs typeface="Arial"/>
              </a:rPr>
              <a:t>Boku dev · Run 2026-09-23T024958-kubernetes-used-ai-infrastructure</a:t>
            </a:r>
            <a:endParaRPr lang="en-US" sz="850" dirty="0"/>
          </a:p>
        </p:txBody>
      </p:sp>
    </p:spTree>
  </p:cSld>
  <p:clrMapOvr>
    <a:masterClrMapping/>
  </p:clrMapOvr>
</p:sld>
</file>

<file path=ppt/theme/theme1.xml><?xml version="1.0" encoding="utf-8"?>
<a:theme xmlns:a="http://schemas.openxmlformats.org/drawingml/2006/main" name="Boku aurora">
  <a:themeElements>
    <a:clrScheme name="Boku aurora">
      <a:dk1>
        <a:srgbClr val="0F172A"/>
      </a:dk1>
      <a:lt1>
        <a:srgbClr val="FFFFFF"/>
      </a:lt1>
      <a:dk2>
        <a:srgbClr val="334155"/>
      </a:dk2>
      <a:lt2>
        <a:srgbClr val="F8FAFC"/>
      </a:lt2>
      <a:accent1>
        <a:srgbClr val="4F46E5"/>
      </a:accent1>
      <a:accent2>
        <a:srgbClr val="06B6D4"/>
      </a:accent2>
      <a:accent3>
        <a:srgbClr val="F59E0B"/>
      </a:accent3>
      <a:accent4>
        <a:srgbClr val="EC4899"/>
      </a:accent4>
      <a:accent5>
        <a:srgbClr val="10B981"/>
      </a:accent5>
      <a:accent6>
        <a:srgbClr val="94A3B8"/>
      </a:accent6>
      <a:hlink>
        <a:srgbClr val="4F46E5"/>
      </a:hlink>
      <a:folHlink>
        <a:srgbClr val="64748B"/>
      </a:folHlink>
    </a:clrScheme>
    <a:fontScheme name="Boku">
      <a:majorFont>
        <a:latin typeface="Arial"/>
        <a:ea typeface=""/>
        <a:cs typeface=""/>
      </a:majorFont>
      <a:minorFont>
        <a:latin typeface="Arial"/>
        <a:ea typeface=""/>
        <a:cs typeface=""/>
      </a:minorFont>
    </a:fontScheme>
    <a:fmtScheme name="Boku">
      <a:fillStyleLst>
        <a:solidFill>
          <a:schemeClr val="phClr"/>
        </a:solidFill>
        <a:solidFill>
          <a:schemeClr val="phClr"/>
        </a:solidFill>
        <a:solidFill>
          <a:schemeClr val="phClr"/>
        </a:solidFill>
      </a:fillStyleLst>
      <a:lnStyleLst>
        <a:ln w="9525" cap="flat" cmpd="sng" algn="ctr">
          <a:solidFill>
            <a:schemeClr val="phClr"/>
          </a:solidFill>
          <a:prstDash val="solid"/>
        </a:ln>
        <a:ln w="9525" cap="flat" cmpd="sng" algn="ctr">
          <a:solidFill>
            <a:schemeClr val="phClr"/>
          </a:solidFill>
          <a:prstDash val="solid"/>
        </a:ln>
        <a:ln w="9525"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2.xml><?xml version="1.0" encoding="utf-8"?>
<a:theme xmlns:a="http://schemas.openxmlformats.org/drawingml/2006/main" name="Boku notes">
  <a:themeElements>
    <a:clrScheme name="Boku notes">
      <a:dk1>
        <a:srgbClr val="0F172A"/>
      </a:dk1>
      <a:lt1>
        <a:srgbClr val="FFFFFF"/>
      </a:lt1>
      <a:dk2>
        <a:srgbClr val="334155"/>
      </a:dk2>
      <a:lt2>
        <a:srgbClr val="F8FAFC"/>
      </a:lt2>
      <a:accent1>
        <a:srgbClr val="4F46E5"/>
      </a:accent1>
      <a:accent2>
        <a:srgbClr val="06B6D4"/>
      </a:accent2>
      <a:accent3>
        <a:srgbClr val="F59E0B"/>
      </a:accent3>
      <a:accent4>
        <a:srgbClr val="EC4899"/>
      </a:accent4>
      <a:accent5>
        <a:srgbClr val="10B981"/>
      </a:accent5>
      <a:accent6>
        <a:srgbClr val="94A3B8"/>
      </a:accent6>
      <a:hlink>
        <a:srgbClr val="4F46E5"/>
      </a:hlink>
      <a:folHlink>
        <a:srgbClr val="64748B"/>
      </a:folHlink>
    </a:clrScheme>
    <a:fontScheme name="Boku">
      <a:majorFont>
        <a:latin typeface="Arial"/>
        <a:ea typeface=""/>
        <a:cs typeface=""/>
      </a:majorFont>
      <a:minorFont>
        <a:latin typeface="Arial"/>
        <a:ea typeface=""/>
        <a:cs typeface=""/>
      </a:minorFont>
    </a:fontScheme>
    <a:fmtScheme name="Boku">
      <a:fillStyleLst>
        <a:solidFill>
          <a:schemeClr val="phClr"/>
        </a:solidFill>
        <a:solidFill>
          <a:schemeClr val="phClr"/>
        </a:solidFill>
        <a:solidFill>
          <a:schemeClr val="phClr"/>
        </a:solidFill>
      </a:fillStyleLst>
      <a:lnStyleLst>
        <a:ln w="9525" cap="flat" cmpd="sng" algn="ctr">
          <a:solidFill>
            <a:schemeClr val="phClr"/>
          </a:solidFill>
          <a:prstDash val="solid"/>
        </a:ln>
        <a:ln w="9525" cap="flat" cmpd="sng" algn="ctr">
          <a:solidFill>
            <a:schemeClr val="phClr"/>
          </a:solidFill>
          <a:prstDash val="solid"/>
        </a:ln>
        <a:ln w="9525"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TotalTime>0</TotalTime>
  <Application>Boku dev</Application>
  <PresentationFormat>Widescreen</PresentationFormat>
  <Slides>36</Slides>
  <Notes>36</Notes>
</Properties>
</file>

<file path=docProps/core.xml><?xml version="1.0" encoding="utf-8"?>
<cp:coreProperties xmlns:cp="http://schemas.openxmlformats.org/package/2006/metadata/core-properties" xmlns:dc="http://purl.org/dc/elements/1.1/" xmlns:dcterms="http://purl.org/dc/terms/" xmlns:xsi="http://www.w3.org/2001/XMLSchema-instance">
  <dc:title>Kubernetes as the Platform for AI Infrastructure</dc:title>
  <dc:subject>How Kubernetes is being used for AI infrastructure</dc:subject>
  <dc:creator>Boku research agents</dc:creator>
  <cp:lastModifiedBy>Boku dev</cp:lastModifiedBy>
  <dcterms:created xsi:type="dcterms:W3CDTF">2026-09-23T02:49:58Z</dcterms:created>
  <dcterms:modified xsi:type="dcterms:W3CDTF">2026-09-23T02:49:58Z</dcterms:modified>
</cp:coreProperties>
</file>